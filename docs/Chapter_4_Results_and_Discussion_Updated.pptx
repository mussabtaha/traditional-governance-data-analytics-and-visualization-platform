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87" r:id="rId38"/>
    <p:sldId id="288" r:id="rId39"/>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32.xml"/><Relationship Id="rId39"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Chapter 4 as the evidence chapter. Explain that every interface screenshot and every numerical result comes from the running project and the connected MySQL database. State that the discussion reports associations, not causal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introduces Chapter 4. It presents the final system and the results that a user can obtain from it. I will explain each page in simple terms: what it is, what it shows, what the user can do, and the benefit of the page.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an overview of the user's journey through the platform. The user begins on the Home page, explores records, studies maps and statistics, compares geographic areas, and then reviews statistical analysis. The About and Contact pages provide context and communication support.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Home page. It gives the user a quick overview of the platform and the dataset. It shows summary indicators, the main exploration tools, a geographic map, and recent group records. The user can use the buttons and navigation links to begin exploring the page that is most relevant to the research task.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explains the benefit of the Home page. The summary indicators tell the user how large and geographically broad the dataset is. The four main tools provide direct access to record exploration, geographic viewing, statistics, and comparison.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Groups page. The left image shows the normal list of records. The right image shows a real example after searching for Arab and selecting Africa. The user can combine the available filters to narrow the results and find groups that are relevant to a country, region, leadership type, or recognition question.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detailed group view. After finding a relevant record, the user can open it and inspect the available information. The page clearly displays Yes, No, and Not Available values. The benefit is that the user can move from a broad list to detailed evidence for one group.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Interactive Map section. It represents the geographic distribution of the traditional groups. Each marker displays the number of records in a continent. The user can select a marker to continue to the related records. The benefit is a quick visual understanding of where the dataset is concentrated.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a real map interaction. The user selected Africa, and the Groups page opened with the Africa filter already applied. The result shows 726 matching records. This helps the user move naturally from a visual overview to the detailed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Statistics page. It provides a visual and descriptive summary of the dataset. The user can see leadership distribution, selection methods, governance functions, formal recognition, geographic coverage, largest groups, and top countries. The charts make the main patterns easier to understand.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example shows the Statistics page after selecting Africa. All summary values and charts reflect the selected continent. The user can therefore study one geographic area instead of viewing only the global dataset.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Geographic Comparison page. The user first chooses the comparison type, then selects Entity A and Entity B, and starts the comparison. The page shows aligned indicators for leadership, recognition, governance functions, and population. This example compares Africa and Asia.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provides visual evidence for the other two comparison levels. The left side compares Kenya and Nigeria as countries. The right side compares Sub-Saharan Africa and East Asia and Pacific as regions. Together with the previous continent example, the system supports Country, Continent, and Region comparison.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Statistical Analysis page. The left image shows the research question, selected method, total records, valid sample, missing values, and significance level. The right image shows the test statistic, p-value, degrees of freedom, effect size, sample size, interpretation, and the observed and expected tables. The user can use these elements to understand both the statistical result and its meaning.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before the individual analyses. A small p-value indicates evidence against independence or equal distributions. The effect size describes strength. Observed frequencies are real counts; expected frequencies are theoretical null-model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King, Chief, and Headman were tested separately against binary formal recognition using Chi-Square. For the displayed King result, N is 1,033 after 524 rows with missing recognition were excluded.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seven relationships were significant. King–Healing could not be estimated safely from the available complete table, and Headman–Healing was not significant. Most measurable effects were weak or very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method selection: Shapiro–Wilk indicated non-normality, so a rank-based test was used. The result is significant, but the rank-biserial effect is small. Recognized groups tend to have larger populations in rank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all three population/function distributions were non-normal. Land and Security differences were statistically significant, but both effects were negligible. Healing was not significant and had a much smaller sample because of missing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analysis asks whether leadership distribution differs across continents. King, Chief, and Headman are separate binary indicators and may overlap within one group. Therefore, leadership occurrences are not the same as the number of unique groups. The result is statistically significant with a weak effect, and it describes association rather than causation.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complete-case table: N is 1,033 after missing recognition values are excluded. Africa has the highest complete-case recognition rate and Asia the lowest in the current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both tables. Observed values are actual database counts and therefore whole numbers. Expected values are theoretical values distributed according to the row and column totals, so decimals are mathematically correct and do not represent fractional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seven-region table produced a significant moderate association. The highest complete-case rate is Middle East and North Africa, and the lowest is South Asia. Missing recognition is still displayed descriptively even though the test uses complete binary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this is a capability demonstration, not an additional independent finding. For the verified sample, Continent and Formal Recognition reproduce Analysis 6 and therefore return the same Chi-Square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pattern: many associations are statistically significant, but most effects are weak, very weak, small, or negligible. The strongest effect in the predefined module is the moderate region-recognition association.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effect-size scale to explain why the chapter does not describe every significant result as strong. Large datasets can produce small p-values for modest differences. Region-recognition is moderate; most remaining relationships are weak or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the results cautiously. Leadership institutions and governance responsibilities are related in several tests, but effect sizes are generally weak. Recognition varies geographically, with regional classification showing the strongest association. Population differences exist but are small in practical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explains the main data limitation. Missing values are different from No. The analyses used valid complete cases for the variables required by each test. Healing has the largest amount of missing data, so healing-related findings should be interpreted with the greatest caution.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Arabic changes document language and direction to RTL, while English source group names remain isolated for readability. Dark mode applies consistently to cards, tables, forms, charts, and navigation.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system result in six points. Emphasize integration: these are not isolated mock-ups. Each page consumes the Flask API and reflects the same MySQL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chapter. State that the implementation was verified end to end and that the statistical evidence was interpreted with effect sizes, missing-value limitations, and non-causal language. Transition to Chapter 5, which should synthesize conclusions, recommendations, and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About page. It explains the purpose and scope of the Traditional Governance platform. It shows that the system supports discovery, analysis, comparison, and communication of current insights. The benefit is that users understand the role of the project before interpreting its data.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Contact page. It provides project contact information and a form with Full name, Email address, Subject, and Message fields. The user can prepare feedback, a dataset question, or a collaboration enquiry and select Send Message. No message was sent during this review, so I do not claim that an email reached an inbox in the local environment.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23524"/>
          </a:solidFill>
          <a:ln w="12700">
            <a:solidFill>
              <a:srgbClr val="123524"/>
            </a:solidFill>
            <a:prstDash val="solid"/>
          </a:ln>
        </p:spPr>
      </p:sp>
      <p:sp>
        <p:nvSpPr>
          <p:cNvPr id="3" name="Shape 1"/>
          <p:cNvSpPr/>
          <p:nvPr/>
        </p:nvSpPr>
        <p:spPr>
          <a:xfrm>
            <a:off x="0" y="6656832"/>
            <a:ext cx="12191695" cy="201168"/>
          </a:xfrm>
          <a:prstGeom prst="rect">
            <a:avLst/>
          </a:prstGeom>
          <a:solidFill>
            <a:srgbClr val="123524"/>
          </a:solidFill>
          <a:ln w="12700">
            <a:solidFill>
              <a:srgbClr val="123524"/>
            </a:solidFill>
            <a:prstDash val="solid"/>
          </a:ln>
        </p:spPr>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 Id="rId4" Type="http://schemas.openxmlformats.org/officeDocument/2006/relationships/image" Target="../media/image2.jpg"/><Relationship Id="rId5"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 Id="rId4"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 Id="rId4" Type="http://schemas.openxmlformats.org/officeDocument/2006/relationships/image" Target="../media/image9.jpg"/><Relationship Id="rId5"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 Id="rId4" Type="http://schemas.openxmlformats.org/officeDocument/2006/relationships/image" Target="../media/image11.jpg"/><Relationship Id="rId5"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g"/><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D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2D20"/>
          </a:solidFill>
          <a:ln w="12700">
            <a:solidFill>
              <a:srgbClr val="0B2D20"/>
            </a:solidFill>
            <a:prstDash val="solid"/>
          </a:ln>
        </p:spPr>
        <p:txBody>
          <a:bodyPr/>
          <a:p/>
        </p:txBody>
      </p:sp>
      <p:sp>
        <p:nvSpPr>
          <p:cNvPr id="3" name="Shape 1"/>
          <p:cNvSpPr/>
          <p:nvPr/>
        </p:nvSpPr>
        <p:spPr>
          <a:xfrm rot="900000">
            <a:off x="8229600" y="0"/>
            <a:ext cx="3657600" cy="3657600"/>
          </a:xfrm>
          <a:prstGeom prst="arc">
            <a:avLst/>
          </a:prstGeom>
          <a:solidFill>
            <a:srgbClr val="0B2D20">
              <a:alpha val="0"/>
            </a:srgbClr>
          </a:solidFill>
          <a:ln w="25400">
            <a:solidFill>
              <a:srgbClr val="C8A96A">
                <a:alpha val="55000"/>
              </a:srgbClr>
            </a:solidFill>
            <a:prstDash val="solid"/>
          </a:ln>
        </p:spPr>
        <p:txBody>
          <a:bodyPr/>
          <a:p/>
        </p:txBody>
      </p:sp>
      <p:sp>
        <p:nvSpPr>
          <p:cNvPr id="4" name="Shape 2"/>
          <p:cNvSpPr/>
          <p:nvPr/>
        </p:nvSpPr>
        <p:spPr>
          <a:xfrm rot="900000">
            <a:off x="8887968" y="411480"/>
            <a:ext cx="2743200" cy="2743200"/>
          </a:xfrm>
          <a:prstGeom prst="arc">
            <a:avLst/>
          </a:prstGeom>
          <a:solidFill>
            <a:srgbClr val="0B2D20">
              <a:alpha val="0"/>
            </a:srgbClr>
          </a:solidFill>
          <a:ln w="15240">
            <a:solidFill>
              <a:srgbClr val="6F937F">
                <a:alpha val="45000"/>
              </a:srgbClr>
            </a:solidFill>
            <a:prstDash val="solid"/>
          </a:ln>
        </p:spPr>
        <p:txBody>
          <a:bodyPr/>
          <a:p/>
        </p:txBody>
      </p:sp>
      <p:pic>
        <p:nvPicPr>
          <p:cNvPr id="5" name="Image 0" descr="C:\Users\mossa\OneDrive\Documents\مشروع التخرج\assets\icons\apple-touch-icon.png">    </p:cNvPr>
          <p:cNvPicPr>
            <a:picLocks noChangeAspect="1"/>
          </p:cNvPicPr>
          <p:nvPr/>
        </p:nvPicPr>
        <p:blipFill>
          <a:blip r:embed="rId1"/>
          <a:stretch>
            <a:fillRect/>
          </a:stretch>
        </p:blipFill>
        <p:spPr>
          <a:xfrm>
            <a:off x="658368" y="566928"/>
            <a:ext cx="658368" cy="658368"/>
          </a:xfrm>
          <a:prstGeom prst="rect">
            <a:avLst/>
          </a:prstGeom>
        </p:spPr>
      </p:pic>
      <p:sp>
        <p:nvSpPr>
          <p:cNvPr id="6" name="Text 3"/>
          <p:cNvSpPr/>
          <p:nvPr/>
        </p:nvSpPr>
        <p:spPr>
          <a:xfrm>
            <a:off x="1444752" y="694944"/>
            <a:ext cx="7223760" cy="274320"/>
          </a:xfrm>
          <a:prstGeom prst="rect">
            <a:avLst/>
          </a:prstGeom>
          <a:noFill/>
          <a:ln/>
        </p:spPr>
        <p:txBody>
          <a:bodyPr wrap="square" lIns="0" tIns="0" rIns="0" bIns="0" rtlCol="0" anchor="ctr">
            <a:normAutofit/>
          </a:bodyPr>
          <a:lstStyle/>
          <a:p>
            <a:pPr indent="0" marL="0">
              <a:buNone/>
            </a:pPr>
            <a:r>
              <a:rPr lang="en-US" sz="1000" b="1" spc="125" kern="0" dirty="0">
                <a:solidFill>
                  <a:srgbClr val="C8A96A"/>
                </a:solidFill>
                <a:latin typeface="Aptos" pitchFamily="34" charset="0"/>
                <a:ea typeface="Aptos" pitchFamily="34" charset="-122"/>
                <a:cs typeface="Aptos" pitchFamily="34" charset="-120"/>
              </a:rPr>
              <a:t>TRADITIONAL GOVERNANCE DATA ANALYTICS AND VISUALIZATION PLATFORM</a:t>
            </a:r>
            <a:endParaRPr lang="en-US" sz="1000" dirty="0"/>
          </a:p>
        </p:txBody>
      </p:sp>
      <p:sp>
        <p:nvSpPr>
          <p:cNvPr id="7" name="Text 4"/>
          <p:cNvSpPr/>
          <p:nvPr/>
        </p:nvSpPr>
        <p:spPr>
          <a:xfrm>
            <a:off x="658368" y="1874520"/>
            <a:ext cx="4663440" cy="594360"/>
          </a:xfrm>
          <a:prstGeom prst="rect">
            <a:avLst/>
          </a:prstGeom>
          <a:noFill/>
          <a:ln/>
        </p:spPr>
        <p:txBody>
          <a:bodyPr wrap="square" lIns="0" tIns="0" rIns="0" bIns="0" rtlCol="0" anchor="ctr"/>
          <a:lstStyle/>
          <a:p>
            <a:pPr indent="0" marL="0">
              <a:buNone/>
            </a:pPr>
            <a:r>
              <a:rPr lang="en-US" sz="3800" dirty="0">
                <a:solidFill>
                  <a:srgbClr val="FFFFFF"/>
                </a:solidFill>
                <a:latin typeface="Georgia" pitchFamily="34" charset="0"/>
                <a:ea typeface="Georgia" pitchFamily="34" charset="-122"/>
                <a:cs typeface="Georgia" pitchFamily="34" charset="-120"/>
              </a:rPr>
              <a:t>Chapter 4</a:t>
            </a:r>
            <a:endParaRPr lang="en-US" sz="3800" dirty="0"/>
          </a:p>
        </p:txBody>
      </p:sp>
      <p:sp>
        <p:nvSpPr>
          <p:cNvPr id="8" name="Text 5"/>
          <p:cNvSpPr/>
          <p:nvPr/>
        </p:nvSpPr>
        <p:spPr>
          <a:xfrm>
            <a:off x="658368" y="2487168"/>
            <a:ext cx="8046720" cy="658368"/>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Georgia" pitchFamily="34" charset="0"/>
                <a:ea typeface="Georgia" pitchFamily="34" charset="-122"/>
                <a:cs typeface="Georgia" pitchFamily="34" charset="-120"/>
              </a:rPr>
              <a:t>Results and Discussion</a:t>
            </a:r>
            <a:endParaRPr lang="en-US" sz="4000" dirty="0"/>
          </a:p>
        </p:txBody>
      </p:sp>
      <p:sp>
        <p:nvSpPr>
          <p:cNvPr id="9" name="Shape 6"/>
          <p:cNvSpPr/>
          <p:nvPr/>
        </p:nvSpPr>
        <p:spPr>
          <a:xfrm>
            <a:off x="676656" y="3337560"/>
            <a:ext cx="1051560" cy="0"/>
          </a:xfrm>
          <a:prstGeom prst="line">
            <a:avLst/>
          </a:prstGeom>
          <a:noFill/>
          <a:ln w="38100">
            <a:solidFill>
              <a:srgbClr val="C8A96A"/>
            </a:solidFill>
            <a:prstDash val="solid"/>
          </a:ln>
        </p:spPr>
        <p:txBody>
          <a:bodyPr/>
          <a:p/>
        </p:txBody>
      </p:sp>
      <p:sp>
        <p:nvSpPr>
          <p:cNvPr id="10" name="Text 7"/>
          <p:cNvSpPr/>
          <p:nvPr/>
        </p:nvSpPr>
        <p:spPr>
          <a:xfrm>
            <a:off x="658368" y="3584448"/>
            <a:ext cx="8046720" cy="640080"/>
          </a:xfrm>
          <a:prstGeom prst="rect">
            <a:avLst/>
          </a:prstGeom>
          <a:noFill/>
          <a:ln/>
        </p:spPr>
        <p:txBody>
          <a:bodyPr wrap="square" lIns="0" tIns="0" rIns="0" bIns="0" rtlCol="0" anchor="ctr">
            <a:normAutofit/>
          </a:bodyPr>
          <a:lstStyle/>
          <a:p>
            <a:pPr indent="0" marL="0">
              <a:buNone/>
            </a:pPr>
            <a:r>
              <a:rPr lang="en-US" sz="1700" dirty="0">
                <a:solidFill>
                  <a:srgbClr val="DBE7DF"/>
                </a:solidFill>
                <a:latin typeface="Aptos" pitchFamily="34" charset="0"/>
                <a:ea typeface="Aptos" pitchFamily="34" charset="-122"/>
                <a:cs typeface="Aptos" pitchFamily="34" charset="-120"/>
              </a:rPr>
              <a:t>Verified implementation outcomes, live-data visualizations, statistical findings, and academic interpretation.</a:t>
            </a:r>
            <a:endParaRPr lang="en-US" sz="1700" dirty="0"/>
          </a:p>
        </p:txBody>
      </p:sp>
      <p:sp>
        <p:nvSpPr>
          <p:cNvPr id="11" name="Text 8"/>
          <p:cNvSpPr/>
          <p:nvPr/>
        </p:nvSpPr>
        <p:spPr>
          <a:xfrm>
            <a:off x="658368" y="6062472"/>
            <a:ext cx="5486400" cy="228600"/>
          </a:xfrm>
          <a:prstGeom prst="rect">
            <a:avLst/>
          </a:prstGeom>
          <a:noFill/>
          <a:ln/>
        </p:spPr>
        <p:txBody>
          <a:bodyPr wrap="square" lIns="0" tIns="0" rIns="0" bIns="0" rtlCol="0" anchor="ctr"/>
          <a:lstStyle/>
          <a:p>
            <a:pPr indent="0" marL="0">
              <a:buNone/>
            </a:pPr>
            <a:r>
              <a:rPr lang="en-US" sz="1050" dirty="0">
                <a:solidFill>
                  <a:srgbClr val="C8A96A"/>
                </a:solidFill>
                <a:latin typeface="Aptos" pitchFamily="34" charset="0"/>
                <a:ea typeface="Aptos" pitchFamily="34" charset="-122"/>
                <a:cs typeface="Aptos" pitchFamily="34" charset="-120"/>
              </a:rPr>
              <a:t>University Graduation Project  •  9 August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REV_BACKGROUND"/>
          <p:cNvSpPr/>
          <p:nvPr/>
        </p:nvSpPr>
        <p:spPr>
          <a:xfrm>
            <a:off x="0" y="0"/>
            <a:ext cx="12192000" cy="68580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972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2000" cy="20116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V_SECTION"/>
          <p:cNvSpPr txBox="1"/>
          <p:nvPr/>
        </p:nvSpPr>
        <p:spPr>
          <a:xfrm>
            <a:off x="502920" y="283464"/>
            <a:ext cx="4389120" cy="201168"/>
          </a:xfrm>
          <a:prstGeom prst="rect">
            <a:avLst/>
          </a:prstGeom>
          <a:noFill/>
        </p:spPr>
        <p:txBody>
          <a:bodyPr wrap="square" lIns="27432" rIns="27432" tIns="27432" bIns="27432" anchor="t">
            <a:spAutoFit/>
          </a:bodyPr>
          <a:lstStyle/>
          <a:p>
            <a:pPr algn="l"/>
            <a:r>
              <a:rPr sz="900" b="1" i="0">
                <a:solidFill>
                  <a:srgbClr val="123524"/>
                </a:solidFill>
                <a:latin typeface="Aptos"/>
              </a:rPr>
              <a:t>4.1 • INTRODUCTION</a:t>
            </a:r>
          </a:p>
        </p:txBody>
      </p:sp>
      <p:sp>
        <p:nvSpPr>
          <p:cNvPr id="6" name="Rectangle 5"/>
          <p:cNvSpPr/>
          <p:nvPr/>
        </p:nvSpPr>
        <p:spPr>
          <a:xfrm>
            <a:off x="502920" y="576072"/>
            <a:ext cx="420624" cy="22860"/>
          </a:xfrm>
          <a:prstGeom prst="rect">
            <a:avLst/>
          </a:prstGeom>
          <a:solidFill>
            <a:srgbClr val="C8A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V_TITLE"/>
          <p:cNvSpPr txBox="1"/>
          <p:nvPr/>
        </p:nvSpPr>
        <p:spPr>
          <a:xfrm>
            <a:off x="502920" y="658368"/>
            <a:ext cx="11018520" cy="475488"/>
          </a:xfrm>
          <a:prstGeom prst="rect">
            <a:avLst/>
          </a:prstGeom>
          <a:noFill/>
        </p:spPr>
        <p:txBody>
          <a:bodyPr wrap="square" lIns="27432" rIns="27432" tIns="27432" bIns="27432" anchor="t">
            <a:spAutoFit/>
          </a:bodyPr>
          <a:lstStyle/>
          <a:p>
            <a:pPr algn="l"/>
            <a:r>
              <a:rPr sz="2500" b="0" i="0">
                <a:solidFill>
                  <a:srgbClr val="14251D"/>
                </a:solidFill>
                <a:latin typeface="Georgia"/>
              </a:rPr>
              <a:t>What the final system demonstrates</a:t>
            </a:r>
          </a:p>
        </p:txBody>
      </p:sp>
      <p:sp>
        <p:nvSpPr>
          <p:cNvPr id="8" name="REV_SUBTITLE"/>
          <p:cNvSpPr txBox="1"/>
          <p:nvPr/>
        </p:nvSpPr>
        <p:spPr>
          <a:xfrm>
            <a:off x="521207" y="1179576"/>
            <a:ext cx="10927080" cy="320040"/>
          </a:xfrm>
          <a:prstGeom prst="rect">
            <a:avLst/>
          </a:prstGeom>
          <a:noFill/>
        </p:spPr>
        <p:txBody>
          <a:bodyPr wrap="square" lIns="27432" rIns="27432" tIns="27432" bIns="27432" anchor="t">
            <a:spAutoFit/>
          </a:bodyPr>
          <a:lstStyle/>
          <a:p>
            <a:pPr algn="l"/>
            <a:r>
              <a:rPr sz="1150" b="0" i="0">
                <a:solidFill>
                  <a:srgbClr val="65736B"/>
                </a:solidFill>
                <a:latin typeface="Aptos"/>
              </a:rPr>
              <a:t>Chapter 4 presents the completed interface and the results users can obtain from it.</a:t>
            </a:r>
          </a:p>
        </p:txBody>
      </p:sp>
      <p:sp>
        <p:nvSpPr>
          <p:cNvPr id="9" name="TextBox 8"/>
          <p:cNvSpPr txBox="1"/>
          <p:nvPr/>
        </p:nvSpPr>
        <p:spPr>
          <a:xfrm>
            <a:off x="502920" y="6684264"/>
            <a:ext cx="4572000" cy="100584"/>
          </a:xfrm>
          <a:prstGeom prst="rect">
            <a:avLst/>
          </a:prstGeom>
          <a:noFill/>
        </p:spPr>
        <p:txBody>
          <a:bodyPr wrap="square" lIns="0" rIns="0" tIns="0" bIns="0" anchor="t">
            <a:spAutoFit/>
          </a:bodyPr>
          <a:lstStyle/>
          <a:p>
            <a:pPr algn="l"/>
            <a:r>
              <a:rPr sz="750" b="0" i="0">
                <a:solidFill>
                  <a:srgbClr val="DDE7E0"/>
                </a:solidFill>
                <a:latin typeface="Aptos"/>
              </a:rPr>
              <a:t>Chapter 4 • Results and Discussion</a:t>
            </a:r>
          </a:p>
        </p:txBody>
      </p:sp>
      <p:sp>
        <p:nvSpPr>
          <p:cNvPr id="10" name="TextBox 9"/>
          <p:cNvSpPr txBox="1"/>
          <p:nvPr/>
        </p:nvSpPr>
        <p:spPr>
          <a:xfrm>
            <a:off x="11475720" y="6684264"/>
            <a:ext cx="274320" cy="100584"/>
          </a:xfrm>
          <a:prstGeom prst="rect">
            <a:avLst/>
          </a:prstGeom>
          <a:noFill/>
        </p:spPr>
        <p:txBody>
          <a:bodyPr wrap="square" lIns="0" rIns="0" tIns="0" bIns="0" anchor="t">
            <a:spAutoFit/>
          </a:bodyPr>
          <a:lstStyle/>
          <a:p>
            <a:pPr algn="r"/>
            <a:r>
              <a:rPr sz="800" b="0" i="0">
                <a:solidFill>
                  <a:srgbClr val="FFFFFF"/>
                </a:solidFill>
                <a:latin typeface="Aptos"/>
              </a:rPr>
              <a:t>2</a:t>
            </a:r>
          </a:p>
        </p:txBody>
      </p:sp>
      <p:sp>
        <p:nvSpPr>
          <p:cNvPr id="11" name="Rounded Rectangle 10"/>
          <p:cNvSpPr/>
          <p:nvPr/>
        </p:nvSpPr>
        <p:spPr>
          <a:xfrm>
            <a:off x="621792" y="1755648"/>
            <a:ext cx="5285232" cy="1600200"/>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84248"/>
            <a:ext cx="640080" cy="347472"/>
          </a:xfrm>
          <a:prstGeom prst="rect">
            <a:avLst/>
          </a:prstGeom>
          <a:noFill/>
        </p:spPr>
        <p:txBody>
          <a:bodyPr wrap="square" lIns="0" rIns="0" tIns="0" bIns="0" anchor="t">
            <a:spAutoFit/>
          </a:bodyPr>
          <a:lstStyle/>
          <a:p>
            <a:pPr algn="l"/>
            <a:r>
              <a:rPr sz="2400" b="1" i="0">
                <a:solidFill>
                  <a:srgbClr val="C8A96A"/>
                </a:solidFill>
                <a:latin typeface="Georgia"/>
              </a:rPr>
              <a:t>01</a:t>
            </a:r>
          </a:p>
        </p:txBody>
      </p:sp>
      <p:sp>
        <p:nvSpPr>
          <p:cNvPr id="13" name="TextBox 12"/>
          <p:cNvSpPr txBox="1"/>
          <p:nvPr/>
        </p:nvSpPr>
        <p:spPr>
          <a:xfrm>
            <a:off x="1645920" y="2002536"/>
            <a:ext cx="2011680" cy="201168"/>
          </a:xfrm>
          <a:prstGeom prst="rect">
            <a:avLst/>
          </a:prstGeom>
          <a:noFill/>
        </p:spPr>
        <p:txBody>
          <a:bodyPr wrap="square" lIns="0" rIns="0" tIns="0" bIns="0" anchor="t">
            <a:spAutoFit/>
          </a:bodyPr>
          <a:lstStyle/>
          <a:p>
            <a:pPr algn="l"/>
            <a:r>
              <a:rPr sz="1000" b="1" i="0">
                <a:solidFill>
                  <a:srgbClr val="123524"/>
                </a:solidFill>
                <a:latin typeface="Aptos"/>
              </a:rPr>
              <a:t>EXPLORE</a:t>
            </a:r>
          </a:p>
        </p:txBody>
      </p:sp>
      <p:sp>
        <p:nvSpPr>
          <p:cNvPr id="14" name="TextBox 13"/>
          <p:cNvSpPr txBox="1"/>
          <p:nvPr/>
        </p:nvSpPr>
        <p:spPr>
          <a:xfrm>
            <a:off x="896112" y="2578608"/>
            <a:ext cx="4709160" cy="411480"/>
          </a:xfrm>
          <a:prstGeom prst="rect">
            <a:avLst/>
          </a:prstGeom>
          <a:noFill/>
        </p:spPr>
        <p:txBody>
          <a:bodyPr wrap="square" lIns="0" rIns="0" tIns="0" bIns="0" anchor="t">
            <a:spAutoFit/>
          </a:bodyPr>
          <a:lstStyle/>
          <a:p>
            <a:pPr algn="l"/>
            <a:r>
              <a:rPr sz="1400" b="1" i="0">
                <a:solidFill>
                  <a:srgbClr val="14251D"/>
                </a:solidFill>
                <a:latin typeface="Georgia"/>
              </a:rPr>
              <a:t>Browse and inspect traditional governance records.</a:t>
            </a:r>
          </a:p>
        </p:txBody>
      </p:sp>
      <p:sp>
        <p:nvSpPr>
          <p:cNvPr id="15" name="Rounded Rectangle 14"/>
          <p:cNvSpPr/>
          <p:nvPr/>
        </p:nvSpPr>
        <p:spPr>
          <a:xfrm>
            <a:off x="6254496" y="1755648"/>
            <a:ext cx="5285232" cy="1600200"/>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0528" y="1984248"/>
            <a:ext cx="640080" cy="347472"/>
          </a:xfrm>
          <a:prstGeom prst="rect">
            <a:avLst/>
          </a:prstGeom>
          <a:noFill/>
        </p:spPr>
        <p:txBody>
          <a:bodyPr wrap="square" lIns="0" rIns="0" tIns="0" bIns="0" anchor="t">
            <a:spAutoFit/>
          </a:bodyPr>
          <a:lstStyle/>
          <a:p>
            <a:pPr algn="l"/>
            <a:r>
              <a:rPr sz="2400" b="1" i="0">
                <a:solidFill>
                  <a:srgbClr val="C8A96A"/>
                </a:solidFill>
                <a:latin typeface="Georgia"/>
              </a:rPr>
              <a:t>02</a:t>
            </a:r>
          </a:p>
        </p:txBody>
      </p:sp>
      <p:sp>
        <p:nvSpPr>
          <p:cNvPr id="17" name="TextBox 16"/>
          <p:cNvSpPr txBox="1"/>
          <p:nvPr/>
        </p:nvSpPr>
        <p:spPr>
          <a:xfrm>
            <a:off x="7278624" y="2002536"/>
            <a:ext cx="2011680" cy="201168"/>
          </a:xfrm>
          <a:prstGeom prst="rect">
            <a:avLst/>
          </a:prstGeom>
          <a:noFill/>
        </p:spPr>
        <p:txBody>
          <a:bodyPr wrap="square" lIns="0" rIns="0" tIns="0" bIns="0" anchor="t">
            <a:spAutoFit/>
          </a:bodyPr>
          <a:lstStyle/>
          <a:p>
            <a:pPr algn="l"/>
            <a:r>
              <a:rPr sz="1000" b="1" i="0">
                <a:solidFill>
                  <a:srgbClr val="123524"/>
                </a:solidFill>
                <a:latin typeface="Aptos"/>
              </a:rPr>
              <a:t>UNDERSTAND</a:t>
            </a:r>
          </a:p>
        </p:txBody>
      </p:sp>
      <p:sp>
        <p:nvSpPr>
          <p:cNvPr id="18" name="TextBox 17"/>
          <p:cNvSpPr txBox="1"/>
          <p:nvPr/>
        </p:nvSpPr>
        <p:spPr>
          <a:xfrm>
            <a:off x="6528816" y="2578608"/>
            <a:ext cx="4709160" cy="411480"/>
          </a:xfrm>
          <a:prstGeom prst="rect">
            <a:avLst/>
          </a:prstGeom>
          <a:noFill/>
        </p:spPr>
        <p:txBody>
          <a:bodyPr wrap="square" lIns="0" rIns="0" tIns="0" bIns="0" anchor="t">
            <a:spAutoFit/>
          </a:bodyPr>
          <a:lstStyle/>
          <a:p>
            <a:pPr algn="l"/>
            <a:r>
              <a:rPr sz="1400" b="1" i="0">
                <a:solidFill>
                  <a:srgbClr val="14251D"/>
                </a:solidFill>
                <a:latin typeface="Georgia"/>
              </a:rPr>
              <a:t>View clear summaries, maps, and descriptive charts.</a:t>
            </a:r>
          </a:p>
        </p:txBody>
      </p:sp>
      <p:sp>
        <p:nvSpPr>
          <p:cNvPr id="19" name="Rounded Rectangle 18"/>
          <p:cNvSpPr/>
          <p:nvPr/>
        </p:nvSpPr>
        <p:spPr>
          <a:xfrm>
            <a:off x="621792" y="3657600"/>
            <a:ext cx="5285232" cy="1600200"/>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3886200"/>
            <a:ext cx="640080" cy="347472"/>
          </a:xfrm>
          <a:prstGeom prst="rect">
            <a:avLst/>
          </a:prstGeom>
          <a:noFill/>
        </p:spPr>
        <p:txBody>
          <a:bodyPr wrap="square" lIns="0" rIns="0" tIns="0" bIns="0" anchor="t">
            <a:spAutoFit/>
          </a:bodyPr>
          <a:lstStyle/>
          <a:p>
            <a:pPr algn="l"/>
            <a:r>
              <a:rPr sz="2400" b="1" i="0">
                <a:solidFill>
                  <a:srgbClr val="C8A96A"/>
                </a:solidFill>
                <a:latin typeface="Georgia"/>
              </a:rPr>
              <a:t>03</a:t>
            </a:r>
          </a:p>
        </p:txBody>
      </p:sp>
      <p:sp>
        <p:nvSpPr>
          <p:cNvPr id="21" name="TextBox 20"/>
          <p:cNvSpPr txBox="1"/>
          <p:nvPr/>
        </p:nvSpPr>
        <p:spPr>
          <a:xfrm>
            <a:off x="1645920" y="3904487"/>
            <a:ext cx="2011680" cy="201168"/>
          </a:xfrm>
          <a:prstGeom prst="rect">
            <a:avLst/>
          </a:prstGeom>
          <a:noFill/>
        </p:spPr>
        <p:txBody>
          <a:bodyPr wrap="square" lIns="0" rIns="0" tIns="0" bIns="0" anchor="t">
            <a:spAutoFit/>
          </a:bodyPr>
          <a:lstStyle/>
          <a:p>
            <a:pPr algn="l"/>
            <a:r>
              <a:rPr sz="1000" b="1" i="0">
                <a:solidFill>
                  <a:srgbClr val="123524"/>
                </a:solidFill>
                <a:latin typeface="Aptos"/>
              </a:rPr>
              <a:t>COMPARE</a:t>
            </a:r>
          </a:p>
        </p:txBody>
      </p:sp>
      <p:sp>
        <p:nvSpPr>
          <p:cNvPr id="22" name="TextBox 21"/>
          <p:cNvSpPr txBox="1"/>
          <p:nvPr/>
        </p:nvSpPr>
        <p:spPr>
          <a:xfrm>
            <a:off x="896112" y="4480560"/>
            <a:ext cx="4709160" cy="411480"/>
          </a:xfrm>
          <a:prstGeom prst="rect">
            <a:avLst/>
          </a:prstGeom>
          <a:noFill/>
        </p:spPr>
        <p:txBody>
          <a:bodyPr wrap="square" lIns="0" rIns="0" tIns="0" bIns="0" anchor="t">
            <a:spAutoFit/>
          </a:bodyPr>
          <a:lstStyle/>
          <a:p>
            <a:pPr algn="l"/>
            <a:r>
              <a:rPr sz="1400" b="1" i="0">
                <a:solidFill>
                  <a:srgbClr val="14251D"/>
                </a:solidFill>
                <a:latin typeface="Georgia"/>
              </a:rPr>
              <a:t>Compare countries, continents, and regions.</a:t>
            </a:r>
          </a:p>
        </p:txBody>
      </p:sp>
      <p:sp>
        <p:nvSpPr>
          <p:cNvPr id="23" name="Rounded Rectangle 22"/>
          <p:cNvSpPr/>
          <p:nvPr/>
        </p:nvSpPr>
        <p:spPr>
          <a:xfrm>
            <a:off x="6254496" y="3657600"/>
            <a:ext cx="5285232" cy="1600200"/>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0528" y="3886200"/>
            <a:ext cx="640080" cy="347472"/>
          </a:xfrm>
          <a:prstGeom prst="rect">
            <a:avLst/>
          </a:prstGeom>
          <a:noFill/>
        </p:spPr>
        <p:txBody>
          <a:bodyPr wrap="square" lIns="0" rIns="0" tIns="0" bIns="0" anchor="t">
            <a:spAutoFit/>
          </a:bodyPr>
          <a:lstStyle/>
          <a:p>
            <a:pPr algn="l"/>
            <a:r>
              <a:rPr sz="2400" b="1" i="0">
                <a:solidFill>
                  <a:srgbClr val="C8A96A"/>
                </a:solidFill>
                <a:latin typeface="Georgia"/>
              </a:rPr>
              <a:t>04</a:t>
            </a:r>
          </a:p>
        </p:txBody>
      </p:sp>
      <p:sp>
        <p:nvSpPr>
          <p:cNvPr id="25" name="TextBox 24"/>
          <p:cNvSpPr txBox="1"/>
          <p:nvPr/>
        </p:nvSpPr>
        <p:spPr>
          <a:xfrm>
            <a:off x="7278624" y="3904487"/>
            <a:ext cx="2011680" cy="201168"/>
          </a:xfrm>
          <a:prstGeom prst="rect">
            <a:avLst/>
          </a:prstGeom>
          <a:noFill/>
        </p:spPr>
        <p:txBody>
          <a:bodyPr wrap="square" lIns="0" rIns="0" tIns="0" bIns="0" anchor="t">
            <a:spAutoFit/>
          </a:bodyPr>
          <a:lstStyle/>
          <a:p>
            <a:pPr algn="l"/>
            <a:r>
              <a:rPr sz="1000" b="1" i="0">
                <a:solidFill>
                  <a:srgbClr val="123524"/>
                </a:solidFill>
                <a:latin typeface="Aptos"/>
              </a:rPr>
              <a:t>ANALYZE</a:t>
            </a:r>
          </a:p>
        </p:txBody>
      </p:sp>
      <p:sp>
        <p:nvSpPr>
          <p:cNvPr id="26" name="TextBox 25"/>
          <p:cNvSpPr txBox="1"/>
          <p:nvPr/>
        </p:nvSpPr>
        <p:spPr>
          <a:xfrm>
            <a:off x="6528816" y="4480560"/>
            <a:ext cx="4709160" cy="411480"/>
          </a:xfrm>
          <a:prstGeom prst="rect">
            <a:avLst/>
          </a:prstGeom>
          <a:noFill/>
        </p:spPr>
        <p:txBody>
          <a:bodyPr wrap="square" lIns="0" rIns="0" tIns="0" bIns="0" anchor="t">
            <a:spAutoFit/>
          </a:bodyPr>
          <a:lstStyle/>
          <a:p>
            <a:pPr algn="l"/>
            <a:r>
              <a:rPr sz="1400" b="1" i="0">
                <a:solidFill>
                  <a:srgbClr val="14251D"/>
                </a:solidFill>
                <a:latin typeface="Georgia"/>
              </a:rPr>
              <a:t>Review statistical relationships and their interpretation.</a:t>
            </a:r>
          </a:p>
        </p:txBody>
      </p:sp>
      <p:sp>
        <p:nvSpPr>
          <p:cNvPr id="27" name="TextBox 26"/>
          <p:cNvSpPr txBox="1"/>
          <p:nvPr/>
        </p:nvSpPr>
        <p:spPr>
          <a:xfrm>
            <a:off x="822960" y="5715000"/>
            <a:ext cx="10561320" cy="502920"/>
          </a:xfrm>
          <a:prstGeom prst="rect">
            <a:avLst/>
          </a:prstGeom>
          <a:noFill/>
        </p:spPr>
        <p:txBody>
          <a:bodyPr wrap="square" lIns="27432" rIns="27432" tIns="27432" bIns="27432" anchor="ctr">
            <a:spAutoFit/>
          </a:bodyPr>
          <a:lstStyle/>
          <a:p>
            <a:pPr algn="ctr"/>
            <a:r>
              <a:rPr sz="1300" b="1" i="0">
                <a:solidFill>
                  <a:srgbClr val="14251D"/>
                </a:solidFill>
                <a:latin typeface="Aptos"/>
              </a:rPr>
              <a:t>The following slides explain the final system from the user's perspective: what each page is, what it shows, what the user can do, and the benefit it provides.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REV_BACKGROUND"/>
          <p:cNvSpPr/>
          <p:nvPr/>
        </p:nvSpPr>
        <p:spPr>
          <a:xfrm>
            <a:off x="0" y="0"/>
            <a:ext cx="12192000" cy="68580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972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2000" cy="20116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V_SECTION"/>
          <p:cNvSpPr txBox="1"/>
          <p:nvPr/>
        </p:nvSpPr>
        <p:spPr>
          <a:xfrm>
            <a:off x="502920" y="283464"/>
            <a:ext cx="4389120" cy="201168"/>
          </a:xfrm>
          <a:prstGeom prst="rect">
            <a:avLst/>
          </a:prstGeom>
          <a:noFill/>
        </p:spPr>
        <p:txBody>
          <a:bodyPr wrap="square" lIns="27432" rIns="27432" tIns="27432" bIns="27432" anchor="t">
            <a:spAutoFit/>
          </a:bodyPr>
          <a:lstStyle/>
          <a:p>
            <a:pPr algn="l"/>
            <a:r>
              <a:rPr sz="900" b="1" i="0">
                <a:solidFill>
                  <a:srgbClr val="123524"/>
                </a:solidFill>
                <a:latin typeface="Aptos"/>
              </a:rPr>
              <a:t>4.2 • FINAL SYSTEM OVERVIEW</a:t>
            </a:r>
          </a:p>
        </p:txBody>
      </p:sp>
      <p:sp>
        <p:nvSpPr>
          <p:cNvPr id="6" name="Rectangle 5"/>
          <p:cNvSpPr/>
          <p:nvPr/>
        </p:nvSpPr>
        <p:spPr>
          <a:xfrm>
            <a:off x="502920" y="576072"/>
            <a:ext cx="420624" cy="22860"/>
          </a:xfrm>
          <a:prstGeom prst="rect">
            <a:avLst/>
          </a:prstGeom>
          <a:solidFill>
            <a:srgbClr val="C8A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V_TITLE"/>
          <p:cNvSpPr txBox="1"/>
          <p:nvPr/>
        </p:nvSpPr>
        <p:spPr>
          <a:xfrm>
            <a:off x="502920" y="658368"/>
            <a:ext cx="11018520" cy="475488"/>
          </a:xfrm>
          <a:prstGeom prst="rect">
            <a:avLst/>
          </a:prstGeom>
          <a:noFill/>
        </p:spPr>
        <p:txBody>
          <a:bodyPr wrap="square" lIns="27432" rIns="27432" tIns="27432" bIns="27432" anchor="t">
            <a:spAutoFit/>
          </a:bodyPr>
          <a:lstStyle/>
          <a:p>
            <a:pPr algn="l"/>
            <a:r>
              <a:rPr sz="2500" b="0" i="0">
                <a:solidFill>
                  <a:srgbClr val="14251D"/>
                </a:solidFill>
                <a:latin typeface="Georgia"/>
              </a:rPr>
              <a:t>A connected research journey</a:t>
            </a:r>
          </a:p>
        </p:txBody>
      </p:sp>
      <p:sp>
        <p:nvSpPr>
          <p:cNvPr id="8" name="REV_SUBTITLE"/>
          <p:cNvSpPr txBox="1"/>
          <p:nvPr/>
        </p:nvSpPr>
        <p:spPr>
          <a:xfrm>
            <a:off x="521207" y="1179576"/>
            <a:ext cx="10927080" cy="320040"/>
          </a:xfrm>
          <a:prstGeom prst="rect">
            <a:avLst/>
          </a:prstGeom>
          <a:noFill/>
        </p:spPr>
        <p:txBody>
          <a:bodyPr wrap="square" lIns="27432" rIns="27432" tIns="27432" bIns="27432" anchor="t">
            <a:spAutoFit/>
          </a:bodyPr>
          <a:lstStyle/>
          <a:p>
            <a:pPr algn="l"/>
            <a:r>
              <a:rPr sz="1150" b="0" i="0">
                <a:solidFill>
                  <a:srgbClr val="65736B"/>
                </a:solidFill>
                <a:latin typeface="Aptos"/>
              </a:rPr>
              <a:t>The platform guides the user from a broad overview to detailed evidence and statistical interpretation.</a:t>
            </a:r>
          </a:p>
        </p:txBody>
      </p:sp>
      <p:sp>
        <p:nvSpPr>
          <p:cNvPr id="9" name="TextBox 8"/>
          <p:cNvSpPr txBox="1"/>
          <p:nvPr/>
        </p:nvSpPr>
        <p:spPr>
          <a:xfrm>
            <a:off x="502920" y="6684264"/>
            <a:ext cx="4572000" cy="100584"/>
          </a:xfrm>
          <a:prstGeom prst="rect">
            <a:avLst/>
          </a:prstGeom>
          <a:noFill/>
        </p:spPr>
        <p:txBody>
          <a:bodyPr wrap="square" lIns="0" rIns="0" tIns="0" bIns="0" anchor="t">
            <a:spAutoFit/>
          </a:bodyPr>
          <a:lstStyle/>
          <a:p>
            <a:pPr algn="l"/>
            <a:r>
              <a:rPr sz="750" b="0" i="0">
                <a:solidFill>
                  <a:srgbClr val="DDE7E0"/>
                </a:solidFill>
                <a:latin typeface="Aptos"/>
              </a:rPr>
              <a:t>Chapter 4 • Results and Discussion</a:t>
            </a:r>
          </a:p>
        </p:txBody>
      </p:sp>
      <p:sp>
        <p:nvSpPr>
          <p:cNvPr id="10" name="TextBox 9"/>
          <p:cNvSpPr txBox="1"/>
          <p:nvPr/>
        </p:nvSpPr>
        <p:spPr>
          <a:xfrm>
            <a:off x="11475720" y="6684264"/>
            <a:ext cx="274320" cy="100584"/>
          </a:xfrm>
          <a:prstGeom prst="rect">
            <a:avLst/>
          </a:prstGeom>
          <a:noFill/>
        </p:spPr>
        <p:txBody>
          <a:bodyPr wrap="square" lIns="0" rIns="0" tIns="0" bIns="0" anchor="t">
            <a:spAutoFit/>
          </a:bodyPr>
          <a:lstStyle/>
          <a:p>
            <a:pPr algn="r"/>
            <a:r>
              <a:rPr sz="800" b="0" i="0">
                <a:solidFill>
                  <a:srgbClr val="FFFFFF"/>
                </a:solidFill>
                <a:latin typeface="Aptos"/>
              </a:rPr>
              <a:t>3</a:t>
            </a:r>
          </a:p>
        </p:txBody>
      </p:sp>
      <p:sp>
        <p:nvSpPr>
          <p:cNvPr id="11" name="Rounded Rectangle 10"/>
          <p:cNvSpPr/>
          <p:nvPr/>
        </p:nvSpPr>
        <p:spPr>
          <a:xfrm>
            <a:off x="402336" y="1965960"/>
            <a:ext cx="1572768" cy="1353312"/>
          </a:xfrm>
          <a:prstGeom prst="roundRect">
            <a:avLst/>
          </a:prstGeom>
          <a:solidFill>
            <a:srgbClr val="E9EFEA"/>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2148840"/>
            <a:ext cx="411480" cy="274320"/>
          </a:xfrm>
          <a:prstGeom prst="rect">
            <a:avLst/>
          </a:prstGeom>
          <a:noFill/>
        </p:spPr>
        <p:txBody>
          <a:bodyPr wrap="square" lIns="0" rIns="0" tIns="0" bIns="0" anchor="t">
            <a:spAutoFit/>
          </a:bodyPr>
          <a:lstStyle/>
          <a:p>
            <a:pPr algn="ctr"/>
            <a:r>
              <a:rPr sz="1800" b="1" i="0">
                <a:solidFill>
                  <a:srgbClr val="C8A96A"/>
                </a:solidFill>
                <a:latin typeface="Georgia"/>
              </a:rPr>
              <a:t>1</a:t>
            </a:r>
          </a:p>
        </p:txBody>
      </p:sp>
      <p:sp>
        <p:nvSpPr>
          <p:cNvPr id="13" name="TextBox 12"/>
          <p:cNvSpPr txBox="1"/>
          <p:nvPr/>
        </p:nvSpPr>
        <p:spPr>
          <a:xfrm>
            <a:off x="521208" y="2542032"/>
            <a:ext cx="1335024" cy="219456"/>
          </a:xfrm>
          <a:prstGeom prst="rect">
            <a:avLst/>
          </a:prstGeom>
          <a:noFill/>
        </p:spPr>
        <p:txBody>
          <a:bodyPr wrap="square" lIns="0" rIns="0" tIns="0" bIns="0" anchor="t">
            <a:spAutoFit/>
          </a:bodyPr>
          <a:lstStyle/>
          <a:p>
            <a:pPr algn="ctr"/>
            <a:r>
              <a:rPr sz="1150" b="1" i="0">
                <a:solidFill>
                  <a:srgbClr val="123524"/>
                </a:solidFill>
                <a:latin typeface="Aptos"/>
              </a:rPr>
              <a:t>Home</a:t>
            </a:r>
          </a:p>
        </p:txBody>
      </p:sp>
      <p:sp>
        <p:nvSpPr>
          <p:cNvPr id="14" name="TextBox 13"/>
          <p:cNvSpPr txBox="1"/>
          <p:nvPr/>
        </p:nvSpPr>
        <p:spPr>
          <a:xfrm>
            <a:off x="521208" y="2825496"/>
            <a:ext cx="1335024" cy="292608"/>
          </a:xfrm>
          <a:prstGeom prst="rect">
            <a:avLst/>
          </a:prstGeom>
          <a:noFill/>
        </p:spPr>
        <p:txBody>
          <a:bodyPr wrap="square" lIns="0" rIns="0" tIns="0" bIns="0" anchor="t">
            <a:spAutoFit/>
          </a:bodyPr>
          <a:lstStyle/>
          <a:p>
            <a:pPr algn="ctr"/>
            <a:r>
              <a:rPr sz="950" b="0" i="0">
                <a:solidFill>
                  <a:srgbClr val="65736B"/>
                </a:solidFill>
                <a:latin typeface="Aptos"/>
              </a:rPr>
              <a:t>See the platform overview</a:t>
            </a:r>
          </a:p>
        </p:txBody>
      </p:sp>
      <p:sp>
        <p:nvSpPr>
          <p:cNvPr id="15" name="Chevron 14"/>
          <p:cNvSpPr/>
          <p:nvPr/>
        </p:nvSpPr>
        <p:spPr>
          <a:xfrm>
            <a:off x="2039112" y="2441448"/>
            <a:ext cx="237744" cy="384048"/>
          </a:xfrm>
          <a:prstGeom prst="chevron">
            <a:avLst/>
          </a:prstGeom>
          <a:solidFill>
            <a:srgbClr val="C8A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340864" y="1965960"/>
            <a:ext cx="1572768" cy="1353312"/>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16936" y="2148840"/>
            <a:ext cx="411480" cy="274320"/>
          </a:xfrm>
          <a:prstGeom prst="rect">
            <a:avLst/>
          </a:prstGeom>
          <a:noFill/>
        </p:spPr>
        <p:txBody>
          <a:bodyPr wrap="square" lIns="0" rIns="0" tIns="0" bIns="0" anchor="t">
            <a:spAutoFit/>
          </a:bodyPr>
          <a:lstStyle/>
          <a:p>
            <a:pPr algn="ctr"/>
            <a:r>
              <a:rPr sz="1800" b="1" i="0">
                <a:solidFill>
                  <a:srgbClr val="C8A96A"/>
                </a:solidFill>
                <a:latin typeface="Georgia"/>
              </a:rPr>
              <a:t>2</a:t>
            </a:r>
          </a:p>
        </p:txBody>
      </p:sp>
      <p:sp>
        <p:nvSpPr>
          <p:cNvPr id="18" name="TextBox 17"/>
          <p:cNvSpPr txBox="1"/>
          <p:nvPr/>
        </p:nvSpPr>
        <p:spPr>
          <a:xfrm>
            <a:off x="2459736" y="2542032"/>
            <a:ext cx="1335024" cy="219456"/>
          </a:xfrm>
          <a:prstGeom prst="rect">
            <a:avLst/>
          </a:prstGeom>
          <a:noFill/>
        </p:spPr>
        <p:txBody>
          <a:bodyPr wrap="square" lIns="0" rIns="0" tIns="0" bIns="0" anchor="t">
            <a:spAutoFit/>
          </a:bodyPr>
          <a:lstStyle/>
          <a:p>
            <a:pPr algn="ctr"/>
            <a:r>
              <a:rPr sz="1150" b="1" i="0">
                <a:solidFill>
                  <a:srgbClr val="123524"/>
                </a:solidFill>
                <a:latin typeface="Aptos"/>
              </a:rPr>
              <a:t>Groups</a:t>
            </a:r>
          </a:p>
        </p:txBody>
      </p:sp>
      <p:sp>
        <p:nvSpPr>
          <p:cNvPr id="19" name="TextBox 18"/>
          <p:cNvSpPr txBox="1"/>
          <p:nvPr/>
        </p:nvSpPr>
        <p:spPr>
          <a:xfrm>
            <a:off x="2459736" y="2825496"/>
            <a:ext cx="1335024" cy="292608"/>
          </a:xfrm>
          <a:prstGeom prst="rect">
            <a:avLst/>
          </a:prstGeom>
          <a:noFill/>
        </p:spPr>
        <p:txBody>
          <a:bodyPr wrap="square" lIns="0" rIns="0" tIns="0" bIns="0" anchor="t">
            <a:spAutoFit/>
          </a:bodyPr>
          <a:lstStyle/>
          <a:p>
            <a:pPr algn="ctr"/>
            <a:r>
              <a:rPr sz="950" b="0" i="0">
                <a:solidFill>
                  <a:srgbClr val="65736B"/>
                </a:solidFill>
                <a:latin typeface="Aptos"/>
              </a:rPr>
              <a:t>Find relevant records</a:t>
            </a:r>
          </a:p>
        </p:txBody>
      </p:sp>
      <p:sp>
        <p:nvSpPr>
          <p:cNvPr id="20" name="Chevron 19"/>
          <p:cNvSpPr/>
          <p:nvPr/>
        </p:nvSpPr>
        <p:spPr>
          <a:xfrm>
            <a:off x="3977639" y="2441448"/>
            <a:ext cx="237744" cy="384048"/>
          </a:xfrm>
          <a:prstGeom prst="chevron">
            <a:avLst/>
          </a:prstGeom>
          <a:solidFill>
            <a:srgbClr val="C8A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279392" y="1965960"/>
            <a:ext cx="1572768" cy="1353312"/>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55464" y="2148840"/>
            <a:ext cx="411480" cy="274320"/>
          </a:xfrm>
          <a:prstGeom prst="rect">
            <a:avLst/>
          </a:prstGeom>
          <a:noFill/>
        </p:spPr>
        <p:txBody>
          <a:bodyPr wrap="square" lIns="0" rIns="0" tIns="0" bIns="0" anchor="t">
            <a:spAutoFit/>
          </a:bodyPr>
          <a:lstStyle/>
          <a:p>
            <a:pPr algn="ctr"/>
            <a:r>
              <a:rPr sz="1800" b="1" i="0">
                <a:solidFill>
                  <a:srgbClr val="C8A96A"/>
                </a:solidFill>
                <a:latin typeface="Georgia"/>
              </a:rPr>
              <a:t>3</a:t>
            </a:r>
          </a:p>
        </p:txBody>
      </p:sp>
      <p:sp>
        <p:nvSpPr>
          <p:cNvPr id="23" name="TextBox 22"/>
          <p:cNvSpPr txBox="1"/>
          <p:nvPr/>
        </p:nvSpPr>
        <p:spPr>
          <a:xfrm>
            <a:off x="4398264" y="2542032"/>
            <a:ext cx="1335024" cy="219456"/>
          </a:xfrm>
          <a:prstGeom prst="rect">
            <a:avLst/>
          </a:prstGeom>
          <a:noFill/>
        </p:spPr>
        <p:txBody>
          <a:bodyPr wrap="square" lIns="0" rIns="0" tIns="0" bIns="0" anchor="t">
            <a:spAutoFit/>
          </a:bodyPr>
          <a:lstStyle/>
          <a:p>
            <a:pPr algn="ctr"/>
            <a:r>
              <a:rPr sz="1150" b="1" i="0">
                <a:solidFill>
                  <a:srgbClr val="123524"/>
                </a:solidFill>
                <a:latin typeface="Aptos"/>
              </a:rPr>
              <a:t>Map &amp; Statistics</a:t>
            </a:r>
          </a:p>
        </p:txBody>
      </p:sp>
      <p:sp>
        <p:nvSpPr>
          <p:cNvPr id="24" name="TextBox 23"/>
          <p:cNvSpPr txBox="1"/>
          <p:nvPr/>
        </p:nvSpPr>
        <p:spPr>
          <a:xfrm>
            <a:off x="4398264" y="2825496"/>
            <a:ext cx="1335024" cy="292608"/>
          </a:xfrm>
          <a:prstGeom prst="rect">
            <a:avLst/>
          </a:prstGeom>
          <a:noFill/>
        </p:spPr>
        <p:txBody>
          <a:bodyPr wrap="square" lIns="0" rIns="0" tIns="0" bIns="0" anchor="t">
            <a:spAutoFit/>
          </a:bodyPr>
          <a:lstStyle/>
          <a:p>
            <a:pPr algn="ctr"/>
            <a:r>
              <a:rPr sz="950" b="0" i="0">
                <a:solidFill>
                  <a:srgbClr val="65736B"/>
                </a:solidFill>
                <a:latin typeface="Aptos"/>
              </a:rPr>
              <a:t>Understand patterns</a:t>
            </a:r>
          </a:p>
        </p:txBody>
      </p:sp>
      <p:sp>
        <p:nvSpPr>
          <p:cNvPr id="25" name="Chevron 24"/>
          <p:cNvSpPr/>
          <p:nvPr/>
        </p:nvSpPr>
        <p:spPr>
          <a:xfrm>
            <a:off x="5916168" y="2441448"/>
            <a:ext cx="237744" cy="384048"/>
          </a:xfrm>
          <a:prstGeom prst="chevron">
            <a:avLst/>
          </a:prstGeom>
          <a:solidFill>
            <a:srgbClr val="C8A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17920" y="1965960"/>
            <a:ext cx="1572768" cy="1353312"/>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93992" y="2148840"/>
            <a:ext cx="411480" cy="274320"/>
          </a:xfrm>
          <a:prstGeom prst="rect">
            <a:avLst/>
          </a:prstGeom>
          <a:noFill/>
        </p:spPr>
        <p:txBody>
          <a:bodyPr wrap="square" lIns="0" rIns="0" tIns="0" bIns="0" anchor="t">
            <a:spAutoFit/>
          </a:bodyPr>
          <a:lstStyle/>
          <a:p>
            <a:pPr algn="ctr"/>
            <a:r>
              <a:rPr sz="1800" b="1" i="0">
                <a:solidFill>
                  <a:srgbClr val="C8A96A"/>
                </a:solidFill>
                <a:latin typeface="Georgia"/>
              </a:rPr>
              <a:t>4</a:t>
            </a:r>
          </a:p>
        </p:txBody>
      </p:sp>
      <p:sp>
        <p:nvSpPr>
          <p:cNvPr id="28" name="TextBox 27"/>
          <p:cNvSpPr txBox="1"/>
          <p:nvPr/>
        </p:nvSpPr>
        <p:spPr>
          <a:xfrm>
            <a:off x="6336792" y="2542032"/>
            <a:ext cx="1335024" cy="219456"/>
          </a:xfrm>
          <a:prstGeom prst="rect">
            <a:avLst/>
          </a:prstGeom>
          <a:noFill/>
        </p:spPr>
        <p:txBody>
          <a:bodyPr wrap="square" lIns="0" rIns="0" tIns="0" bIns="0" anchor="t">
            <a:spAutoFit/>
          </a:bodyPr>
          <a:lstStyle/>
          <a:p>
            <a:pPr algn="ctr"/>
            <a:r>
              <a:rPr sz="1150" b="1" i="0">
                <a:solidFill>
                  <a:srgbClr val="123524"/>
                </a:solidFill>
                <a:latin typeface="Aptos"/>
              </a:rPr>
              <a:t>Comparison</a:t>
            </a:r>
          </a:p>
        </p:txBody>
      </p:sp>
      <p:sp>
        <p:nvSpPr>
          <p:cNvPr id="29" name="TextBox 28"/>
          <p:cNvSpPr txBox="1"/>
          <p:nvPr/>
        </p:nvSpPr>
        <p:spPr>
          <a:xfrm>
            <a:off x="6336792" y="2825496"/>
            <a:ext cx="1335024" cy="292608"/>
          </a:xfrm>
          <a:prstGeom prst="rect">
            <a:avLst/>
          </a:prstGeom>
          <a:noFill/>
        </p:spPr>
        <p:txBody>
          <a:bodyPr wrap="square" lIns="0" rIns="0" tIns="0" bIns="0" anchor="t">
            <a:spAutoFit/>
          </a:bodyPr>
          <a:lstStyle/>
          <a:p>
            <a:pPr algn="ctr"/>
            <a:r>
              <a:rPr sz="950" b="0" i="0">
                <a:solidFill>
                  <a:srgbClr val="65736B"/>
                </a:solidFill>
                <a:latin typeface="Aptos"/>
              </a:rPr>
              <a:t>Compare geographic areas</a:t>
            </a:r>
          </a:p>
        </p:txBody>
      </p:sp>
      <p:sp>
        <p:nvSpPr>
          <p:cNvPr id="30" name="Chevron 29"/>
          <p:cNvSpPr/>
          <p:nvPr/>
        </p:nvSpPr>
        <p:spPr>
          <a:xfrm>
            <a:off x="7854696" y="2441448"/>
            <a:ext cx="237744" cy="384048"/>
          </a:xfrm>
          <a:prstGeom prst="chevron">
            <a:avLst/>
          </a:prstGeom>
          <a:solidFill>
            <a:srgbClr val="C8A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156448" y="1965960"/>
            <a:ext cx="1572768" cy="1353312"/>
          </a:xfrm>
          <a:prstGeom prst="roundRect">
            <a:avLst/>
          </a:prstGeom>
          <a:solidFill>
            <a:srgbClr val="E9EFEA"/>
          </a:solidFill>
          <a:ln w="10160">
            <a:solidFill>
              <a:srgbClr val="C8A9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732520" y="2148840"/>
            <a:ext cx="411480" cy="274320"/>
          </a:xfrm>
          <a:prstGeom prst="rect">
            <a:avLst/>
          </a:prstGeom>
          <a:noFill/>
        </p:spPr>
        <p:txBody>
          <a:bodyPr wrap="square" lIns="0" rIns="0" tIns="0" bIns="0" anchor="t">
            <a:spAutoFit/>
          </a:bodyPr>
          <a:lstStyle/>
          <a:p>
            <a:pPr algn="ctr"/>
            <a:r>
              <a:rPr sz="1800" b="1" i="0">
                <a:solidFill>
                  <a:srgbClr val="C8A96A"/>
                </a:solidFill>
                <a:latin typeface="Georgia"/>
              </a:rPr>
              <a:t>5</a:t>
            </a:r>
          </a:p>
        </p:txBody>
      </p:sp>
      <p:sp>
        <p:nvSpPr>
          <p:cNvPr id="33" name="TextBox 32"/>
          <p:cNvSpPr txBox="1"/>
          <p:nvPr/>
        </p:nvSpPr>
        <p:spPr>
          <a:xfrm>
            <a:off x="8275320" y="2542032"/>
            <a:ext cx="1335024" cy="219456"/>
          </a:xfrm>
          <a:prstGeom prst="rect">
            <a:avLst/>
          </a:prstGeom>
          <a:noFill/>
        </p:spPr>
        <p:txBody>
          <a:bodyPr wrap="square" lIns="0" rIns="0" tIns="0" bIns="0" anchor="t">
            <a:spAutoFit/>
          </a:bodyPr>
          <a:lstStyle/>
          <a:p>
            <a:pPr algn="ctr"/>
            <a:r>
              <a:rPr sz="1150" b="1" i="0">
                <a:solidFill>
                  <a:srgbClr val="123524"/>
                </a:solidFill>
                <a:latin typeface="Aptos"/>
              </a:rPr>
              <a:t>Analysis</a:t>
            </a:r>
          </a:p>
        </p:txBody>
      </p:sp>
      <p:sp>
        <p:nvSpPr>
          <p:cNvPr id="34" name="TextBox 33"/>
          <p:cNvSpPr txBox="1"/>
          <p:nvPr/>
        </p:nvSpPr>
        <p:spPr>
          <a:xfrm>
            <a:off x="8275320" y="2825496"/>
            <a:ext cx="1335024" cy="292608"/>
          </a:xfrm>
          <a:prstGeom prst="rect">
            <a:avLst/>
          </a:prstGeom>
          <a:noFill/>
        </p:spPr>
        <p:txBody>
          <a:bodyPr wrap="square" lIns="0" rIns="0" tIns="0" bIns="0" anchor="t">
            <a:spAutoFit/>
          </a:bodyPr>
          <a:lstStyle/>
          <a:p>
            <a:pPr algn="ctr"/>
            <a:r>
              <a:rPr sz="950" b="0" i="0">
                <a:solidFill>
                  <a:srgbClr val="65736B"/>
                </a:solidFill>
                <a:latin typeface="Aptos"/>
              </a:rPr>
              <a:t>Interpret relationships</a:t>
            </a:r>
          </a:p>
        </p:txBody>
      </p:sp>
      <p:sp>
        <p:nvSpPr>
          <p:cNvPr id="35" name="Chevron 34"/>
          <p:cNvSpPr/>
          <p:nvPr/>
        </p:nvSpPr>
        <p:spPr>
          <a:xfrm>
            <a:off x="9793224" y="2441448"/>
            <a:ext cx="237744" cy="384048"/>
          </a:xfrm>
          <a:prstGeom prst="chevron">
            <a:avLst/>
          </a:prstGeom>
          <a:solidFill>
            <a:srgbClr val="C8A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094976" y="1965960"/>
            <a:ext cx="1572768" cy="1353312"/>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71048" y="2148840"/>
            <a:ext cx="411480" cy="274320"/>
          </a:xfrm>
          <a:prstGeom prst="rect">
            <a:avLst/>
          </a:prstGeom>
          <a:noFill/>
        </p:spPr>
        <p:txBody>
          <a:bodyPr wrap="square" lIns="0" rIns="0" tIns="0" bIns="0" anchor="t">
            <a:spAutoFit/>
          </a:bodyPr>
          <a:lstStyle/>
          <a:p>
            <a:pPr algn="ctr"/>
            <a:r>
              <a:rPr sz="1800" b="1" i="0">
                <a:solidFill>
                  <a:srgbClr val="C8A96A"/>
                </a:solidFill>
                <a:latin typeface="Georgia"/>
              </a:rPr>
              <a:t>6</a:t>
            </a:r>
          </a:p>
        </p:txBody>
      </p:sp>
      <p:sp>
        <p:nvSpPr>
          <p:cNvPr id="38" name="TextBox 37"/>
          <p:cNvSpPr txBox="1"/>
          <p:nvPr/>
        </p:nvSpPr>
        <p:spPr>
          <a:xfrm>
            <a:off x="10213848" y="2542032"/>
            <a:ext cx="1335024" cy="219456"/>
          </a:xfrm>
          <a:prstGeom prst="rect">
            <a:avLst/>
          </a:prstGeom>
          <a:noFill/>
        </p:spPr>
        <p:txBody>
          <a:bodyPr wrap="square" lIns="0" rIns="0" tIns="0" bIns="0" anchor="t">
            <a:spAutoFit/>
          </a:bodyPr>
          <a:lstStyle/>
          <a:p>
            <a:pPr algn="ctr"/>
            <a:r>
              <a:rPr sz="1150" b="1" i="0">
                <a:solidFill>
                  <a:srgbClr val="123524"/>
                </a:solidFill>
                <a:latin typeface="Aptos"/>
              </a:rPr>
              <a:t>About &amp; Contact</a:t>
            </a:r>
          </a:p>
        </p:txBody>
      </p:sp>
      <p:sp>
        <p:nvSpPr>
          <p:cNvPr id="39" name="TextBox 38"/>
          <p:cNvSpPr txBox="1"/>
          <p:nvPr/>
        </p:nvSpPr>
        <p:spPr>
          <a:xfrm>
            <a:off x="10213848" y="2825496"/>
            <a:ext cx="1335024" cy="292608"/>
          </a:xfrm>
          <a:prstGeom prst="rect">
            <a:avLst/>
          </a:prstGeom>
          <a:noFill/>
        </p:spPr>
        <p:txBody>
          <a:bodyPr wrap="square" lIns="0" rIns="0" tIns="0" bIns="0" anchor="t">
            <a:spAutoFit/>
          </a:bodyPr>
          <a:lstStyle/>
          <a:p>
            <a:pPr algn="ctr"/>
            <a:r>
              <a:rPr sz="950" b="0" i="0">
                <a:solidFill>
                  <a:srgbClr val="65736B"/>
                </a:solidFill>
                <a:latin typeface="Aptos"/>
              </a:rPr>
              <a:t>Understand and engage</a:t>
            </a:r>
          </a:p>
        </p:txBody>
      </p:sp>
      <p:sp>
        <p:nvSpPr>
          <p:cNvPr id="40" name="Rounded Rectangle 39"/>
          <p:cNvSpPr/>
          <p:nvPr/>
        </p:nvSpPr>
        <p:spPr>
          <a:xfrm>
            <a:off x="960120" y="4160520"/>
            <a:ext cx="10287000" cy="1325880"/>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298448" y="4462272"/>
            <a:ext cx="1234440" cy="182880"/>
          </a:xfrm>
          <a:prstGeom prst="rect">
            <a:avLst/>
          </a:prstGeom>
          <a:noFill/>
        </p:spPr>
        <p:txBody>
          <a:bodyPr wrap="square" lIns="0" rIns="0" tIns="0" bIns="0" anchor="t">
            <a:spAutoFit/>
          </a:bodyPr>
          <a:lstStyle/>
          <a:p>
            <a:pPr algn="l"/>
            <a:r>
              <a:rPr sz="900" b="1" i="0">
                <a:solidFill>
                  <a:srgbClr val="C8A96A"/>
                </a:solidFill>
                <a:latin typeface="Aptos"/>
              </a:rPr>
              <a:t>USER BENEFIT</a:t>
            </a:r>
          </a:p>
        </p:txBody>
      </p:sp>
      <p:sp>
        <p:nvSpPr>
          <p:cNvPr id="42" name="TextBox 41"/>
          <p:cNvSpPr txBox="1"/>
          <p:nvPr/>
        </p:nvSpPr>
        <p:spPr>
          <a:xfrm>
            <a:off x="2606040" y="4352544"/>
            <a:ext cx="8183879" cy="502920"/>
          </a:xfrm>
          <a:prstGeom prst="rect">
            <a:avLst/>
          </a:prstGeom>
          <a:noFill/>
        </p:spPr>
        <p:txBody>
          <a:bodyPr wrap="square" lIns="27432" rIns="27432" tIns="27432" bIns="27432" anchor="ctr">
            <a:spAutoFit/>
          </a:bodyPr>
          <a:lstStyle/>
          <a:p>
            <a:pPr algn="ctr"/>
            <a:r>
              <a:rPr sz="1500" b="1" i="0">
                <a:solidFill>
                  <a:srgbClr val="14251D"/>
                </a:solidFill>
                <a:latin typeface="Georgia"/>
              </a:rPr>
              <a:t>The user can move from a global summary to filtered records, geographic comparisons, and statistical conclusions without leaving the same research platform.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REV_BACKGROUND"/>
          <p:cNvSpPr/>
          <p:nvPr/>
        </p:nvSpPr>
        <p:spPr>
          <a:xfrm>
            <a:off x="0" y="0"/>
            <a:ext cx="12192000" cy="68580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972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2000" cy="20116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V_SECTION"/>
          <p:cNvSpPr txBox="1"/>
          <p:nvPr/>
        </p:nvSpPr>
        <p:spPr>
          <a:xfrm>
            <a:off x="502920" y="283464"/>
            <a:ext cx="4389120" cy="201168"/>
          </a:xfrm>
          <a:prstGeom prst="rect">
            <a:avLst/>
          </a:prstGeom>
          <a:noFill/>
        </p:spPr>
        <p:txBody>
          <a:bodyPr wrap="square" lIns="27432" rIns="27432" tIns="27432" bIns="27432" anchor="t">
            <a:spAutoFit/>
          </a:bodyPr>
          <a:lstStyle/>
          <a:p>
            <a:pPr algn="l"/>
            <a:r>
              <a:rPr sz="900" b="1" i="0">
                <a:solidFill>
                  <a:srgbClr val="123524"/>
                </a:solidFill>
                <a:latin typeface="Aptos"/>
              </a:rPr>
              <a:t>4.3 • HOME PAGE</a:t>
            </a:r>
          </a:p>
        </p:txBody>
      </p:sp>
      <p:sp>
        <p:nvSpPr>
          <p:cNvPr id="6" name="Rectangle 5"/>
          <p:cNvSpPr/>
          <p:nvPr/>
        </p:nvSpPr>
        <p:spPr>
          <a:xfrm>
            <a:off x="502920" y="576072"/>
            <a:ext cx="420624" cy="22860"/>
          </a:xfrm>
          <a:prstGeom prst="rect">
            <a:avLst/>
          </a:prstGeom>
          <a:solidFill>
            <a:srgbClr val="C8A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V_TITLE"/>
          <p:cNvSpPr txBox="1"/>
          <p:nvPr/>
        </p:nvSpPr>
        <p:spPr>
          <a:xfrm>
            <a:off x="502920" y="658368"/>
            <a:ext cx="11018520" cy="475488"/>
          </a:xfrm>
          <a:prstGeom prst="rect">
            <a:avLst/>
          </a:prstGeom>
          <a:noFill/>
        </p:spPr>
        <p:txBody>
          <a:bodyPr wrap="square" lIns="27432" rIns="27432" tIns="27432" bIns="27432" anchor="t">
            <a:spAutoFit/>
          </a:bodyPr>
          <a:lstStyle/>
          <a:p>
            <a:pPr algn="l"/>
            <a:r>
              <a:rPr sz="2500" b="0" i="0">
                <a:solidFill>
                  <a:srgbClr val="14251D"/>
                </a:solidFill>
                <a:latin typeface="Georgia"/>
              </a:rPr>
              <a:t>The starting point for exploration</a:t>
            </a:r>
          </a:p>
        </p:txBody>
      </p:sp>
      <p:sp>
        <p:nvSpPr>
          <p:cNvPr id="8" name="REV_SUBTITLE"/>
          <p:cNvSpPr txBox="1"/>
          <p:nvPr/>
        </p:nvSpPr>
        <p:spPr>
          <a:xfrm>
            <a:off x="521207" y="1179576"/>
            <a:ext cx="10927080" cy="320040"/>
          </a:xfrm>
          <a:prstGeom prst="rect">
            <a:avLst/>
          </a:prstGeom>
          <a:noFill/>
        </p:spPr>
        <p:txBody>
          <a:bodyPr wrap="square" lIns="27432" rIns="27432" tIns="27432" bIns="27432" anchor="t">
            <a:spAutoFit/>
          </a:bodyPr>
          <a:lstStyle/>
          <a:p>
            <a:pPr algn="l"/>
            <a:r>
              <a:rPr sz="1150" b="0" i="0">
                <a:solidFill>
                  <a:srgbClr val="65736B"/>
                </a:solidFill>
                <a:latin typeface="Aptos"/>
              </a:rPr>
              <a:t>The Home page introduces the platform and presents the main dataset overview.</a:t>
            </a:r>
          </a:p>
        </p:txBody>
      </p:sp>
      <p:sp>
        <p:nvSpPr>
          <p:cNvPr id="9" name="TextBox 8"/>
          <p:cNvSpPr txBox="1"/>
          <p:nvPr/>
        </p:nvSpPr>
        <p:spPr>
          <a:xfrm>
            <a:off x="502920" y="6684264"/>
            <a:ext cx="4572000" cy="100584"/>
          </a:xfrm>
          <a:prstGeom prst="rect">
            <a:avLst/>
          </a:prstGeom>
          <a:noFill/>
        </p:spPr>
        <p:txBody>
          <a:bodyPr wrap="square" lIns="0" rIns="0" tIns="0" bIns="0" anchor="t">
            <a:spAutoFit/>
          </a:bodyPr>
          <a:lstStyle/>
          <a:p>
            <a:pPr algn="l"/>
            <a:r>
              <a:rPr sz="750" b="0" i="0">
                <a:solidFill>
                  <a:srgbClr val="DDE7E0"/>
                </a:solidFill>
                <a:latin typeface="Aptos"/>
              </a:rPr>
              <a:t>Chapter 4 • Results and Discussion</a:t>
            </a:r>
          </a:p>
        </p:txBody>
      </p:sp>
      <p:sp>
        <p:nvSpPr>
          <p:cNvPr id="10" name="TextBox 9"/>
          <p:cNvSpPr txBox="1"/>
          <p:nvPr/>
        </p:nvSpPr>
        <p:spPr>
          <a:xfrm>
            <a:off x="11475720" y="6684264"/>
            <a:ext cx="274320" cy="100584"/>
          </a:xfrm>
          <a:prstGeom prst="rect">
            <a:avLst/>
          </a:prstGeom>
          <a:noFill/>
        </p:spPr>
        <p:txBody>
          <a:bodyPr wrap="square" lIns="0" rIns="0" tIns="0" bIns="0" anchor="t">
            <a:spAutoFit/>
          </a:bodyPr>
          <a:lstStyle/>
          <a:p>
            <a:pPr algn="r"/>
            <a:r>
              <a:rPr sz="800" b="0" i="0">
                <a:solidFill>
                  <a:srgbClr val="FFFFFF"/>
                </a:solidFill>
                <a:latin typeface="Aptos"/>
              </a:rPr>
              <a:t>4</a:t>
            </a:r>
          </a:p>
        </p:txBody>
      </p:sp>
      <p:sp>
        <p:nvSpPr>
          <p:cNvPr id="11" name="Rounded Rectangle 10"/>
          <p:cNvSpPr/>
          <p:nvPr/>
        </p:nvSpPr>
        <p:spPr>
          <a:xfrm>
            <a:off x="498347" y="1586484"/>
            <a:ext cx="7607808" cy="447141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36-home-current.png"/>
          <p:cNvPicPr>
            <a:picLocks noChangeAspect="1"/>
          </p:cNvPicPr>
          <p:nvPr/>
        </p:nvPicPr>
        <p:blipFill>
          <a:blip r:embed="rId4"/>
          <a:stretch>
            <a:fillRect/>
          </a:stretch>
        </p:blipFill>
        <p:spPr>
          <a:xfrm>
            <a:off x="1130253" y="1618488"/>
            <a:ext cx="6343996" cy="4407408"/>
          </a:xfrm>
          <a:prstGeom prst="rect">
            <a:avLst/>
          </a:prstGeom>
        </p:spPr>
      </p:pic>
      <p:sp>
        <p:nvSpPr>
          <p:cNvPr id="13" name="REV_CAPTION"/>
          <p:cNvSpPr txBox="1"/>
          <p:nvPr/>
        </p:nvSpPr>
        <p:spPr>
          <a:xfrm>
            <a:off x="530352" y="6080760"/>
            <a:ext cx="7543800" cy="201168"/>
          </a:xfrm>
          <a:prstGeom prst="rect">
            <a:avLst/>
          </a:prstGeom>
          <a:noFill/>
        </p:spPr>
        <p:txBody>
          <a:bodyPr wrap="square" lIns="0" rIns="0" tIns="0" bIns="0" anchor="t">
            <a:spAutoFit/>
          </a:bodyPr>
          <a:lstStyle/>
          <a:p>
            <a:pPr algn="ctr"/>
            <a:r>
              <a:rPr sz="900" b="0" i="1">
                <a:solidFill>
                  <a:srgbClr val="65736B"/>
                </a:solidFill>
                <a:latin typeface="Aptos"/>
              </a:rPr>
              <a:t>Figure 4.1: Home Page of the Traditional Governance Platform</a:t>
            </a:r>
          </a:p>
        </p:txBody>
      </p:sp>
      <p:sp>
        <p:nvSpPr>
          <p:cNvPr id="14" name="Rounded Rectangle 13"/>
          <p:cNvSpPr/>
          <p:nvPr/>
        </p:nvSpPr>
        <p:spPr>
          <a:xfrm>
            <a:off x="8302752" y="1645920"/>
            <a:ext cx="3218688" cy="868680"/>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67344" y="1819656"/>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90204" y="1886407"/>
            <a:ext cx="265176" cy="118872"/>
          </a:xfrm>
          <a:prstGeom prst="rect">
            <a:avLst/>
          </a:prstGeom>
          <a:noFill/>
        </p:spPr>
        <p:txBody>
          <a:bodyPr wrap="square" lIns="0" rIns="0" tIns="0" bIns="0" anchor="t">
            <a:spAutoFit/>
          </a:bodyPr>
          <a:lstStyle/>
          <a:p>
            <a:pPr algn="ctr"/>
            <a:r>
              <a:rPr sz="850" b="1" i="0">
                <a:solidFill>
                  <a:srgbClr val="0B2D20"/>
                </a:solidFill>
                <a:latin typeface="Aptos"/>
              </a:rPr>
              <a:t>1</a:t>
            </a:r>
          </a:p>
        </p:txBody>
      </p:sp>
      <p:sp>
        <p:nvSpPr>
          <p:cNvPr id="17" name="TextBox 16"/>
          <p:cNvSpPr txBox="1"/>
          <p:nvPr/>
        </p:nvSpPr>
        <p:spPr>
          <a:xfrm>
            <a:off x="8887968" y="1764792"/>
            <a:ext cx="2468880" cy="155448"/>
          </a:xfrm>
          <a:prstGeom prst="rect">
            <a:avLst/>
          </a:prstGeom>
          <a:noFill/>
        </p:spPr>
        <p:txBody>
          <a:bodyPr wrap="square" lIns="0" rIns="0" tIns="0" bIns="0" anchor="t">
            <a:spAutoFit/>
          </a:bodyPr>
          <a:lstStyle/>
          <a:p>
            <a:pPr algn="l"/>
            <a:r>
              <a:rPr sz="800" b="1" i="0">
                <a:solidFill>
                  <a:srgbClr val="123524"/>
                </a:solidFill>
                <a:latin typeface="Aptos"/>
              </a:rPr>
              <a:t>WHAT IS IT?</a:t>
            </a:r>
          </a:p>
        </p:txBody>
      </p:sp>
      <p:sp>
        <p:nvSpPr>
          <p:cNvPr id="18" name="TextBox 17"/>
          <p:cNvSpPr txBox="1"/>
          <p:nvPr/>
        </p:nvSpPr>
        <p:spPr>
          <a:xfrm>
            <a:off x="8887968" y="1984248"/>
            <a:ext cx="2468880" cy="448055"/>
          </a:xfrm>
          <a:prstGeom prst="rect">
            <a:avLst/>
          </a:prstGeom>
          <a:noFill/>
        </p:spPr>
        <p:txBody>
          <a:bodyPr wrap="square" lIns="0" rIns="0" tIns="0" bIns="0" anchor="t">
            <a:spAutoFit/>
          </a:bodyPr>
          <a:lstStyle/>
          <a:p>
            <a:pPr algn="l"/>
            <a:r>
              <a:rPr sz="1050" b="1" i="0">
                <a:solidFill>
                  <a:srgbClr val="14251D"/>
                </a:solidFill>
                <a:latin typeface="Aptos"/>
              </a:rPr>
              <a:t>The main entry page of the platform.</a:t>
            </a:r>
          </a:p>
        </p:txBody>
      </p:sp>
      <p:sp>
        <p:nvSpPr>
          <p:cNvPr id="19" name="Rounded Rectangle 18"/>
          <p:cNvSpPr/>
          <p:nvPr/>
        </p:nvSpPr>
        <p:spPr>
          <a:xfrm>
            <a:off x="8302752" y="2679191"/>
            <a:ext cx="3218688" cy="868680"/>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67344" y="2852927"/>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90204" y="2919679"/>
            <a:ext cx="265176" cy="118872"/>
          </a:xfrm>
          <a:prstGeom prst="rect">
            <a:avLst/>
          </a:prstGeom>
          <a:noFill/>
        </p:spPr>
        <p:txBody>
          <a:bodyPr wrap="square" lIns="0" rIns="0" tIns="0" bIns="0" anchor="t">
            <a:spAutoFit/>
          </a:bodyPr>
          <a:lstStyle/>
          <a:p>
            <a:pPr algn="ctr"/>
            <a:r>
              <a:rPr sz="850" b="1" i="0">
                <a:solidFill>
                  <a:srgbClr val="0B2D20"/>
                </a:solidFill>
                <a:latin typeface="Aptos"/>
              </a:rPr>
              <a:t>2</a:t>
            </a:r>
          </a:p>
        </p:txBody>
      </p:sp>
      <p:sp>
        <p:nvSpPr>
          <p:cNvPr id="22" name="TextBox 21"/>
          <p:cNvSpPr txBox="1"/>
          <p:nvPr/>
        </p:nvSpPr>
        <p:spPr>
          <a:xfrm>
            <a:off x="8887968" y="2798063"/>
            <a:ext cx="2468880" cy="155448"/>
          </a:xfrm>
          <a:prstGeom prst="rect">
            <a:avLst/>
          </a:prstGeom>
          <a:noFill/>
        </p:spPr>
        <p:txBody>
          <a:bodyPr wrap="square" lIns="0" rIns="0" tIns="0" bIns="0" anchor="t">
            <a:spAutoFit/>
          </a:bodyPr>
          <a:lstStyle/>
          <a:p>
            <a:pPr algn="l"/>
            <a:r>
              <a:rPr sz="800" b="1" i="0">
                <a:solidFill>
                  <a:srgbClr val="123524"/>
                </a:solidFill>
                <a:latin typeface="Aptos"/>
              </a:rPr>
              <a:t>WHAT DOES IT SHOW?</a:t>
            </a:r>
          </a:p>
        </p:txBody>
      </p:sp>
      <p:sp>
        <p:nvSpPr>
          <p:cNvPr id="23" name="TextBox 22"/>
          <p:cNvSpPr txBox="1"/>
          <p:nvPr/>
        </p:nvSpPr>
        <p:spPr>
          <a:xfrm>
            <a:off x="8887968" y="3017520"/>
            <a:ext cx="2468880" cy="448055"/>
          </a:xfrm>
          <a:prstGeom prst="rect">
            <a:avLst/>
          </a:prstGeom>
          <a:noFill/>
        </p:spPr>
        <p:txBody>
          <a:bodyPr wrap="square" lIns="0" rIns="0" tIns="0" bIns="0" anchor="t">
            <a:spAutoFit/>
          </a:bodyPr>
          <a:lstStyle/>
          <a:p>
            <a:pPr algn="l"/>
            <a:r>
              <a:rPr sz="1050" b="1" i="0">
                <a:solidFill>
                  <a:srgbClr val="14251D"/>
                </a:solidFill>
                <a:latin typeface="Aptos"/>
              </a:rPr>
              <a:t>Summary indicators, key tools, a world map, and recent records.</a:t>
            </a:r>
          </a:p>
        </p:txBody>
      </p:sp>
      <p:sp>
        <p:nvSpPr>
          <p:cNvPr id="24" name="Rounded Rectangle 23"/>
          <p:cNvSpPr/>
          <p:nvPr/>
        </p:nvSpPr>
        <p:spPr>
          <a:xfrm>
            <a:off x="8302752" y="3712463"/>
            <a:ext cx="3218688" cy="868680"/>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67344" y="3886200"/>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90204" y="3952951"/>
            <a:ext cx="265176" cy="118872"/>
          </a:xfrm>
          <a:prstGeom prst="rect">
            <a:avLst/>
          </a:prstGeom>
          <a:noFill/>
        </p:spPr>
        <p:txBody>
          <a:bodyPr wrap="square" lIns="0" rIns="0" tIns="0" bIns="0" anchor="t">
            <a:spAutoFit/>
          </a:bodyPr>
          <a:lstStyle/>
          <a:p>
            <a:pPr algn="ctr"/>
            <a:r>
              <a:rPr sz="850" b="1" i="0">
                <a:solidFill>
                  <a:srgbClr val="0B2D20"/>
                </a:solidFill>
                <a:latin typeface="Aptos"/>
              </a:rPr>
              <a:t>3</a:t>
            </a:r>
          </a:p>
        </p:txBody>
      </p:sp>
      <p:sp>
        <p:nvSpPr>
          <p:cNvPr id="27" name="TextBox 26"/>
          <p:cNvSpPr txBox="1"/>
          <p:nvPr/>
        </p:nvSpPr>
        <p:spPr>
          <a:xfrm>
            <a:off x="8887968" y="3831335"/>
            <a:ext cx="2468880" cy="155448"/>
          </a:xfrm>
          <a:prstGeom prst="rect">
            <a:avLst/>
          </a:prstGeom>
          <a:noFill/>
        </p:spPr>
        <p:txBody>
          <a:bodyPr wrap="square" lIns="0" rIns="0" tIns="0" bIns="0" anchor="t">
            <a:spAutoFit/>
          </a:bodyPr>
          <a:lstStyle/>
          <a:p>
            <a:pPr algn="l"/>
            <a:r>
              <a:rPr sz="800" b="1" i="0">
                <a:solidFill>
                  <a:srgbClr val="123524"/>
                </a:solidFill>
                <a:latin typeface="Aptos"/>
              </a:rPr>
              <a:t>WHAT CAN THE USER DO?</a:t>
            </a:r>
          </a:p>
        </p:txBody>
      </p:sp>
      <p:sp>
        <p:nvSpPr>
          <p:cNvPr id="28" name="TextBox 27"/>
          <p:cNvSpPr txBox="1"/>
          <p:nvPr/>
        </p:nvSpPr>
        <p:spPr>
          <a:xfrm>
            <a:off x="8887968" y="4050791"/>
            <a:ext cx="2468880" cy="448055"/>
          </a:xfrm>
          <a:prstGeom prst="rect">
            <a:avLst/>
          </a:prstGeom>
          <a:noFill/>
        </p:spPr>
        <p:txBody>
          <a:bodyPr wrap="square" lIns="0" rIns="0" tIns="0" bIns="0" anchor="t">
            <a:spAutoFit/>
          </a:bodyPr>
          <a:lstStyle/>
          <a:p>
            <a:pPr algn="l"/>
            <a:r>
              <a:rPr sz="1050" b="1" i="0">
                <a:solidFill>
                  <a:srgbClr val="14251D"/>
                </a:solidFill>
                <a:latin typeface="Aptos"/>
              </a:rPr>
              <a:t>Open Groups, Map, Statistics, or Comparison.</a:t>
            </a:r>
          </a:p>
        </p:txBody>
      </p:sp>
      <p:sp>
        <p:nvSpPr>
          <p:cNvPr id="29" name="Rounded Rectangle 28"/>
          <p:cNvSpPr/>
          <p:nvPr/>
        </p:nvSpPr>
        <p:spPr>
          <a:xfrm>
            <a:off x="8302752" y="4745736"/>
            <a:ext cx="3218688" cy="868680"/>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467344" y="4919472"/>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90204" y="4986223"/>
            <a:ext cx="265176" cy="118872"/>
          </a:xfrm>
          <a:prstGeom prst="rect">
            <a:avLst/>
          </a:prstGeom>
          <a:noFill/>
        </p:spPr>
        <p:txBody>
          <a:bodyPr wrap="square" lIns="0" rIns="0" tIns="0" bIns="0" anchor="t">
            <a:spAutoFit/>
          </a:bodyPr>
          <a:lstStyle/>
          <a:p>
            <a:pPr algn="ctr"/>
            <a:r>
              <a:rPr sz="850" b="1" i="0">
                <a:solidFill>
                  <a:srgbClr val="0B2D20"/>
                </a:solidFill>
                <a:latin typeface="Aptos"/>
              </a:rPr>
              <a:t>4</a:t>
            </a:r>
          </a:p>
        </p:txBody>
      </p:sp>
      <p:sp>
        <p:nvSpPr>
          <p:cNvPr id="32" name="TextBox 31"/>
          <p:cNvSpPr txBox="1"/>
          <p:nvPr/>
        </p:nvSpPr>
        <p:spPr>
          <a:xfrm>
            <a:off x="8887968" y="4864607"/>
            <a:ext cx="2468880" cy="155448"/>
          </a:xfrm>
          <a:prstGeom prst="rect">
            <a:avLst/>
          </a:prstGeom>
          <a:noFill/>
        </p:spPr>
        <p:txBody>
          <a:bodyPr wrap="square" lIns="0" rIns="0" tIns="0" bIns="0" anchor="t">
            <a:spAutoFit/>
          </a:bodyPr>
          <a:lstStyle/>
          <a:p>
            <a:pPr algn="l"/>
            <a:r>
              <a:rPr sz="800" b="1" i="0">
                <a:solidFill>
                  <a:srgbClr val="123524"/>
                </a:solidFill>
                <a:latin typeface="Aptos"/>
              </a:rPr>
              <a:t>WHAT IS THE BENEFIT?</a:t>
            </a:r>
          </a:p>
        </p:txBody>
      </p:sp>
      <p:sp>
        <p:nvSpPr>
          <p:cNvPr id="33" name="TextBox 32"/>
          <p:cNvSpPr txBox="1"/>
          <p:nvPr/>
        </p:nvSpPr>
        <p:spPr>
          <a:xfrm>
            <a:off x="8887968" y="5084064"/>
            <a:ext cx="2468880" cy="448055"/>
          </a:xfrm>
          <a:prstGeom prst="rect">
            <a:avLst/>
          </a:prstGeom>
          <a:noFill/>
        </p:spPr>
        <p:txBody>
          <a:bodyPr wrap="square" lIns="0" rIns="0" tIns="0" bIns="0" anchor="t">
            <a:spAutoFit/>
          </a:bodyPr>
          <a:lstStyle/>
          <a:p>
            <a:pPr algn="l"/>
            <a:r>
              <a:rPr sz="1050" b="1" i="0">
                <a:solidFill>
                  <a:srgbClr val="14251D"/>
                </a:solidFill>
                <a:latin typeface="Aptos"/>
              </a:rPr>
              <a:t>It gives a quick understanding of the dataset and where to begin.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REV_BACKGROUND"/>
          <p:cNvSpPr/>
          <p:nvPr/>
        </p:nvSpPr>
        <p:spPr>
          <a:xfrm>
            <a:off x="0" y="0"/>
            <a:ext cx="12192000" cy="68580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972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2000" cy="20116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V_SECTION"/>
          <p:cNvSpPr txBox="1"/>
          <p:nvPr/>
        </p:nvSpPr>
        <p:spPr>
          <a:xfrm>
            <a:off x="502920" y="283464"/>
            <a:ext cx="4389120" cy="201168"/>
          </a:xfrm>
          <a:prstGeom prst="rect">
            <a:avLst/>
          </a:prstGeom>
          <a:noFill/>
        </p:spPr>
        <p:txBody>
          <a:bodyPr wrap="square" lIns="27432" rIns="27432" tIns="27432" bIns="27432" anchor="t">
            <a:spAutoFit/>
          </a:bodyPr>
          <a:lstStyle/>
          <a:p>
            <a:pPr algn="l"/>
            <a:r>
              <a:rPr sz="900" b="1" i="0">
                <a:solidFill>
                  <a:srgbClr val="123524"/>
                </a:solidFill>
                <a:latin typeface="Aptos"/>
              </a:rPr>
              <a:t>4.3 • HOME PAGE</a:t>
            </a:r>
          </a:p>
        </p:txBody>
      </p:sp>
      <p:sp>
        <p:nvSpPr>
          <p:cNvPr id="6" name="Rectangle 5"/>
          <p:cNvSpPr/>
          <p:nvPr/>
        </p:nvSpPr>
        <p:spPr>
          <a:xfrm>
            <a:off x="502920" y="576072"/>
            <a:ext cx="420624" cy="22860"/>
          </a:xfrm>
          <a:prstGeom prst="rect">
            <a:avLst/>
          </a:prstGeom>
          <a:solidFill>
            <a:srgbClr val="C8A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V_TITLE"/>
          <p:cNvSpPr txBox="1"/>
          <p:nvPr/>
        </p:nvSpPr>
        <p:spPr>
          <a:xfrm>
            <a:off x="502920" y="658368"/>
            <a:ext cx="11018520" cy="475488"/>
          </a:xfrm>
          <a:prstGeom prst="rect">
            <a:avLst/>
          </a:prstGeom>
          <a:noFill/>
        </p:spPr>
        <p:txBody>
          <a:bodyPr wrap="square" lIns="27432" rIns="27432" tIns="27432" bIns="27432" anchor="t">
            <a:spAutoFit/>
          </a:bodyPr>
          <a:lstStyle/>
          <a:p>
            <a:pPr algn="l"/>
            <a:r>
              <a:rPr sz="2500" b="0" i="0">
                <a:solidFill>
                  <a:srgbClr val="14251D"/>
                </a:solidFill>
                <a:latin typeface="Georgia"/>
              </a:rPr>
              <a:t>What the user gains from the dashboard</a:t>
            </a:r>
          </a:p>
        </p:txBody>
      </p:sp>
      <p:sp>
        <p:nvSpPr>
          <p:cNvPr id="8" name="REV_SUBTITLE"/>
          <p:cNvSpPr txBox="1"/>
          <p:nvPr/>
        </p:nvSpPr>
        <p:spPr>
          <a:xfrm>
            <a:off x="521207" y="1179576"/>
            <a:ext cx="10927080" cy="320040"/>
          </a:xfrm>
          <a:prstGeom prst="rect">
            <a:avLst/>
          </a:prstGeom>
          <a:noFill/>
        </p:spPr>
        <p:txBody>
          <a:bodyPr wrap="square" lIns="27432" rIns="27432" tIns="27432" bIns="27432" anchor="t">
            <a:spAutoFit/>
          </a:bodyPr>
          <a:lstStyle/>
          <a:p>
            <a:pPr algn="l"/>
            <a:r>
              <a:rPr sz="1150" b="0" i="0">
                <a:solidFill>
                  <a:srgbClr val="65736B"/>
                </a:solidFill>
                <a:latin typeface="Aptos"/>
              </a:rPr>
              <a:t>The Home page converts a large dataset into an understandable first view.</a:t>
            </a:r>
          </a:p>
        </p:txBody>
      </p:sp>
      <p:sp>
        <p:nvSpPr>
          <p:cNvPr id="9" name="TextBox 8"/>
          <p:cNvSpPr txBox="1"/>
          <p:nvPr/>
        </p:nvSpPr>
        <p:spPr>
          <a:xfrm>
            <a:off x="502920" y="6684264"/>
            <a:ext cx="4572000" cy="100584"/>
          </a:xfrm>
          <a:prstGeom prst="rect">
            <a:avLst/>
          </a:prstGeom>
          <a:noFill/>
        </p:spPr>
        <p:txBody>
          <a:bodyPr wrap="square" lIns="0" rIns="0" tIns="0" bIns="0" anchor="t">
            <a:spAutoFit/>
          </a:bodyPr>
          <a:lstStyle/>
          <a:p>
            <a:pPr algn="l"/>
            <a:r>
              <a:rPr sz="750" b="0" i="0">
                <a:solidFill>
                  <a:srgbClr val="DDE7E0"/>
                </a:solidFill>
                <a:latin typeface="Aptos"/>
              </a:rPr>
              <a:t>Chapter 4 • Results and Discussion</a:t>
            </a:r>
          </a:p>
        </p:txBody>
      </p:sp>
      <p:sp>
        <p:nvSpPr>
          <p:cNvPr id="10" name="TextBox 9"/>
          <p:cNvSpPr txBox="1"/>
          <p:nvPr/>
        </p:nvSpPr>
        <p:spPr>
          <a:xfrm>
            <a:off x="11475720" y="6684264"/>
            <a:ext cx="274320" cy="100584"/>
          </a:xfrm>
          <a:prstGeom prst="rect">
            <a:avLst/>
          </a:prstGeom>
          <a:noFill/>
        </p:spPr>
        <p:txBody>
          <a:bodyPr wrap="square" lIns="0" rIns="0" tIns="0" bIns="0" anchor="t">
            <a:spAutoFit/>
          </a:bodyPr>
          <a:lstStyle/>
          <a:p>
            <a:pPr algn="r"/>
            <a:r>
              <a:rPr sz="800" b="0" i="0">
                <a:solidFill>
                  <a:srgbClr val="FFFFFF"/>
                </a:solidFill>
                <a:latin typeface="Aptos"/>
              </a:rPr>
              <a:t>5</a:t>
            </a:r>
          </a:p>
        </p:txBody>
      </p:sp>
      <p:sp>
        <p:nvSpPr>
          <p:cNvPr id="11" name="Rounded Rectangle 10"/>
          <p:cNvSpPr/>
          <p:nvPr/>
        </p:nvSpPr>
        <p:spPr>
          <a:xfrm>
            <a:off x="594360" y="1783080"/>
            <a:ext cx="2560320" cy="1572768"/>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029968"/>
            <a:ext cx="2194560" cy="365760"/>
          </a:xfrm>
          <a:prstGeom prst="rect">
            <a:avLst/>
          </a:prstGeom>
          <a:noFill/>
        </p:spPr>
        <p:txBody>
          <a:bodyPr wrap="square" lIns="0" rIns="0" tIns="0" bIns="0" anchor="t">
            <a:spAutoFit/>
          </a:bodyPr>
          <a:lstStyle/>
          <a:p>
            <a:pPr algn="ctr"/>
            <a:r>
              <a:rPr sz="2500" b="1" i="0">
                <a:solidFill>
                  <a:srgbClr val="123524"/>
                </a:solidFill>
                <a:latin typeface="Georgia"/>
              </a:rPr>
              <a:t>1,557</a:t>
            </a:r>
          </a:p>
        </p:txBody>
      </p:sp>
      <p:sp>
        <p:nvSpPr>
          <p:cNvPr id="13" name="TextBox 12"/>
          <p:cNvSpPr txBox="1"/>
          <p:nvPr/>
        </p:nvSpPr>
        <p:spPr>
          <a:xfrm>
            <a:off x="777240" y="2532888"/>
            <a:ext cx="2194560" cy="182880"/>
          </a:xfrm>
          <a:prstGeom prst="rect">
            <a:avLst/>
          </a:prstGeom>
          <a:noFill/>
        </p:spPr>
        <p:txBody>
          <a:bodyPr wrap="square" lIns="0" rIns="0" tIns="0" bIns="0" anchor="t">
            <a:spAutoFit/>
          </a:bodyPr>
          <a:lstStyle/>
          <a:p>
            <a:pPr algn="ctr"/>
            <a:r>
              <a:rPr sz="900" b="1" i="0">
                <a:solidFill>
                  <a:srgbClr val="C8A96A"/>
                </a:solidFill>
                <a:latin typeface="Aptos"/>
              </a:rPr>
              <a:t>GROUPS</a:t>
            </a:r>
          </a:p>
        </p:txBody>
      </p:sp>
      <p:sp>
        <p:nvSpPr>
          <p:cNvPr id="14" name="TextBox 13"/>
          <p:cNvSpPr txBox="1"/>
          <p:nvPr/>
        </p:nvSpPr>
        <p:spPr>
          <a:xfrm>
            <a:off x="850392" y="2816352"/>
            <a:ext cx="2048256" cy="283464"/>
          </a:xfrm>
          <a:prstGeom prst="rect">
            <a:avLst/>
          </a:prstGeom>
          <a:noFill/>
        </p:spPr>
        <p:txBody>
          <a:bodyPr wrap="square" lIns="0" rIns="0" tIns="0" bIns="0" anchor="t">
            <a:spAutoFit/>
          </a:bodyPr>
          <a:lstStyle/>
          <a:p>
            <a:pPr algn="ctr"/>
            <a:r>
              <a:rPr sz="950" b="0" i="0">
                <a:solidFill>
                  <a:srgbClr val="65736B"/>
                </a:solidFill>
                <a:latin typeface="Aptos"/>
              </a:rPr>
              <a:t>Shows the overall dataset size.</a:t>
            </a:r>
          </a:p>
        </p:txBody>
      </p:sp>
      <p:sp>
        <p:nvSpPr>
          <p:cNvPr id="15" name="Rounded Rectangle 14"/>
          <p:cNvSpPr/>
          <p:nvPr/>
        </p:nvSpPr>
        <p:spPr>
          <a:xfrm>
            <a:off x="3410712" y="1783080"/>
            <a:ext cx="2560320" cy="1572768"/>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2029968"/>
            <a:ext cx="2194560" cy="365760"/>
          </a:xfrm>
          <a:prstGeom prst="rect">
            <a:avLst/>
          </a:prstGeom>
          <a:noFill/>
        </p:spPr>
        <p:txBody>
          <a:bodyPr wrap="square" lIns="0" rIns="0" tIns="0" bIns="0" anchor="t">
            <a:spAutoFit/>
          </a:bodyPr>
          <a:lstStyle/>
          <a:p>
            <a:pPr algn="ctr"/>
            <a:r>
              <a:rPr sz="2500" b="1" i="0">
                <a:solidFill>
                  <a:srgbClr val="123524"/>
                </a:solidFill>
                <a:latin typeface="Georgia"/>
              </a:rPr>
              <a:t>130</a:t>
            </a:r>
          </a:p>
        </p:txBody>
      </p:sp>
      <p:sp>
        <p:nvSpPr>
          <p:cNvPr id="17" name="TextBox 16"/>
          <p:cNvSpPr txBox="1"/>
          <p:nvPr/>
        </p:nvSpPr>
        <p:spPr>
          <a:xfrm>
            <a:off x="3593592" y="2532888"/>
            <a:ext cx="2194560" cy="182880"/>
          </a:xfrm>
          <a:prstGeom prst="rect">
            <a:avLst/>
          </a:prstGeom>
          <a:noFill/>
        </p:spPr>
        <p:txBody>
          <a:bodyPr wrap="square" lIns="0" rIns="0" tIns="0" bIns="0" anchor="t">
            <a:spAutoFit/>
          </a:bodyPr>
          <a:lstStyle/>
          <a:p>
            <a:pPr algn="ctr"/>
            <a:r>
              <a:rPr sz="900" b="1" i="0">
                <a:solidFill>
                  <a:srgbClr val="C8A96A"/>
                </a:solidFill>
                <a:latin typeface="Aptos"/>
              </a:rPr>
              <a:t>COUNTRIES</a:t>
            </a:r>
          </a:p>
        </p:txBody>
      </p:sp>
      <p:sp>
        <p:nvSpPr>
          <p:cNvPr id="18" name="TextBox 17"/>
          <p:cNvSpPr txBox="1"/>
          <p:nvPr/>
        </p:nvSpPr>
        <p:spPr>
          <a:xfrm>
            <a:off x="3666744" y="2816352"/>
            <a:ext cx="2048256" cy="283464"/>
          </a:xfrm>
          <a:prstGeom prst="rect">
            <a:avLst/>
          </a:prstGeom>
          <a:noFill/>
        </p:spPr>
        <p:txBody>
          <a:bodyPr wrap="square" lIns="0" rIns="0" tIns="0" bIns="0" anchor="t">
            <a:spAutoFit/>
          </a:bodyPr>
          <a:lstStyle/>
          <a:p>
            <a:pPr algn="ctr"/>
            <a:r>
              <a:rPr sz="950" b="0" i="0">
                <a:solidFill>
                  <a:srgbClr val="65736B"/>
                </a:solidFill>
                <a:latin typeface="Aptos"/>
              </a:rPr>
              <a:t>Shows the international coverage.</a:t>
            </a:r>
          </a:p>
        </p:txBody>
      </p:sp>
      <p:sp>
        <p:nvSpPr>
          <p:cNvPr id="19" name="Rounded Rectangle 18"/>
          <p:cNvSpPr/>
          <p:nvPr/>
        </p:nvSpPr>
        <p:spPr>
          <a:xfrm>
            <a:off x="6227064" y="1783080"/>
            <a:ext cx="2560320" cy="1572768"/>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9944" y="2029968"/>
            <a:ext cx="2194560" cy="365760"/>
          </a:xfrm>
          <a:prstGeom prst="rect">
            <a:avLst/>
          </a:prstGeom>
          <a:noFill/>
        </p:spPr>
        <p:txBody>
          <a:bodyPr wrap="square" lIns="0" rIns="0" tIns="0" bIns="0" anchor="t">
            <a:spAutoFit/>
          </a:bodyPr>
          <a:lstStyle/>
          <a:p>
            <a:pPr algn="ctr"/>
            <a:r>
              <a:rPr sz="2500" b="1" i="0">
                <a:solidFill>
                  <a:srgbClr val="123524"/>
                </a:solidFill>
                <a:latin typeface="Georgia"/>
              </a:rPr>
              <a:t>5</a:t>
            </a:r>
          </a:p>
        </p:txBody>
      </p:sp>
      <p:sp>
        <p:nvSpPr>
          <p:cNvPr id="21" name="TextBox 20"/>
          <p:cNvSpPr txBox="1"/>
          <p:nvPr/>
        </p:nvSpPr>
        <p:spPr>
          <a:xfrm>
            <a:off x="6409944" y="2532888"/>
            <a:ext cx="2194560" cy="182880"/>
          </a:xfrm>
          <a:prstGeom prst="rect">
            <a:avLst/>
          </a:prstGeom>
          <a:noFill/>
        </p:spPr>
        <p:txBody>
          <a:bodyPr wrap="square" lIns="0" rIns="0" tIns="0" bIns="0" anchor="t">
            <a:spAutoFit/>
          </a:bodyPr>
          <a:lstStyle/>
          <a:p>
            <a:pPr algn="ctr"/>
            <a:r>
              <a:rPr sz="900" b="1" i="0">
                <a:solidFill>
                  <a:srgbClr val="C8A96A"/>
                </a:solidFill>
                <a:latin typeface="Aptos"/>
              </a:rPr>
              <a:t>CONTINENTS</a:t>
            </a:r>
          </a:p>
        </p:txBody>
      </p:sp>
      <p:sp>
        <p:nvSpPr>
          <p:cNvPr id="22" name="TextBox 21"/>
          <p:cNvSpPr txBox="1"/>
          <p:nvPr/>
        </p:nvSpPr>
        <p:spPr>
          <a:xfrm>
            <a:off x="6483096" y="2816352"/>
            <a:ext cx="2048256" cy="283464"/>
          </a:xfrm>
          <a:prstGeom prst="rect">
            <a:avLst/>
          </a:prstGeom>
          <a:noFill/>
        </p:spPr>
        <p:txBody>
          <a:bodyPr wrap="square" lIns="0" rIns="0" tIns="0" bIns="0" anchor="t">
            <a:spAutoFit/>
          </a:bodyPr>
          <a:lstStyle/>
          <a:p>
            <a:pPr algn="ctr"/>
            <a:r>
              <a:rPr sz="950" b="0" i="0">
                <a:solidFill>
                  <a:srgbClr val="65736B"/>
                </a:solidFill>
                <a:latin typeface="Aptos"/>
              </a:rPr>
              <a:t>Introduces the geographic distribution.</a:t>
            </a:r>
          </a:p>
        </p:txBody>
      </p:sp>
      <p:sp>
        <p:nvSpPr>
          <p:cNvPr id="23" name="Rounded Rectangle 22"/>
          <p:cNvSpPr/>
          <p:nvPr/>
        </p:nvSpPr>
        <p:spPr>
          <a:xfrm>
            <a:off x="9043416" y="1783080"/>
            <a:ext cx="2560320" cy="1572768"/>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26296" y="2029968"/>
            <a:ext cx="2194560" cy="365760"/>
          </a:xfrm>
          <a:prstGeom prst="rect">
            <a:avLst/>
          </a:prstGeom>
          <a:noFill/>
        </p:spPr>
        <p:txBody>
          <a:bodyPr wrap="square" lIns="0" rIns="0" tIns="0" bIns="0" anchor="t">
            <a:spAutoFit/>
          </a:bodyPr>
          <a:lstStyle/>
          <a:p>
            <a:pPr algn="ctr"/>
            <a:r>
              <a:rPr sz="2500" b="1" i="0">
                <a:solidFill>
                  <a:srgbClr val="123524"/>
                </a:solidFill>
                <a:latin typeface="Georgia"/>
              </a:rPr>
              <a:t>1,351</a:t>
            </a:r>
          </a:p>
        </p:txBody>
      </p:sp>
      <p:sp>
        <p:nvSpPr>
          <p:cNvPr id="25" name="TextBox 24"/>
          <p:cNvSpPr txBox="1"/>
          <p:nvPr/>
        </p:nvSpPr>
        <p:spPr>
          <a:xfrm>
            <a:off x="9226296" y="2532888"/>
            <a:ext cx="2194560" cy="182880"/>
          </a:xfrm>
          <a:prstGeom prst="rect">
            <a:avLst/>
          </a:prstGeom>
          <a:noFill/>
        </p:spPr>
        <p:txBody>
          <a:bodyPr wrap="square" lIns="0" rIns="0" tIns="0" bIns="0" anchor="t">
            <a:spAutoFit/>
          </a:bodyPr>
          <a:lstStyle/>
          <a:p>
            <a:pPr algn="ctr"/>
            <a:r>
              <a:rPr sz="900" b="1" i="0">
                <a:solidFill>
                  <a:srgbClr val="C8A96A"/>
                </a:solidFill>
                <a:latin typeface="Aptos"/>
              </a:rPr>
              <a:t>WITH TPI</a:t>
            </a:r>
          </a:p>
        </p:txBody>
      </p:sp>
      <p:sp>
        <p:nvSpPr>
          <p:cNvPr id="26" name="TextBox 25"/>
          <p:cNvSpPr txBox="1"/>
          <p:nvPr/>
        </p:nvSpPr>
        <p:spPr>
          <a:xfrm>
            <a:off x="9299448" y="2816352"/>
            <a:ext cx="2048256" cy="283464"/>
          </a:xfrm>
          <a:prstGeom prst="rect">
            <a:avLst/>
          </a:prstGeom>
          <a:noFill/>
        </p:spPr>
        <p:txBody>
          <a:bodyPr wrap="square" lIns="0" rIns="0" tIns="0" bIns="0" anchor="t">
            <a:spAutoFit/>
          </a:bodyPr>
          <a:lstStyle/>
          <a:p>
            <a:pPr algn="ctr"/>
            <a:r>
              <a:rPr sz="950" b="0" i="0">
                <a:solidFill>
                  <a:srgbClr val="65736B"/>
                </a:solidFill>
                <a:latin typeface="Aptos"/>
              </a:rPr>
              <a:t>Shows how many records include a traditional institution.</a:t>
            </a:r>
          </a:p>
        </p:txBody>
      </p:sp>
      <p:sp>
        <p:nvSpPr>
          <p:cNvPr id="27" name="Rounded Rectangle 26"/>
          <p:cNvSpPr/>
          <p:nvPr/>
        </p:nvSpPr>
        <p:spPr>
          <a:xfrm>
            <a:off x="777240" y="3977639"/>
            <a:ext cx="10634472" cy="1417320"/>
          </a:xfrm>
          <a:prstGeom prst="roundRect">
            <a:avLst/>
          </a:prstGeom>
          <a:solidFill>
            <a:srgbClr val="E9EFEA"/>
          </a:solidFill>
          <a:ln w="10160">
            <a:solidFill>
              <a:srgbClr val="C6D8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15568" y="4315968"/>
            <a:ext cx="1874519" cy="182880"/>
          </a:xfrm>
          <a:prstGeom prst="rect">
            <a:avLst/>
          </a:prstGeom>
          <a:noFill/>
        </p:spPr>
        <p:txBody>
          <a:bodyPr wrap="square" lIns="0" rIns="0" tIns="0" bIns="0" anchor="t">
            <a:spAutoFit/>
          </a:bodyPr>
          <a:lstStyle/>
          <a:p>
            <a:pPr algn="l"/>
            <a:r>
              <a:rPr sz="900" b="1" i="0">
                <a:solidFill>
                  <a:srgbClr val="123524"/>
                </a:solidFill>
                <a:latin typeface="Aptos"/>
              </a:rPr>
              <a:t>HOW THE USER BEGINS</a:t>
            </a:r>
          </a:p>
        </p:txBody>
      </p:sp>
      <p:sp>
        <p:nvSpPr>
          <p:cNvPr id="29" name="TextBox 28"/>
          <p:cNvSpPr txBox="1"/>
          <p:nvPr/>
        </p:nvSpPr>
        <p:spPr>
          <a:xfrm>
            <a:off x="2907792" y="4160520"/>
            <a:ext cx="7973568" cy="594360"/>
          </a:xfrm>
          <a:prstGeom prst="rect">
            <a:avLst/>
          </a:prstGeom>
          <a:noFill/>
        </p:spPr>
        <p:txBody>
          <a:bodyPr wrap="square" lIns="27432" rIns="27432" tIns="27432" bIns="27432" anchor="ctr">
            <a:spAutoFit/>
          </a:bodyPr>
          <a:lstStyle/>
          <a:p>
            <a:pPr algn="ctr"/>
            <a:r>
              <a:rPr sz="1500" b="1" i="0">
                <a:solidFill>
                  <a:srgbClr val="14251D"/>
                </a:solidFill>
                <a:latin typeface="Georgia"/>
              </a:rPr>
              <a:t>The user can choose a direct path: browse records, view geographic distribution, read descriptive statistics, or compare areas. This reduces the time needed to find the correct part of the system.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REV_BACKGROUND"/>
          <p:cNvSpPr/>
          <p:nvPr/>
        </p:nvSpPr>
        <p:spPr>
          <a:xfrm>
            <a:off x="0" y="0"/>
            <a:ext cx="12192000" cy="68580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972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2000" cy="20116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V_SECTION"/>
          <p:cNvSpPr txBox="1"/>
          <p:nvPr/>
        </p:nvSpPr>
        <p:spPr>
          <a:xfrm>
            <a:off x="502920" y="283464"/>
            <a:ext cx="4389120" cy="201168"/>
          </a:xfrm>
          <a:prstGeom prst="rect">
            <a:avLst/>
          </a:prstGeom>
          <a:noFill/>
        </p:spPr>
        <p:txBody>
          <a:bodyPr wrap="square" lIns="27432" rIns="27432" tIns="27432" bIns="27432" anchor="t">
            <a:spAutoFit/>
          </a:bodyPr>
          <a:lstStyle/>
          <a:p>
            <a:pPr algn="l"/>
            <a:r>
              <a:rPr sz="900" b="1" i="0">
                <a:solidFill>
                  <a:srgbClr val="123524"/>
                </a:solidFill>
                <a:latin typeface="Aptos"/>
              </a:rPr>
              <a:t>4.4 • GROUPS PAGE</a:t>
            </a:r>
          </a:p>
        </p:txBody>
      </p:sp>
      <p:sp>
        <p:nvSpPr>
          <p:cNvPr id="6" name="Rectangle 5"/>
          <p:cNvSpPr/>
          <p:nvPr/>
        </p:nvSpPr>
        <p:spPr>
          <a:xfrm>
            <a:off x="502920" y="576072"/>
            <a:ext cx="420624" cy="22860"/>
          </a:xfrm>
          <a:prstGeom prst="rect">
            <a:avLst/>
          </a:prstGeom>
          <a:solidFill>
            <a:srgbClr val="C8A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V_TITLE"/>
          <p:cNvSpPr txBox="1"/>
          <p:nvPr/>
        </p:nvSpPr>
        <p:spPr>
          <a:xfrm>
            <a:off x="502920" y="658368"/>
            <a:ext cx="11018520" cy="475488"/>
          </a:xfrm>
          <a:prstGeom prst="rect">
            <a:avLst/>
          </a:prstGeom>
          <a:noFill/>
        </p:spPr>
        <p:txBody>
          <a:bodyPr wrap="square" lIns="27432" rIns="27432" tIns="27432" bIns="27432" anchor="t">
            <a:spAutoFit/>
          </a:bodyPr>
          <a:lstStyle/>
          <a:p>
            <a:pPr algn="l"/>
            <a:r>
              <a:rPr sz="2500" b="0" i="0">
                <a:solidFill>
                  <a:srgbClr val="14251D"/>
                </a:solidFill>
                <a:latin typeface="Georgia"/>
              </a:rPr>
              <a:t>Browse and narrow the traditional group records</a:t>
            </a:r>
          </a:p>
        </p:txBody>
      </p:sp>
      <p:sp>
        <p:nvSpPr>
          <p:cNvPr id="8" name="REV_SUBTITLE"/>
          <p:cNvSpPr txBox="1"/>
          <p:nvPr/>
        </p:nvSpPr>
        <p:spPr>
          <a:xfrm>
            <a:off x="521207" y="1179576"/>
            <a:ext cx="10927080" cy="320040"/>
          </a:xfrm>
          <a:prstGeom prst="rect">
            <a:avLst/>
          </a:prstGeom>
          <a:noFill/>
        </p:spPr>
        <p:txBody>
          <a:bodyPr wrap="square" lIns="27432" rIns="27432" tIns="27432" bIns="27432" anchor="t">
            <a:spAutoFit/>
          </a:bodyPr>
          <a:lstStyle/>
          <a:p>
            <a:pPr algn="l"/>
            <a:r>
              <a:rPr sz="1150" b="0" i="0">
                <a:solidFill>
                  <a:srgbClr val="65736B"/>
                </a:solidFill>
                <a:latin typeface="Aptos"/>
              </a:rPr>
              <a:t>Search and filters help the user focus on records that match a research interest.</a:t>
            </a:r>
          </a:p>
        </p:txBody>
      </p:sp>
      <p:sp>
        <p:nvSpPr>
          <p:cNvPr id="9" name="TextBox 8"/>
          <p:cNvSpPr txBox="1"/>
          <p:nvPr/>
        </p:nvSpPr>
        <p:spPr>
          <a:xfrm>
            <a:off x="502920" y="6684264"/>
            <a:ext cx="4572000" cy="100584"/>
          </a:xfrm>
          <a:prstGeom prst="rect">
            <a:avLst/>
          </a:prstGeom>
          <a:noFill/>
        </p:spPr>
        <p:txBody>
          <a:bodyPr wrap="square" lIns="0" rIns="0" tIns="0" bIns="0" anchor="t">
            <a:spAutoFit/>
          </a:bodyPr>
          <a:lstStyle/>
          <a:p>
            <a:pPr algn="l"/>
            <a:r>
              <a:rPr sz="750" b="0" i="0">
                <a:solidFill>
                  <a:srgbClr val="DDE7E0"/>
                </a:solidFill>
                <a:latin typeface="Aptos"/>
              </a:rPr>
              <a:t>Chapter 4 • Results and Discussion</a:t>
            </a:r>
          </a:p>
        </p:txBody>
      </p:sp>
      <p:sp>
        <p:nvSpPr>
          <p:cNvPr id="10" name="TextBox 9"/>
          <p:cNvSpPr txBox="1"/>
          <p:nvPr/>
        </p:nvSpPr>
        <p:spPr>
          <a:xfrm>
            <a:off x="11475720" y="6684264"/>
            <a:ext cx="274320" cy="100584"/>
          </a:xfrm>
          <a:prstGeom prst="rect">
            <a:avLst/>
          </a:prstGeom>
          <a:noFill/>
        </p:spPr>
        <p:txBody>
          <a:bodyPr wrap="square" lIns="0" rIns="0" tIns="0" bIns="0" anchor="t">
            <a:spAutoFit/>
          </a:bodyPr>
          <a:lstStyle/>
          <a:p>
            <a:pPr algn="r"/>
            <a:r>
              <a:rPr sz="800" b="0" i="0">
                <a:solidFill>
                  <a:srgbClr val="FFFFFF"/>
                </a:solidFill>
                <a:latin typeface="Aptos"/>
              </a:rPr>
              <a:t>6</a:t>
            </a:r>
          </a:p>
        </p:txBody>
      </p:sp>
      <p:sp>
        <p:nvSpPr>
          <p:cNvPr id="11" name="Rounded Rectangle 10"/>
          <p:cNvSpPr/>
          <p:nvPr/>
        </p:nvSpPr>
        <p:spPr>
          <a:xfrm>
            <a:off x="470916" y="1540764"/>
            <a:ext cx="5568696" cy="3886200"/>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37-groups-default.png"/>
          <p:cNvPicPr>
            <a:picLocks noChangeAspect="1"/>
          </p:cNvPicPr>
          <p:nvPr/>
        </p:nvPicPr>
        <p:blipFill>
          <a:blip r:embed="rId4"/>
          <a:stretch>
            <a:fillRect/>
          </a:stretch>
        </p:blipFill>
        <p:spPr>
          <a:xfrm>
            <a:off x="504443" y="1572768"/>
            <a:ext cx="5501640" cy="3822191"/>
          </a:xfrm>
          <a:prstGeom prst="rect">
            <a:avLst/>
          </a:prstGeom>
        </p:spPr>
      </p:pic>
      <p:sp>
        <p:nvSpPr>
          <p:cNvPr id="13" name="Rounded Rectangle 12"/>
          <p:cNvSpPr/>
          <p:nvPr/>
        </p:nvSpPr>
        <p:spPr>
          <a:xfrm>
            <a:off x="6158483" y="1540764"/>
            <a:ext cx="5568696" cy="3886200"/>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38-groups-filtered-current.png"/>
          <p:cNvPicPr>
            <a:picLocks noChangeAspect="1"/>
          </p:cNvPicPr>
          <p:nvPr/>
        </p:nvPicPr>
        <p:blipFill>
          <a:blip r:embed="rId5"/>
          <a:stretch>
            <a:fillRect/>
          </a:stretch>
        </p:blipFill>
        <p:spPr>
          <a:xfrm>
            <a:off x="6192012" y="1572768"/>
            <a:ext cx="5501640" cy="3822191"/>
          </a:xfrm>
          <a:prstGeom prst="rect">
            <a:avLst/>
          </a:prstGeom>
        </p:spPr>
      </p:pic>
      <p:sp>
        <p:nvSpPr>
          <p:cNvPr id="15" name="REV_CAPTION"/>
          <p:cNvSpPr txBox="1"/>
          <p:nvPr/>
        </p:nvSpPr>
        <p:spPr>
          <a:xfrm>
            <a:off x="502920" y="5449824"/>
            <a:ext cx="5504688" cy="201168"/>
          </a:xfrm>
          <a:prstGeom prst="rect">
            <a:avLst/>
          </a:prstGeom>
          <a:noFill/>
        </p:spPr>
        <p:txBody>
          <a:bodyPr wrap="square" lIns="0" rIns="0" tIns="0" bIns="0" anchor="t">
            <a:spAutoFit/>
          </a:bodyPr>
          <a:lstStyle/>
          <a:p>
            <a:pPr algn="ctr"/>
            <a:r>
              <a:rPr sz="900" b="0" i="1">
                <a:solidFill>
                  <a:srgbClr val="65736B"/>
                </a:solidFill>
                <a:latin typeface="Aptos"/>
              </a:rPr>
              <a:t>Figure 4.2: Default Group Records Interface</a:t>
            </a:r>
          </a:p>
        </p:txBody>
      </p:sp>
      <p:sp>
        <p:nvSpPr>
          <p:cNvPr id="16" name="REV_CAPTION"/>
          <p:cNvSpPr txBox="1"/>
          <p:nvPr/>
        </p:nvSpPr>
        <p:spPr>
          <a:xfrm>
            <a:off x="6190488" y="5449824"/>
            <a:ext cx="5504688" cy="201168"/>
          </a:xfrm>
          <a:prstGeom prst="rect">
            <a:avLst/>
          </a:prstGeom>
          <a:noFill/>
        </p:spPr>
        <p:txBody>
          <a:bodyPr wrap="square" lIns="0" rIns="0" tIns="0" bIns="0" anchor="t">
            <a:spAutoFit/>
          </a:bodyPr>
          <a:lstStyle/>
          <a:p>
            <a:pPr algn="ctr"/>
            <a:r>
              <a:rPr sz="900" b="0" i="1">
                <a:solidFill>
                  <a:srgbClr val="65736B"/>
                </a:solidFill>
                <a:latin typeface="Aptos"/>
              </a:rPr>
              <a:t>Figure 4.3: Groups Filtered by Africa and the Search Term ‘Arab’</a:t>
            </a:r>
          </a:p>
        </p:txBody>
      </p:sp>
      <p:sp>
        <p:nvSpPr>
          <p:cNvPr id="17" name="TextBox 16"/>
          <p:cNvSpPr txBox="1"/>
          <p:nvPr/>
        </p:nvSpPr>
        <p:spPr>
          <a:xfrm>
            <a:off x="777240" y="5870448"/>
            <a:ext cx="10625328" cy="411480"/>
          </a:xfrm>
          <a:prstGeom prst="rect">
            <a:avLst/>
          </a:prstGeom>
          <a:noFill/>
        </p:spPr>
        <p:txBody>
          <a:bodyPr wrap="square" lIns="27432" rIns="27432" tIns="27432" bIns="27432" anchor="ctr">
            <a:spAutoFit/>
          </a:bodyPr>
          <a:lstStyle/>
          <a:p>
            <a:pPr algn="ctr"/>
            <a:r>
              <a:rPr sz="1250" b="1" i="0">
                <a:solidFill>
                  <a:srgbClr val="14251D"/>
                </a:solidFill>
                <a:latin typeface="Aptos"/>
              </a:rPr>
              <a:t>The user can search by group name and combine country, continent, region, leadership, and recognition filters. The visible records change to match the selected criteria.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REV_BACKGROUND"/>
          <p:cNvSpPr/>
          <p:nvPr/>
        </p:nvSpPr>
        <p:spPr>
          <a:xfrm>
            <a:off x="0" y="0"/>
            <a:ext cx="12192000" cy="68580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972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2000" cy="20116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V_SECTION"/>
          <p:cNvSpPr txBox="1"/>
          <p:nvPr/>
        </p:nvSpPr>
        <p:spPr>
          <a:xfrm>
            <a:off x="502920" y="283464"/>
            <a:ext cx="4389120" cy="201168"/>
          </a:xfrm>
          <a:prstGeom prst="rect">
            <a:avLst/>
          </a:prstGeom>
          <a:noFill/>
        </p:spPr>
        <p:txBody>
          <a:bodyPr wrap="square" lIns="27432" rIns="27432" tIns="27432" bIns="27432" anchor="t">
            <a:spAutoFit/>
          </a:bodyPr>
          <a:lstStyle/>
          <a:p>
            <a:pPr algn="l"/>
            <a:r>
              <a:rPr sz="900" b="1" i="0">
                <a:solidFill>
                  <a:srgbClr val="123524"/>
                </a:solidFill>
                <a:latin typeface="Aptos"/>
              </a:rPr>
              <a:t>4.4 • GROUPS PAGE</a:t>
            </a:r>
          </a:p>
        </p:txBody>
      </p:sp>
      <p:sp>
        <p:nvSpPr>
          <p:cNvPr id="6" name="Rectangle 5"/>
          <p:cNvSpPr/>
          <p:nvPr/>
        </p:nvSpPr>
        <p:spPr>
          <a:xfrm>
            <a:off x="502920" y="576072"/>
            <a:ext cx="420624" cy="22860"/>
          </a:xfrm>
          <a:prstGeom prst="rect">
            <a:avLst/>
          </a:prstGeom>
          <a:solidFill>
            <a:srgbClr val="C8A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V_TITLE"/>
          <p:cNvSpPr txBox="1"/>
          <p:nvPr/>
        </p:nvSpPr>
        <p:spPr>
          <a:xfrm>
            <a:off x="502920" y="658368"/>
            <a:ext cx="11018520" cy="475488"/>
          </a:xfrm>
          <a:prstGeom prst="rect">
            <a:avLst/>
          </a:prstGeom>
          <a:noFill/>
        </p:spPr>
        <p:txBody>
          <a:bodyPr wrap="square" lIns="27432" rIns="27432" tIns="27432" bIns="27432" anchor="t">
            <a:spAutoFit/>
          </a:bodyPr>
          <a:lstStyle/>
          <a:p>
            <a:pPr algn="l"/>
            <a:r>
              <a:rPr sz="2500" b="0" i="0">
                <a:solidFill>
                  <a:srgbClr val="14251D"/>
                </a:solidFill>
                <a:latin typeface="Georgia"/>
              </a:rPr>
              <a:t>Inspect a selected group in detail</a:t>
            </a:r>
          </a:p>
        </p:txBody>
      </p:sp>
      <p:sp>
        <p:nvSpPr>
          <p:cNvPr id="8" name="REV_SUBTITLE"/>
          <p:cNvSpPr txBox="1"/>
          <p:nvPr/>
        </p:nvSpPr>
        <p:spPr>
          <a:xfrm>
            <a:off x="521207" y="1179576"/>
            <a:ext cx="10927080" cy="320040"/>
          </a:xfrm>
          <a:prstGeom prst="rect">
            <a:avLst/>
          </a:prstGeom>
          <a:noFill/>
        </p:spPr>
        <p:txBody>
          <a:bodyPr wrap="square" lIns="27432" rIns="27432" tIns="27432" bIns="27432" anchor="t">
            <a:spAutoFit/>
          </a:bodyPr>
          <a:lstStyle/>
          <a:p>
            <a:pPr algn="l"/>
            <a:r>
              <a:rPr sz="1150" b="0" i="0">
                <a:solidFill>
                  <a:srgbClr val="65736B"/>
                </a:solidFill>
                <a:latin typeface="Aptos"/>
              </a:rPr>
              <a:t>The detailed view organizes geographic, leadership, governance-function, and recognition information.</a:t>
            </a:r>
          </a:p>
        </p:txBody>
      </p:sp>
      <p:sp>
        <p:nvSpPr>
          <p:cNvPr id="9" name="TextBox 8"/>
          <p:cNvSpPr txBox="1"/>
          <p:nvPr/>
        </p:nvSpPr>
        <p:spPr>
          <a:xfrm>
            <a:off x="502920" y="6684264"/>
            <a:ext cx="4572000" cy="100584"/>
          </a:xfrm>
          <a:prstGeom prst="rect">
            <a:avLst/>
          </a:prstGeom>
          <a:noFill/>
        </p:spPr>
        <p:txBody>
          <a:bodyPr wrap="square" lIns="0" rIns="0" tIns="0" bIns="0" anchor="t">
            <a:spAutoFit/>
          </a:bodyPr>
          <a:lstStyle/>
          <a:p>
            <a:pPr algn="l"/>
            <a:r>
              <a:rPr sz="750" b="0" i="0">
                <a:solidFill>
                  <a:srgbClr val="DDE7E0"/>
                </a:solidFill>
                <a:latin typeface="Aptos"/>
              </a:rPr>
              <a:t>Chapter 4 • Results and Discussion</a:t>
            </a:r>
          </a:p>
        </p:txBody>
      </p:sp>
      <p:sp>
        <p:nvSpPr>
          <p:cNvPr id="10" name="TextBox 9"/>
          <p:cNvSpPr txBox="1"/>
          <p:nvPr/>
        </p:nvSpPr>
        <p:spPr>
          <a:xfrm>
            <a:off x="11475720" y="6684264"/>
            <a:ext cx="274320" cy="100584"/>
          </a:xfrm>
          <a:prstGeom prst="rect">
            <a:avLst/>
          </a:prstGeom>
          <a:noFill/>
        </p:spPr>
        <p:txBody>
          <a:bodyPr wrap="square" lIns="0" rIns="0" tIns="0" bIns="0" anchor="t">
            <a:spAutoFit/>
          </a:bodyPr>
          <a:lstStyle/>
          <a:p>
            <a:pPr algn="r"/>
            <a:r>
              <a:rPr sz="800" b="0" i="0">
                <a:solidFill>
                  <a:srgbClr val="FFFFFF"/>
                </a:solidFill>
                <a:latin typeface="Aptos"/>
              </a:rPr>
              <a:t>7</a:t>
            </a:r>
          </a:p>
        </p:txBody>
      </p:sp>
      <p:sp>
        <p:nvSpPr>
          <p:cNvPr id="11" name="Rounded Rectangle 10"/>
          <p:cNvSpPr/>
          <p:nvPr/>
        </p:nvSpPr>
        <p:spPr>
          <a:xfrm>
            <a:off x="498347" y="1540764"/>
            <a:ext cx="7150608" cy="4581144"/>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1"/>
          <a:stretch>
            <a:fillRect/>
          </a:stretch>
        </p:blipFill>
        <p:spPr>
          <a:xfrm>
            <a:off x="822682" y="1572768"/>
            <a:ext cx="6501938" cy="4517136"/>
          </a:xfrm>
          <a:prstGeom prst="rect">
            <a:avLst/>
          </a:prstGeom>
        </p:spPr>
      </p:pic>
      <p:sp>
        <p:nvSpPr>
          <p:cNvPr id="13" name="REV_CAPTION"/>
          <p:cNvSpPr txBox="1"/>
          <p:nvPr/>
        </p:nvSpPr>
        <p:spPr>
          <a:xfrm>
            <a:off x="530352" y="6126480"/>
            <a:ext cx="7086600" cy="201168"/>
          </a:xfrm>
          <a:prstGeom prst="rect">
            <a:avLst/>
          </a:prstGeom>
          <a:noFill/>
        </p:spPr>
        <p:txBody>
          <a:bodyPr wrap="square" lIns="0" rIns="0" tIns="0" bIns="0" anchor="t">
            <a:spAutoFit/>
          </a:bodyPr>
          <a:lstStyle/>
          <a:p>
            <a:pPr algn="ctr"/>
            <a:r>
              <a:rPr sz="900" b="0" i="1">
                <a:solidFill>
                  <a:srgbClr val="65736B"/>
                </a:solidFill>
                <a:latin typeface="Aptos"/>
              </a:rPr>
              <a:t>Figure 4.4: Detailed Traditional Group Record</a:t>
            </a:r>
          </a:p>
        </p:txBody>
      </p:sp>
      <p:sp>
        <p:nvSpPr>
          <p:cNvPr id="14" name="Rounded Rectangle 13"/>
          <p:cNvSpPr/>
          <p:nvPr/>
        </p:nvSpPr>
        <p:spPr>
          <a:xfrm>
            <a:off x="7909560" y="1627632"/>
            <a:ext cx="3566160"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74152" y="1801368"/>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7012" y="1868119"/>
            <a:ext cx="265176" cy="118872"/>
          </a:xfrm>
          <a:prstGeom prst="rect">
            <a:avLst/>
          </a:prstGeom>
          <a:noFill/>
        </p:spPr>
        <p:txBody>
          <a:bodyPr wrap="square" lIns="0" rIns="0" tIns="0" bIns="0" anchor="t">
            <a:spAutoFit/>
          </a:bodyPr>
          <a:lstStyle/>
          <a:p>
            <a:pPr algn="ctr"/>
            <a:r>
              <a:rPr sz="850" b="1" i="0">
                <a:solidFill>
                  <a:srgbClr val="0B2D20"/>
                </a:solidFill>
                <a:latin typeface="Aptos"/>
              </a:rPr>
              <a:t>1</a:t>
            </a:r>
          </a:p>
        </p:txBody>
      </p:sp>
      <p:sp>
        <p:nvSpPr>
          <p:cNvPr id="17" name="TextBox 16"/>
          <p:cNvSpPr txBox="1"/>
          <p:nvPr/>
        </p:nvSpPr>
        <p:spPr>
          <a:xfrm>
            <a:off x="8494776" y="1746504"/>
            <a:ext cx="2816352" cy="155448"/>
          </a:xfrm>
          <a:prstGeom prst="rect">
            <a:avLst/>
          </a:prstGeom>
          <a:noFill/>
        </p:spPr>
        <p:txBody>
          <a:bodyPr wrap="square" lIns="0" rIns="0" tIns="0" bIns="0" anchor="t">
            <a:spAutoFit/>
          </a:bodyPr>
          <a:lstStyle/>
          <a:p>
            <a:pPr algn="l"/>
            <a:r>
              <a:rPr sz="800" b="1" i="0">
                <a:solidFill>
                  <a:srgbClr val="123524"/>
                </a:solidFill>
                <a:latin typeface="Aptos"/>
              </a:rPr>
              <a:t>WHAT IS IT?</a:t>
            </a:r>
          </a:p>
        </p:txBody>
      </p:sp>
      <p:sp>
        <p:nvSpPr>
          <p:cNvPr id="18" name="TextBox 17"/>
          <p:cNvSpPr txBox="1"/>
          <p:nvPr/>
        </p:nvSpPr>
        <p:spPr>
          <a:xfrm>
            <a:off x="8494776" y="1965960"/>
            <a:ext cx="2816352" cy="438911"/>
          </a:xfrm>
          <a:prstGeom prst="rect">
            <a:avLst/>
          </a:prstGeom>
          <a:noFill/>
        </p:spPr>
        <p:txBody>
          <a:bodyPr wrap="square" lIns="0" rIns="0" tIns="0" bIns="0" anchor="t">
            <a:spAutoFit/>
          </a:bodyPr>
          <a:lstStyle/>
          <a:p>
            <a:pPr algn="l"/>
            <a:r>
              <a:rPr sz="1050" b="1" i="0">
                <a:solidFill>
                  <a:srgbClr val="14251D"/>
                </a:solidFill>
                <a:latin typeface="Aptos"/>
              </a:rPr>
              <a:t>A focused profile for one selected group.</a:t>
            </a:r>
          </a:p>
        </p:txBody>
      </p:sp>
      <p:sp>
        <p:nvSpPr>
          <p:cNvPr id="19" name="Rounded Rectangle 18"/>
          <p:cNvSpPr/>
          <p:nvPr/>
        </p:nvSpPr>
        <p:spPr>
          <a:xfrm>
            <a:off x="7909560" y="2651760"/>
            <a:ext cx="3566160"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74152" y="2825496"/>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7012" y="2892247"/>
            <a:ext cx="265176" cy="118872"/>
          </a:xfrm>
          <a:prstGeom prst="rect">
            <a:avLst/>
          </a:prstGeom>
          <a:noFill/>
        </p:spPr>
        <p:txBody>
          <a:bodyPr wrap="square" lIns="0" rIns="0" tIns="0" bIns="0" anchor="t">
            <a:spAutoFit/>
          </a:bodyPr>
          <a:lstStyle/>
          <a:p>
            <a:pPr algn="ctr"/>
            <a:r>
              <a:rPr sz="850" b="1" i="0">
                <a:solidFill>
                  <a:srgbClr val="0B2D20"/>
                </a:solidFill>
                <a:latin typeface="Aptos"/>
              </a:rPr>
              <a:t>2</a:t>
            </a:r>
          </a:p>
        </p:txBody>
      </p:sp>
      <p:sp>
        <p:nvSpPr>
          <p:cNvPr id="22" name="TextBox 21"/>
          <p:cNvSpPr txBox="1"/>
          <p:nvPr/>
        </p:nvSpPr>
        <p:spPr>
          <a:xfrm>
            <a:off x="8494776" y="2770632"/>
            <a:ext cx="2816352" cy="155448"/>
          </a:xfrm>
          <a:prstGeom prst="rect">
            <a:avLst/>
          </a:prstGeom>
          <a:noFill/>
        </p:spPr>
        <p:txBody>
          <a:bodyPr wrap="square" lIns="0" rIns="0" tIns="0" bIns="0" anchor="t">
            <a:spAutoFit/>
          </a:bodyPr>
          <a:lstStyle/>
          <a:p>
            <a:pPr algn="l"/>
            <a:r>
              <a:rPr sz="800" b="1" i="0">
                <a:solidFill>
                  <a:srgbClr val="123524"/>
                </a:solidFill>
                <a:latin typeface="Aptos"/>
              </a:rPr>
              <a:t>WHAT DOES IT SHOW?</a:t>
            </a:r>
          </a:p>
        </p:txBody>
      </p:sp>
      <p:sp>
        <p:nvSpPr>
          <p:cNvPr id="23" name="TextBox 22"/>
          <p:cNvSpPr txBox="1"/>
          <p:nvPr/>
        </p:nvSpPr>
        <p:spPr>
          <a:xfrm>
            <a:off x="8494776" y="2990088"/>
            <a:ext cx="2816352" cy="438911"/>
          </a:xfrm>
          <a:prstGeom prst="rect">
            <a:avLst/>
          </a:prstGeom>
          <a:noFill/>
        </p:spPr>
        <p:txBody>
          <a:bodyPr wrap="square" lIns="0" rIns="0" tIns="0" bIns="0" anchor="t">
            <a:spAutoFit/>
          </a:bodyPr>
          <a:lstStyle/>
          <a:p>
            <a:pPr algn="l"/>
            <a:r>
              <a:rPr sz="1050" b="1" i="0">
                <a:solidFill>
                  <a:srgbClr val="14251D"/>
                </a:solidFill>
                <a:latin typeface="Aptos"/>
              </a:rPr>
              <a:t>Location, population, leadership, functions, and recognition.</a:t>
            </a:r>
          </a:p>
        </p:txBody>
      </p:sp>
      <p:sp>
        <p:nvSpPr>
          <p:cNvPr id="24" name="Rounded Rectangle 23"/>
          <p:cNvSpPr/>
          <p:nvPr/>
        </p:nvSpPr>
        <p:spPr>
          <a:xfrm>
            <a:off x="7909560" y="3675888"/>
            <a:ext cx="3566160"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074152" y="3849624"/>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97012" y="3916375"/>
            <a:ext cx="265176" cy="118872"/>
          </a:xfrm>
          <a:prstGeom prst="rect">
            <a:avLst/>
          </a:prstGeom>
          <a:noFill/>
        </p:spPr>
        <p:txBody>
          <a:bodyPr wrap="square" lIns="0" rIns="0" tIns="0" bIns="0" anchor="t">
            <a:spAutoFit/>
          </a:bodyPr>
          <a:lstStyle/>
          <a:p>
            <a:pPr algn="ctr"/>
            <a:r>
              <a:rPr sz="850" b="1" i="0">
                <a:solidFill>
                  <a:srgbClr val="0B2D20"/>
                </a:solidFill>
                <a:latin typeface="Aptos"/>
              </a:rPr>
              <a:t>3</a:t>
            </a:r>
          </a:p>
        </p:txBody>
      </p:sp>
      <p:sp>
        <p:nvSpPr>
          <p:cNvPr id="27" name="TextBox 26"/>
          <p:cNvSpPr txBox="1"/>
          <p:nvPr/>
        </p:nvSpPr>
        <p:spPr>
          <a:xfrm>
            <a:off x="8494776" y="3794760"/>
            <a:ext cx="2816352" cy="155448"/>
          </a:xfrm>
          <a:prstGeom prst="rect">
            <a:avLst/>
          </a:prstGeom>
          <a:noFill/>
        </p:spPr>
        <p:txBody>
          <a:bodyPr wrap="square" lIns="0" rIns="0" tIns="0" bIns="0" anchor="t">
            <a:spAutoFit/>
          </a:bodyPr>
          <a:lstStyle/>
          <a:p>
            <a:pPr algn="l"/>
            <a:r>
              <a:rPr sz="800" b="1" i="0">
                <a:solidFill>
                  <a:srgbClr val="123524"/>
                </a:solidFill>
                <a:latin typeface="Aptos"/>
              </a:rPr>
              <a:t>WHAT CAN THE USER DO?</a:t>
            </a:r>
          </a:p>
        </p:txBody>
      </p:sp>
      <p:sp>
        <p:nvSpPr>
          <p:cNvPr id="28" name="TextBox 27"/>
          <p:cNvSpPr txBox="1"/>
          <p:nvPr/>
        </p:nvSpPr>
        <p:spPr>
          <a:xfrm>
            <a:off x="8494776" y="4014216"/>
            <a:ext cx="2816352" cy="438911"/>
          </a:xfrm>
          <a:prstGeom prst="rect">
            <a:avLst/>
          </a:prstGeom>
          <a:noFill/>
        </p:spPr>
        <p:txBody>
          <a:bodyPr wrap="square" lIns="0" rIns="0" tIns="0" bIns="0" anchor="t">
            <a:spAutoFit/>
          </a:bodyPr>
          <a:lstStyle/>
          <a:p>
            <a:pPr algn="l"/>
            <a:r>
              <a:rPr sz="1050" b="1" i="0">
                <a:solidFill>
                  <a:srgbClr val="14251D"/>
                </a:solidFill>
                <a:latin typeface="Aptos"/>
              </a:rPr>
              <a:t>Read the available fields without leaving the explorer.</a:t>
            </a:r>
          </a:p>
        </p:txBody>
      </p:sp>
      <p:sp>
        <p:nvSpPr>
          <p:cNvPr id="29" name="Rounded Rectangle 28"/>
          <p:cNvSpPr/>
          <p:nvPr/>
        </p:nvSpPr>
        <p:spPr>
          <a:xfrm>
            <a:off x="7909560" y="4700016"/>
            <a:ext cx="3566160"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74152" y="4873752"/>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97012" y="4940503"/>
            <a:ext cx="265176" cy="118872"/>
          </a:xfrm>
          <a:prstGeom prst="rect">
            <a:avLst/>
          </a:prstGeom>
          <a:noFill/>
        </p:spPr>
        <p:txBody>
          <a:bodyPr wrap="square" lIns="0" rIns="0" tIns="0" bIns="0" anchor="t">
            <a:spAutoFit/>
          </a:bodyPr>
          <a:lstStyle/>
          <a:p>
            <a:pPr algn="ctr"/>
            <a:r>
              <a:rPr sz="850" b="1" i="0">
                <a:solidFill>
                  <a:srgbClr val="0B2D20"/>
                </a:solidFill>
                <a:latin typeface="Aptos"/>
              </a:rPr>
              <a:t>4</a:t>
            </a:r>
          </a:p>
        </p:txBody>
      </p:sp>
      <p:sp>
        <p:nvSpPr>
          <p:cNvPr id="32" name="TextBox 31"/>
          <p:cNvSpPr txBox="1"/>
          <p:nvPr/>
        </p:nvSpPr>
        <p:spPr>
          <a:xfrm>
            <a:off x="8494776" y="4818888"/>
            <a:ext cx="2816352" cy="155448"/>
          </a:xfrm>
          <a:prstGeom prst="rect">
            <a:avLst/>
          </a:prstGeom>
          <a:noFill/>
        </p:spPr>
        <p:txBody>
          <a:bodyPr wrap="square" lIns="0" rIns="0" tIns="0" bIns="0" anchor="t">
            <a:spAutoFit/>
          </a:bodyPr>
          <a:lstStyle/>
          <a:p>
            <a:pPr algn="l"/>
            <a:r>
              <a:rPr sz="800" b="1" i="0">
                <a:solidFill>
                  <a:srgbClr val="123524"/>
                </a:solidFill>
                <a:latin typeface="Aptos"/>
              </a:rPr>
              <a:t>WHAT IS THE BENEFIT?</a:t>
            </a:r>
          </a:p>
        </p:txBody>
      </p:sp>
      <p:sp>
        <p:nvSpPr>
          <p:cNvPr id="33" name="TextBox 32"/>
          <p:cNvSpPr txBox="1"/>
          <p:nvPr/>
        </p:nvSpPr>
        <p:spPr>
          <a:xfrm>
            <a:off x="8494776" y="5038344"/>
            <a:ext cx="2816352" cy="438911"/>
          </a:xfrm>
          <a:prstGeom prst="rect">
            <a:avLst/>
          </a:prstGeom>
          <a:noFill/>
        </p:spPr>
        <p:txBody>
          <a:bodyPr wrap="square" lIns="0" rIns="0" tIns="0" bIns="0" anchor="t">
            <a:spAutoFit/>
          </a:bodyPr>
          <a:lstStyle/>
          <a:p>
            <a:pPr algn="l"/>
            <a:r>
              <a:rPr sz="1050" b="1" i="0">
                <a:solidFill>
                  <a:srgbClr val="14251D"/>
                </a:solidFill>
                <a:latin typeface="Aptos"/>
              </a:rPr>
              <a:t>It supports record-level inspection after broader filtering.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REV_BACKGROUND"/>
          <p:cNvSpPr/>
          <p:nvPr/>
        </p:nvSpPr>
        <p:spPr>
          <a:xfrm>
            <a:off x="0" y="0"/>
            <a:ext cx="12192000" cy="68580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972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2000" cy="20116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V_SECTION"/>
          <p:cNvSpPr txBox="1"/>
          <p:nvPr/>
        </p:nvSpPr>
        <p:spPr>
          <a:xfrm>
            <a:off x="502920" y="283464"/>
            <a:ext cx="4389120" cy="201168"/>
          </a:xfrm>
          <a:prstGeom prst="rect">
            <a:avLst/>
          </a:prstGeom>
          <a:noFill/>
        </p:spPr>
        <p:txBody>
          <a:bodyPr wrap="square" lIns="27432" rIns="27432" tIns="27432" bIns="27432" anchor="t">
            <a:spAutoFit/>
          </a:bodyPr>
          <a:lstStyle/>
          <a:p>
            <a:pPr algn="l"/>
            <a:r>
              <a:rPr sz="900" b="1" i="0">
                <a:solidFill>
                  <a:srgbClr val="123524"/>
                </a:solidFill>
                <a:latin typeface="Aptos"/>
              </a:rPr>
              <a:t>4.5 • INTERACTIVE MAP</a:t>
            </a:r>
          </a:p>
        </p:txBody>
      </p:sp>
      <p:sp>
        <p:nvSpPr>
          <p:cNvPr id="6" name="Rectangle 5"/>
          <p:cNvSpPr/>
          <p:nvPr/>
        </p:nvSpPr>
        <p:spPr>
          <a:xfrm>
            <a:off x="502920" y="576072"/>
            <a:ext cx="420624" cy="22860"/>
          </a:xfrm>
          <a:prstGeom prst="rect">
            <a:avLst/>
          </a:prstGeom>
          <a:solidFill>
            <a:srgbClr val="C8A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V_TITLE"/>
          <p:cNvSpPr txBox="1"/>
          <p:nvPr/>
        </p:nvSpPr>
        <p:spPr>
          <a:xfrm>
            <a:off x="502920" y="658368"/>
            <a:ext cx="11018520" cy="475488"/>
          </a:xfrm>
          <a:prstGeom prst="rect">
            <a:avLst/>
          </a:prstGeom>
          <a:noFill/>
        </p:spPr>
        <p:txBody>
          <a:bodyPr wrap="square" lIns="27432" rIns="27432" tIns="27432" bIns="27432" anchor="t">
            <a:spAutoFit/>
          </a:bodyPr>
          <a:lstStyle/>
          <a:p>
            <a:pPr algn="l"/>
            <a:r>
              <a:rPr sz="2500" b="0" i="0">
                <a:solidFill>
                  <a:srgbClr val="14251D"/>
                </a:solidFill>
                <a:latin typeface="Georgia"/>
              </a:rPr>
              <a:t>See how groups are distributed geographically</a:t>
            </a:r>
          </a:p>
        </p:txBody>
      </p:sp>
      <p:sp>
        <p:nvSpPr>
          <p:cNvPr id="8" name="REV_SUBTITLE"/>
          <p:cNvSpPr txBox="1"/>
          <p:nvPr/>
        </p:nvSpPr>
        <p:spPr>
          <a:xfrm>
            <a:off x="521207" y="1179576"/>
            <a:ext cx="10927080" cy="320040"/>
          </a:xfrm>
          <a:prstGeom prst="rect">
            <a:avLst/>
          </a:prstGeom>
          <a:noFill/>
        </p:spPr>
        <p:txBody>
          <a:bodyPr wrap="square" lIns="27432" rIns="27432" tIns="27432" bIns="27432" anchor="t">
            <a:spAutoFit/>
          </a:bodyPr>
          <a:lstStyle/>
          <a:p>
            <a:pPr algn="l"/>
            <a:r>
              <a:rPr sz="1150" b="0" i="0">
                <a:solidFill>
                  <a:srgbClr val="65736B"/>
                </a:solidFill>
                <a:latin typeface="Aptos"/>
              </a:rPr>
              <a:t>The map displays the number of traditional groups represented in each continent category.</a:t>
            </a:r>
          </a:p>
        </p:txBody>
      </p:sp>
      <p:sp>
        <p:nvSpPr>
          <p:cNvPr id="9" name="TextBox 8"/>
          <p:cNvSpPr txBox="1"/>
          <p:nvPr/>
        </p:nvSpPr>
        <p:spPr>
          <a:xfrm>
            <a:off x="502920" y="6684264"/>
            <a:ext cx="4572000" cy="100584"/>
          </a:xfrm>
          <a:prstGeom prst="rect">
            <a:avLst/>
          </a:prstGeom>
          <a:noFill/>
        </p:spPr>
        <p:txBody>
          <a:bodyPr wrap="square" lIns="0" rIns="0" tIns="0" bIns="0" anchor="t">
            <a:spAutoFit/>
          </a:bodyPr>
          <a:lstStyle/>
          <a:p>
            <a:pPr algn="l"/>
            <a:r>
              <a:rPr sz="750" b="0" i="0">
                <a:solidFill>
                  <a:srgbClr val="DDE7E0"/>
                </a:solidFill>
                <a:latin typeface="Aptos"/>
              </a:rPr>
              <a:t>Chapter 4 • Results and Discussion</a:t>
            </a:r>
          </a:p>
        </p:txBody>
      </p:sp>
      <p:sp>
        <p:nvSpPr>
          <p:cNvPr id="10" name="TextBox 9"/>
          <p:cNvSpPr txBox="1"/>
          <p:nvPr/>
        </p:nvSpPr>
        <p:spPr>
          <a:xfrm>
            <a:off x="11475720" y="6684264"/>
            <a:ext cx="274320" cy="100584"/>
          </a:xfrm>
          <a:prstGeom prst="rect">
            <a:avLst/>
          </a:prstGeom>
          <a:noFill/>
        </p:spPr>
        <p:txBody>
          <a:bodyPr wrap="square" lIns="0" rIns="0" tIns="0" bIns="0" anchor="t">
            <a:spAutoFit/>
          </a:bodyPr>
          <a:lstStyle/>
          <a:p>
            <a:pPr algn="r"/>
            <a:r>
              <a:rPr sz="800" b="0" i="0">
                <a:solidFill>
                  <a:srgbClr val="FFFFFF"/>
                </a:solidFill>
                <a:latin typeface="Aptos"/>
              </a:rPr>
              <a:t>8</a:t>
            </a:r>
          </a:p>
        </p:txBody>
      </p:sp>
      <p:sp>
        <p:nvSpPr>
          <p:cNvPr id="11" name="Rounded Rectangle 10"/>
          <p:cNvSpPr/>
          <p:nvPr/>
        </p:nvSpPr>
        <p:spPr>
          <a:xfrm>
            <a:off x="498347" y="1540764"/>
            <a:ext cx="7635240" cy="456285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39-map-default-current.png"/>
          <p:cNvPicPr>
            <a:picLocks noChangeAspect="1"/>
          </p:cNvPicPr>
          <p:nvPr/>
        </p:nvPicPr>
        <p:blipFill>
          <a:blip r:embed="rId4"/>
          <a:stretch>
            <a:fillRect/>
          </a:stretch>
        </p:blipFill>
        <p:spPr>
          <a:xfrm>
            <a:off x="1078160" y="1572768"/>
            <a:ext cx="6475614" cy="4498848"/>
          </a:xfrm>
          <a:prstGeom prst="rect">
            <a:avLst/>
          </a:prstGeom>
        </p:spPr>
      </p:pic>
      <p:sp>
        <p:nvSpPr>
          <p:cNvPr id="13" name="REV_CAPTION"/>
          <p:cNvSpPr txBox="1"/>
          <p:nvPr/>
        </p:nvSpPr>
        <p:spPr>
          <a:xfrm>
            <a:off x="530352" y="6108192"/>
            <a:ext cx="7571231" cy="201168"/>
          </a:xfrm>
          <a:prstGeom prst="rect">
            <a:avLst/>
          </a:prstGeom>
          <a:noFill/>
        </p:spPr>
        <p:txBody>
          <a:bodyPr wrap="square" lIns="0" rIns="0" tIns="0" bIns="0" anchor="t">
            <a:spAutoFit/>
          </a:bodyPr>
          <a:lstStyle/>
          <a:p>
            <a:pPr algn="ctr"/>
            <a:r>
              <a:rPr sz="900" b="0" i="1">
                <a:solidFill>
                  <a:srgbClr val="65736B"/>
                </a:solidFill>
                <a:latin typeface="Aptos"/>
              </a:rPr>
              <a:t>Figure 4.5: Interactive Geographic Map</a:t>
            </a:r>
          </a:p>
        </p:txBody>
      </p:sp>
      <p:sp>
        <p:nvSpPr>
          <p:cNvPr id="14" name="Rounded Rectangle 13"/>
          <p:cNvSpPr/>
          <p:nvPr/>
        </p:nvSpPr>
        <p:spPr>
          <a:xfrm>
            <a:off x="8321040" y="1627632"/>
            <a:ext cx="3182112"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85632" y="1801368"/>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8492" y="1868119"/>
            <a:ext cx="265176" cy="118872"/>
          </a:xfrm>
          <a:prstGeom prst="rect">
            <a:avLst/>
          </a:prstGeom>
          <a:noFill/>
        </p:spPr>
        <p:txBody>
          <a:bodyPr wrap="square" lIns="0" rIns="0" tIns="0" bIns="0" anchor="t">
            <a:spAutoFit/>
          </a:bodyPr>
          <a:lstStyle/>
          <a:p>
            <a:pPr algn="ctr"/>
            <a:r>
              <a:rPr sz="850" b="1" i="0">
                <a:solidFill>
                  <a:srgbClr val="0B2D20"/>
                </a:solidFill>
                <a:latin typeface="Aptos"/>
              </a:rPr>
              <a:t>1</a:t>
            </a:r>
          </a:p>
        </p:txBody>
      </p:sp>
      <p:sp>
        <p:nvSpPr>
          <p:cNvPr id="17" name="TextBox 16"/>
          <p:cNvSpPr txBox="1"/>
          <p:nvPr/>
        </p:nvSpPr>
        <p:spPr>
          <a:xfrm>
            <a:off x="8906256" y="1746504"/>
            <a:ext cx="2432304" cy="155448"/>
          </a:xfrm>
          <a:prstGeom prst="rect">
            <a:avLst/>
          </a:prstGeom>
          <a:noFill/>
        </p:spPr>
        <p:txBody>
          <a:bodyPr wrap="square" lIns="0" rIns="0" tIns="0" bIns="0" anchor="t">
            <a:spAutoFit/>
          </a:bodyPr>
          <a:lstStyle/>
          <a:p>
            <a:pPr algn="l"/>
            <a:r>
              <a:rPr sz="800" b="1" i="0">
                <a:solidFill>
                  <a:srgbClr val="123524"/>
                </a:solidFill>
                <a:latin typeface="Aptos"/>
              </a:rPr>
              <a:t>WHAT IS IT?</a:t>
            </a:r>
          </a:p>
        </p:txBody>
      </p:sp>
      <p:sp>
        <p:nvSpPr>
          <p:cNvPr id="18" name="TextBox 17"/>
          <p:cNvSpPr txBox="1"/>
          <p:nvPr/>
        </p:nvSpPr>
        <p:spPr>
          <a:xfrm>
            <a:off x="8906256" y="1965960"/>
            <a:ext cx="2432304" cy="438911"/>
          </a:xfrm>
          <a:prstGeom prst="rect">
            <a:avLst/>
          </a:prstGeom>
          <a:noFill/>
        </p:spPr>
        <p:txBody>
          <a:bodyPr wrap="square" lIns="0" rIns="0" tIns="0" bIns="0" anchor="t">
            <a:spAutoFit/>
          </a:bodyPr>
          <a:lstStyle/>
          <a:p>
            <a:pPr algn="l"/>
            <a:r>
              <a:rPr sz="1050" b="1" i="0">
                <a:solidFill>
                  <a:srgbClr val="14251D"/>
                </a:solidFill>
                <a:latin typeface="Aptos"/>
              </a:rPr>
              <a:t>A visual geographic overview of the dataset.</a:t>
            </a:r>
          </a:p>
        </p:txBody>
      </p:sp>
      <p:sp>
        <p:nvSpPr>
          <p:cNvPr id="19" name="Rounded Rectangle 18"/>
          <p:cNvSpPr/>
          <p:nvPr/>
        </p:nvSpPr>
        <p:spPr>
          <a:xfrm>
            <a:off x="8321040" y="2651760"/>
            <a:ext cx="3182112"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85632" y="2825496"/>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8492" y="2892247"/>
            <a:ext cx="265176" cy="118872"/>
          </a:xfrm>
          <a:prstGeom prst="rect">
            <a:avLst/>
          </a:prstGeom>
          <a:noFill/>
        </p:spPr>
        <p:txBody>
          <a:bodyPr wrap="square" lIns="0" rIns="0" tIns="0" bIns="0" anchor="t">
            <a:spAutoFit/>
          </a:bodyPr>
          <a:lstStyle/>
          <a:p>
            <a:pPr algn="ctr"/>
            <a:r>
              <a:rPr sz="850" b="1" i="0">
                <a:solidFill>
                  <a:srgbClr val="0B2D20"/>
                </a:solidFill>
                <a:latin typeface="Aptos"/>
              </a:rPr>
              <a:t>2</a:t>
            </a:r>
          </a:p>
        </p:txBody>
      </p:sp>
      <p:sp>
        <p:nvSpPr>
          <p:cNvPr id="22" name="TextBox 21"/>
          <p:cNvSpPr txBox="1"/>
          <p:nvPr/>
        </p:nvSpPr>
        <p:spPr>
          <a:xfrm>
            <a:off x="8906256" y="2770632"/>
            <a:ext cx="2432304" cy="155448"/>
          </a:xfrm>
          <a:prstGeom prst="rect">
            <a:avLst/>
          </a:prstGeom>
          <a:noFill/>
        </p:spPr>
        <p:txBody>
          <a:bodyPr wrap="square" lIns="0" rIns="0" tIns="0" bIns="0" anchor="t">
            <a:spAutoFit/>
          </a:bodyPr>
          <a:lstStyle/>
          <a:p>
            <a:pPr algn="l"/>
            <a:r>
              <a:rPr sz="800" b="1" i="0">
                <a:solidFill>
                  <a:srgbClr val="123524"/>
                </a:solidFill>
                <a:latin typeface="Aptos"/>
              </a:rPr>
              <a:t>WHAT DOES IT SHOW?</a:t>
            </a:r>
          </a:p>
        </p:txBody>
      </p:sp>
      <p:sp>
        <p:nvSpPr>
          <p:cNvPr id="23" name="TextBox 22"/>
          <p:cNvSpPr txBox="1"/>
          <p:nvPr/>
        </p:nvSpPr>
        <p:spPr>
          <a:xfrm>
            <a:off x="8906256" y="2990088"/>
            <a:ext cx="2432304" cy="438911"/>
          </a:xfrm>
          <a:prstGeom prst="rect">
            <a:avLst/>
          </a:prstGeom>
          <a:noFill/>
        </p:spPr>
        <p:txBody>
          <a:bodyPr wrap="square" lIns="0" rIns="0" tIns="0" bIns="0" anchor="t">
            <a:spAutoFit/>
          </a:bodyPr>
          <a:lstStyle/>
          <a:p>
            <a:pPr algn="l"/>
            <a:r>
              <a:rPr sz="1050" b="1" i="0">
                <a:solidFill>
                  <a:srgbClr val="14251D"/>
                </a:solidFill>
                <a:latin typeface="Aptos"/>
              </a:rPr>
              <a:t>A world map with a group total for each continent.</a:t>
            </a:r>
          </a:p>
        </p:txBody>
      </p:sp>
      <p:sp>
        <p:nvSpPr>
          <p:cNvPr id="24" name="Rounded Rectangle 23"/>
          <p:cNvSpPr/>
          <p:nvPr/>
        </p:nvSpPr>
        <p:spPr>
          <a:xfrm>
            <a:off x="8321040" y="3675888"/>
            <a:ext cx="3182112"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85632" y="3849624"/>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8492" y="3916375"/>
            <a:ext cx="265176" cy="118872"/>
          </a:xfrm>
          <a:prstGeom prst="rect">
            <a:avLst/>
          </a:prstGeom>
          <a:noFill/>
        </p:spPr>
        <p:txBody>
          <a:bodyPr wrap="square" lIns="0" rIns="0" tIns="0" bIns="0" anchor="t">
            <a:spAutoFit/>
          </a:bodyPr>
          <a:lstStyle/>
          <a:p>
            <a:pPr algn="ctr"/>
            <a:r>
              <a:rPr sz="850" b="1" i="0">
                <a:solidFill>
                  <a:srgbClr val="0B2D20"/>
                </a:solidFill>
                <a:latin typeface="Aptos"/>
              </a:rPr>
              <a:t>3</a:t>
            </a:r>
          </a:p>
        </p:txBody>
      </p:sp>
      <p:sp>
        <p:nvSpPr>
          <p:cNvPr id="27" name="TextBox 26"/>
          <p:cNvSpPr txBox="1"/>
          <p:nvPr/>
        </p:nvSpPr>
        <p:spPr>
          <a:xfrm>
            <a:off x="8906256" y="3794760"/>
            <a:ext cx="2432304" cy="155448"/>
          </a:xfrm>
          <a:prstGeom prst="rect">
            <a:avLst/>
          </a:prstGeom>
          <a:noFill/>
        </p:spPr>
        <p:txBody>
          <a:bodyPr wrap="square" lIns="0" rIns="0" tIns="0" bIns="0" anchor="t">
            <a:spAutoFit/>
          </a:bodyPr>
          <a:lstStyle/>
          <a:p>
            <a:pPr algn="l"/>
            <a:r>
              <a:rPr sz="800" b="1" i="0">
                <a:solidFill>
                  <a:srgbClr val="123524"/>
                </a:solidFill>
                <a:latin typeface="Aptos"/>
              </a:rPr>
              <a:t>WHAT CAN THE USER DO?</a:t>
            </a:r>
          </a:p>
        </p:txBody>
      </p:sp>
      <p:sp>
        <p:nvSpPr>
          <p:cNvPr id="28" name="TextBox 27"/>
          <p:cNvSpPr txBox="1"/>
          <p:nvPr/>
        </p:nvSpPr>
        <p:spPr>
          <a:xfrm>
            <a:off x="8906256" y="4014216"/>
            <a:ext cx="2432304" cy="438911"/>
          </a:xfrm>
          <a:prstGeom prst="rect">
            <a:avLst/>
          </a:prstGeom>
          <a:noFill/>
        </p:spPr>
        <p:txBody>
          <a:bodyPr wrap="square" lIns="0" rIns="0" tIns="0" bIns="0" anchor="t">
            <a:spAutoFit/>
          </a:bodyPr>
          <a:lstStyle/>
          <a:p>
            <a:pPr algn="l"/>
            <a:r>
              <a:rPr sz="1050" b="1" i="0">
                <a:solidFill>
                  <a:srgbClr val="14251D"/>
                </a:solidFill>
                <a:latin typeface="Aptos"/>
              </a:rPr>
              <a:t>Select a marker to open the related group records.</a:t>
            </a:r>
          </a:p>
        </p:txBody>
      </p:sp>
      <p:sp>
        <p:nvSpPr>
          <p:cNvPr id="29" name="Rounded Rectangle 28"/>
          <p:cNvSpPr/>
          <p:nvPr/>
        </p:nvSpPr>
        <p:spPr>
          <a:xfrm>
            <a:off x="8321040" y="4700016"/>
            <a:ext cx="3182112"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485632" y="4873752"/>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8492" y="4940503"/>
            <a:ext cx="265176" cy="118872"/>
          </a:xfrm>
          <a:prstGeom prst="rect">
            <a:avLst/>
          </a:prstGeom>
          <a:noFill/>
        </p:spPr>
        <p:txBody>
          <a:bodyPr wrap="square" lIns="0" rIns="0" tIns="0" bIns="0" anchor="t">
            <a:spAutoFit/>
          </a:bodyPr>
          <a:lstStyle/>
          <a:p>
            <a:pPr algn="ctr"/>
            <a:r>
              <a:rPr sz="850" b="1" i="0">
                <a:solidFill>
                  <a:srgbClr val="0B2D20"/>
                </a:solidFill>
                <a:latin typeface="Aptos"/>
              </a:rPr>
              <a:t>4</a:t>
            </a:r>
          </a:p>
        </p:txBody>
      </p:sp>
      <p:sp>
        <p:nvSpPr>
          <p:cNvPr id="32" name="TextBox 31"/>
          <p:cNvSpPr txBox="1"/>
          <p:nvPr/>
        </p:nvSpPr>
        <p:spPr>
          <a:xfrm>
            <a:off x="8906256" y="4818888"/>
            <a:ext cx="2432304" cy="155448"/>
          </a:xfrm>
          <a:prstGeom prst="rect">
            <a:avLst/>
          </a:prstGeom>
          <a:noFill/>
        </p:spPr>
        <p:txBody>
          <a:bodyPr wrap="square" lIns="0" rIns="0" tIns="0" bIns="0" anchor="t">
            <a:spAutoFit/>
          </a:bodyPr>
          <a:lstStyle/>
          <a:p>
            <a:pPr algn="l"/>
            <a:r>
              <a:rPr sz="800" b="1" i="0">
                <a:solidFill>
                  <a:srgbClr val="123524"/>
                </a:solidFill>
                <a:latin typeface="Aptos"/>
              </a:rPr>
              <a:t>WHAT IS THE BENEFIT?</a:t>
            </a:r>
          </a:p>
        </p:txBody>
      </p:sp>
      <p:sp>
        <p:nvSpPr>
          <p:cNvPr id="33" name="TextBox 32"/>
          <p:cNvSpPr txBox="1"/>
          <p:nvPr/>
        </p:nvSpPr>
        <p:spPr>
          <a:xfrm>
            <a:off x="8906256" y="5038344"/>
            <a:ext cx="2432304" cy="438911"/>
          </a:xfrm>
          <a:prstGeom prst="rect">
            <a:avLst/>
          </a:prstGeom>
          <a:noFill/>
        </p:spPr>
        <p:txBody>
          <a:bodyPr wrap="square" lIns="0" rIns="0" tIns="0" bIns="0" anchor="t">
            <a:spAutoFit/>
          </a:bodyPr>
          <a:lstStyle/>
          <a:p>
            <a:pPr algn="l"/>
            <a:r>
              <a:rPr sz="1050" b="1" i="0">
                <a:solidFill>
                  <a:srgbClr val="14251D"/>
                </a:solidFill>
                <a:latin typeface="Aptos"/>
              </a:rPr>
              <a:t>It makes geographic concentration easy to understand.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REV_BACKGROUND"/>
          <p:cNvSpPr/>
          <p:nvPr/>
        </p:nvSpPr>
        <p:spPr>
          <a:xfrm>
            <a:off x="0" y="0"/>
            <a:ext cx="12192000" cy="68580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972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2000" cy="20116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V_SECTION"/>
          <p:cNvSpPr txBox="1"/>
          <p:nvPr/>
        </p:nvSpPr>
        <p:spPr>
          <a:xfrm>
            <a:off x="502920" y="283464"/>
            <a:ext cx="4389120" cy="201168"/>
          </a:xfrm>
          <a:prstGeom prst="rect">
            <a:avLst/>
          </a:prstGeom>
          <a:noFill/>
        </p:spPr>
        <p:txBody>
          <a:bodyPr wrap="square" lIns="27432" rIns="27432" tIns="27432" bIns="27432" anchor="t">
            <a:spAutoFit/>
          </a:bodyPr>
          <a:lstStyle/>
          <a:p>
            <a:pPr algn="l"/>
            <a:r>
              <a:rPr sz="900" b="1" i="0">
                <a:solidFill>
                  <a:srgbClr val="123524"/>
                </a:solidFill>
                <a:latin typeface="Aptos"/>
              </a:rPr>
              <a:t>4.5 • INTERACTIVE MAP</a:t>
            </a:r>
          </a:p>
        </p:txBody>
      </p:sp>
      <p:sp>
        <p:nvSpPr>
          <p:cNvPr id="6" name="Rectangle 5"/>
          <p:cNvSpPr/>
          <p:nvPr/>
        </p:nvSpPr>
        <p:spPr>
          <a:xfrm>
            <a:off x="502920" y="576072"/>
            <a:ext cx="420624" cy="22860"/>
          </a:xfrm>
          <a:prstGeom prst="rect">
            <a:avLst/>
          </a:prstGeom>
          <a:solidFill>
            <a:srgbClr val="C8A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V_TITLE"/>
          <p:cNvSpPr txBox="1"/>
          <p:nvPr/>
        </p:nvSpPr>
        <p:spPr>
          <a:xfrm>
            <a:off x="502920" y="658368"/>
            <a:ext cx="11018520" cy="475488"/>
          </a:xfrm>
          <a:prstGeom prst="rect">
            <a:avLst/>
          </a:prstGeom>
          <a:noFill/>
        </p:spPr>
        <p:txBody>
          <a:bodyPr wrap="square" lIns="27432" rIns="27432" tIns="27432" bIns="27432" anchor="t">
            <a:spAutoFit/>
          </a:bodyPr>
          <a:lstStyle/>
          <a:p>
            <a:pPr algn="l"/>
            <a:r>
              <a:rPr sz="2500" b="0" i="0">
                <a:solidFill>
                  <a:srgbClr val="14251D"/>
                </a:solidFill>
                <a:latin typeface="Georgia"/>
              </a:rPr>
              <a:t>A map selection opens the matching records</a:t>
            </a:r>
          </a:p>
        </p:txBody>
      </p:sp>
      <p:sp>
        <p:nvSpPr>
          <p:cNvPr id="8" name="REV_SUBTITLE"/>
          <p:cNvSpPr txBox="1"/>
          <p:nvPr/>
        </p:nvSpPr>
        <p:spPr>
          <a:xfrm>
            <a:off x="521207" y="1179576"/>
            <a:ext cx="10927080" cy="320040"/>
          </a:xfrm>
          <a:prstGeom prst="rect">
            <a:avLst/>
          </a:prstGeom>
          <a:noFill/>
        </p:spPr>
        <p:txBody>
          <a:bodyPr wrap="square" lIns="27432" rIns="27432" tIns="27432" bIns="27432" anchor="t">
            <a:spAutoFit/>
          </a:bodyPr>
          <a:lstStyle/>
          <a:p>
            <a:pPr algn="l"/>
            <a:r>
              <a:rPr sz="1150" b="0" i="0">
                <a:solidFill>
                  <a:srgbClr val="65736B"/>
                </a:solidFill>
                <a:latin typeface="Aptos"/>
              </a:rPr>
              <a:t>The geographic view supports direct movement from a marker to a filtered list.</a:t>
            </a:r>
          </a:p>
        </p:txBody>
      </p:sp>
      <p:sp>
        <p:nvSpPr>
          <p:cNvPr id="9" name="TextBox 8"/>
          <p:cNvSpPr txBox="1"/>
          <p:nvPr/>
        </p:nvSpPr>
        <p:spPr>
          <a:xfrm>
            <a:off x="502920" y="6684264"/>
            <a:ext cx="4572000" cy="100584"/>
          </a:xfrm>
          <a:prstGeom prst="rect">
            <a:avLst/>
          </a:prstGeom>
          <a:noFill/>
        </p:spPr>
        <p:txBody>
          <a:bodyPr wrap="square" lIns="0" rIns="0" tIns="0" bIns="0" anchor="t">
            <a:spAutoFit/>
          </a:bodyPr>
          <a:lstStyle/>
          <a:p>
            <a:pPr algn="l"/>
            <a:r>
              <a:rPr sz="750" b="0" i="0">
                <a:solidFill>
                  <a:srgbClr val="DDE7E0"/>
                </a:solidFill>
                <a:latin typeface="Aptos"/>
              </a:rPr>
              <a:t>Chapter 4 • Results and Discussion</a:t>
            </a:r>
          </a:p>
        </p:txBody>
      </p:sp>
      <p:sp>
        <p:nvSpPr>
          <p:cNvPr id="10" name="TextBox 9"/>
          <p:cNvSpPr txBox="1"/>
          <p:nvPr/>
        </p:nvSpPr>
        <p:spPr>
          <a:xfrm>
            <a:off x="11475720" y="6684264"/>
            <a:ext cx="274320" cy="100584"/>
          </a:xfrm>
          <a:prstGeom prst="rect">
            <a:avLst/>
          </a:prstGeom>
          <a:noFill/>
        </p:spPr>
        <p:txBody>
          <a:bodyPr wrap="square" lIns="0" rIns="0" tIns="0" bIns="0" anchor="t">
            <a:spAutoFit/>
          </a:bodyPr>
          <a:lstStyle/>
          <a:p>
            <a:pPr algn="r"/>
            <a:r>
              <a:rPr sz="800" b="0" i="0">
                <a:solidFill>
                  <a:srgbClr val="FFFFFF"/>
                </a:solidFill>
                <a:latin typeface="Aptos"/>
              </a:rPr>
              <a:t>9</a:t>
            </a:r>
          </a:p>
        </p:txBody>
      </p:sp>
      <p:sp>
        <p:nvSpPr>
          <p:cNvPr id="11" name="Rounded Rectangle 10"/>
          <p:cNvSpPr/>
          <p:nvPr/>
        </p:nvSpPr>
        <p:spPr>
          <a:xfrm>
            <a:off x="498347" y="1540764"/>
            <a:ext cx="7562088" cy="456285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40-map-africa-result-current.png"/>
          <p:cNvPicPr>
            <a:picLocks noChangeAspect="1"/>
          </p:cNvPicPr>
          <p:nvPr/>
        </p:nvPicPr>
        <p:blipFill>
          <a:blip r:embed="rId4"/>
          <a:stretch>
            <a:fillRect/>
          </a:stretch>
        </p:blipFill>
        <p:spPr>
          <a:xfrm>
            <a:off x="1041584" y="1572768"/>
            <a:ext cx="6475614" cy="4498848"/>
          </a:xfrm>
          <a:prstGeom prst="rect">
            <a:avLst/>
          </a:prstGeom>
        </p:spPr>
      </p:pic>
      <p:sp>
        <p:nvSpPr>
          <p:cNvPr id="13" name="REV_CAPTION"/>
          <p:cNvSpPr txBox="1"/>
          <p:nvPr/>
        </p:nvSpPr>
        <p:spPr>
          <a:xfrm>
            <a:off x="530352" y="6108192"/>
            <a:ext cx="7498079" cy="201168"/>
          </a:xfrm>
          <a:prstGeom prst="rect">
            <a:avLst/>
          </a:prstGeom>
          <a:noFill/>
        </p:spPr>
        <p:txBody>
          <a:bodyPr wrap="square" lIns="0" rIns="0" tIns="0" bIns="0" anchor="t">
            <a:spAutoFit/>
          </a:bodyPr>
          <a:lstStyle/>
          <a:p>
            <a:pPr algn="ctr"/>
            <a:r>
              <a:rPr sz="900" b="0" i="1">
                <a:solidFill>
                  <a:srgbClr val="65736B"/>
                </a:solidFill>
                <a:latin typeface="Aptos"/>
              </a:rPr>
              <a:t>Figure 4.6: Africa Map Marker Result</a:t>
            </a:r>
          </a:p>
        </p:txBody>
      </p:sp>
      <p:sp>
        <p:nvSpPr>
          <p:cNvPr id="14" name="Rounded Rectangle 13"/>
          <p:cNvSpPr/>
          <p:nvPr/>
        </p:nvSpPr>
        <p:spPr>
          <a:xfrm>
            <a:off x="8339327" y="1755648"/>
            <a:ext cx="3108960" cy="749808"/>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9640" y="1938528"/>
            <a:ext cx="320040" cy="228600"/>
          </a:xfrm>
          <a:prstGeom prst="rect">
            <a:avLst/>
          </a:prstGeom>
          <a:noFill/>
        </p:spPr>
        <p:txBody>
          <a:bodyPr wrap="square" lIns="0" rIns="0" tIns="0" bIns="0" anchor="t">
            <a:spAutoFit/>
          </a:bodyPr>
          <a:lstStyle/>
          <a:p>
            <a:pPr algn="ctr"/>
            <a:r>
              <a:rPr sz="1700" b="1" i="0">
                <a:solidFill>
                  <a:srgbClr val="C8A96A"/>
                </a:solidFill>
                <a:latin typeface="Georgia"/>
              </a:rPr>
              <a:t>1</a:t>
            </a:r>
          </a:p>
        </p:txBody>
      </p:sp>
      <p:sp>
        <p:nvSpPr>
          <p:cNvPr id="16" name="TextBox 15"/>
          <p:cNvSpPr txBox="1"/>
          <p:nvPr/>
        </p:nvSpPr>
        <p:spPr>
          <a:xfrm>
            <a:off x="9006840" y="1874519"/>
            <a:ext cx="731520" cy="164592"/>
          </a:xfrm>
          <a:prstGeom prst="rect">
            <a:avLst/>
          </a:prstGeom>
          <a:noFill/>
        </p:spPr>
        <p:txBody>
          <a:bodyPr wrap="square" lIns="0" rIns="0" tIns="0" bIns="0" anchor="t">
            <a:spAutoFit/>
          </a:bodyPr>
          <a:lstStyle/>
          <a:p>
            <a:pPr algn="l"/>
            <a:r>
              <a:rPr sz="850" b="1" i="0">
                <a:solidFill>
                  <a:srgbClr val="123524"/>
                </a:solidFill>
                <a:latin typeface="Aptos"/>
              </a:rPr>
              <a:t>SELECT</a:t>
            </a:r>
          </a:p>
        </p:txBody>
      </p:sp>
      <p:sp>
        <p:nvSpPr>
          <p:cNvPr id="17" name="TextBox 16"/>
          <p:cNvSpPr txBox="1"/>
          <p:nvPr/>
        </p:nvSpPr>
        <p:spPr>
          <a:xfrm>
            <a:off x="9006840" y="2121408"/>
            <a:ext cx="2057400" cy="182880"/>
          </a:xfrm>
          <a:prstGeom prst="rect">
            <a:avLst/>
          </a:prstGeom>
          <a:noFill/>
        </p:spPr>
        <p:txBody>
          <a:bodyPr wrap="square" lIns="0" rIns="0" tIns="0" bIns="0" anchor="t">
            <a:spAutoFit/>
          </a:bodyPr>
          <a:lstStyle/>
          <a:p>
            <a:pPr algn="l"/>
            <a:r>
              <a:rPr sz="1150" b="1" i="0">
                <a:solidFill>
                  <a:srgbClr val="14251D"/>
                </a:solidFill>
                <a:latin typeface="Aptos"/>
              </a:rPr>
              <a:t>Africa marker</a:t>
            </a:r>
          </a:p>
        </p:txBody>
      </p:sp>
      <p:sp>
        <p:nvSpPr>
          <p:cNvPr id="18" name="Rounded Rectangle 17"/>
          <p:cNvSpPr/>
          <p:nvPr/>
        </p:nvSpPr>
        <p:spPr>
          <a:xfrm>
            <a:off x="8339327" y="2743200"/>
            <a:ext cx="3108960" cy="749808"/>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9640" y="2926080"/>
            <a:ext cx="320040" cy="228600"/>
          </a:xfrm>
          <a:prstGeom prst="rect">
            <a:avLst/>
          </a:prstGeom>
          <a:noFill/>
        </p:spPr>
        <p:txBody>
          <a:bodyPr wrap="square" lIns="0" rIns="0" tIns="0" bIns="0" anchor="t">
            <a:spAutoFit/>
          </a:bodyPr>
          <a:lstStyle/>
          <a:p>
            <a:pPr algn="ctr"/>
            <a:r>
              <a:rPr sz="1700" b="1" i="0">
                <a:solidFill>
                  <a:srgbClr val="C8A96A"/>
                </a:solidFill>
                <a:latin typeface="Georgia"/>
              </a:rPr>
              <a:t>2</a:t>
            </a:r>
          </a:p>
        </p:txBody>
      </p:sp>
      <p:sp>
        <p:nvSpPr>
          <p:cNvPr id="20" name="TextBox 19"/>
          <p:cNvSpPr txBox="1"/>
          <p:nvPr/>
        </p:nvSpPr>
        <p:spPr>
          <a:xfrm>
            <a:off x="9006840" y="2862072"/>
            <a:ext cx="731520" cy="164592"/>
          </a:xfrm>
          <a:prstGeom prst="rect">
            <a:avLst/>
          </a:prstGeom>
          <a:noFill/>
        </p:spPr>
        <p:txBody>
          <a:bodyPr wrap="square" lIns="0" rIns="0" tIns="0" bIns="0" anchor="t">
            <a:spAutoFit/>
          </a:bodyPr>
          <a:lstStyle/>
          <a:p>
            <a:pPr algn="l"/>
            <a:r>
              <a:rPr sz="850" b="1" i="0">
                <a:solidFill>
                  <a:srgbClr val="123524"/>
                </a:solidFill>
                <a:latin typeface="Aptos"/>
              </a:rPr>
              <a:t>OPEN</a:t>
            </a:r>
          </a:p>
        </p:txBody>
      </p:sp>
      <p:sp>
        <p:nvSpPr>
          <p:cNvPr id="21" name="TextBox 20"/>
          <p:cNvSpPr txBox="1"/>
          <p:nvPr/>
        </p:nvSpPr>
        <p:spPr>
          <a:xfrm>
            <a:off x="9006840" y="3108960"/>
            <a:ext cx="2057400" cy="182880"/>
          </a:xfrm>
          <a:prstGeom prst="rect">
            <a:avLst/>
          </a:prstGeom>
          <a:noFill/>
        </p:spPr>
        <p:txBody>
          <a:bodyPr wrap="square" lIns="0" rIns="0" tIns="0" bIns="0" anchor="t">
            <a:spAutoFit/>
          </a:bodyPr>
          <a:lstStyle/>
          <a:p>
            <a:pPr algn="l"/>
            <a:r>
              <a:rPr sz="1150" b="1" i="0">
                <a:solidFill>
                  <a:srgbClr val="14251D"/>
                </a:solidFill>
                <a:latin typeface="Aptos"/>
              </a:rPr>
              <a:t>Groups page</a:t>
            </a:r>
          </a:p>
        </p:txBody>
      </p:sp>
      <p:sp>
        <p:nvSpPr>
          <p:cNvPr id="22" name="Rounded Rectangle 21"/>
          <p:cNvSpPr/>
          <p:nvPr/>
        </p:nvSpPr>
        <p:spPr>
          <a:xfrm>
            <a:off x="8339327" y="3730752"/>
            <a:ext cx="3108960" cy="749808"/>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49640" y="3913632"/>
            <a:ext cx="320040" cy="228600"/>
          </a:xfrm>
          <a:prstGeom prst="rect">
            <a:avLst/>
          </a:prstGeom>
          <a:noFill/>
        </p:spPr>
        <p:txBody>
          <a:bodyPr wrap="square" lIns="0" rIns="0" tIns="0" bIns="0" anchor="t">
            <a:spAutoFit/>
          </a:bodyPr>
          <a:lstStyle/>
          <a:p>
            <a:pPr algn="ctr"/>
            <a:r>
              <a:rPr sz="1700" b="1" i="0">
                <a:solidFill>
                  <a:srgbClr val="C8A96A"/>
                </a:solidFill>
                <a:latin typeface="Georgia"/>
              </a:rPr>
              <a:t>3</a:t>
            </a:r>
          </a:p>
        </p:txBody>
      </p:sp>
      <p:sp>
        <p:nvSpPr>
          <p:cNvPr id="24" name="TextBox 23"/>
          <p:cNvSpPr txBox="1"/>
          <p:nvPr/>
        </p:nvSpPr>
        <p:spPr>
          <a:xfrm>
            <a:off x="9006840" y="3849624"/>
            <a:ext cx="731520" cy="164592"/>
          </a:xfrm>
          <a:prstGeom prst="rect">
            <a:avLst/>
          </a:prstGeom>
          <a:noFill/>
        </p:spPr>
        <p:txBody>
          <a:bodyPr wrap="square" lIns="0" rIns="0" tIns="0" bIns="0" anchor="t">
            <a:spAutoFit/>
          </a:bodyPr>
          <a:lstStyle/>
          <a:p>
            <a:pPr algn="l"/>
            <a:r>
              <a:rPr sz="850" b="1" i="0">
                <a:solidFill>
                  <a:srgbClr val="123524"/>
                </a:solidFill>
                <a:latin typeface="Aptos"/>
              </a:rPr>
              <a:t>FILTER</a:t>
            </a:r>
          </a:p>
        </p:txBody>
      </p:sp>
      <p:sp>
        <p:nvSpPr>
          <p:cNvPr id="25" name="TextBox 24"/>
          <p:cNvSpPr txBox="1"/>
          <p:nvPr/>
        </p:nvSpPr>
        <p:spPr>
          <a:xfrm>
            <a:off x="9006840" y="4096512"/>
            <a:ext cx="2057400" cy="182880"/>
          </a:xfrm>
          <a:prstGeom prst="rect">
            <a:avLst/>
          </a:prstGeom>
          <a:noFill/>
        </p:spPr>
        <p:txBody>
          <a:bodyPr wrap="square" lIns="0" rIns="0" tIns="0" bIns="0" anchor="t">
            <a:spAutoFit/>
          </a:bodyPr>
          <a:lstStyle/>
          <a:p>
            <a:pPr algn="l"/>
            <a:r>
              <a:rPr sz="1150" b="1" i="0">
                <a:solidFill>
                  <a:srgbClr val="14251D"/>
                </a:solidFill>
                <a:latin typeface="Aptos"/>
              </a:rPr>
              <a:t>Continent = Africa</a:t>
            </a:r>
          </a:p>
        </p:txBody>
      </p:sp>
      <p:sp>
        <p:nvSpPr>
          <p:cNvPr id="26" name="Rounded Rectangle 25"/>
          <p:cNvSpPr/>
          <p:nvPr/>
        </p:nvSpPr>
        <p:spPr>
          <a:xfrm>
            <a:off x="8339327" y="4718304"/>
            <a:ext cx="3108960" cy="749808"/>
          </a:xfrm>
          <a:prstGeom prst="roundRect">
            <a:avLst/>
          </a:prstGeom>
          <a:solidFill>
            <a:srgbClr val="E9EFEA"/>
          </a:solidFill>
          <a:ln w="10160">
            <a:solidFill>
              <a:srgbClr val="C8A9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49640" y="4901184"/>
            <a:ext cx="320040" cy="228600"/>
          </a:xfrm>
          <a:prstGeom prst="rect">
            <a:avLst/>
          </a:prstGeom>
          <a:noFill/>
        </p:spPr>
        <p:txBody>
          <a:bodyPr wrap="square" lIns="0" rIns="0" tIns="0" bIns="0" anchor="t">
            <a:spAutoFit/>
          </a:bodyPr>
          <a:lstStyle/>
          <a:p>
            <a:pPr algn="ctr"/>
            <a:r>
              <a:rPr sz="1700" b="1" i="0">
                <a:solidFill>
                  <a:srgbClr val="C8A96A"/>
                </a:solidFill>
                <a:latin typeface="Georgia"/>
              </a:rPr>
              <a:t>4</a:t>
            </a:r>
          </a:p>
        </p:txBody>
      </p:sp>
      <p:sp>
        <p:nvSpPr>
          <p:cNvPr id="28" name="TextBox 27"/>
          <p:cNvSpPr txBox="1"/>
          <p:nvPr/>
        </p:nvSpPr>
        <p:spPr>
          <a:xfrm>
            <a:off x="9006840" y="4837176"/>
            <a:ext cx="731520" cy="164592"/>
          </a:xfrm>
          <a:prstGeom prst="rect">
            <a:avLst/>
          </a:prstGeom>
          <a:noFill/>
        </p:spPr>
        <p:txBody>
          <a:bodyPr wrap="square" lIns="0" rIns="0" tIns="0" bIns="0" anchor="t">
            <a:spAutoFit/>
          </a:bodyPr>
          <a:lstStyle/>
          <a:p>
            <a:pPr algn="l"/>
            <a:r>
              <a:rPr sz="850" b="1" i="0">
                <a:solidFill>
                  <a:srgbClr val="123524"/>
                </a:solidFill>
                <a:latin typeface="Aptos"/>
              </a:rPr>
              <a:t>LEARN</a:t>
            </a:r>
          </a:p>
        </p:txBody>
      </p:sp>
      <p:sp>
        <p:nvSpPr>
          <p:cNvPr id="29" name="TextBox 28"/>
          <p:cNvSpPr txBox="1"/>
          <p:nvPr/>
        </p:nvSpPr>
        <p:spPr>
          <a:xfrm>
            <a:off x="9006840" y="5084064"/>
            <a:ext cx="2057400" cy="182880"/>
          </a:xfrm>
          <a:prstGeom prst="rect">
            <a:avLst/>
          </a:prstGeom>
          <a:noFill/>
        </p:spPr>
        <p:txBody>
          <a:bodyPr wrap="square" lIns="0" rIns="0" tIns="0" bIns="0" anchor="t">
            <a:spAutoFit/>
          </a:bodyPr>
          <a:lstStyle/>
          <a:p>
            <a:pPr algn="l"/>
            <a:r>
              <a:rPr sz="1150" b="1" i="0">
                <a:solidFill>
                  <a:srgbClr val="14251D"/>
                </a:solidFill>
                <a:latin typeface="Aptos"/>
              </a:rPr>
              <a:t>726 matching records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REV_BACKGROUND"/>
          <p:cNvSpPr/>
          <p:nvPr/>
        </p:nvSpPr>
        <p:spPr>
          <a:xfrm>
            <a:off x="0" y="0"/>
            <a:ext cx="12192000" cy="68580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972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2000" cy="20116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V_SECTION"/>
          <p:cNvSpPr txBox="1"/>
          <p:nvPr/>
        </p:nvSpPr>
        <p:spPr>
          <a:xfrm>
            <a:off x="502920" y="283464"/>
            <a:ext cx="4389120" cy="201168"/>
          </a:xfrm>
          <a:prstGeom prst="rect">
            <a:avLst/>
          </a:prstGeom>
          <a:noFill/>
        </p:spPr>
        <p:txBody>
          <a:bodyPr wrap="square" lIns="27432" rIns="27432" tIns="27432" bIns="27432" anchor="t">
            <a:spAutoFit/>
          </a:bodyPr>
          <a:lstStyle/>
          <a:p>
            <a:pPr algn="l"/>
            <a:r>
              <a:rPr sz="900" b="1" i="0">
                <a:solidFill>
                  <a:srgbClr val="123524"/>
                </a:solidFill>
                <a:latin typeface="Aptos"/>
              </a:rPr>
              <a:t>4.6 • STATISTICS PAGE</a:t>
            </a:r>
          </a:p>
        </p:txBody>
      </p:sp>
      <p:sp>
        <p:nvSpPr>
          <p:cNvPr id="6" name="Rectangle 5"/>
          <p:cNvSpPr/>
          <p:nvPr/>
        </p:nvSpPr>
        <p:spPr>
          <a:xfrm>
            <a:off x="502920" y="576072"/>
            <a:ext cx="420624" cy="22860"/>
          </a:xfrm>
          <a:prstGeom prst="rect">
            <a:avLst/>
          </a:prstGeom>
          <a:solidFill>
            <a:srgbClr val="C8A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V_TITLE"/>
          <p:cNvSpPr txBox="1"/>
          <p:nvPr/>
        </p:nvSpPr>
        <p:spPr>
          <a:xfrm>
            <a:off x="502920" y="658368"/>
            <a:ext cx="11018520" cy="475488"/>
          </a:xfrm>
          <a:prstGeom prst="rect">
            <a:avLst/>
          </a:prstGeom>
          <a:noFill/>
        </p:spPr>
        <p:txBody>
          <a:bodyPr wrap="square" lIns="27432" rIns="27432" tIns="27432" bIns="27432" anchor="t">
            <a:spAutoFit/>
          </a:bodyPr>
          <a:lstStyle/>
          <a:p>
            <a:pPr algn="l"/>
            <a:r>
              <a:rPr sz="2500" b="0" i="0">
                <a:solidFill>
                  <a:srgbClr val="14251D"/>
                </a:solidFill>
                <a:latin typeface="Georgia"/>
              </a:rPr>
              <a:t>A visual summary of the dataset</a:t>
            </a:r>
          </a:p>
        </p:txBody>
      </p:sp>
      <p:sp>
        <p:nvSpPr>
          <p:cNvPr id="8" name="REV_SUBTITLE"/>
          <p:cNvSpPr txBox="1"/>
          <p:nvPr/>
        </p:nvSpPr>
        <p:spPr>
          <a:xfrm>
            <a:off x="521207" y="1179576"/>
            <a:ext cx="10927080" cy="320040"/>
          </a:xfrm>
          <a:prstGeom prst="rect">
            <a:avLst/>
          </a:prstGeom>
          <a:noFill/>
        </p:spPr>
        <p:txBody>
          <a:bodyPr wrap="square" lIns="27432" rIns="27432" tIns="27432" bIns="27432" anchor="t">
            <a:spAutoFit/>
          </a:bodyPr>
          <a:lstStyle/>
          <a:p>
            <a:pPr algn="l"/>
            <a:r>
              <a:rPr sz="1150" b="0" i="0">
                <a:solidFill>
                  <a:srgbClr val="65736B"/>
                </a:solidFill>
                <a:latin typeface="Aptos"/>
              </a:rPr>
              <a:t>The page brings the most important descriptive patterns together in one dashboard.</a:t>
            </a:r>
          </a:p>
        </p:txBody>
      </p:sp>
      <p:sp>
        <p:nvSpPr>
          <p:cNvPr id="9" name="TextBox 8"/>
          <p:cNvSpPr txBox="1"/>
          <p:nvPr/>
        </p:nvSpPr>
        <p:spPr>
          <a:xfrm>
            <a:off x="502920" y="6684264"/>
            <a:ext cx="4572000" cy="100584"/>
          </a:xfrm>
          <a:prstGeom prst="rect">
            <a:avLst/>
          </a:prstGeom>
          <a:noFill/>
        </p:spPr>
        <p:txBody>
          <a:bodyPr wrap="square" lIns="0" rIns="0" tIns="0" bIns="0" anchor="t">
            <a:spAutoFit/>
          </a:bodyPr>
          <a:lstStyle/>
          <a:p>
            <a:pPr algn="l"/>
            <a:r>
              <a:rPr sz="750" b="0" i="0">
                <a:solidFill>
                  <a:srgbClr val="DDE7E0"/>
                </a:solidFill>
                <a:latin typeface="Aptos"/>
              </a:rPr>
              <a:t>Chapter 4 • Results and Discussion</a:t>
            </a:r>
          </a:p>
        </p:txBody>
      </p:sp>
      <p:sp>
        <p:nvSpPr>
          <p:cNvPr id="10" name="TextBox 9"/>
          <p:cNvSpPr txBox="1"/>
          <p:nvPr/>
        </p:nvSpPr>
        <p:spPr>
          <a:xfrm>
            <a:off x="11475720" y="6684264"/>
            <a:ext cx="274320" cy="100584"/>
          </a:xfrm>
          <a:prstGeom prst="rect">
            <a:avLst/>
          </a:prstGeom>
          <a:noFill/>
        </p:spPr>
        <p:txBody>
          <a:bodyPr wrap="square" lIns="0" rIns="0" tIns="0" bIns="0" anchor="t">
            <a:spAutoFit/>
          </a:bodyPr>
          <a:lstStyle/>
          <a:p>
            <a:pPr algn="r"/>
            <a:r>
              <a:rPr sz="800" b="0" i="0">
                <a:solidFill>
                  <a:srgbClr val="FFFFFF"/>
                </a:solidFill>
                <a:latin typeface="Aptos"/>
              </a:rPr>
              <a:t>10</a:t>
            </a:r>
          </a:p>
        </p:txBody>
      </p:sp>
      <p:sp>
        <p:nvSpPr>
          <p:cNvPr id="11" name="Rounded Rectangle 10"/>
          <p:cNvSpPr/>
          <p:nvPr/>
        </p:nvSpPr>
        <p:spPr>
          <a:xfrm>
            <a:off x="498347" y="1540764"/>
            <a:ext cx="7635240" cy="456285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41-statistics-current.png"/>
          <p:cNvPicPr>
            <a:picLocks noChangeAspect="1"/>
          </p:cNvPicPr>
          <p:nvPr/>
        </p:nvPicPr>
        <p:blipFill>
          <a:blip r:embed="rId4"/>
          <a:stretch>
            <a:fillRect/>
          </a:stretch>
        </p:blipFill>
        <p:spPr>
          <a:xfrm>
            <a:off x="1078160" y="1572768"/>
            <a:ext cx="6475614" cy="4498848"/>
          </a:xfrm>
          <a:prstGeom prst="rect">
            <a:avLst/>
          </a:prstGeom>
        </p:spPr>
      </p:pic>
      <p:sp>
        <p:nvSpPr>
          <p:cNvPr id="13" name="REV_CAPTION"/>
          <p:cNvSpPr txBox="1"/>
          <p:nvPr/>
        </p:nvSpPr>
        <p:spPr>
          <a:xfrm>
            <a:off x="530352" y="6108192"/>
            <a:ext cx="7571231" cy="201168"/>
          </a:xfrm>
          <a:prstGeom prst="rect">
            <a:avLst/>
          </a:prstGeom>
          <a:noFill/>
        </p:spPr>
        <p:txBody>
          <a:bodyPr wrap="square" lIns="0" rIns="0" tIns="0" bIns="0" anchor="t">
            <a:spAutoFit/>
          </a:bodyPr>
          <a:lstStyle/>
          <a:p>
            <a:pPr algn="ctr"/>
            <a:r>
              <a:rPr sz="900" b="0" i="1">
                <a:solidFill>
                  <a:srgbClr val="65736B"/>
                </a:solidFill>
                <a:latin typeface="Aptos"/>
              </a:rPr>
              <a:t>Figure 4.7: Descriptive Statistics Dashboard</a:t>
            </a:r>
          </a:p>
        </p:txBody>
      </p:sp>
      <p:sp>
        <p:nvSpPr>
          <p:cNvPr id="14" name="Rounded Rectangle 13"/>
          <p:cNvSpPr/>
          <p:nvPr/>
        </p:nvSpPr>
        <p:spPr>
          <a:xfrm>
            <a:off x="8321040" y="1627632"/>
            <a:ext cx="3182112"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85632" y="1801368"/>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8492" y="1868119"/>
            <a:ext cx="265176" cy="118872"/>
          </a:xfrm>
          <a:prstGeom prst="rect">
            <a:avLst/>
          </a:prstGeom>
          <a:noFill/>
        </p:spPr>
        <p:txBody>
          <a:bodyPr wrap="square" lIns="0" rIns="0" tIns="0" bIns="0" anchor="t">
            <a:spAutoFit/>
          </a:bodyPr>
          <a:lstStyle/>
          <a:p>
            <a:pPr algn="ctr"/>
            <a:r>
              <a:rPr sz="850" b="1" i="0">
                <a:solidFill>
                  <a:srgbClr val="0B2D20"/>
                </a:solidFill>
                <a:latin typeface="Aptos"/>
              </a:rPr>
              <a:t>1</a:t>
            </a:r>
          </a:p>
        </p:txBody>
      </p:sp>
      <p:sp>
        <p:nvSpPr>
          <p:cNvPr id="17" name="TextBox 16"/>
          <p:cNvSpPr txBox="1"/>
          <p:nvPr/>
        </p:nvSpPr>
        <p:spPr>
          <a:xfrm>
            <a:off x="8906256" y="1746504"/>
            <a:ext cx="2432304" cy="155448"/>
          </a:xfrm>
          <a:prstGeom prst="rect">
            <a:avLst/>
          </a:prstGeom>
          <a:noFill/>
        </p:spPr>
        <p:txBody>
          <a:bodyPr wrap="square" lIns="0" rIns="0" tIns="0" bIns="0" anchor="t">
            <a:spAutoFit/>
          </a:bodyPr>
          <a:lstStyle/>
          <a:p>
            <a:pPr algn="l"/>
            <a:r>
              <a:rPr sz="800" b="1" i="0">
                <a:solidFill>
                  <a:srgbClr val="123524"/>
                </a:solidFill>
                <a:latin typeface="Aptos"/>
              </a:rPr>
              <a:t>WHAT IS IT?</a:t>
            </a:r>
          </a:p>
        </p:txBody>
      </p:sp>
      <p:sp>
        <p:nvSpPr>
          <p:cNvPr id="18" name="TextBox 17"/>
          <p:cNvSpPr txBox="1"/>
          <p:nvPr/>
        </p:nvSpPr>
        <p:spPr>
          <a:xfrm>
            <a:off x="8906256" y="1965960"/>
            <a:ext cx="2432304" cy="438911"/>
          </a:xfrm>
          <a:prstGeom prst="rect">
            <a:avLst/>
          </a:prstGeom>
          <a:noFill/>
        </p:spPr>
        <p:txBody>
          <a:bodyPr wrap="square" lIns="0" rIns="0" tIns="0" bIns="0" anchor="t">
            <a:spAutoFit/>
          </a:bodyPr>
          <a:lstStyle/>
          <a:p>
            <a:pPr algn="l"/>
            <a:r>
              <a:rPr sz="1050" b="1" i="0">
                <a:solidFill>
                  <a:srgbClr val="14251D"/>
                </a:solidFill>
                <a:latin typeface="Aptos"/>
              </a:rPr>
              <a:t>The descriptive overview of the dataset.</a:t>
            </a:r>
          </a:p>
        </p:txBody>
      </p:sp>
      <p:sp>
        <p:nvSpPr>
          <p:cNvPr id="19" name="Rounded Rectangle 18"/>
          <p:cNvSpPr/>
          <p:nvPr/>
        </p:nvSpPr>
        <p:spPr>
          <a:xfrm>
            <a:off x="8321040" y="2651760"/>
            <a:ext cx="3182112"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85632" y="2825496"/>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8492" y="2892247"/>
            <a:ext cx="265176" cy="118872"/>
          </a:xfrm>
          <a:prstGeom prst="rect">
            <a:avLst/>
          </a:prstGeom>
          <a:noFill/>
        </p:spPr>
        <p:txBody>
          <a:bodyPr wrap="square" lIns="0" rIns="0" tIns="0" bIns="0" anchor="t">
            <a:spAutoFit/>
          </a:bodyPr>
          <a:lstStyle/>
          <a:p>
            <a:pPr algn="ctr"/>
            <a:r>
              <a:rPr sz="850" b="1" i="0">
                <a:solidFill>
                  <a:srgbClr val="0B2D20"/>
                </a:solidFill>
                <a:latin typeface="Aptos"/>
              </a:rPr>
              <a:t>2</a:t>
            </a:r>
          </a:p>
        </p:txBody>
      </p:sp>
      <p:sp>
        <p:nvSpPr>
          <p:cNvPr id="22" name="TextBox 21"/>
          <p:cNvSpPr txBox="1"/>
          <p:nvPr/>
        </p:nvSpPr>
        <p:spPr>
          <a:xfrm>
            <a:off x="8906256" y="2770632"/>
            <a:ext cx="2432304" cy="155448"/>
          </a:xfrm>
          <a:prstGeom prst="rect">
            <a:avLst/>
          </a:prstGeom>
          <a:noFill/>
        </p:spPr>
        <p:txBody>
          <a:bodyPr wrap="square" lIns="0" rIns="0" tIns="0" bIns="0" anchor="t">
            <a:spAutoFit/>
          </a:bodyPr>
          <a:lstStyle/>
          <a:p>
            <a:pPr algn="l"/>
            <a:r>
              <a:rPr sz="800" b="1" i="0">
                <a:solidFill>
                  <a:srgbClr val="123524"/>
                </a:solidFill>
                <a:latin typeface="Aptos"/>
              </a:rPr>
              <a:t>WHAT DOES IT SHOW?</a:t>
            </a:r>
          </a:p>
        </p:txBody>
      </p:sp>
      <p:sp>
        <p:nvSpPr>
          <p:cNvPr id="23" name="TextBox 22"/>
          <p:cNvSpPr txBox="1"/>
          <p:nvPr/>
        </p:nvSpPr>
        <p:spPr>
          <a:xfrm>
            <a:off x="8906256" y="2990088"/>
            <a:ext cx="2432304" cy="438911"/>
          </a:xfrm>
          <a:prstGeom prst="rect">
            <a:avLst/>
          </a:prstGeom>
          <a:noFill/>
        </p:spPr>
        <p:txBody>
          <a:bodyPr wrap="square" lIns="0" rIns="0" tIns="0" bIns="0" anchor="t">
            <a:spAutoFit/>
          </a:bodyPr>
          <a:lstStyle/>
          <a:p>
            <a:pPr algn="l"/>
            <a:r>
              <a:rPr sz="1050" b="1" i="0">
                <a:solidFill>
                  <a:srgbClr val="14251D"/>
                </a:solidFill>
                <a:latin typeface="Aptos"/>
              </a:rPr>
              <a:t>Leadership, selection, functions, recognition, geography, population, and top countries.</a:t>
            </a:r>
          </a:p>
        </p:txBody>
      </p:sp>
      <p:sp>
        <p:nvSpPr>
          <p:cNvPr id="24" name="Rounded Rectangle 23"/>
          <p:cNvSpPr/>
          <p:nvPr/>
        </p:nvSpPr>
        <p:spPr>
          <a:xfrm>
            <a:off x="8321040" y="3675888"/>
            <a:ext cx="3182112"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85632" y="3849624"/>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8492" y="3916375"/>
            <a:ext cx="265176" cy="118872"/>
          </a:xfrm>
          <a:prstGeom prst="rect">
            <a:avLst/>
          </a:prstGeom>
          <a:noFill/>
        </p:spPr>
        <p:txBody>
          <a:bodyPr wrap="square" lIns="0" rIns="0" tIns="0" bIns="0" anchor="t">
            <a:spAutoFit/>
          </a:bodyPr>
          <a:lstStyle/>
          <a:p>
            <a:pPr algn="ctr"/>
            <a:r>
              <a:rPr sz="850" b="1" i="0">
                <a:solidFill>
                  <a:srgbClr val="0B2D20"/>
                </a:solidFill>
                <a:latin typeface="Aptos"/>
              </a:rPr>
              <a:t>3</a:t>
            </a:r>
          </a:p>
        </p:txBody>
      </p:sp>
      <p:sp>
        <p:nvSpPr>
          <p:cNvPr id="27" name="TextBox 26"/>
          <p:cNvSpPr txBox="1"/>
          <p:nvPr/>
        </p:nvSpPr>
        <p:spPr>
          <a:xfrm>
            <a:off x="8906256" y="3794760"/>
            <a:ext cx="2432304" cy="155448"/>
          </a:xfrm>
          <a:prstGeom prst="rect">
            <a:avLst/>
          </a:prstGeom>
          <a:noFill/>
        </p:spPr>
        <p:txBody>
          <a:bodyPr wrap="square" lIns="0" rIns="0" tIns="0" bIns="0" anchor="t">
            <a:spAutoFit/>
          </a:bodyPr>
          <a:lstStyle/>
          <a:p>
            <a:pPr algn="l"/>
            <a:r>
              <a:rPr sz="800" b="1" i="0">
                <a:solidFill>
                  <a:srgbClr val="123524"/>
                </a:solidFill>
                <a:latin typeface="Aptos"/>
              </a:rPr>
              <a:t>WHAT CAN THE USER DO?</a:t>
            </a:r>
          </a:p>
        </p:txBody>
      </p:sp>
      <p:sp>
        <p:nvSpPr>
          <p:cNvPr id="28" name="TextBox 27"/>
          <p:cNvSpPr txBox="1"/>
          <p:nvPr/>
        </p:nvSpPr>
        <p:spPr>
          <a:xfrm>
            <a:off x="8906256" y="4014216"/>
            <a:ext cx="2432304" cy="438911"/>
          </a:xfrm>
          <a:prstGeom prst="rect">
            <a:avLst/>
          </a:prstGeom>
          <a:noFill/>
        </p:spPr>
        <p:txBody>
          <a:bodyPr wrap="square" lIns="0" rIns="0" tIns="0" bIns="0" anchor="t">
            <a:spAutoFit/>
          </a:bodyPr>
          <a:lstStyle/>
          <a:p>
            <a:pPr algn="l"/>
            <a:r>
              <a:rPr sz="1050" b="1" i="0">
                <a:solidFill>
                  <a:srgbClr val="14251D"/>
                </a:solidFill>
                <a:latin typeface="Aptos"/>
              </a:rPr>
              <a:t>Read charts and select a geographic scope.</a:t>
            </a:r>
          </a:p>
        </p:txBody>
      </p:sp>
      <p:sp>
        <p:nvSpPr>
          <p:cNvPr id="29" name="Rounded Rectangle 28"/>
          <p:cNvSpPr/>
          <p:nvPr/>
        </p:nvSpPr>
        <p:spPr>
          <a:xfrm>
            <a:off x="8321040" y="4700016"/>
            <a:ext cx="3182112"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485632" y="4873752"/>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8492" y="4940503"/>
            <a:ext cx="265176" cy="118872"/>
          </a:xfrm>
          <a:prstGeom prst="rect">
            <a:avLst/>
          </a:prstGeom>
          <a:noFill/>
        </p:spPr>
        <p:txBody>
          <a:bodyPr wrap="square" lIns="0" rIns="0" tIns="0" bIns="0" anchor="t">
            <a:spAutoFit/>
          </a:bodyPr>
          <a:lstStyle/>
          <a:p>
            <a:pPr algn="ctr"/>
            <a:r>
              <a:rPr sz="850" b="1" i="0">
                <a:solidFill>
                  <a:srgbClr val="0B2D20"/>
                </a:solidFill>
                <a:latin typeface="Aptos"/>
              </a:rPr>
              <a:t>4</a:t>
            </a:r>
          </a:p>
        </p:txBody>
      </p:sp>
      <p:sp>
        <p:nvSpPr>
          <p:cNvPr id="32" name="TextBox 31"/>
          <p:cNvSpPr txBox="1"/>
          <p:nvPr/>
        </p:nvSpPr>
        <p:spPr>
          <a:xfrm>
            <a:off x="8906256" y="4818888"/>
            <a:ext cx="2432304" cy="155448"/>
          </a:xfrm>
          <a:prstGeom prst="rect">
            <a:avLst/>
          </a:prstGeom>
          <a:noFill/>
        </p:spPr>
        <p:txBody>
          <a:bodyPr wrap="square" lIns="0" rIns="0" tIns="0" bIns="0" anchor="t">
            <a:spAutoFit/>
          </a:bodyPr>
          <a:lstStyle/>
          <a:p>
            <a:pPr algn="l"/>
            <a:r>
              <a:rPr sz="800" b="1" i="0">
                <a:solidFill>
                  <a:srgbClr val="123524"/>
                </a:solidFill>
                <a:latin typeface="Aptos"/>
              </a:rPr>
              <a:t>WHAT IS THE BENEFIT?</a:t>
            </a:r>
          </a:p>
        </p:txBody>
      </p:sp>
      <p:sp>
        <p:nvSpPr>
          <p:cNvPr id="33" name="TextBox 32"/>
          <p:cNvSpPr txBox="1"/>
          <p:nvPr/>
        </p:nvSpPr>
        <p:spPr>
          <a:xfrm>
            <a:off x="8906256" y="5038344"/>
            <a:ext cx="2432304" cy="438911"/>
          </a:xfrm>
          <a:prstGeom prst="rect">
            <a:avLst/>
          </a:prstGeom>
          <a:noFill/>
        </p:spPr>
        <p:txBody>
          <a:bodyPr wrap="square" lIns="0" rIns="0" tIns="0" bIns="0" anchor="t">
            <a:spAutoFit/>
          </a:bodyPr>
          <a:lstStyle/>
          <a:p>
            <a:pPr algn="l"/>
            <a:r>
              <a:rPr sz="1050" b="1" i="0">
                <a:solidFill>
                  <a:srgbClr val="14251D"/>
                </a:solidFill>
                <a:latin typeface="Aptos"/>
              </a:rPr>
              <a:t>It makes broad dataset patterns easier to understand.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REV_BACKGROUND"/>
          <p:cNvSpPr/>
          <p:nvPr/>
        </p:nvSpPr>
        <p:spPr>
          <a:xfrm>
            <a:off x="0" y="0"/>
            <a:ext cx="12192000" cy="68580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972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2000" cy="20116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V_SECTION"/>
          <p:cNvSpPr txBox="1"/>
          <p:nvPr/>
        </p:nvSpPr>
        <p:spPr>
          <a:xfrm>
            <a:off x="502920" y="283464"/>
            <a:ext cx="4389120" cy="201168"/>
          </a:xfrm>
          <a:prstGeom prst="rect">
            <a:avLst/>
          </a:prstGeom>
          <a:noFill/>
        </p:spPr>
        <p:txBody>
          <a:bodyPr wrap="square" lIns="27432" rIns="27432" tIns="27432" bIns="27432" anchor="t">
            <a:spAutoFit/>
          </a:bodyPr>
          <a:lstStyle/>
          <a:p>
            <a:pPr algn="l"/>
            <a:r>
              <a:rPr sz="900" b="1" i="0">
                <a:solidFill>
                  <a:srgbClr val="123524"/>
                </a:solidFill>
                <a:latin typeface="Aptos"/>
              </a:rPr>
              <a:t>4.6 • STATISTICS PAGE</a:t>
            </a:r>
          </a:p>
        </p:txBody>
      </p:sp>
      <p:sp>
        <p:nvSpPr>
          <p:cNvPr id="6" name="Rectangle 5"/>
          <p:cNvSpPr/>
          <p:nvPr/>
        </p:nvSpPr>
        <p:spPr>
          <a:xfrm>
            <a:off x="502920" y="576072"/>
            <a:ext cx="420624" cy="22860"/>
          </a:xfrm>
          <a:prstGeom prst="rect">
            <a:avLst/>
          </a:prstGeom>
          <a:solidFill>
            <a:srgbClr val="C8A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V_TITLE"/>
          <p:cNvSpPr txBox="1"/>
          <p:nvPr/>
        </p:nvSpPr>
        <p:spPr>
          <a:xfrm>
            <a:off x="502920" y="658368"/>
            <a:ext cx="11018520" cy="475488"/>
          </a:xfrm>
          <a:prstGeom prst="rect">
            <a:avLst/>
          </a:prstGeom>
          <a:noFill/>
        </p:spPr>
        <p:txBody>
          <a:bodyPr wrap="square" lIns="27432" rIns="27432" tIns="27432" bIns="27432" anchor="t">
            <a:spAutoFit/>
          </a:bodyPr>
          <a:lstStyle/>
          <a:p>
            <a:pPr algn="l"/>
            <a:r>
              <a:rPr sz="2500" b="0" i="0">
                <a:solidFill>
                  <a:srgbClr val="14251D"/>
                </a:solidFill>
                <a:latin typeface="Georgia"/>
              </a:rPr>
              <a:t>Focus the dashboard on a geographic area</a:t>
            </a:r>
          </a:p>
        </p:txBody>
      </p:sp>
      <p:sp>
        <p:nvSpPr>
          <p:cNvPr id="8" name="REV_SUBTITLE"/>
          <p:cNvSpPr txBox="1"/>
          <p:nvPr/>
        </p:nvSpPr>
        <p:spPr>
          <a:xfrm>
            <a:off x="521207" y="1179576"/>
            <a:ext cx="10927080" cy="320040"/>
          </a:xfrm>
          <a:prstGeom prst="rect">
            <a:avLst/>
          </a:prstGeom>
          <a:noFill/>
        </p:spPr>
        <p:txBody>
          <a:bodyPr wrap="square" lIns="27432" rIns="27432" tIns="27432" bIns="27432" anchor="t">
            <a:spAutoFit/>
          </a:bodyPr>
          <a:lstStyle/>
          <a:p>
            <a:pPr algn="l"/>
            <a:r>
              <a:rPr sz="1150" b="0" i="0">
                <a:solidFill>
                  <a:srgbClr val="65736B"/>
                </a:solidFill>
                <a:latin typeface="Aptos"/>
              </a:rPr>
              <a:t>The selected scope changes the summary indicators and every chart on the page.</a:t>
            </a:r>
          </a:p>
        </p:txBody>
      </p:sp>
      <p:sp>
        <p:nvSpPr>
          <p:cNvPr id="9" name="TextBox 8"/>
          <p:cNvSpPr txBox="1"/>
          <p:nvPr/>
        </p:nvSpPr>
        <p:spPr>
          <a:xfrm>
            <a:off x="502920" y="6684264"/>
            <a:ext cx="4572000" cy="100584"/>
          </a:xfrm>
          <a:prstGeom prst="rect">
            <a:avLst/>
          </a:prstGeom>
          <a:noFill/>
        </p:spPr>
        <p:txBody>
          <a:bodyPr wrap="square" lIns="0" rIns="0" tIns="0" bIns="0" anchor="t">
            <a:spAutoFit/>
          </a:bodyPr>
          <a:lstStyle/>
          <a:p>
            <a:pPr algn="l"/>
            <a:r>
              <a:rPr sz="750" b="0" i="0">
                <a:solidFill>
                  <a:srgbClr val="DDE7E0"/>
                </a:solidFill>
                <a:latin typeface="Aptos"/>
              </a:rPr>
              <a:t>Chapter 4 • Results and Discussion</a:t>
            </a:r>
          </a:p>
        </p:txBody>
      </p:sp>
      <p:sp>
        <p:nvSpPr>
          <p:cNvPr id="10" name="TextBox 9"/>
          <p:cNvSpPr txBox="1"/>
          <p:nvPr/>
        </p:nvSpPr>
        <p:spPr>
          <a:xfrm>
            <a:off x="11475720" y="6684264"/>
            <a:ext cx="274320" cy="100584"/>
          </a:xfrm>
          <a:prstGeom prst="rect">
            <a:avLst/>
          </a:prstGeom>
          <a:noFill/>
        </p:spPr>
        <p:txBody>
          <a:bodyPr wrap="square" lIns="0" rIns="0" tIns="0" bIns="0" anchor="t">
            <a:spAutoFit/>
          </a:bodyPr>
          <a:lstStyle/>
          <a:p>
            <a:pPr algn="r"/>
            <a:r>
              <a:rPr sz="800" b="0" i="0">
                <a:solidFill>
                  <a:srgbClr val="FFFFFF"/>
                </a:solidFill>
                <a:latin typeface="Aptos"/>
              </a:rPr>
              <a:t>11</a:t>
            </a:r>
          </a:p>
        </p:txBody>
      </p:sp>
      <p:sp>
        <p:nvSpPr>
          <p:cNvPr id="11" name="Rounded Rectangle 10"/>
          <p:cNvSpPr/>
          <p:nvPr/>
        </p:nvSpPr>
        <p:spPr>
          <a:xfrm>
            <a:off x="498347" y="1540764"/>
            <a:ext cx="7882128" cy="456285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42-statistics-africa-current.png"/>
          <p:cNvPicPr>
            <a:picLocks noChangeAspect="1"/>
          </p:cNvPicPr>
          <p:nvPr/>
        </p:nvPicPr>
        <p:blipFill>
          <a:blip r:embed="rId4"/>
          <a:stretch>
            <a:fillRect/>
          </a:stretch>
        </p:blipFill>
        <p:spPr>
          <a:xfrm>
            <a:off x="1201604" y="1572768"/>
            <a:ext cx="6475614" cy="4498848"/>
          </a:xfrm>
          <a:prstGeom prst="rect">
            <a:avLst/>
          </a:prstGeom>
        </p:spPr>
      </p:pic>
      <p:sp>
        <p:nvSpPr>
          <p:cNvPr id="13" name="REV_CAPTION"/>
          <p:cNvSpPr txBox="1"/>
          <p:nvPr/>
        </p:nvSpPr>
        <p:spPr>
          <a:xfrm>
            <a:off x="530352" y="6108192"/>
            <a:ext cx="7818120" cy="201168"/>
          </a:xfrm>
          <a:prstGeom prst="rect">
            <a:avLst/>
          </a:prstGeom>
          <a:noFill/>
        </p:spPr>
        <p:txBody>
          <a:bodyPr wrap="square" lIns="0" rIns="0" tIns="0" bIns="0" anchor="t">
            <a:spAutoFit/>
          </a:bodyPr>
          <a:lstStyle/>
          <a:p>
            <a:pPr algn="ctr"/>
            <a:r>
              <a:rPr sz="900" b="0" i="1">
                <a:solidFill>
                  <a:srgbClr val="65736B"/>
                </a:solidFill>
                <a:latin typeface="Aptos"/>
              </a:rPr>
              <a:t>Figure 4.8: Africa-Scoped Statistics Dashboard</a:t>
            </a:r>
          </a:p>
        </p:txBody>
      </p:sp>
      <p:sp>
        <p:nvSpPr>
          <p:cNvPr id="14" name="Rounded Rectangle 13"/>
          <p:cNvSpPr/>
          <p:nvPr/>
        </p:nvSpPr>
        <p:spPr>
          <a:xfrm>
            <a:off x="8641080" y="1691640"/>
            <a:ext cx="2606040" cy="731520"/>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0" y="1819656"/>
            <a:ext cx="1143000" cy="155448"/>
          </a:xfrm>
          <a:prstGeom prst="rect">
            <a:avLst/>
          </a:prstGeom>
          <a:noFill/>
        </p:spPr>
        <p:txBody>
          <a:bodyPr wrap="square" lIns="0" rIns="0" tIns="0" bIns="0" anchor="t">
            <a:spAutoFit/>
          </a:bodyPr>
          <a:lstStyle/>
          <a:p>
            <a:pPr algn="l"/>
            <a:r>
              <a:rPr sz="850" b="1" i="0">
                <a:solidFill>
                  <a:srgbClr val="123524"/>
                </a:solidFill>
                <a:latin typeface="Aptos"/>
              </a:rPr>
              <a:t>GROUPS</a:t>
            </a:r>
          </a:p>
        </p:txBody>
      </p:sp>
      <p:sp>
        <p:nvSpPr>
          <p:cNvPr id="16" name="TextBox 15"/>
          <p:cNvSpPr txBox="1"/>
          <p:nvPr/>
        </p:nvSpPr>
        <p:spPr>
          <a:xfrm>
            <a:off x="10287000" y="1810512"/>
            <a:ext cx="640080" cy="237744"/>
          </a:xfrm>
          <a:prstGeom prst="rect">
            <a:avLst/>
          </a:prstGeom>
          <a:noFill/>
        </p:spPr>
        <p:txBody>
          <a:bodyPr wrap="square" lIns="0" rIns="0" tIns="0" bIns="0" anchor="t">
            <a:spAutoFit/>
          </a:bodyPr>
          <a:lstStyle/>
          <a:p>
            <a:pPr algn="r"/>
            <a:r>
              <a:rPr sz="1800" b="1" i="0">
                <a:solidFill>
                  <a:srgbClr val="C8A96A"/>
                </a:solidFill>
                <a:latin typeface="Georgia"/>
              </a:rPr>
              <a:t>726</a:t>
            </a:r>
          </a:p>
        </p:txBody>
      </p:sp>
      <p:sp>
        <p:nvSpPr>
          <p:cNvPr id="17" name="Rounded Rectangle 16"/>
          <p:cNvSpPr/>
          <p:nvPr/>
        </p:nvSpPr>
        <p:spPr>
          <a:xfrm>
            <a:off x="8641080" y="2633472"/>
            <a:ext cx="2606040" cy="731520"/>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0" y="2761488"/>
            <a:ext cx="1143000" cy="155448"/>
          </a:xfrm>
          <a:prstGeom prst="rect">
            <a:avLst/>
          </a:prstGeom>
          <a:noFill/>
        </p:spPr>
        <p:txBody>
          <a:bodyPr wrap="square" lIns="0" rIns="0" tIns="0" bIns="0" anchor="t">
            <a:spAutoFit/>
          </a:bodyPr>
          <a:lstStyle/>
          <a:p>
            <a:pPr algn="l"/>
            <a:r>
              <a:rPr sz="850" b="1" i="0">
                <a:solidFill>
                  <a:srgbClr val="123524"/>
                </a:solidFill>
                <a:latin typeface="Aptos"/>
              </a:rPr>
              <a:t>COUNTRIES</a:t>
            </a:r>
          </a:p>
        </p:txBody>
      </p:sp>
      <p:sp>
        <p:nvSpPr>
          <p:cNvPr id="19" name="TextBox 18"/>
          <p:cNvSpPr txBox="1"/>
          <p:nvPr/>
        </p:nvSpPr>
        <p:spPr>
          <a:xfrm>
            <a:off x="10287000" y="2752344"/>
            <a:ext cx="640080" cy="237744"/>
          </a:xfrm>
          <a:prstGeom prst="rect">
            <a:avLst/>
          </a:prstGeom>
          <a:noFill/>
        </p:spPr>
        <p:txBody>
          <a:bodyPr wrap="square" lIns="0" rIns="0" tIns="0" bIns="0" anchor="t">
            <a:spAutoFit/>
          </a:bodyPr>
          <a:lstStyle/>
          <a:p>
            <a:pPr algn="r"/>
            <a:r>
              <a:rPr sz="1800" b="1" i="0">
                <a:solidFill>
                  <a:srgbClr val="C8A96A"/>
                </a:solidFill>
                <a:latin typeface="Georgia"/>
              </a:rPr>
              <a:t>50</a:t>
            </a:r>
          </a:p>
        </p:txBody>
      </p:sp>
      <p:sp>
        <p:nvSpPr>
          <p:cNvPr id="20" name="Rounded Rectangle 19"/>
          <p:cNvSpPr/>
          <p:nvPr/>
        </p:nvSpPr>
        <p:spPr>
          <a:xfrm>
            <a:off x="8641080" y="3575304"/>
            <a:ext cx="2606040" cy="731520"/>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69680" y="3703320"/>
            <a:ext cx="1143000" cy="155448"/>
          </a:xfrm>
          <a:prstGeom prst="rect">
            <a:avLst/>
          </a:prstGeom>
          <a:noFill/>
        </p:spPr>
        <p:txBody>
          <a:bodyPr wrap="square" lIns="0" rIns="0" tIns="0" bIns="0" anchor="t">
            <a:spAutoFit/>
          </a:bodyPr>
          <a:lstStyle/>
          <a:p>
            <a:pPr algn="l"/>
            <a:r>
              <a:rPr sz="850" b="1" i="0">
                <a:solidFill>
                  <a:srgbClr val="123524"/>
                </a:solidFill>
                <a:latin typeface="Aptos"/>
              </a:rPr>
              <a:t>WITH TPI</a:t>
            </a:r>
          </a:p>
        </p:txBody>
      </p:sp>
      <p:sp>
        <p:nvSpPr>
          <p:cNvPr id="22" name="TextBox 21"/>
          <p:cNvSpPr txBox="1"/>
          <p:nvPr/>
        </p:nvSpPr>
        <p:spPr>
          <a:xfrm>
            <a:off x="10287000" y="3694176"/>
            <a:ext cx="640080" cy="237744"/>
          </a:xfrm>
          <a:prstGeom prst="rect">
            <a:avLst/>
          </a:prstGeom>
          <a:noFill/>
        </p:spPr>
        <p:txBody>
          <a:bodyPr wrap="square" lIns="0" rIns="0" tIns="0" bIns="0" anchor="t">
            <a:spAutoFit/>
          </a:bodyPr>
          <a:lstStyle/>
          <a:p>
            <a:pPr algn="r"/>
            <a:r>
              <a:rPr sz="1800" b="1" i="0">
                <a:solidFill>
                  <a:srgbClr val="C8A96A"/>
                </a:solidFill>
                <a:latin typeface="Georgia"/>
              </a:rPr>
              <a:t>685</a:t>
            </a:r>
          </a:p>
        </p:txBody>
      </p:sp>
      <p:sp>
        <p:nvSpPr>
          <p:cNvPr id="23" name="Rounded Rectangle 22"/>
          <p:cNvSpPr/>
          <p:nvPr/>
        </p:nvSpPr>
        <p:spPr>
          <a:xfrm>
            <a:off x="8641080" y="4517136"/>
            <a:ext cx="2606040" cy="731520"/>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0" y="4645151"/>
            <a:ext cx="1143000" cy="155448"/>
          </a:xfrm>
          <a:prstGeom prst="rect">
            <a:avLst/>
          </a:prstGeom>
          <a:noFill/>
        </p:spPr>
        <p:txBody>
          <a:bodyPr wrap="square" lIns="0" rIns="0" tIns="0" bIns="0" anchor="t">
            <a:spAutoFit/>
          </a:bodyPr>
          <a:lstStyle/>
          <a:p>
            <a:pPr algn="l"/>
            <a:r>
              <a:rPr sz="850" b="1" i="0">
                <a:solidFill>
                  <a:srgbClr val="123524"/>
                </a:solidFill>
                <a:latin typeface="Aptos"/>
              </a:rPr>
              <a:t>RECOGNIZED</a:t>
            </a:r>
          </a:p>
        </p:txBody>
      </p:sp>
      <p:sp>
        <p:nvSpPr>
          <p:cNvPr id="25" name="TextBox 24"/>
          <p:cNvSpPr txBox="1"/>
          <p:nvPr/>
        </p:nvSpPr>
        <p:spPr>
          <a:xfrm>
            <a:off x="10287000" y="4636007"/>
            <a:ext cx="640080" cy="237744"/>
          </a:xfrm>
          <a:prstGeom prst="rect">
            <a:avLst/>
          </a:prstGeom>
          <a:noFill/>
        </p:spPr>
        <p:txBody>
          <a:bodyPr wrap="square" lIns="0" rIns="0" tIns="0" bIns="0" anchor="t">
            <a:spAutoFit/>
          </a:bodyPr>
          <a:lstStyle/>
          <a:p>
            <a:pPr algn="r"/>
            <a:r>
              <a:rPr sz="1800" b="1" i="0">
                <a:solidFill>
                  <a:srgbClr val="C8A96A"/>
                </a:solidFill>
                <a:latin typeface="Georgia"/>
              </a:rPr>
              <a:t>445</a:t>
            </a:r>
          </a:p>
        </p:txBody>
      </p:sp>
      <p:sp>
        <p:nvSpPr>
          <p:cNvPr id="26" name="TextBox 25"/>
          <p:cNvSpPr txBox="1"/>
          <p:nvPr/>
        </p:nvSpPr>
        <p:spPr>
          <a:xfrm>
            <a:off x="8705088" y="5577840"/>
            <a:ext cx="2514600" cy="438912"/>
          </a:xfrm>
          <a:prstGeom prst="rect">
            <a:avLst/>
          </a:prstGeom>
          <a:noFill/>
        </p:spPr>
        <p:txBody>
          <a:bodyPr wrap="square" lIns="27432" rIns="27432" tIns="27432" bIns="27432" anchor="ctr">
            <a:spAutoFit/>
          </a:bodyPr>
          <a:lstStyle/>
          <a:p>
            <a:pPr algn="ctr"/>
            <a:r>
              <a:rPr sz="1120" b="1" i="0">
                <a:solidFill>
                  <a:srgbClr val="14251D"/>
                </a:solidFill>
                <a:latin typeface="Aptos"/>
              </a:rPr>
              <a:t>The benefit is a focused description of one country, continent, or region instead of the whole dataset.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REV_BACKGROUND"/>
          <p:cNvSpPr/>
          <p:nvPr/>
        </p:nvSpPr>
        <p:spPr>
          <a:xfrm>
            <a:off x="0" y="0"/>
            <a:ext cx="12192000" cy="68580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972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2000" cy="20116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V_SECTION"/>
          <p:cNvSpPr txBox="1"/>
          <p:nvPr/>
        </p:nvSpPr>
        <p:spPr>
          <a:xfrm>
            <a:off x="502920" y="283464"/>
            <a:ext cx="4389120" cy="201168"/>
          </a:xfrm>
          <a:prstGeom prst="rect">
            <a:avLst/>
          </a:prstGeom>
          <a:noFill/>
        </p:spPr>
        <p:txBody>
          <a:bodyPr wrap="square" lIns="27432" rIns="27432" tIns="27432" bIns="27432" anchor="t">
            <a:spAutoFit/>
          </a:bodyPr>
          <a:lstStyle/>
          <a:p>
            <a:pPr algn="l"/>
            <a:r>
              <a:rPr sz="900" b="1" i="0">
                <a:solidFill>
                  <a:srgbClr val="123524"/>
                </a:solidFill>
                <a:latin typeface="Aptos"/>
              </a:rPr>
              <a:t>4.7 • GEOGRAPHIC COMPARISON</a:t>
            </a:r>
          </a:p>
        </p:txBody>
      </p:sp>
      <p:sp>
        <p:nvSpPr>
          <p:cNvPr id="6" name="Rectangle 5"/>
          <p:cNvSpPr/>
          <p:nvPr/>
        </p:nvSpPr>
        <p:spPr>
          <a:xfrm>
            <a:off x="502920" y="576072"/>
            <a:ext cx="420624" cy="22860"/>
          </a:xfrm>
          <a:prstGeom prst="rect">
            <a:avLst/>
          </a:prstGeom>
          <a:solidFill>
            <a:srgbClr val="C8A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V_TITLE"/>
          <p:cNvSpPr txBox="1"/>
          <p:nvPr/>
        </p:nvSpPr>
        <p:spPr>
          <a:xfrm>
            <a:off x="502920" y="658368"/>
            <a:ext cx="11018520" cy="475488"/>
          </a:xfrm>
          <a:prstGeom prst="rect">
            <a:avLst/>
          </a:prstGeom>
          <a:noFill/>
        </p:spPr>
        <p:txBody>
          <a:bodyPr wrap="square" lIns="27432" rIns="27432" tIns="27432" bIns="27432" anchor="t">
            <a:spAutoFit/>
          </a:bodyPr>
          <a:lstStyle/>
          <a:p>
            <a:pPr algn="l"/>
            <a:r>
              <a:rPr sz="2500" b="0" i="0">
                <a:solidFill>
                  <a:srgbClr val="14251D"/>
                </a:solidFill>
                <a:latin typeface="Georgia"/>
              </a:rPr>
              <a:t>Compare two geographic entities side by side</a:t>
            </a:r>
          </a:p>
        </p:txBody>
      </p:sp>
      <p:sp>
        <p:nvSpPr>
          <p:cNvPr id="8" name="REV_SUBTITLE"/>
          <p:cNvSpPr txBox="1"/>
          <p:nvPr/>
        </p:nvSpPr>
        <p:spPr>
          <a:xfrm>
            <a:off x="521207" y="1179576"/>
            <a:ext cx="10927080" cy="320040"/>
          </a:xfrm>
          <a:prstGeom prst="rect">
            <a:avLst/>
          </a:prstGeom>
          <a:noFill/>
        </p:spPr>
        <p:txBody>
          <a:bodyPr wrap="square" lIns="27432" rIns="27432" tIns="27432" bIns="27432" anchor="t">
            <a:spAutoFit/>
          </a:bodyPr>
          <a:lstStyle/>
          <a:p>
            <a:pPr algn="l"/>
            <a:r>
              <a:rPr sz="1150" b="0" i="0">
                <a:solidFill>
                  <a:srgbClr val="65736B"/>
                </a:solidFill>
                <a:latin typeface="Aptos"/>
              </a:rPr>
              <a:t>The user selects a comparison level, Entity A, and Entity B before reviewing their differences.</a:t>
            </a:r>
          </a:p>
        </p:txBody>
      </p:sp>
      <p:sp>
        <p:nvSpPr>
          <p:cNvPr id="9" name="TextBox 8"/>
          <p:cNvSpPr txBox="1"/>
          <p:nvPr/>
        </p:nvSpPr>
        <p:spPr>
          <a:xfrm>
            <a:off x="502920" y="6684264"/>
            <a:ext cx="4572000" cy="100584"/>
          </a:xfrm>
          <a:prstGeom prst="rect">
            <a:avLst/>
          </a:prstGeom>
          <a:noFill/>
        </p:spPr>
        <p:txBody>
          <a:bodyPr wrap="square" lIns="0" rIns="0" tIns="0" bIns="0" anchor="t">
            <a:spAutoFit/>
          </a:bodyPr>
          <a:lstStyle/>
          <a:p>
            <a:pPr algn="l"/>
            <a:r>
              <a:rPr sz="750" b="0" i="0">
                <a:solidFill>
                  <a:srgbClr val="DDE7E0"/>
                </a:solidFill>
                <a:latin typeface="Aptos"/>
              </a:rPr>
              <a:t>Chapter 4 • Results and Discussion</a:t>
            </a:r>
          </a:p>
        </p:txBody>
      </p:sp>
      <p:sp>
        <p:nvSpPr>
          <p:cNvPr id="10" name="TextBox 9"/>
          <p:cNvSpPr txBox="1"/>
          <p:nvPr/>
        </p:nvSpPr>
        <p:spPr>
          <a:xfrm>
            <a:off x="11475720" y="6684264"/>
            <a:ext cx="274320" cy="100584"/>
          </a:xfrm>
          <a:prstGeom prst="rect">
            <a:avLst/>
          </a:prstGeom>
          <a:noFill/>
        </p:spPr>
        <p:txBody>
          <a:bodyPr wrap="square" lIns="0" rIns="0" tIns="0" bIns="0" anchor="t">
            <a:spAutoFit/>
          </a:bodyPr>
          <a:lstStyle/>
          <a:p>
            <a:pPr algn="r"/>
            <a:r>
              <a:rPr sz="800" b="0" i="0">
                <a:solidFill>
                  <a:srgbClr val="FFFFFF"/>
                </a:solidFill>
                <a:latin typeface="Aptos"/>
              </a:rPr>
              <a:t>12</a:t>
            </a:r>
          </a:p>
        </p:txBody>
      </p:sp>
      <p:sp>
        <p:nvSpPr>
          <p:cNvPr id="11" name="Rounded Rectangle 10"/>
          <p:cNvSpPr/>
          <p:nvPr/>
        </p:nvSpPr>
        <p:spPr>
          <a:xfrm>
            <a:off x="498347" y="1540764"/>
            <a:ext cx="7699248" cy="4581144"/>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44-comparison-continent-current.png"/>
          <p:cNvPicPr>
            <a:picLocks noChangeAspect="1"/>
          </p:cNvPicPr>
          <p:nvPr/>
        </p:nvPicPr>
        <p:blipFill>
          <a:blip r:embed="rId4"/>
          <a:stretch>
            <a:fillRect/>
          </a:stretch>
        </p:blipFill>
        <p:spPr>
          <a:xfrm>
            <a:off x="1097002" y="1572768"/>
            <a:ext cx="6501938" cy="4517136"/>
          </a:xfrm>
          <a:prstGeom prst="rect">
            <a:avLst/>
          </a:prstGeom>
        </p:spPr>
      </p:pic>
      <p:sp>
        <p:nvSpPr>
          <p:cNvPr id="13" name="REV_CAPTION"/>
          <p:cNvSpPr txBox="1"/>
          <p:nvPr/>
        </p:nvSpPr>
        <p:spPr>
          <a:xfrm>
            <a:off x="530352" y="6126480"/>
            <a:ext cx="7635240" cy="201168"/>
          </a:xfrm>
          <a:prstGeom prst="rect">
            <a:avLst/>
          </a:prstGeom>
          <a:noFill/>
        </p:spPr>
        <p:txBody>
          <a:bodyPr wrap="square" lIns="0" rIns="0" tIns="0" bIns="0" anchor="t">
            <a:spAutoFit/>
          </a:bodyPr>
          <a:lstStyle/>
          <a:p>
            <a:pPr algn="ctr"/>
            <a:r>
              <a:rPr sz="900" b="0" i="1">
                <a:solidFill>
                  <a:srgbClr val="65736B"/>
                </a:solidFill>
                <a:latin typeface="Aptos"/>
              </a:rPr>
              <a:t>Figure 4.9: Continent Comparison between Africa and Asia</a:t>
            </a:r>
          </a:p>
        </p:txBody>
      </p:sp>
      <p:sp>
        <p:nvSpPr>
          <p:cNvPr id="14" name="Rounded Rectangle 13"/>
          <p:cNvSpPr/>
          <p:nvPr/>
        </p:nvSpPr>
        <p:spPr>
          <a:xfrm>
            <a:off x="8412480" y="1627632"/>
            <a:ext cx="3063240"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577072" y="1801368"/>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9932" y="1868119"/>
            <a:ext cx="265176" cy="118872"/>
          </a:xfrm>
          <a:prstGeom prst="rect">
            <a:avLst/>
          </a:prstGeom>
          <a:noFill/>
        </p:spPr>
        <p:txBody>
          <a:bodyPr wrap="square" lIns="0" rIns="0" tIns="0" bIns="0" anchor="t">
            <a:spAutoFit/>
          </a:bodyPr>
          <a:lstStyle/>
          <a:p>
            <a:pPr algn="ctr"/>
            <a:r>
              <a:rPr sz="850" b="1" i="0">
                <a:solidFill>
                  <a:srgbClr val="0B2D20"/>
                </a:solidFill>
                <a:latin typeface="Aptos"/>
              </a:rPr>
              <a:t>1</a:t>
            </a:r>
          </a:p>
        </p:txBody>
      </p:sp>
      <p:sp>
        <p:nvSpPr>
          <p:cNvPr id="17" name="TextBox 16"/>
          <p:cNvSpPr txBox="1"/>
          <p:nvPr/>
        </p:nvSpPr>
        <p:spPr>
          <a:xfrm>
            <a:off x="8997696" y="1746504"/>
            <a:ext cx="2313432" cy="155448"/>
          </a:xfrm>
          <a:prstGeom prst="rect">
            <a:avLst/>
          </a:prstGeom>
          <a:noFill/>
        </p:spPr>
        <p:txBody>
          <a:bodyPr wrap="square" lIns="0" rIns="0" tIns="0" bIns="0" anchor="t">
            <a:spAutoFit/>
          </a:bodyPr>
          <a:lstStyle/>
          <a:p>
            <a:pPr algn="l"/>
            <a:r>
              <a:rPr sz="800" b="1" i="0">
                <a:solidFill>
                  <a:srgbClr val="123524"/>
                </a:solidFill>
                <a:latin typeface="Aptos"/>
              </a:rPr>
              <a:t>WHAT IS IT?</a:t>
            </a:r>
          </a:p>
        </p:txBody>
      </p:sp>
      <p:sp>
        <p:nvSpPr>
          <p:cNvPr id="18" name="TextBox 17"/>
          <p:cNvSpPr txBox="1"/>
          <p:nvPr/>
        </p:nvSpPr>
        <p:spPr>
          <a:xfrm>
            <a:off x="8997696" y="1965960"/>
            <a:ext cx="2313432" cy="438911"/>
          </a:xfrm>
          <a:prstGeom prst="rect">
            <a:avLst/>
          </a:prstGeom>
          <a:noFill/>
        </p:spPr>
        <p:txBody>
          <a:bodyPr wrap="square" lIns="0" rIns="0" tIns="0" bIns="0" anchor="t">
            <a:spAutoFit/>
          </a:bodyPr>
          <a:lstStyle/>
          <a:p>
            <a:pPr algn="l"/>
            <a:r>
              <a:rPr sz="1050" b="1" i="0">
                <a:solidFill>
                  <a:srgbClr val="14251D"/>
                </a:solidFill>
                <a:latin typeface="Aptos"/>
              </a:rPr>
              <a:t>A side-by-side geographic comparison page.</a:t>
            </a:r>
          </a:p>
        </p:txBody>
      </p:sp>
      <p:sp>
        <p:nvSpPr>
          <p:cNvPr id="19" name="Rounded Rectangle 18"/>
          <p:cNvSpPr/>
          <p:nvPr/>
        </p:nvSpPr>
        <p:spPr>
          <a:xfrm>
            <a:off x="8412480" y="2651760"/>
            <a:ext cx="3063240"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77072" y="2825496"/>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9932" y="2892247"/>
            <a:ext cx="265176" cy="118872"/>
          </a:xfrm>
          <a:prstGeom prst="rect">
            <a:avLst/>
          </a:prstGeom>
          <a:noFill/>
        </p:spPr>
        <p:txBody>
          <a:bodyPr wrap="square" lIns="0" rIns="0" tIns="0" bIns="0" anchor="t">
            <a:spAutoFit/>
          </a:bodyPr>
          <a:lstStyle/>
          <a:p>
            <a:pPr algn="ctr"/>
            <a:r>
              <a:rPr sz="850" b="1" i="0">
                <a:solidFill>
                  <a:srgbClr val="0B2D20"/>
                </a:solidFill>
                <a:latin typeface="Aptos"/>
              </a:rPr>
              <a:t>2</a:t>
            </a:r>
          </a:p>
        </p:txBody>
      </p:sp>
      <p:sp>
        <p:nvSpPr>
          <p:cNvPr id="22" name="TextBox 21"/>
          <p:cNvSpPr txBox="1"/>
          <p:nvPr/>
        </p:nvSpPr>
        <p:spPr>
          <a:xfrm>
            <a:off x="8997696" y="2770632"/>
            <a:ext cx="2313432" cy="155448"/>
          </a:xfrm>
          <a:prstGeom prst="rect">
            <a:avLst/>
          </a:prstGeom>
          <a:noFill/>
        </p:spPr>
        <p:txBody>
          <a:bodyPr wrap="square" lIns="0" rIns="0" tIns="0" bIns="0" anchor="t">
            <a:spAutoFit/>
          </a:bodyPr>
          <a:lstStyle/>
          <a:p>
            <a:pPr algn="l"/>
            <a:r>
              <a:rPr sz="800" b="1" i="0">
                <a:solidFill>
                  <a:srgbClr val="123524"/>
                </a:solidFill>
                <a:latin typeface="Aptos"/>
              </a:rPr>
              <a:t>WHAT DOES IT SHOW?</a:t>
            </a:r>
          </a:p>
        </p:txBody>
      </p:sp>
      <p:sp>
        <p:nvSpPr>
          <p:cNvPr id="23" name="TextBox 22"/>
          <p:cNvSpPr txBox="1"/>
          <p:nvPr/>
        </p:nvSpPr>
        <p:spPr>
          <a:xfrm>
            <a:off x="8997696" y="2990088"/>
            <a:ext cx="2313432" cy="438911"/>
          </a:xfrm>
          <a:prstGeom prst="rect">
            <a:avLst/>
          </a:prstGeom>
          <a:noFill/>
        </p:spPr>
        <p:txBody>
          <a:bodyPr wrap="square" lIns="0" rIns="0" tIns="0" bIns="0" anchor="t">
            <a:spAutoFit/>
          </a:bodyPr>
          <a:lstStyle/>
          <a:p>
            <a:pPr algn="l"/>
            <a:r>
              <a:rPr sz="1050" b="1" i="0">
                <a:solidFill>
                  <a:srgbClr val="14251D"/>
                </a:solidFill>
                <a:latin typeface="Aptos"/>
              </a:rPr>
              <a:t>Group totals, leadership, recognition, functions, and population.</a:t>
            </a:r>
          </a:p>
        </p:txBody>
      </p:sp>
      <p:sp>
        <p:nvSpPr>
          <p:cNvPr id="24" name="Rounded Rectangle 23"/>
          <p:cNvSpPr/>
          <p:nvPr/>
        </p:nvSpPr>
        <p:spPr>
          <a:xfrm>
            <a:off x="8412480" y="3675888"/>
            <a:ext cx="3063240"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577072" y="3849624"/>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9932" y="3916375"/>
            <a:ext cx="265176" cy="118872"/>
          </a:xfrm>
          <a:prstGeom prst="rect">
            <a:avLst/>
          </a:prstGeom>
          <a:noFill/>
        </p:spPr>
        <p:txBody>
          <a:bodyPr wrap="square" lIns="0" rIns="0" tIns="0" bIns="0" anchor="t">
            <a:spAutoFit/>
          </a:bodyPr>
          <a:lstStyle/>
          <a:p>
            <a:pPr algn="ctr"/>
            <a:r>
              <a:rPr sz="850" b="1" i="0">
                <a:solidFill>
                  <a:srgbClr val="0B2D20"/>
                </a:solidFill>
                <a:latin typeface="Aptos"/>
              </a:rPr>
              <a:t>3</a:t>
            </a:r>
          </a:p>
        </p:txBody>
      </p:sp>
      <p:sp>
        <p:nvSpPr>
          <p:cNvPr id="27" name="TextBox 26"/>
          <p:cNvSpPr txBox="1"/>
          <p:nvPr/>
        </p:nvSpPr>
        <p:spPr>
          <a:xfrm>
            <a:off x="8997696" y="3794760"/>
            <a:ext cx="2313432" cy="155448"/>
          </a:xfrm>
          <a:prstGeom prst="rect">
            <a:avLst/>
          </a:prstGeom>
          <a:noFill/>
        </p:spPr>
        <p:txBody>
          <a:bodyPr wrap="square" lIns="0" rIns="0" tIns="0" bIns="0" anchor="t">
            <a:spAutoFit/>
          </a:bodyPr>
          <a:lstStyle/>
          <a:p>
            <a:pPr algn="l"/>
            <a:r>
              <a:rPr sz="800" b="1" i="0">
                <a:solidFill>
                  <a:srgbClr val="123524"/>
                </a:solidFill>
                <a:latin typeface="Aptos"/>
              </a:rPr>
              <a:t>WHAT CAN THE USER DO?</a:t>
            </a:r>
          </a:p>
        </p:txBody>
      </p:sp>
      <p:sp>
        <p:nvSpPr>
          <p:cNvPr id="28" name="TextBox 27"/>
          <p:cNvSpPr txBox="1"/>
          <p:nvPr/>
        </p:nvSpPr>
        <p:spPr>
          <a:xfrm>
            <a:off x="8997696" y="4014216"/>
            <a:ext cx="2313432" cy="438911"/>
          </a:xfrm>
          <a:prstGeom prst="rect">
            <a:avLst/>
          </a:prstGeom>
          <a:noFill/>
        </p:spPr>
        <p:txBody>
          <a:bodyPr wrap="square" lIns="0" rIns="0" tIns="0" bIns="0" anchor="t">
            <a:spAutoFit/>
          </a:bodyPr>
          <a:lstStyle/>
          <a:p>
            <a:pPr algn="l"/>
            <a:r>
              <a:rPr sz="1050" b="1" i="0">
                <a:solidFill>
                  <a:srgbClr val="14251D"/>
                </a:solidFill>
                <a:latin typeface="Aptos"/>
              </a:rPr>
              <a:t>Choose Country, Continent, or Region and select two entities.</a:t>
            </a:r>
          </a:p>
        </p:txBody>
      </p:sp>
      <p:sp>
        <p:nvSpPr>
          <p:cNvPr id="29" name="Rounded Rectangle 28"/>
          <p:cNvSpPr/>
          <p:nvPr/>
        </p:nvSpPr>
        <p:spPr>
          <a:xfrm>
            <a:off x="8412480" y="4700016"/>
            <a:ext cx="3063240"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577072" y="4873752"/>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9932" y="4940503"/>
            <a:ext cx="265176" cy="118872"/>
          </a:xfrm>
          <a:prstGeom prst="rect">
            <a:avLst/>
          </a:prstGeom>
          <a:noFill/>
        </p:spPr>
        <p:txBody>
          <a:bodyPr wrap="square" lIns="0" rIns="0" tIns="0" bIns="0" anchor="t">
            <a:spAutoFit/>
          </a:bodyPr>
          <a:lstStyle/>
          <a:p>
            <a:pPr algn="ctr"/>
            <a:r>
              <a:rPr sz="850" b="1" i="0">
                <a:solidFill>
                  <a:srgbClr val="0B2D20"/>
                </a:solidFill>
                <a:latin typeface="Aptos"/>
              </a:rPr>
              <a:t>4</a:t>
            </a:r>
          </a:p>
        </p:txBody>
      </p:sp>
      <p:sp>
        <p:nvSpPr>
          <p:cNvPr id="32" name="TextBox 31"/>
          <p:cNvSpPr txBox="1"/>
          <p:nvPr/>
        </p:nvSpPr>
        <p:spPr>
          <a:xfrm>
            <a:off x="8997696" y="4818888"/>
            <a:ext cx="2313432" cy="155448"/>
          </a:xfrm>
          <a:prstGeom prst="rect">
            <a:avLst/>
          </a:prstGeom>
          <a:noFill/>
        </p:spPr>
        <p:txBody>
          <a:bodyPr wrap="square" lIns="0" rIns="0" tIns="0" bIns="0" anchor="t">
            <a:spAutoFit/>
          </a:bodyPr>
          <a:lstStyle/>
          <a:p>
            <a:pPr algn="l"/>
            <a:r>
              <a:rPr sz="800" b="1" i="0">
                <a:solidFill>
                  <a:srgbClr val="123524"/>
                </a:solidFill>
                <a:latin typeface="Aptos"/>
              </a:rPr>
              <a:t>WHAT IS THE BENEFIT?</a:t>
            </a:r>
          </a:p>
        </p:txBody>
      </p:sp>
      <p:sp>
        <p:nvSpPr>
          <p:cNvPr id="33" name="TextBox 32"/>
          <p:cNvSpPr txBox="1"/>
          <p:nvPr/>
        </p:nvSpPr>
        <p:spPr>
          <a:xfrm>
            <a:off x="8997696" y="5038344"/>
            <a:ext cx="2313432" cy="438911"/>
          </a:xfrm>
          <a:prstGeom prst="rect">
            <a:avLst/>
          </a:prstGeom>
          <a:noFill/>
        </p:spPr>
        <p:txBody>
          <a:bodyPr wrap="square" lIns="0" rIns="0" tIns="0" bIns="0" anchor="t">
            <a:spAutoFit/>
          </a:bodyPr>
          <a:lstStyle/>
          <a:p>
            <a:pPr algn="l"/>
            <a:r>
              <a:rPr sz="1050" b="1" i="0">
                <a:solidFill>
                  <a:srgbClr val="14251D"/>
                </a:solidFill>
                <a:latin typeface="Aptos"/>
              </a:rPr>
              <a:t>Differences become easier to identify using aligned indicators.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REV_BACKGROUND"/>
          <p:cNvSpPr/>
          <p:nvPr/>
        </p:nvSpPr>
        <p:spPr>
          <a:xfrm>
            <a:off x="0" y="0"/>
            <a:ext cx="12192000" cy="68580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972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2000" cy="20116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V_SECTION"/>
          <p:cNvSpPr txBox="1"/>
          <p:nvPr/>
        </p:nvSpPr>
        <p:spPr>
          <a:xfrm>
            <a:off x="502920" y="283464"/>
            <a:ext cx="4389120" cy="201168"/>
          </a:xfrm>
          <a:prstGeom prst="rect">
            <a:avLst/>
          </a:prstGeom>
          <a:noFill/>
        </p:spPr>
        <p:txBody>
          <a:bodyPr wrap="square" lIns="27432" rIns="27432" tIns="27432" bIns="27432" anchor="t">
            <a:spAutoFit/>
          </a:bodyPr>
          <a:lstStyle/>
          <a:p>
            <a:pPr algn="l"/>
            <a:r>
              <a:rPr sz="900" b="1" i="0">
                <a:solidFill>
                  <a:srgbClr val="123524"/>
                </a:solidFill>
                <a:latin typeface="Aptos"/>
              </a:rPr>
              <a:t>4.7 • GEOGRAPHIC COMPARISON</a:t>
            </a:r>
          </a:p>
        </p:txBody>
      </p:sp>
      <p:sp>
        <p:nvSpPr>
          <p:cNvPr id="6" name="Rectangle 5"/>
          <p:cNvSpPr/>
          <p:nvPr/>
        </p:nvSpPr>
        <p:spPr>
          <a:xfrm>
            <a:off x="502920" y="576072"/>
            <a:ext cx="420624" cy="22860"/>
          </a:xfrm>
          <a:prstGeom prst="rect">
            <a:avLst/>
          </a:prstGeom>
          <a:solidFill>
            <a:srgbClr val="C8A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V_TITLE"/>
          <p:cNvSpPr txBox="1"/>
          <p:nvPr/>
        </p:nvSpPr>
        <p:spPr>
          <a:xfrm>
            <a:off x="502920" y="658368"/>
            <a:ext cx="11018520" cy="475488"/>
          </a:xfrm>
          <a:prstGeom prst="rect">
            <a:avLst/>
          </a:prstGeom>
          <a:noFill/>
        </p:spPr>
        <p:txBody>
          <a:bodyPr wrap="square" lIns="27432" rIns="27432" tIns="27432" bIns="27432" anchor="t">
            <a:spAutoFit/>
          </a:bodyPr>
          <a:lstStyle/>
          <a:p>
            <a:pPr algn="l"/>
            <a:r>
              <a:rPr sz="2500" b="0" i="0">
                <a:solidFill>
                  <a:srgbClr val="14251D"/>
                </a:solidFill>
                <a:latin typeface="Georgia"/>
              </a:rPr>
              <a:t>Country, continent, and region are all supported</a:t>
            </a:r>
          </a:p>
        </p:txBody>
      </p:sp>
      <p:sp>
        <p:nvSpPr>
          <p:cNvPr id="8" name="REV_SUBTITLE"/>
          <p:cNvSpPr txBox="1"/>
          <p:nvPr/>
        </p:nvSpPr>
        <p:spPr>
          <a:xfrm>
            <a:off x="521207" y="1179576"/>
            <a:ext cx="10927080" cy="320040"/>
          </a:xfrm>
          <a:prstGeom prst="rect">
            <a:avLst/>
          </a:prstGeom>
          <a:noFill/>
        </p:spPr>
        <p:txBody>
          <a:bodyPr wrap="square" lIns="27432" rIns="27432" tIns="27432" bIns="27432" anchor="t">
            <a:spAutoFit/>
          </a:bodyPr>
          <a:lstStyle/>
          <a:p>
            <a:pPr algn="l"/>
            <a:r>
              <a:rPr sz="1150" b="0" i="0">
                <a:solidFill>
                  <a:srgbClr val="65736B"/>
                </a:solidFill>
                <a:latin typeface="Aptos"/>
              </a:rPr>
              <a:t>The following completed examples demonstrate the remaining comparison levels.</a:t>
            </a:r>
          </a:p>
        </p:txBody>
      </p:sp>
      <p:sp>
        <p:nvSpPr>
          <p:cNvPr id="9" name="TextBox 8"/>
          <p:cNvSpPr txBox="1"/>
          <p:nvPr/>
        </p:nvSpPr>
        <p:spPr>
          <a:xfrm>
            <a:off x="502920" y="6684264"/>
            <a:ext cx="4572000" cy="100584"/>
          </a:xfrm>
          <a:prstGeom prst="rect">
            <a:avLst/>
          </a:prstGeom>
          <a:noFill/>
        </p:spPr>
        <p:txBody>
          <a:bodyPr wrap="square" lIns="0" rIns="0" tIns="0" bIns="0" anchor="t">
            <a:spAutoFit/>
          </a:bodyPr>
          <a:lstStyle/>
          <a:p>
            <a:pPr algn="l"/>
            <a:r>
              <a:rPr sz="750" b="0" i="0">
                <a:solidFill>
                  <a:srgbClr val="DDE7E0"/>
                </a:solidFill>
                <a:latin typeface="Aptos"/>
              </a:rPr>
              <a:t>Chapter 4 • Results and Discussion</a:t>
            </a:r>
          </a:p>
        </p:txBody>
      </p:sp>
      <p:sp>
        <p:nvSpPr>
          <p:cNvPr id="10" name="TextBox 9"/>
          <p:cNvSpPr txBox="1"/>
          <p:nvPr/>
        </p:nvSpPr>
        <p:spPr>
          <a:xfrm>
            <a:off x="11475720" y="6684264"/>
            <a:ext cx="274320" cy="100584"/>
          </a:xfrm>
          <a:prstGeom prst="rect">
            <a:avLst/>
          </a:prstGeom>
          <a:noFill/>
        </p:spPr>
        <p:txBody>
          <a:bodyPr wrap="square" lIns="0" rIns="0" tIns="0" bIns="0" anchor="t">
            <a:spAutoFit/>
          </a:bodyPr>
          <a:lstStyle/>
          <a:p>
            <a:pPr algn="r"/>
            <a:r>
              <a:rPr sz="800" b="0" i="0">
                <a:solidFill>
                  <a:srgbClr val="FFFFFF"/>
                </a:solidFill>
                <a:latin typeface="Aptos"/>
              </a:rPr>
              <a:t>13</a:t>
            </a:r>
          </a:p>
        </p:txBody>
      </p:sp>
      <p:sp>
        <p:nvSpPr>
          <p:cNvPr id="11" name="Rounded Rectangle 10"/>
          <p:cNvSpPr/>
          <p:nvPr/>
        </p:nvSpPr>
        <p:spPr>
          <a:xfrm>
            <a:off x="470916" y="1540764"/>
            <a:ext cx="5596128" cy="4224528"/>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43-comparison-country-current.png"/>
          <p:cNvPicPr>
            <a:picLocks noChangeAspect="1"/>
          </p:cNvPicPr>
          <p:nvPr/>
        </p:nvPicPr>
        <p:blipFill>
          <a:blip r:embed="rId4"/>
          <a:stretch>
            <a:fillRect/>
          </a:stretch>
        </p:blipFill>
        <p:spPr>
          <a:xfrm>
            <a:off x="502920" y="1731344"/>
            <a:ext cx="5532120" cy="3843367"/>
          </a:xfrm>
          <a:prstGeom prst="rect">
            <a:avLst/>
          </a:prstGeom>
        </p:spPr>
      </p:pic>
      <p:sp>
        <p:nvSpPr>
          <p:cNvPr id="13" name="Rounded Rectangle 12"/>
          <p:cNvSpPr/>
          <p:nvPr/>
        </p:nvSpPr>
        <p:spPr>
          <a:xfrm>
            <a:off x="6121908" y="1540764"/>
            <a:ext cx="5596128" cy="4224528"/>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45-comparison-region-current.png"/>
          <p:cNvPicPr>
            <a:picLocks noChangeAspect="1"/>
          </p:cNvPicPr>
          <p:nvPr/>
        </p:nvPicPr>
        <p:blipFill>
          <a:blip r:embed="rId5"/>
          <a:stretch>
            <a:fillRect/>
          </a:stretch>
        </p:blipFill>
        <p:spPr>
          <a:xfrm>
            <a:off x="6153912" y="1731344"/>
            <a:ext cx="5532120" cy="3843367"/>
          </a:xfrm>
          <a:prstGeom prst="rect">
            <a:avLst/>
          </a:prstGeom>
        </p:spPr>
      </p:pic>
      <p:sp>
        <p:nvSpPr>
          <p:cNvPr id="15" name="REV_CAPTION"/>
          <p:cNvSpPr txBox="1"/>
          <p:nvPr/>
        </p:nvSpPr>
        <p:spPr>
          <a:xfrm>
            <a:off x="502920" y="5779008"/>
            <a:ext cx="5532120" cy="201168"/>
          </a:xfrm>
          <a:prstGeom prst="rect">
            <a:avLst/>
          </a:prstGeom>
          <a:noFill/>
        </p:spPr>
        <p:txBody>
          <a:bodyPr wrap="square" lIns="0" rIns="0" tIns="0" bIns="0" anchor="t">
            <a:spAutoFit/>
          </a:bodyPr>
          <a:lstStyle/>
          <a:p>
            <a:pPr algn="ctr"/>
            <a:r>
              <a:rPr sz="900" b="0" i="1">
                <a:solidFill>
                  <a:srgbClr val="65736B"/>
                </a:solidFill>
                <a:latin typeface="Aptos"/>
              </a:rPr>
              <a:t>Figure 4.10: Country Comparison between Kenya and Nigeria</a:t>
            </a:r>
          </a:p>
        </p:txBody>
      </p:sp>
      <p:sp>
        <p:nvSpPr>
          <p:cNvPr id="16" name="REV_CAPTION"/>
          <p:cNvSpPr txBox="1"/>
          <p:nvPr/>
        </p:nvSpPr>
        <p:spPr>
          <a:xfrm>
            <a:off x="6153912" y="5779008"/>
            <a:ext cx="5532120" cy="201168"/>
          </a:xfrm>
          <a:prstGeom prst="rect">
            <a:avLst/>
          </a:prstGeom>
          <a:noFill/>
        </p:spPr>
        <p:txBody>
          <a:bodyPr wrap="square" lIns="0" rIns="0" tIns="0" bIns="0" anchor="t">
            <a:spAutoFit/>
          </a:bodyPr>
          <a:lstStyle/>
          <a:p>
            <a:pPr algn="ctr"/>
            <a:r>
              <a:rPr sz="900" b="0" i="1">
                <a:solidFill>
                  <a:srgbClr val="65736B"/>
                </a:solidFill>
                <a:latin typeface="Aptos"/>
              </a:rPr>
              <a:t>Figure 4.11: Region Comparison between Sub-Saharan Africa and East Asia &amp; Pacific</a:t>
            </a:r>
          </a:p>
        </p:txBody>
      </p:sp>
      <p:sp>
        <p:nvSpPr>
          <p:cNvPr id="17" name="TextBox 16"/>
          <p:cNvSpPr txBox="1"/>
          <p:nvPr/>
        </p:nvSpPr>
        <p:spPr>
          <a:xfrm>
            <a:off x="804672" y="6117336"/>
            <a:ext cx="10561320" cy="320040"/>
          </a:xfrm>
          <a:prstGeom prst="rect">
            <a:avLst/>
          </a:prstGeom>
          <a:noFill/>
        </p:spPr>
        <p:txBody>
          <a:bodyPr wrap="square" lIns="27432" rIns="27432" tIns="27432" bIns="27432" anchor="ctr">
            <a:spAutoFit/>
          </a:bodyPr>
          <a:lstStyle/>
          <a:p>
            <a:pPr algn="ctr"/>
            <a:r>
              <a:rPr sz="1180" b="1" i="0">
                <a:solidFill>
                  <a:srgbClr val="14251D"/>
                </a:solidFill>
                <a:latin typeface="Aptos"/>
              </a:rPr>
              <a:t>Together with the continent example, these screens verify all three final comparison levels without using Group-versus-Group comparison.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REV_BACKGROUND"/>
          <p:cNvSpPr/>
          <p:nvPr/>
        </p:nvSpPr>
        <p:spPr>
          <a:xfrm>
            <a:off x="0" y="0"/>
            <a:ext cx="12192000" cy="68580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972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2000" cy="20116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V_SECTION"/>
          <p:cNvSpPr txBox="1"/>
          <p:nvPr/>
        </p:nvSpPr>
        <p:spPr>
          <a:xfrm>
            <a:off x="502920" y="283464"/>
            <a:ext cx="4389120" cy="201168"/>
          </a:xfrm>
          <a:prstGeom prst="rect">
            <a:avLst/>
          </a:prstGeom>
          <a:noFill/>
        </p:spPr>
        <p:txBody>
          <a:bodyPr wrap="square" lIns="27432" rIns="27432" tIns="27432" bIns="27432" anchor="t">
            <a:spAutoFit/>
          </a:bodyPr>
          <a:lstStyle/>
          <a:p>
            <a:pPr algn="l"/>
            <a:r>
              <a:rPr sz="900" b="1" i="0">
                <a:solidFill>
                  <a:srgbClr val="123524"/>
                </a:solidFill>
                <a:latin typeface="Aptos"/>
              </a:rPr>
              <a:t>4.8 • STATISTICAL ANALYSIS INTERFACE</a:t>
            </a:r>
          </a:p>
        </p:txBody>
      </p:sp>
      <p:sp>
        <p:nvSpPr>
          <p:cNvPr id="6" name="Rectangle 5"/>
          <p:cNvSpPr/>
          <p:nvPr/>
        </p:nvSpPr>
        <p:spPr>
          <a:xfrm>
            <a:off x="502920" y="576072"/>
            <a:ext cx="420624" cy="22860"/>
          </a:xfrm>
          <a:prstGeom prst="rect">
            <a:avLst/>
          </a:prstGeom>
          <a:solidFill>
            <a:srgbClr val="C8A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V_TITLE"/>
          <p:cNvSpPr txBox="1"/>
          <p:nvPr/>
        </p:nvSpPr>
        <p:spPr>
          <a:xfrm>
            <a:off x="502920" y="658368"/>
            <a:ext cx="11018520" cy="475488"/>
          </a:xfrm>
          <a:prstGeom prst="rect">
            <a:avLst/>
          </a:prstGeom>
          <a:noFill/>
        </p:spPr>
        <p:txBody>
          <a:bodyPr wrap="square" lIns="27432" rIns="27432" tIns="27432" bIns="27432" anchor="t">
            <a:spAutoFit/>
          </a:bodyPr>
          <a:lstStyle/>
          <a:p>
            <a:pPr algn="l"/>
            <a:r>
              <a:rPr sz="2500" b="0" i="0">
                <a:solidFill>
                  <a:srgbClr val="14251D"/>
                </a:solidFill>
                <a:latin typeface="Georgia"/>
              </a:rPr>
              <a:t>Where the user reads the statistical evidence</a:t>
            </a:r>
          </a:p>
        </p:txBody>
      </p:sp>
      <p:sp>
        <p:nvSpPr>
          <p:cNvPr id="8" name="REV_SUBTITLE"/>
          <p:cNvSpPr txBox="1"/>
          <p:nvPr/>
        </p:nvSpPr>
        <p:spPr>
          <a:xfrm>
            <a:off x="521207" y="1179576"/>
            <a:ext cx="10927080" cy="320040"/>
          </a:xfrm>
          <a:prstGeom prst="rect">
            <a:avLst/>
          </a:prstGeom>
          <a:noFill/>
        </p:spPr>
        <p:txBody>
          <a:bodyPr wrap="square" lIns="27432" rIns="27432" tIns="27432" bIns="27432" anchor="t">
            <a:spAutoFit/>
          </a:bodyPr>
          <a:lstStyle/>
          <a:p>
            <a:pPr algn="l"/>
            <a:r>
              <a:rPr sz="1150" b="0" i="0">
                <a:solidFill>
                  <a:srgbClr val="65736B"/>
                </a:solidFill>
                <a:latin typeface="Aptos"/>
              </a:rPr>
              <a:t>Two readable views replace the previous long, compressed page screenshot.</a:t>
            </a:r>
          </a:p>
        </p:txBody>
      </p:sp>
      <p:sp>
        <p:nvSpPr>
          <p:cNvPr id="9" name="TextBox 8"/>
          <p:cNvSpPr txBox="1"/>
          <p:nvPr/>
        </p:nvSpPr>
        <p:spPr>
          <a:xfrm>
            <a:off x="502920" y="6684264"/>
            <a:ext cx="4572000" cy="100584"/>
          </a:xfrm>
          <a:prstGeom prst="rect">
            <a:avLst/>
          </a:prstGeom>
          <a:noFill/>
        </p:spPr>
        <p:txBody>
          <a:bodyPr wrap="square" lIns="0" rIns="0" tIns="0" bIns="0" anchor="t">
            <a:spAutoFit/>
          </a:bodyPr>
          <a:lstStyle/>
          <a:p>
            <a:pPr algn="l"/>
            <a:r>
              <a:rPr sz="750" b="0" i="0">
                <a:solidFill>
                  <a:srgbClr val="DDE7E0"/>
                </a:solidFill>
                <a:latin typeface="Aptos"/>
              </a:rPr>
              <a:t>Chapter 4 • Results and Discussion</a:t>
            </a:r>
          </a:p>
        </p:txBody>
      </p:sp>
      <p:sp>
        <p:nvSpPr>
          <p:cNvPr id="10" name="TextBox 9"/>
          <p:cNvSpPr txBox="1"/>
          <p:nvPr/>
        </p:nvSpPr>
        <p:spPr>
          <a:xfrm>
            <a:off x="11475720" y="6684264"/>
            <a:ext cx="274320" cy="100584"/>
          </a:xfrm>
          <a:prstGeom prst="rect">
            <a:avLst/>
          </a:prstGeom>
          <a:noFill/>
        </p:spPr>
        <p:txBody>
          <a:bodyPr wrap="square" lIns="0" rIns="0" tIns="0" bIns="0" anchor="t">
            <a:spAutoFit/>
          </a:bodyPr>
          <a:lstStyle/>
          <a:p>
            <a:pPr algn="r"/>
            <a:r>
              <a:rPr sz="800" b="0" i="0">
                <a:solidFill>
                  <a:srgbClr val="FFFFFF"/>
                </a:solidFill>
                <a:latin typeface="Aptos"/>
              </a:rPr>
              <a:t>14</a:t>
            </a:r>
          </a:p>
        </p:txBody>
      </p:sp>
      <p:sp>
        <p:nvSpPr>
          <p:cNvPr id="11" name="Rounded Rectangle 10"/>
          <p:cNvSpPr/>
          <p:nvPr/>
        </p:nvSpPr>
        <p:spPr>
          <a:xfrm>
            <a:off x="443484" y="1540764"/>
            <a:ext cx="5715000" cy="419709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46-analysis-interface-upper-current.png"/>
          <p:cNvPicPr>
            <a:picLocks noChangeAspect="1"/>
          </p:cNvPicPr>
          <p:nvPr/>
        </p:nvPicPr>
        <p:blipFill>
          <a:blip r:embed="rId4"/>
          <a:stretch>
            <a:fillRect/>
          </a:stretch>
        </p:blipFill>
        <p:spPr>
          <a:xfrm>
            <a:off x="475488" y="1676335"/>
            <a:ext cx="5650992" cy="3925952"/>
          </a:xfrm>
          <a:prstGeom prst="rect">
            <a:avLst/>
          </a:prstGeom>
        </p:spPr>
      </p:pic>
      <p:sp>
        <p:nvSpPr>
          <p:cNvPr id="13" name="Rounded Rectangle 12"/>
          <p:cNvSpPr/>
          <p:nvPr/>
        </p:nvSpPr>
        <p:spPr>
          <a:xfrm>
            <a:off x="6204204" y="1540764"/>
            <a:ext cx="5550408" cy="419709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47-analysis-interface-result-current.png"/>
          <p:cNvPicPr>
            <a:picLocks noChangeAspect="1"/>
          </p:cNvPicPr>
          <p:nvPr/>
        </p:nvPicPr>
        <p:blipFill>
          <a:blip r:embed="rId5"/>
          <a:stretch>
            <a:fillRect/>
          </a:stretch>
        </p:blipFill>
        <p:spPr>
          <a:xfrm>
            <a:off x="6236208" y="1733509"/>
            <a:ext cx="5486400" cy="3811604"/>
          </a:xfrm>
          <a:prstGeom prst="rect">
            <a:avLst/>
          </a:prstGeom>
        </p:spPr>
      </p:pic>
      <p:sp>
        <p:nvSpPr>
          <p:cNvPr id="15" name="REV_CAPTION"/>
          <p:cNvSpPr txBox="1"/>
          <p:nvPr/>
        </p:nvSpPr>
        <p:spPr>
          <a:xfrm>
            <a:off x="475488" y="5751576"/>
            <a:ext cx="5650992" cy="201168"/>
          </a:xfrm>
          <a:prstGeom prst="rect">
            <a:avLst/>
          </a:prstGeom>
          <a:noFill/>
        </p:spPr>
        <p:txBody>
          <a:bodyPr wrap="square" lIns="0" rIns="0" tIns="0" bIns="0" anchor="t">
            <a:spAutoFit/>
          </a:bodyPr>
          <a:lstStyle/>
          <a:p>
            <a:pPr algn="ctr"/>
            <a:r>
              <a:rPr sz="900" b="0" i="1">
                <a:solidFill>
                  <a:srgbClr val="65736B"/>
                </a:solidFill>
                <a:latin typeface="Aptos"/>
              </a:rPr>
              <a:t>Figure 4.12: Research Question, Method, and Sample Summary</a:t>
            </a:r>
          </a:p>
        </p:txBody>
      </p:sp>
      <p:sp>
        <p:nvSpPr>
          <p:cNvPr id="16" name="REV_CAPTION"/>
          <p:cNvSpPr txBox="1"/>
          <p:nvPr/>
        </p:nvSpPr>
        <p:spPr>
          <a:xfrm>
            <a:off x="6236208" y="5751576"/>
            <a:ext cx="5486400" cy="201168"/>
          </a:xfrm>
          <a:prstGeom prst="rect">
            <a:avLst/>
          </a:prstGeom>
          <a:noFill/>
        </p:spPr>
        <p:txBody>
          <a:bodyPr wrap="square" lIns="0" rIns="0" tIns="0" bIns="0" anchor="t">
            <a:spAutoFit/>
          </a:bodyPr>
          <a:lstStyle/>
          <a:p>
            <a:pPr algn="ctr"/>
            <a:r>
              <a:rPr sz="900" b="0" i="1">
                <a:solidFill>
                  <a:srgbClr val="65736B"/>
                </a:solidFill>
                <a:latin typeface="Aptos"/>
              </a:rPr>
              <a:t>Figure 4.13: Statistical Result, Interpretation, and Frequency Tables</a:t>
            </a:r>
          </a:p>
        </p:txBody>
      </p:sp>
      <p:sp>
        <p:nvSpPr>
          <p:cNvPr id="17" name="TextBox 16"/>
          <p:cNvSpPr txBox="1"/>
          <p:nvPr/>
        </p:nvSpPr>
        <p:spPr>
          <a:xfrm>
            <a:off x="731520" y="6089904"/>
            <a:ext cx="10744200" cy="292608"/>
          </a:xfrm>
          <a:prstGeom prst="rect">
            <a:avLst/>
          </a:prstGeom>
          <a:noFill/>
        </p:spPr>
        <p:txBody>
          <a:bodyPr wrap="square" lIns="27432" rIns="27432" tIns="27432" bIns="27432" anchor="ctr">
            <a:spAutoFit/>
          </a:bodyPr>
          <a:lstStyle/>
          <a:p>
            <a:pPr algn="ctr"/>
            <a:r>
              <a:rPr sz="1070" b="1" i="0">
                <a:solidFill>
                  <a:srgbClr val="14251D"/>
                </a:solidFill>
                <a:latin typeface="Aptos"/>
              </a:rPr>
              <a:t>1 Research question  •  2 Statistical method  •  3 Sample size  •  4 Statistic and p-value  •  5 Effect size  •  6 Interpretation and tables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STATISTICAL RESULTS • READING GUIDE</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txBody>
          <a:bodyPr/>
          <a:p/>
        </p:txBody>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How to read the inferential results</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Statistical significance and practical strength answer different questions.</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566928" y="1664208"/>
            <a:ext cx="5349240" cy="1572768"/>
          </a:xfrm>
          <a:prstGeom prst="roundRect">
            <a:avLst>
              <a:gd name="adj" fmla="val 5814"/>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9" name="Text 6"/>
          <p:cNvSpPr/>
          <p:nvPr/>
        </p:nvSpPr>
        <p:spPr>
          <a:xfrm>
            <a:off x="804672" y="1883664"/>
            <a:ext cx="1920240" cy="201168"/>
          </a:xfrm>
          <a:prstGeom prst="rect">
            <a:avLst/>
          </a:prstGeom>
          <a:noFill/>
          <a:ln/>
        </p:spPr>
        <p:txBody>
          <a:bodyPr wrap="square" lIns="0" tIns="0" rIns="0" bIns="0" rtlCol="0" anchor="ctr"/>
          <a:lstStyle/>
          <a:p>
            <a:pPr indent="0" marL="0">
              <a:buNone/>
            </a:pPr>
            <a:r>
              <a:rPr lang="en-US" sz="1000" b="1" spc="70" kern="0" dirty="0">
                <a:solidFill>
                  <a:srgbClr val="C8A96A"/>
                </a:solidFill>
              </a:rPr>
              <a:t>CHI-SQUARE</a:t>
            </a:r>
            <a:endParaRPr lang="en-US" sz="1000" dirty="0"/>
          </a:p>
        </p:txBody>
      </p:sp>
      <p:sp>
        <p:nvSpPr>
          <p:cNvPr id="10" name="Text 7"/>
          <p:cNvSpPr/>
          <p:nvPr/>
        </p:nvSpPr>
        <p:spPr>
          <a:xfrm>
            <a:off x="804672" y="2231136"/>
            <a:ext cx="4800600" cy="320040"/>
          </a:xfrm>
          <a:prstGeom prst="rect">
            <a:avLst/>
          </a:prstGeom>
          <a:noFill/>
          <a:ln/>
        </p:spPr>
        <p:txBody>
          <a:bodyPr wrap="square" lIns="0" tIns="0" rIns="0" bIns="0" rtlCol="0" anchor="ctr">
            <a:normAutofit/>
          </a:bodyPr>
          <a:lstStyle/>
          <a:p>
            <a:pPr indent="0" marL="0">
              <a:buNone/>
            </a:pPr>
            <a:r>
              <a:rPr lang="en-US" sz="1500" b="1" dirty="0">
                <a:solidFill>
                  <a:srgbClr val="14251D"/>
                </a:solidFill>
                <a:latin typeface="Georgia" pitchFamily="34" charset="0"/>
                <a:ea typeface="Georgia" pitchFamily="34" charset="-122"/>
                <a:cs typeface="Georgia" pitchFamily="34" charset="-120"/>
              </a:rPr>
              <a:t>Compares observed and expected categorical counts.</a:t>
            </a:r>
            <a:endParaRPr lang="en-US" sz="1500" dirty="0"/>
          </a:p>
        </p:txBody>
      </p:sp>
      <p:sp>
        <p:nvSpPr>
          <p:cNvPr id="11" name="Text 8"/>
          <p:cNvSpPr/>
          <p:nvPr/>
        </p:nvSpPr>
        <p:spPr>
          <a:xfrm>
            <a:off x="804672" y="2706624"/>
            <a:ext cx="4800600" cy="274320"/>
          </a:xfrm>
          <a:prstGeom prst="rect">
            <a:avLst/>
          </a:prstGeom>
          <a:noFill/>
          <a:ln/>
        </p:spPr>
        <p:txBody>
          <a:bodyPr wrap="square" lIns="0" tIns="0" rIns="0" bIns="0" rtlCol="0" anchor="ctr">
            <a:normAutofit/>
          </a:bodyPr>
          <a:lstStyle/>
          <a:p>
            <a:pPr indent="0" marL="0">
              <a:buNone/>
            </a:pPr>
            <a:r>
              <a:rPr lang="en-US" sz="1050" dirty="0">
                <a:solidFill>
                  <a:srgbClr val="65736B"/>
                </a:solidFill>
              </a:rPr>
              <a:t>χ² increases as the tables diverge.</a:t>
            </a:r>
            <a:endParaRPr lang="en-US" sz="1050" dirty="0"/>
          </a:p>
        </p:txBody>
      </p:sp>
      <p:sp>
        <p:nvSpPr>
          <p:cNvPr id="12" name="Shape 9"/>
          <p:cNvSpPr/>
          <p:nvPr/>
        </p:nvSpPr>
        <p:spPr>
          <a:xfrm>
            <a:off x="6217920" y="1664208"/>
            <a:ext cx="5349240" cy="1572768"/>
          </a:xfrm>
          <a:prstGeom prst="roundRect">
            <a:avLst>
              <a:gd name="adj" fmla="val 5814"/>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13" name="Text 10"/>
          <p:cNvSpPr/>
          <p:nvPr/>
        </p:nvSpPr>
        <p:spPr>
          <a:xfrm>
            <a:off x="6455664" y="1883664"/>
            <a:ext cx="1920240" cy="201168"/>
          </a:xfrm>
          <a:prstGeom prst="rect">
            <a:avLst/>
          </a:prstGeom>
          <a:noFill/>
          <a:ln/>
        </p:spPr>
        <p:txBody>
          <a:bodyPr wrap="square" lIns="0" tIns="0" rIns="0" bIns="0" rtlCol="0" anchor="ctr"/>
          <a:lstStyle/>
          <a:p>
            <a:pPr indent="0" marL="0">
              <a:buNone/>
            </a:pPr>
            <a:r>
              <a:rPr lang="en-US" sz="1000" b="1" spc="70" kern="0" dirty="0">
                <a:solidFill>
                  <a:srgbClr val="C8A96A"/>
                </a:solidFill>
              </a:rPr>
              <a:t>p-VALUE</a:t>
            </a:r>
            <a:endParaRPr lang="en-US" sz="1000" dirty="0"/>
          </a:p>
        </p:txBody>
      </p:sp>
      <p:sp>
        <p:nvSpPr>
          <p:cNvPr id="14" name="Text 11"/>
          <p:cNvSpPr/>
          <p:nvPr/>
        </p:nvSpPr>
        <p:spPr>
          <a:xfrm>
            <a:off x="6455664" y="2231136"/>
            <a:ext cx="4800600" cy="320040"/>
          </a:xfrm>
          <a:prstGeom prst="rect">
            <a:avLst/>
          </a:prstGeom>
          <a:noFill/>
          <a:ln/>
        </p:spPr>
        <p:txBody>
          <a:bodyPr wrap="square" lIns="0" tIns="0" rIns="0" bIns="0" rtlCol="0" anchor="ctr">
            <a:normAutofit/>
          </a:bodyPr>
          <a:lstStyle/>
          <a:p>
            <a:pPr indent="0" marL="0">
              <a:buNone/>
            </a:pPr>
            <a:r>
              <a:rPr lang="en-US" sz="1500" b="1" dirty="0">
                <a:solidFill>
                  <a:srgbClr val="14251D"/>
                </a:solidFill>
                <a:latin typeface="Georgia" pitchFamily="34" charset="0"/>
                <a:ea typeface="Georgia" pitchFamily="34" charset="-122"/>
                <a:cs typeface="Georgia" pitchFamily="34" charset="-120"/>
              </a:rPr>
              <a:t>Probability of an equal-or-more-extreme result under H₀.</a:t>
            </a:r>
            <a:endParaRPr lang="en-US" sz="1500" dirty="0"/>
          </a:p>
        </p:txBody>
      </p:sp>
      <p:sp>
        <p:nvSpPr>
          <p:cNvPr id="15" name="Text 12"/>
          <p:cNvSpPr/>
          <p:nvPr/>
        </p:nvSpPr>
        <p:spPr>
          <a:xfrm>
            <a:off x="6455664" y="2706624"/>
            <a:ext cx="4800600" cy="274320"/>
          </a:xfrm>
          <a:prstGeom prst="rect">
            <a:avLst/>
          </a:prstGeom>
          <a:noFill/>
          <a:ln/>
        </p:spPr>
        <p:txBody>
          <a:bodyPr wrap="square" lIns="0" tIns="0" rIns="0" bIns="0" rtlCol="0" anchor="ctr">
            <a:normAutofit/>
          </a:bodyPr>
          <a:lstStyle/>
          <a:p>
            <a:pPr indent="0" marL="0">
              <a:buNone/>
            </a:pPr>
            <a:r>
              <a:rPr lang="en-US" sz="1050" dirty="0">
                <a:solidFill>
                  <a:srgbClr val="65736B"/>
                </a:solidFill>
              </a:rPr>
              <a:t>p &lt; .05 is treated as statistically significant.</a:t>
            </a:r>
            <a:endParaRPr lang="en-US" sz="1050" dirty="0"/>
          </a:p>
        </p:txBody>
      </p:sp>
      <p:sp>
        <p:nvSpPr>
          <p:cNvPr id="16" name="Shape 13"/>
          <p:cNvSpPr/>
          <p:nvPr/>
        </p:nvSpPr>
        <p:spPr>
          <a:xfrm>
            <a:off x="566928" y="3538728"/>
            <a:ext cx="5349240" cy="1572768"/>
          </a:xfrm>
          <a:prstGeom prst="roundRect">
            <a:avLst>
              <a:gd name="adj" fmla="val 5814"/>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17" name="Text 14"/>
          <p:cNvSpPr/>
          <p:nvPr/>
        </p:nvSpPr>
        <p:spPr>
          <a:xfrm>
            <a:off x="804672" y="3758184"/>
            <a:ext cx="1920240" cy="201168"/>
          </a:xfrm>
          <a:prstGeom prst="rect">
            <a:avLst/>
          </a:prstGeom>
          <a:noFill/>
          <a:ln/>
        </p:spPr>
        <p:txBody>
          <a:bodyPr wrap="square" lIns="0" tIns="0" rIns="0" bIns="0" rtlCol="0" anchor="ctr"/>
          <a:lstStyle/>
          <a:p>
            <a:pPr indent="0" marL="0">
              <a:buNone/>
            </a:pPr>
            <a:r>
              <a:rPr lang="en-US" sz="1000" b="1" spc="70" kern="0" dirty="0">
                <a:solidFill>
                  <a:srgbClr val="C8A96A"/>
                </a:solidFill>
              </a:rPr>
              <a:t>CRAMER'S V</a:t>
            </a:r>
            <a:endParaRPr lang="en-US" sz="1000" dirty="0"/>
          </a:p>
        </p:txBody>
      </p:sp>
      <p:sp>
        <p:nvSpPr>
          <p:cNvPr id="18" name="Text 15"/>
          <p:cNvSpPr/>
          <p:nvPr/>
        </p:nvSpPr>
        <p:spPr>
          <a:xfrm>
            <a:off x="804672" y="4105656"/>
            <a:ext cx="4800600" cy="320040"/>
          </a:xfrm>
          <a:prstGeom prst="rect">
            <a:avLst/>
          </a:prstGeom>
          <a:noFill/>
          <a:ln/>
        </p:spPr>
        <p:txBody>
          <a:bodyPr wrap="square" lIns="0" tIns="0" rIns="0" bIns="0" rtlCol="0" anchor="ctr">
            <a:normAutofit/>
          </a:bodyPr>
          <a:lstStyle/>
          <a:p>
            <a:pPr indent="0" marL="0">
              <a:buNone/>
            </a:pPr>
            <a:r>
              <a:rPr lang="en-US" sz="1500" b="1" dirty="0">
                <a:solidFill>
                  <a:srgbClr val="14251D"/>
                </a:solidFill>
                <a:latin typeface="Georgia" pitchFamily="34" charset="0"/>
                <a:ea typeface="Georgia" pitchFamily="34" charset="-122"/>
                <a:cs typeface="Georgia" pitchFamily="34" charset="-120"/>
              </a:rPr>
              <a:t>Effect size for Chi-Square association.</a:t>
            </a:r>
            <a:endParaRPr lang="en-US" sz="1500" dirty="0"/>
          </a:p>
        </p:txBody>
      </p:sp>
      <p:sp>
        <p:nvSpPr>
          <p:cNvPr id="19" name="Text 16"/>
          <p:cNvSpPr/>
          <p:nvPr/>
        </p:nvSpPr>
        <p:spPr>
          <a:xfrm>
            <a:off x="804672" y="4581144"/>
            <a:ext cx="4800600" cy="274320"/>
          </a:xfrm>
          <a:prstGeom prst="rect">
            <a:avLst/>
          </a:prstGeom>
          <a:noFill/>
          <a:ln/>
        </p:spPr>
        <p:txBody>
          <a:bodyPr wrap="square" lIns="0" tIns="0" rIns="0" bIns="0" rtlCol="0" anchor="ctr">
            <a:normAutofit/>
          </a:bodyPr>
          <a:lstStyle/>
          <a:p>
            <a:pPr indent="0" marL="0">
              <a:buNone/>
            </a:pPr>
            <a:r>
              <a:rPr lang="en-US" sz="1050" dirty="0">
                <a:solidFill>
                  <a:srgbClr val="65736B"/>
                </a:solidFill>
              </a:rPr>
              <a:t>Near 0 = weak; larger values = stronger.</a:t>
            </a:r>
            <a:endParaRPr lang="en-US" sz="1050" dirty="0"/>
          </a:p>
        </p:txBody>
      </p:sp>
      <p:sp>
        <p:nvSpPr>
          <p:cNvPr id="20" name="Shape 17"/>
          <p:cNvSpPr/>
          <p:nvPr/>
        </p:nvSpPr>
        <p:spPr>
          <a:xfrm>
            <a:off x="6217920" y="3538728"/>
            <a:ext cx="5349240" cy="1572768"/>
          </a:xfrm>
          <a:prstGeom prst="roundRect">
            <a:avLst>
              <a:gd name="adj" fmla="val 5814"/>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21" name="Text 18"/>
          <p:cNvSpPr/>
          <p:nvPr/>
        </p:nvSpPr>
        <p:spPr>
          <a:xfrm>
            <a:off x="6455664" y="3758184"/>
            <a:ext cx="1920240" cy="201168"/>
          </a:xfrm>
          <a:prstGeom prst="rect">
            <a:avLst/>
          </a:prstGeom>
          <a:noFill/>
          <a:ln/>
        </p:spPr>
        <p:txBody>
          <a:bodyPr wrap="square" lIns="0" tIns="0" rIns="0" bIns="0" rtlCol="0" anchor="ctr"/>
          <a:lstStyle/>
          <a:p>
            <a:pPr indent="0" marL="0">
              <a:buNone/>
            </a:pPr>
            <a:r>
              <a:rPr lang="en-US" sz="1000" b="1" spc="70" kern="0" dirty="0">
                <a:solidFill>
                  <a:srgbClr val="C8A96A"/>
                </a:solidFill>
              </a:rPr>
              <a:t>MANN–WHITNEY U</a:t>
            </a:r>
            <a:endParaRPr lang="en-US" sz="1000" dirty="0"/>
          </a:p>
        </p:txBody>
      </p:sp>
      <p:sp>
        <p:nvSpPr>
          <p:cNvPr id="22" name="Text 19"/>
          <p:cNvSpPr/>
          <p:nvPr/>
        </p:nvSpPr>
        <p:spPr>
          <a:xfrm>
            <a:off x="6455664" y="4105656"/>
            <a:ext cx="4800600" cy="320040"/>
          </a:xfrm>
          <a:prstGeom prst="rect">
            <a:avLst/>
          </a:prstGeom>
          <a:noFill/>
          <a:ln/>
        </p:spPr>
        <p:txBody>
          <a:bodyPr wrap="square" lIns="0" tIns="0" rIns="0" bIns="0" rtlCol="0" anchor="ctr">
            <a:normAutofit/>
          </a:bodyPr>
          <a:lstStyle/>
          <a:p>
            <a:pPr indent="0" marL="0">
              <a:buNone/>
            </a:pPr>
            <a:r>
              <a:rPr lang="en-US" sz="1500" b="1" dirty="0">
                <a:solidFill>
                  <a:srgbClr val="14251D"/>
                </a:solidFill>
                <a:latin typeface="Georgia" pitchFamily="34" charset="0"/>
                <a:ea typeface="Georgia" pitchFamily="34" charset="-122"/>
                <a:cs typeface="Georgia" pitchFamily="34" charset="-120"/>
              </a:rPr>
              <a:t>Compares ranked values between two groups.</a:t>
            </a:r>
            <a:endParaRPr lang="en-US" sz="1500" dirty="0"/>
          </a:p>
        </p:txBody>
      </p:sp>
      <p:sp>
        <p:nvSpPr>
          <p:cNvPr id="23" name="Text 20"/>
          <p:cNvSpPr/>
          <p:nvPr/>
        </p:nvSpPr>
        <p:spPr>
          <a:xfrm>
            <a:off x="6455664" y="4581144"/>
            <a:ext cx="4800600" cy="274320"/>
          </a:xfrm>
          <a:prstGeom prst="rect">
            <a:avLst/>
          </a:prstGeom>
          <a:noFill/>
          <a:ln/>
        </p:spPr>
        <p:txBody>
          <a:bodyPr wrap="square" lIns="0" tIns="0" rIns="0" bIns="0" rtlCol="0" anchor="ctr">
            <a:normAutofit/>
          </a:bodyPr>
          <a:lstStyle/>
          <a:p>
            <a:pPr indent="0" marL="0">
              <a:buNone/>
            </a:pPr>
            <a:r>
              <a:rPr lang="en-US" sz="1050" dirty="0">
                <a:solidFill>
                  <a:srgbClr val="65736B"/>
                </a:solidFill>
              </a:rPr>
              <a:t>Used when population distributions are non-normal.</a:t>
            </a:r>
            <a:endParaRPr lang="en-US" sz="1050" dirty="0"/>
          </a:p>
        </p:txBody>
      </p:sp>
      <p:sp>
        <p:nvSpPr>
          <p:cNvPr id="24" name="Shape 21"/>
          <p:cNvSpPr/>
          <p:nvPr/>
        </p:nvSpPr>
        <p:spPr>
          <a:xfrm>
            <a:off x="658368" y="5696712"/>
            <a:ext cx="10881360" cy="438912"/>
          </a:xfrm>
          <a:prstGeom prst="roundRect">
            <a:avLst/>
          </a:prstGeom>
          <a:solidFill>
            <a:srgbClr val="E7F2EB"/>
          </a:solidFill>
          <a:ln w="10160">
            <a:solidFill>
              <a:srgbClr val="5B9B78"/>
            </a:solidFill>
            <a:prstDash val="solid"/>
          </a:ln>
        </p:spPr>
        <p:txBody>
          <a:bodyPr/>
          <a:p/>
        </p:txBody>
      </p:sp>
      <p:sp>
        <p:nvSpPr>
          <p:cNvPr id="25" name="Text 22"/>
          <p:cNvSpPr/>
          <p:nvPr/>
        </p:nvSpPr>
        <p:spPr>
          <a:xfrm>
            <a:off x="813816" y="5797296"/>
            <a:ext cx="10570464" cy="201168"/>
          </a:xfrm>
          <a:prstGeom prst="rect">
            <a:avLst/>
          </a:prstGeom>
          <a:noFill/>
          <a:ln/>
        </p:spPr>
        <p:txBody>
          <a:bodyPr wrap="square" lIns="0" tIns="0" rIns="0" bIns="0" rtlCol="0" anchor="ctr">
            <a:normAutofit/>
          </a:bodyPr>
          <a:lstStyle/>
          <a:p>
            <a:pPr indent="0" marL="0">
              <a:buNone/>
            </a:pPr>
            <a:r>
              <a:rPr lang="en-US" sz="1050" b="1" dirty="0">
                <a:solidFill>
                  <a:srgbClr val="14251D"/>
                </a:solidFill>
                <a:latin typeface="Aptos" pitchFamily="34" charset="0"/>
                <a:ea typeface="Aptos" pitchFamily="34" charset="-122"/>
                <a:cs typeface="Aptos" pitchFamily="34" charset="-120"/>
              </a:rPr>
              <a:t>A significant result does not prove causation. It reports an association or distributional difference in this observational dataset.</a:t>
            </a:r>
            <a:endParaRPr lang="en-US" sz="10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STATISTICAL RESULTS • ANALYSIS 1</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txBody>
          <a:bodyPr/>
          <a:p/>
        </p:txBody>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Leadership type × formal recognition</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Research question: Is leadership type associated with formal state recognition?</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466344" y="1499616"/>
            <a:ext cx="6793992" cy="4480560"/>
          </a:xfrm>
          <a:prstGeom prst="roundRect">
            <a:avLst>
              <a:gd name="adj" fmla="val 2041"/>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pic>
        <p:nvPicPr>
          <p:cNvPr id="9" name="Image 0" descr="C:\Users\mossa\OneDrive\Documents\مشروع التخرج\docs\chapter4-screenshots\16-analysis-1-leadership-recognition.png">    </p:cNvPr>
          <p:cNvPicPr>
            <a:picLocks noChangeAspect="1"/>
          </p:cNvPicPr>
          <p:nvPr/>
        </p:nvPicPr>
        <p:blipFill>
          <a:blip r:embed="rId1"/>
          <a:stretch>
            <a:fillRect/>
          </a:stretch>
        </p:blipFill>
        <p:spPr>
          <a:xfrm>
            <a:off x="691342" y="1536192"/>
            <a:ext cx="6343996" cy="4407408"/>
          </a:xfrm>
          <a:prstGeom prst="rect">
            <a:avLst/>
          </a:prstGeom>
        </p:spPr>
      </p:pic>
      <p:sp>
        <p:nvSpPr>
          <p:cNvPr id="10" name="Text 6"/>
          <p:cNvSpPr/>
          <p:nvPr/>
        </p:nvSpPr>
        <p:spPr>
          <a:xfrm>
            <a:off x="502920" y="5998464"/>
            <a:ext cx="672084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4.16: Leadership Type and Formal Recognition Result</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479792" y="1783080"/>
          <a:ext cx="4160520" cy="1572768"/>
        </p:xfrm>
        <a:graphic>
          <a:graphicData uri="http://schemas.openxmlformats.org/drawingml/2006/table">
            <a:tbl>
              <a:tblPr/>
              <a:tblGrid>
                <a:gridCol w="1051560"/>
                <a:gridCol w="658368"/>
                <a:gridCol w="384048"/>
                <a:gridCol w="658368"/>
                <a:gridCol w="530352"/>
                <a:gridCol w="877824"/>
              </a:tblGrid>
              <a:tr h="274320">
                <a:tc>
                  <a:txBody>
                    <a:bodyPr/>
                    <a:lstStyle/>
                    <a:p>
                      <a:pPr indent="0" marL="0">
                        <a:buNone/>
                      </a:pPr>
                      <a:r>
                        <a:rPr lang="en-US" sz="900" dirty="0">
                          <a:solidFill>
                            <a:srgbClr val="14251D"/>
                          </a:solidFill>
                          <a:latin typeface="Aptos" pitchFamily="34" charset="0"/>
                          <a:ea typeface="Aptos" pitchFamily="34" charset="-122"/>
                          <a:cs typeface="Aptos" pitchFamily="34" charset="-120"/>
                        </a:rPr>
                        <a:t>Leadership</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χ²</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df</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p</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V</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Strength</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14251D"/>
                          </a:solidFill>
                          <a:latin typeface="Aptos" pitchFamily="34" charset="0"/>
                          <a:ea typeface="Aptos" pitchFamily="34" charset="-122"/>
                          <a:cs typeface="Aptos" pitchFamily="34" charset="-120"/>
                        </a:rPr>
                        <a:t>King</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74.664</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1</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&lt; .001</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0.269</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r>
                        <a:t>Weak</a:t>
                      </a: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14251D"/>
                          </a:solidFill>
                          <a:latin typeface="Aptos" pitchFamily="34" charset="0"/>
                          <a:ea typeface="Aptos" pitchFamily="34" charset="-122"/>
                          <a:cs typeface="Aptos" pitchFamily="34" charset="-120"/>
                        </a:rPr>
                        <a:t>Chief</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53.382</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1</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&lt; .001</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0.227</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r>
                        <a:t>Weak</a:t>
                      </a: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14251D"/>
                          </a:solidFill>
                          <a:latin typeface="Aptos" pitchFamily="34" charset="0"/>
                          <a:ea typeface="Aptos" pitchFamily="34" charset="-122"/>
                          <a:cs typeface="Aptos" pitchFamily="34" charset="-120"/>
                        </a:rPr>
                        <a:t>Headman</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5.043</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1</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 0.025</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900" dirty="0">
                          <a:solidFill>
                            <a:srgbClr val="14251D"/>
                          </a:solidFill>
                          <a:latin typeface="Aptos" pitchFamily="34" charset="0"/>
                          <a:ea typeface="Aptos" pitchFamily="34" charset="-122"/>
                          <a:cs typeface="Aptos" pitchFamily="34" charset="-120"/>
                        </a:rPr>
                        <a:t>0.070</a:t>
                      </a:r>
                      <a:endParaRPr lang="en-US" sz="90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r>
                        <a:t>Weak</a:t>
                      </a: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bl>
          </a:graphicData>
        </a:graphic>
      </p:graphicFrame>
      <p:sp>
        <p:nvSpPr>
          <p:cNvPr id="12" name="Shape 7"/>
          <p:cNvSpPr/>
          <p:nvPr/>
        </p:nvSpPr>
        <p:spPr>
          <a:xfrm>
            <a:off x="7479792" y="3584448"/>
            <a:ext cx="4160520" cy="1920240"/>
          </a:xfrm>
          <a:prstGeom prst="roundRect">
            <a:avLst>
              <a:gd name="adj" fmla="val 4762"/>
            </a:avLst>
          </a:prstGeom>
          <a:solidFill>
            <a:srgbClr val="EAF1EC"/>
          </a:solidFill>
          <a:ln w="8890">
            <a:solidFill>
              <a:srgbClr val="C6D8CD"/>
            </a:solidFill>
            <a:prstDash val="solid"/>
          </a:ln>
          <a:effectLst>
            <a:outerShdw sx="100000" sy="100000" kx="0" ky="0" algn="bl" rotWithShape="0" blurRad="19050" dist="50800" dir="2700000">
              <a:srgbClr val="AAB7AF">
                <a:alpha val="13000"/>
              </a:srgbClr>
            </a:outerShdw>
          </a:effectLst>
        </p:spPr>
        <p:txBody>
          <a:bodyPr/>
          <a:p/>
        </p:txBody>
      </p:sp>
      <p:sp>
        <p:nvSpPr>
          <p:cNvPr id="13" name="Text 8"/>
          <p:cNvSpPr/>
          <p:nvPr/>
        </p:nvSpPr>
        <p:spPr>
          <a:xfrm>
            <a:off x="7754112" y="3840480"/>
            <a:ext cx="1828800" cy="228600"/>
          </a:xfrm>
          <a:prstGeom prst="rect">
            <a:avLst/>
          </a:prstGeom>
          <a:noFill/>
          <a:ln/>
        </p:spPr>
        <p:txBody>
          <a:bodyPr wrap="square" lIns="0" tIns="0" rIns="0" bIns="0" rtlCol="0" anchor="ctr"/>
          <a:lstStyle/>
          <a:p>
            <a:pPr indent="0" marL="0">
              <a:buNone/>
            </a:pPr>
            <a:r>
              <a:rPr lang="en-US" sz="1700" b="1" dirty="0">
                <a:solidFill>
                  <a:srgbClr val="123524"/>
                </a:solidFill>
                <a:latin typeface="Georgia" pitchFamily="34" charset="0"/>
                <a:ea typeface="Georgia" pitchFamily="34" charset="-122"/>
                <a:cs typeface="Georgia" pitchFamily="34" charset="-120"/>
              </a:rPr>
              <a:t>Interpretation</a:t>
            </a:r>
            <a:endParaRPr lang="en-US" sz="1700" dirty="0"/>
          </a:p>
        </p:txBody>
      </p:sp>
      <p:sp>
        <p:nvSpPr>
          <p:cNvPr id="14" name="Text 9"/>
          <p:cNvSpPr/>
          <p:nvPr/>
        </p:nvSpPr>
        <p:spPr>
          <a:xfrm>
            <a:off x="7726680" y="4251960"/>
            <a:ext cx="3520440" cy="841248"/>
          </a:xfrm>
          <a:prstGeom prst="rect">
            <a:avLst/>
          </a:prstGeom>
          <a:noFill/>
          <a:ln/>
        </p:spPr>
        <p:txBody>
          <a:bodyPr wrap="square" lIns="0" tIns="0" rIns="0" bIns="0" rtlCol="0" anchor="ctr">
            <a:normAutofit/>
          </a:bodyPr>
          <a:lstStyle/>
          <a:p>
            <a:pPr indent="0" marL="0">
              <a:buNone/>
            </a:pPr>
            <a:r>
              <a:rPr lang="en-US" sz="1200" dirty="0">
                <a:solidFill>
                  <a:srgbClr val="14251D"/>
                </a:solidFill>
              </a:rPr>
              <a:t>All three leadership indicators are associated with recognition. The King and Chief effects are weak; the Headman effect is very weak. These results do not show that a leadership title causes recognition.</a:t>
            </a:r>
            <a:endParaRPr lang="en-US" sz="120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STATISTICAL RESULTS • ANALYSIS 2</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txBody>
          <a:bodyPr/>
          <a:p/>
        </p:txBody>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Leadership type × governance functions</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Nine Chi-Square tests examine Land, Security, and Healing responsibilities.</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466344" y="1517904"/>
            <a:ext cx="5788152" cy="4507992"/>
          </a:xfrm>
          <a:prstGeom prst="roundRect">
            <a:avLst>
              <a:gd name="adj" fmla="val 2028"/>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pic>
        <p:nvPicPr>
          <p:cNvPr id="9" name="Image 0" descr="C:\Users\mossa\OneDrive\Documents\مشروع التخرج\docs\chapter4-screenshots\17-analysis-2-leadership-functions.png">    </p:cNvPr>
          <p:cNvPicPr>
            <a:picLocks noChangeAspect="1"/>
          </p:cNvPicPr>
          <p:nvPr/>
        </p:nvPicPr>
        <p:blipFill>
          <a:blip r:embed="rId1"/>
          <a:stretch>
            <a:fillRect/>
          </a:stretch>
        </p:blipFill>
        <p:spPr>
          <a:xfrm>
            <a:off x="502920" y="1786689"/>
            <a:ext cx="5715000" cy="3970421"/>
          </a:xfrm>
          <a:prstGeom prst="rect">
            <a:avLst/>
          </a:prstGeom>
        </p:spPr>
      </p:pic>
      <p:sp>
        <p:nvSpPr>
          <p:cNvPr id="10" name="Text 6"/>
          <p:cNvSpPr/>
          <p:nvPr/>
        </p:nvSpPr>
        <p:spPr>
          <a:xfrm>
            <a:off x="502920" y="6044184"/>
            <a:ext cx="571500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4.17: Leadership and Governance Functions Interface</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46520" y="1609344"/>
          <a:ext cx="5166360" cy="4187952"/>
        </p:xfrm>
        <a:graphic>
          <a:graphicData uri="http://schemas.openxmlformats.org/drawingml/2006/table">
            <a:tbl>
              <a:tblPr/>
              <a:tblGrid>
                <a:gridCol w="2057400"/>
                <a:gridCol w="685800"/>
                <a:gridCol w="713232"/>
                <a:gridCol w="640080"/>
                <a:gridCol w="713232"/>
              </a:tblGrid>
              <a:tr h="274320">
                <a:tc>
                  <a:txBody>
                    <a:bodyPr/>
                    <a:lstStyle/>
                    <a:p>
                      <a:pPr indent="0" marL="0">
                        <a:buNone/>
                      </a:pPr>
                      <a:r>
                        <a:rPr lang="en-US" sz="810" dirty="0">
                          <a:solidFill>
                            <a:srgbClr val="14251D"/>
                          </a:solidFill>
                          <a:latin typeface="Aptos" pitchFamily="34" charset="0"/>
                          <a:ea typeface="Aptos" pitchFamily="34" charset="-122"/>
                          <a:cs typeface="Aptos" pitchFamily="34" charset="-120"/>
                        </a:rPr>
                        <a:t>Relationship</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χ²</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p</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V</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N</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10" dirty="0">
                          <a:solidFill>
                            <a:srgbClr val="14251D"/>
                          </a:solidFill>
                          <a:latin typeface="Aptos" pitchFamily="34" charset="0"/>
                          <a:ea typeface="Aptos" pitchFamily="34" charset="-122"/>
                          <a:cs typeface="Aptos" pitchFamily="34" charset="-120"/>
                        </a:rPr>
                        <a:t>King–Land</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44.047</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&lt; .001</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0.197</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1,139</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10" dirty="0">
                          <a:solidFill>
                            <a:srgbClr val="14251D"/>
                          </a:solidFill>
                          <a:latin typeface="Aptos" pitchFamily="34" charset="0"/>
                          <a:ea typeface="Aptos" pitchFamily="34" charset="-122"/>
                          <a:cs typeface="Aptos" pitchFamily="34" charset="-120"/>
                        </a:rPr>
                        <a:t>King–Security</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22.205</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&lt; .001</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0.140</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1,139</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10" dirty="0">
                          <a:solidFill>
                            <a:srgbClr val="14251D"/>
                          </a:solidFill>
                          <a:latin typeface="Aptos" pitchFamily="34" charset="0"/>
                          <a:ea typeface="Aptos" pitchFamily="34" charset="-122"/>
                          <a:cs typeface="Aptos" pitchFamily="34" charset="-120"/>
                        </a:rPr>
                        <a:t>King–Healing</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N/A</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N/A</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N/A</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306</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10" dirty="0">
                          <a:solidFill>
                            <a:srgbClr val="14251D"/>
                          </a:solidFill>
                          <a:latin typeface="Aptos" pitchFamily="34" charset="0"/>
                          <a:ea typeface="Aptos" pitchFamily="34" charset="-122"/>
                          <a:cs typeface="Aptos" pitchFamily="34" charset="-120"/>
                        </a:rPr>
                        <a:t>Chief–Land</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64.975</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&lt; .001</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0.239</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1,139</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10" dirty="0">
                          <a:solidFill>
                            <a:srgbClr val="14251D"/>
                          </a:solidFill>
                          <a:latin typeface="Aptos" pitchFamily="34" charset="0"/>
                          <a:ea typeface="Aptos" pitchFamily="34" charset="-122"/>
                          <a:cs typeface="Aptos" pitchFamily="34" charset="-120"/>
                        </a:rPr>
                        <a:t>Chief–Security</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49.478</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&lt; .001</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0.208</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1,139</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10" dirty="0">
                          <a:solidFill>
                            <a:srgbClr val="14251D"/>
                          </a:solidFill>
                          <a:latin typeface="Aptos" pitchFamily="34" charset="0"/>
                          <a:ea typeface="Aptos" pitchFamily="34" charset="-122"/>
                          <a:cs typeface="Aptos" pitchFamily="34" charset="-120"/>
                        </a:rPr>
                        <a:t>Chief–Healing</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4.436</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 0.035</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0.120</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306</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10" dirty="0">
                          <a:solidFill>
                            <a:srgbClr val="14251D"/>
                          </a:solidFill>
                          <a:latin typeface="Aptos" pitchFamily="34" charset="0"/>
                          <a:ea typeface="Aptos" pitchFamily="34" charset="-122"/>
                          <a:cs typeface="Aptos" pitchFamily="34" charset="-120"/>
                        </a:rPr>
                        <a:t>Headman–Land</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10.048</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 0.002</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0.094</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1,139</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10" dirty="0">
                          <a:solidFill>
                            <a:srgbClr val="14251D"/>
                          </a:solidFill>
                          <a:latin typeface="Aptos" pitchFamily="34" charset="0"/>
                          <a:ea typeface="Aptos" pitchFamily="34" charset="-122"/>
                          <a:cs typeface="Aptos" pitchFamily="34" charset="-120"/>
                        </a:rPr>
                        <a:t>Headman–Security</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14.234</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&lt; .001</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0.112</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1,139</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10" dirty="0">
                          <a:solidFill>
                            <a:srgbClr val="14251D"/>
                          </a:solidFill>
                          <a:latin typeface="Aptos" pitchFamily="34" charset="0"/>
                          <a:ea typeface="Aptos" pitchFamily="34" charset="-122"/>
                          <a:cs typeface="Aptos" pitchFamily="34" charset="-120"/>
                        </a:rPr>
                        <a:t>Headman–Healing</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0.018</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 0.894</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0.008</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10" dirty="0">
                          <a:solidFill>
                            <a:srgbClr val="14251D"/>
                          </a:solidFill>
                          <a:latin typeface="Aptos" pitchFamily="34" charset="0"/>
                          <a:ea typeface="Aptos" pitchFamily="34" charset="-122"/>
                          <a:cs typeface="Aptos" pitchFamily="34" charset="-120"/>
                        </a:rPr>
                        <a:t>306</a:t>
                      </a:r>
                      <a:endParaRPr lang="en-US" sz="81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bl>
          </a:graphicData>
        </a:graphic>
      </p:graphicFrame>
      <p:sp>
        <p:nvSpPr>
          <p:cNvPr id="12" name="Shape 7"/>
          <p:cNvSpPr/>
          <p:nvPr/>
        </p:nvSpPr>
        <p:spPr>
          <a:xfrm>
            <a:off x="6565392" y="5870448"/>
            <a:ext cx="4919472" cy="438912"/>
          </a:xfrm>
          <a:prstGeom prst="roundRect">
            <a:avLst/>
          </a:prstGeom>
          <a:solidFill>
            <a:srgbClr val="F6EEDC"/>
          </a:solidFill>
          <a:ln w="10160">
            <a:solidFill>
              <a:srgbClr val="C8A96A"/>
            </a:solidFill>
            <a:prstDash val="solid"/>
          </a:ln>
        </p:spPr>
        <p:txBody>
          <a:bodyPr/>
          <a:p/>
        </p:txBody>
      </p:sp>
      <p:sp>
        <p:nvSpPr>
          <p:cNvPr id="13" name="Text 8"/>
          <p:cNvSpPr/>
          <p:nvPr/>
        </p:nvSpPr>
        <p:spPr>
          <a:xfrm>
            <a:off x="6720840" y="5971032"/>
            <a:ext cx="4608576" cy="201168"/>
          </a:xfrm>
          <a:prstGeom prst="rect">
            <a:avLst/>
          </a:prstGeom>
          <a:noFill/>
          <a:ln/>
        </p:spPr>
        <p:txBody>
          <a:bodyPr wrap="square" lIns="0" tIns="0" rIns="0" bIns="0" rtlCol="0" anchor="ctr">
            <a:normAutofit/>
          </a:bodyPr>
          <a:lstStyle/>
          <a:p>
            <a:pPr indent="0" marL="0">
              <a:buNone/>
            </a:pPr>
            <a:r>
              <a:rPr lang="en-US" sz="1050" b="1" dirty="0">
                <a:solidFill>
                  <a:srgbClr val="14251D"/>
                </a:solidFill>
                <a:latin typeface="Aptos" pitchFamily="34" charset="0"/>
                <a:ea typeface="Aptos" pitchFamily="34" charset="-122"/>
                <a:cs typeface="Aptos" pitchFamily="34" charset="-120"/>
              </a:rPr>
              <a:t>Strongest observed relationship: Chief × Land Administration, V = .239 (weak).</a:t>
            </a:r>
            <a:endParaRPr lang="en-US" sz="10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STATISTICAL RESULTS • ANALYSIS 3</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txBody>
          <a:bodyPr/>
          <a:p/>
        </p:txBody>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Group population size × formal recognition</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Non-normal population distributions required a Mann–Whitney U test.</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466344" y="1499616"/>
            <a:ext cx="6702552" cy="4535424"/>
          </a:xfrm>
          <a:prstGeom prst="roundRect">
            <a:avLst>
              <a:gd name="adj" fmla="val 2016"/>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pic>
        <p:nvPicPr>
          <p:cNvPr id="9" name="Image 0" descr="C:\Users\mossa\OneDrive\Documents\مشروع التخرج\docs\chapter4-screenshots\19-analysis-3-result.png">    </p:cNvPr>
          <p:cNvPicPr>
            <a:picLocks noChangeAspect="1"/>
          </p:cNvPicPr>
          <p:nvPr/>
        </p:nvPicPr>
        <p:blipFill>
          <a:blip r:embed="rId1"/>
          <a:stretch>
            <a:fillRect/>
          </a:stretch>
        </p:blipFill>
        <p:spPr>
          <a:xfrm>
            <a:off x="606136" y="1536192"/>
            <a:ext cx="6422967" cy="4462272"/>
          </a:xfrm>
          <a:prstGeom prst="rect">
            <a:avLst/>
          </a:prstGeom>
        </p:spPr>
      </p:pic>
      <p:sp>
        <p:nvSpPr>
          <p:cNvPr id="10" name="Text 6"/>
          <p:cNvSpPr/>
          <p:nvPr/>
        </p:nvSpPr>
        <p:spPr>
          <a:xfrm>
            <a:off x="502920" y="6053328"/>
            <a:ext cx="662940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4.18: Population Size and Formal Recognition Result</a:t>
            </a:r>
            <a:endParaRPr lang="en-US" sz="900" dirty="0"/>
          </a:p>
        </p:txBody>
      </p:sp>
      <p:sp>
        <p:nvSpPr>
          <p:cNvPr id="11" name="Shape 7"/>
          <p:cNvSpPr/>
          <p:nvPr/>
        </p:nvSpPr>
        <p:spPr>
          <a:xfrm>
            <a:off x="7406640" y="1700784"/>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12" name="Shape 8"/>
          <p:cNvSpPr/>
          <p:nvPr/>
        </p:nvSpPr>
        <p:spPr>
          <a:xfrm>
            <a:off x="7406640" y="1700784"/>
            <a:ext cx="54864" cy="777240"/>
          </a:xfrm>
          <a:prstGeom prst="rect">
            <a:avLst/>
          </a:prstGeom>
          <a:solidFill>
            <a:srgbClr val="123524"/>
          </a:solidFill>
          <a:ln w="12700">
            <a:solidFill>
              <a:srgbClr val="123524"/>
            </a:solidFill>
            <a:prstDash val="solid"/>
          </a:ln>
        </p:spPr>
        <p:txBody>
          <a:bodyPr/>
          <a:p/>
        </p:txBody>
      </p:sp>
      <p:sp>
        <p:nvSpPr>
          <p:cNvPr id="13" name="Text 9"/>
          <p:cNvSpPr/>
          <p:nvPr/>
        </p:nvSpPr>
        <p:spPr>
          <a:xfrm>
            <a:off x="7571232" y="1819656"/>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TEST</a:t>
            </a:r>
            <a:endParaRPr lang="en-US" sz="780" dirty="0"/>
          </a:p>
        </p:txBody>
      </p:sp>
      <p:sp>
        <p:nvSpPr>
          <p:cNvPr id="14" name="Text 10"/>
          <p:cNvSpPr/>
          <p:nvPr/>
        </p:nvSpPr>
        <p:spPr>
          <a:xfrm>
            <a:off x="7571232" y="2020824"/>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Mann–Whitney U</a:t>
            </a:r>
            <a:endParaRPr lang="en-US" sz="1800" dirty="0"/>
          </a:p>
        </p:txBody>
      </p:sp>
      <p:sp>
        <p:nvSpPr>
          <p:cNvPr id="15" name="Shape 11"/>
          <p:cNvSpPr/>
          <p:nvPr/>
        </p:nvSpPr>
        <p:spPr>
          <a:xfrm>
            <a:off x="9555480" y="1700784"/>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16" name="Shape 12"/>
          <p:cNvSpPr/>
          <p:nvPr/>
        </p:nvSpPr>
        <p:spPr>
          <a:xfrm>
            <a:off x="9555480" y="1700784"/>
            <a:ext cx="54864" cy="777240"/>
          </a:xfrm>
          <a:prstGeom prst="rect">
            <a:avLst/>
          </a:prstGeom>
          <a:solidFill>
            <a:srgbClr val="C8A96A"/>
          </a:solidFill>
          <a:ln w="12700">
            <a:solidFill>
              <a:srgbClr val="C8A96A"/>
            </a:solidFill>
            <a:prstDash val="solid"/>
          </a:ln>
        </p:spPr>
        <p:txBody>
          <a:bodyPr/>
          <a:p/>
        </p:txBody>
      </p:sp>
      <p:sp>
        <p:nvSpPr>
          <p:cNvPr id="17" name="Text 13"/>
          <p:cNvSpPr/>
          <p:nvPr/>
        </p:nvSpPr>
        <p:spPr>
          <a:xfrm>
            <a:off x="9720072" y="1819656"/>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SAMPLE</a:t>
            </a:r>
            <a:endParaRPr lang="en-US" sz="780" dirty="0"/>
          </a:p>
        </p:txBody>
      </p:sp>
      <p:sp>
        <p:nvSpPr>
          <p:cNvPr id="18" name="Text 14"/>
          <p:cNvSpPr/>
          <p:nvPr/>
        </p:nvSpPr>
        <p:spPr>
          <a:xfrm>
            <a:off x="9720072" y="2020824"/>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907</a:t>
            </a:r>
            <a:endParaRPr lang="en-US" sz="1800" dirty="0"/>
          </a:p>
        </p:txBody>
      </p:sp>
      <p:sp>
        <p:nvSpPr>
          <p:cNvPr id="19" name="Shape 15"/>
          <p:cNvSpPr/>
          <p:nvPr/>
        </p:nvSpPr>
        <p:spPr>
          <a:xfrm>
            <a:off x="7406640" y="2724912"/>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20" name="Shape 16"/>
          <p:cNvSpPr/>
          <p:nvPr/>
        </p:nvSpPr>
        <p:spPr>
          <a:xfrm>
            <a:off x="7406640" y="2724912"/>
            <a:ext cx="54864" cy="777240"/>
          </a:xfrm>
          <a:prstGeom prst="rect">
            <a:avLst/>
          </a:prstGeom>
          <a:solidFill>
            <a:srgbClr val="123524"/>
          </a:solidFill>
          <a:ln w="12700">
            <a:solidFill>
              <a:srgbClr val="123524"/>
            </a:solidFill>
            <a:prstDash val="solid"/>
          </a:ln>
        </p:spPr>
        <p:txBody>
          <a:bodyPr/>
          <a:p/>
        </p:txBody>
      </p:sp>
      <p:sp>
        <p:nvSpPr>
          <p:cNvPr id="21" name="Text 17"/>
          <p:cNvSpPr/>
          <p:nvPr/>
        </p:nvSpPr>
        <p:spPr>
          <a:xfrm>
            <a:off x="7571232" y="2843784"/>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U STATISTIC</a:t>
            </a:r>
            <a:endParaRPr lang="en-US" sz="780" dirty="0"/>
          </a:p>
        </p:txBody>
      </p:sp>
      <p:sp>
        <p:nvSpPr>
          <p:cNvPr id="22" name="Text 18"/>
          <p:cNvSpPr/>
          <p:nvPr/>
        </p:nvSpPr>
        <p:spPr>
          <a:xfrm>
            <a:off x="7571232" y="3044952"/>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97,855.5</a:t>
            </a:r>
            <a:endParaRPr lang="en-US" sz="1800" dirty="0"/>
          </a:p>
        </p:txBody>
      </p:sp>
      <p:sp>
        <p:nvSpPr>
          <p:cNvPr id="23" name="Shape 19"/>
          <p:cNvSpPr/>
          <p:nvPr/>
        </p:nvSpPr>
        <p:spPr>
          <a:xfrm>
            <a:off x="9555480" y="2724912"/>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24" name="Shape 20"/>
          <p:cNvSpPr/>
          <p:nvPr/>
        </p:nvSpPr>
        <p:spPr>
          <a:xfrm>
            <a:off x="9555480" y="2724912"/>
            <a:ext cx="54864" cy="777240"/>
          </a:xfrm>
          <a:prstGeom prst="rect">
            <a:avLst/>
          </a:prstGeom>
          <a:solidFill>
            <a:srgbClr val="C8A96A"/>
          </a:solidFill>
          <a:ln w="12700">
            <a:solidFill>
              <a:srgbClr val="C8A96A"/>
            </a:solidFill>
            <a:prstDash val="solid"/>
          </a:ln>
        </p:spPr>
        <p:txBody>
          <a:bodyPr/>
          <a:p/>
        </p:txBody>
      </p:sp>
      <p:sp>
        <p:nvSpPr>
          <p:cNvPr id="25" name="Text 21"/>
          <p:cNvSpPr/>
          <p:nvPr/>
        </p:nvSpPr>
        <p:spPr>
          <a:xfrm>
            <a:off x="9720072" y="2843784"/>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P-VALUE</a:t>
            </a:r>
            <a:endParaRPr lang="en-US" sz="780" dirty="0"/>
          </a:p>
        </p:txBody>
      </p:sp>
      <p:sp>
        <p:nvSpPr>
          <p:cNvPr id="26" name="Text 22"/>
          <p:cNvSpPr/>
          <p:nvPr/>
        </p:nvSpPr>
        <p:spPr>
          <a:xfrm>
            <a:off x="9720072" y="3044952"/>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&lt; .001</a:t>
            </a:r>
            <a:endParaRPr lang="en-US" sz="1800" dirty="0"/>
          </a:p>
        </p:txBody>
      </p:sp>
      <p:sp>
        <p:nvSpPr>
          <p:cNvPr id="27" name="Shape 23"/>
          <p:cNvSpPr/>
          <p:nvPr/>
        </p:nvSpPr>
        <p:spPr>
          <a:xfrm>
            <a:off x="7406640" y="3749040"/>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28" name="Shape 24"/>
          <p:cNvSpPr/>
          <p:nvPr/>
        </p:nvSpPr>
        <p:spPr>
          <a:xfrm>
            <a:off x="7406640" y="3749040"/>
            <a:ext cx="54864" cy="777240"/>
          </a:xfrm>
          <a:prstGeom prst="rect">
            <a:avLst/>
          </a:prstGeom>
          <a:solidFill>
            <a:srgbClr val="123524"/>
          </a:solidFill>
          <a:ln w="12700">
            <a:solidFill>
              <a:srgbClr val="123524"/>
            </a:solidFill>
            <a:prstDash val="solid"/>
          </a:ln>
        </p:spPr>
        <p:txBody>
          <a:bodyPr/>
          <a:p/>
        </p:txBody>
      </p:sp>
      <p:sp>
        <p:nvSpPr>
          <p:cNvPr id="29" name="Text 25"/>
          <p:cNvSpPr/>
          <p:nvPr/>
        </p:nvSpPr>
        <p:spPr>
          <a:xfrm>
            <a:off x="7571232" y="3867912"/>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EFFECT</a:t>
            </a:r>
            <a:endParaRPr lang="en-US" sz="780" dirty="0"/>
          </a:p>
        </p:txBody>
      </p:sp>
      <p:sp>
        <p:nvSpPr>
          <p:cNvPr id="30" name="Text 26"/>
          <p:cNvSpPr/>
          <p:nvPr/>
        </p:nvSpPr>
        <p:spPr>
          <a:xfrm>
            <a:off x="7571232" y="4069080"/>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0.120</a:t>
            </a:r>
            <a:endParaRPr lang="en-US" sz="1800" dirty="0"/>
          </a:p>
        </p:txBody>
      </p:sp>
      <p:sp>
        <p:nvSpPr>
          <p:cNvPr id="31" name="Shape 27"/>
          <p:cNvSpPr/>
          <p:nvPr/>
        </p:nvSpPr>
        <p:spPr>
          <a:xfrm>
            <a:off x="9555480" y="3749040"/>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32" name="Shape 28"/>
          <p:cNvSpPr/>
          <p:nvPr/>
        </p:nvSpPr>
        <p:spPr>
          <a:xfrm>
            <a:off x="9555480" y="3749040"/>
            <a:ext cx="54864" cy="777240"/>
          </a:xfrm>
          <a:prstGeom prst="rect">
            <a:avLst/>
          </a:prstGeom>
          <a:solidFill>
            <a:srgbClr val="C8A96A"/>
          </a:solidFill>
          <a:ln w="12700">
            <a:solidFill>
              <a:srgbClr val="C8A96A"/>
            </a:solidFill>
            <a:prstDash val="solid"/>
          </a:ln>
        </p:spPr>
        <p:txBody>
          <a:bodyPr/>
          <a:p/>
        </p:txBody>
      </p:sp>
      <p:sp>
        <p:nvSpPr>
          <p:cNvPr id="33" name="Text 29"/>
          <p:cNvSpPr/>
          <p:nvPr/>
        </p:nvSpPr>
        <p:spPr>
          <a:xfrm>
            <a:off x="9720072" y="3867912"/>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STRENGTH</a:t>
            </a:r>
            <a:endParaRPr lang="en-US" sz="780" dirty="0"/>
          </a:p>
        </p:txBody>
      </p:sp>
      <p:sp>
        <p:nvSpPr>
          <p:cNvPr id="34" name="Text 30"/>
          <p:cNvSpPr/>
          <p:nvPr/>
        </p:nvSpPr>
        <p:spPr>
          <a:xfrm>
            <a:off x="9720072" y="4069080"/>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small</a:t>
            </a:r>
            <a:endParaRPr lang="en-US" sz="1800" dirty="0"/>
          </a:p>
        </p:txBody>
      </p:sp>
      <p:sp>
        <p:nvSpPr>
          <p:cNvPr id="35" name="Shape 31"/>
          <p:cNvSpPr/>
          <p:nvPr/>
        </p:nvSpPr>
        <p:spPr>
          <a:xfrm>
            <a:off x="7406640" y="4800600"/>
            <a:ext cx="4069080" cy="1005840"/>
          </a:xfrm>
          <a:prstGeom prst="roundRect">
            <a:avLst>
              <a:gd name="adj" fmla="val 9091"/>
            </a:avLst>
          </a:prstGeom>
          <a:solidFill>
            <a:srgbClr val="EAF1EC"/>
          </a:solidFill>
          <a:ln w="8890">
            <a:solidFill>
              <a:srgbClr val="C6D8CD"/>
            </a:solidFill>
            <a:prstDash val="solid"/>
          </a:ln>
          <a:effectLst>
            <a:outerShdw sx="100000" sy="100000" kx="0" ky="0" algn="bl" rotWithShape="0" blurRad="19050" dist="50800" dir="2700000">
              <a:srgbClr val="AAB7AF">
                <a:alpha val="13000"/>
              </a:srgbClr>
            </a:outerShdw>
          </a:effectLst>
        </p:spPr>
        <p:txBody>
          <a:bodyPr/>
          <a:p/>
        </p:txBody>
      </p:sp>
      <p:sp>
        <p:nvSpPr>
          <p:cNvPr id="36" name="Text 32"/>
          <p:cNvSpPr/>
          <p:nvPr/>
        </p:nvSpPr>
        <p:spPr>
          <a:xfrm>
            <a:off x="7635240" y="5001768"/>
            <a:ext cx="731520" cy="164592"/>
          </a:xfrm>
          <a:prstGeom prst="rect">
            <a:avLst/>
          </a:prstGeom>
          <a:noFill/>
          <a:ln/>
        </p:spPr>
        <p:txBody>
          <a:bodyPr wrap="square" lIns="0" tIns="0" rIns="0" bIns="0" rtlCol="0" anchor="ctr"/>
          <a:lstStyle/>
          <a:p>
            <a:pPr indent="0" marL="0">
              <a:buNone/>
            </a:pPr>
            <a:r>
              <a:rPr lang="en-US" sz="900" b="1" dirty="0">
                <a:solidFill>
                  <a:srgbClr val="123524"/>
                </a:solidFill>
              </a:rPr>
              <a:t>Finding</a:t>
            </a:r>
            <a:endParaRPr lang="en-US" sz="900" dirty="0"/>
          </a:p>
        </p:txBody>
      </p:sp>
      <p:sp>
        <p:nvSpPr>
          <p:cNvPr id="37" name="Text 33"/>
          <p:cNvSpPr/>
          <p:nvPr/>
        </p:nvSpPr>
        <p:spPr>
          <a:xfrm>
            <a:off x="7635240" y="5257800"/>
            <a:ext cx="3611880" cy="320040"/>
          </a:xfrm>
          <a:prstGeom prst="rect">
            <a:avLst/>
          </a:prstGeom>
          <a:noFill/>
          <a:ln/>
        </p:spPr>
        <p:txBody>
          <a:bodyPr wrap="square" lIns="0" tIns="0" rIns="0" bIns="0" rtlCol="0" anchor="ctr">
            <a:normAutofit/>
          </a:bodyPr>
          <a:lstStyle/>
          <a:p>
            <a:pPr indent="0" marL="0">
              <a:buNone/>
            </a:pPr>
            <a:r>
              <a:rPr lang="en-US" sz="1120" b="1" dirty="0">
                <a:solidFill>
                  <a:srgbClr val="14251D"/>
                </a:solidFill>
              </a:rPr>
              <a:t>Significant difference; recognized groups tend to rank higher in population, but the effect is small.</a:t>
            </a:r>
            <a:endParaRPr lang="en-US" sz="112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STATISTICAL RESULTS • ANALYSIS 4</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txBody>
          <a:bodyPr/>
          <a:p/>
        </p:txBody>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Group population size × governance functions</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Three Mann–Whitney tests compare function-present and function-absent groups.</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466344" y="1517904"/>
            <a:ext cx="6016752" cy="4498848"/>
          </a:xfrm>
          <a:prstGeom prst="roundRect">
            <a:avLst>
              <a:gd name="adj" fmla="val 2033"/>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pic>
        <p:nvPicPr>
          <p:cNvPr id="9" name="Image 0" descr="C:\Users\mossa\OneDrive\Documents\مشروع التخرج\docs\chapter4-screenshots\21-analysis-4-results.png">    </p:cNvPr>
          <p:cNvPicPr>
            <a:picLocks noChangeAspect="1"/>
          </p:cNvPicPr>
          <p:nvPr/>
        </p:nvPicPr>
        <p:blipFill>
          <a:blip r:embed="rId1"/>
          <a:stretch>
            <a:fillRect/>
          </a:stretch>
        </p:blipFill>
        <p:spPr>
          <a:xfrm>
            <a:off x="502920" y="1702709"/>
            <a:ext cx="5943600" cy="4129238"/>
          </a:xfrm>
          <a:prstGeom prst="rect">
            <a:avLst/>
          </a:prstGeom>
        </p:spPr>
      </p:pic>
      <p:sp>
        <p:nvSpPr>
          <p:cNvPr id="10" name="Text 6"/>
          <p:cNvSpPr/>
          <p:nvPr/>
        </p:nvSpPr>
        <p:spPr>
          <a:xfrm>
            <a:off x="502920" y="6035040"/>
            <a:ext cx="594360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4.19: Population Size and Governance Functions Results</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56832" y="1828800"/>
          <a:ext cx="4892040" cy="1682496"/>
        </p:xfrm>
        <a:graphic>
          <a:graphicData uri="http://schemas.openxmlformats.org/drawingml/2006/table">
            <a:tbl>
              <a:tblPr/>
              <a:tblGrid>
                <a:gridCol w="1097280"/>
                <a:gridCol w="822960"/>
                <a:gridCol w="777240"/>
                <a:gridCol w="640080"/>
                <a:gridCol w="640080"/>
                <a:gridCol w="914400"/>
              </a:tblGrid>
              <a:tr h="274320">
                <a:tc>
                  <a:txBody>
                    <a:bodyPr/>
                    <a:lstStyle/>
                    <a:p>
                      <a:pPr indent="0" marL="0">
                        <a:buNone/>
                      </a:pPr>
                      <a:r>
                        <a:rPr lang="en-US" sz="880" dirty="0">
                          <a:solidFill>
                            <a:srgbClr val="14251D"/>
                          </a:solidFill>
                          <a:latin typeface="Aptos" pitchFamily="34" charset="0"/>
                          <a:ea typeface="Aptos" pitchFamily="34" charset="-122"/>
                          <a:cs typeface="Aptos" pitchFamily="34" charset="-120"/>
                        </a:rPr>
                        <a:t>Function</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U</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p</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Effect</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N</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Finding</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80" dirty="0">
                          <a:solidFill>
                            <a:srgbClr val="14251D"/>
                          </a:solidFill>
                          <a:latin typeface="Aptos" pitchFamily="34" charset="0"/>
                          <a:ea typeface="Aptos" pitchFamily="34" charset="-122"/>
                          <a:cs typeface="Aptos" pitchFamily="34" charset="-120"/>
                        </a:rPr>
                        <a:t>Land Administration</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110,623</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 0.006</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0.088</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993</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Significant</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80" dirty="0">
                          <a:solidFill>
                            <a:srgbClr val="14251D"/>
                          </a:solidFill>
                          <a:latin typeface="Aptos" pitchFamily="34" charset="0"/>
                          <a:ea typeface="Aptos" pitchFamily="34" charset="-122"/>
                          <a:cs typeface="Aptos" pitchFamily="34" charset="-120"/>
                        </a:rPr>
                        <a:t>Security</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128,801.5</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 0.003</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0.096</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993</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Significant</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80" dirty="0">
                          <a:solidFill>
                            <a:srgbClr val="14251D"/>
                          </a:solidFill>
                          <a:latin typeface="Aptos" pitchFamily="34" charset="0"/>
                          <a:ea typeface="Aptos" pitchFamily="34" charset="-122"/>
                          <a:cs typeface="Aptos" pitchFamily="34" charset="-120"/>
                        </a:rPr>
                        <a:t>Healing</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2,259.5</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 0.882</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0.010</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252</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80" dirty="0">
                          <a:solidFill>
                            <a:srgbClr val="14251D"/>
                          </a:solidFill>
                          <a:latin typeface="Aptos" pitchFamily="34" charset="0"/>
                          <a:ea typeface="Aptos" pitchFamily="34" charset="-122"/>
                          <a:cs typeface="Aptos" pitchFamily="34" charset="-120"/>
                        </a:rPr>
                        <a:t>Not significant</a:t>
                      </a:r>
                      <a:endParaRPr lang="en-US" sz="88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bl>
          </a:graphicData>
        </a:graphic>
      </p:graphicFrame>
      <p:sp>
        <p:nvSpPr>
          <p:cNvPr id="12" name="Shape 7"/>
          <p:cNvSpPr/>
          <p:nvPr/>
        </p:nvSpPr>
        <p:spPr>
          <a:xfrm>
            <a:off x="6656832" y="3767328"/>
            <a:ext cx="4892040" cy="1755648"/>
          </a:xfrm>
          <a:prstGeom prst="roundRect">
            <a:avLst>
              <a:gd name="adj" fmla="val 5208"/>
            </a:avLst>
          </a:prstGeom>
          <a:solidFill>
            <a:srgbClr val="F6EEDC"/>
          </a:solidFill>
          <a:ln w="8890">
            <a:solidFill>
              <a:srgbClr val="E0C88F"/>
            </a:solidFill>
            <a:prstDash val="solid"/>
          </a:ln>
          <a:effectLst>
            <a:outerShdw sx="100000" sy="100000" kx="0" ky="0" algn="bl" rotWithShape="0" blurRad="19050" dist="50800" dir="2700000">
              <a:srgbClr val="AAB7AF">
                <a:alpha val="13000"/>
              </a:srgbClr>
            </a:outerShdw>
          </a:effectLst>
        </p:spPr>
        <p:txBody>
          <a:bodyPr/>
          <a:p/>
        </p:txBody>
      </p:sp>
      <p:sp>
        <p:nvSpPr>
          <p:cNvPr id="13" name="Text 8"/>
          <p:cNvSpPr/>
          <p:nvPr/>
        </p:nvSpPr>
        <p:spPr>
          <a:xfrm>
            <a:off x="6912864" y="4005072"/>
            <a:ext cx="1828800" cy="228600"/>
          </a:xfrm>
          <a:prstGeom prst="rect">
            <a:avLst/>
          </a:prstGeom>
          <a:noFill/>
          <a:ln/>
        </p:spPr>
        <p:txBody>
          <a:bodyPr wrap="square" lIns="0" tIns="0" rIns="0" bIns="0" rtlCol="0" anchor="ctr"/>
          <a:lstStyle/>
          <a:p>
            <a:pPr indent="0" marL="0">
              <a:buNone/>
            </a:pPr>
            <a:r>
              <a:rPr lang="en-US" sz="1700" b="1" dirty="0">
                <a:solidFill>
                  <a:srgbClr val="123524"/>
                </a:solidFill>
                <a:latin typeface="Georgia" pitchFamily="34" charset="0"/>
                <a:ea typeface="Georgia" pitchFamily="34" charset="-122"/>
                <a:cs typeface="Georgia" pitchFamily="34" charset="-120"/>
              </a:rPr>
              <a:t>Interpretation</a:t>
            </a:r>
            <a:endParaRPr lang="en-US" sz="1700" dirty="0"/>
          </a:p>
        </p:txBody>
      </p:sp>
      <p:sp>
        <p:nvSpPr>
          <p:cNvPr id="14" name="Text 9"/>
          <p:cNvSpPr/>
          <p:nvPr/>
        </p:nvSpPr>
        <p:spPr>
          <a:xfrm>
            <a:off x="6885432" y="4361688"/>
            <a:ext cx="4251960" cy="868680"/>
          </a:xfrm>
          <a:prstGeom prst="rect">
            <a:avLst/>
          </a:prstGeom>
          <a:noFill/>
          <a:ln/>
        </p:spPr>
        <p:txBody>
          <a:bodyPr wrap="square" lIns="25400" tIns="25400" rIns="25400" bIns="25400" rtlCol="0" anchor="ctr">
            <a:normAutofit/>
          </a:bodyPr>
          <a:lstStyle/>
          <a:p>
            <a:pPr marL="177800" indent="-177800">
              <a:buSzPct val="100000"/>
              <a:buChar char="•"/>
            </a:pPr>
            <a:r>
              <a:rPr lang="en-US" sz="1120" dirty="0">
                <a:solidFill>
                  <a:srgbClr val="14251D"/>
                </a:solidFill>
                <a:latin typeface="Aptos" pitchFamily="34" charset="0"/>
                <a:ea typeface="Aptos" pitchFamily="34" charset="-122"/>
                <a:cs typeface="Aptos" pitchFamily="34" charset="-120"/>
              </a:rPr>
              <a:t>Land and Security: significant, negligible effects.</a:t>
            </a:r>
            <a:endParaRPr lang="en-US" sz="1120" dirty="0"/>
          </a:p>
          <a:p>
            <a:pPr marL="177800" indent="-177800">
              <a:buSzPct val="100000"/>
              <a:buChar char="•"/>
            </a:pPr>
            <a:r>
              <a:rPr lang="en-US" sz="1120" dirty="0">
                <a:solidFill>
                  <a:srgbClr val="14251D"/>
                </a:solidFill>
                <a:latin typeface="Aptos" pitchFamily="34" charset="0"/>
                <a:ea typeface="Aptos" pitchFamily="34" charset="-122"/>
                <a:cs typeface="Aptos" pitchFamily="34" charset="-120"/>
              </a:rPr>
              <a:t>Healing: no significant population-size difference.</a:t>
            </a:r>
            <a:endParaRPr lang="en-US" sz="1120" dirty="0"/>
          </a:p>
          <a:p>
            <a:pPr marL="177800" indent="-177800">
              <a:buSzPct val="100000"/>
              <a:buChar char="•"/>
            </a:pPr>
            <a:r>
              <a:rPr lang="en-US" sz="1120" dirty="0">
                <a:solidFill>
                  <a:srgbClr val="14251D"/>
                </a:solidFill>
                <a:latin typeface="Aptos" pitchFamily="34" charset="0"/>
                <a:ea typeface="Aptos" pitchFamily="34" charset="-122"/>
                <a:cs typeface="Aptos" pitchFamily="34" charset="-120"/>
              </a:rPr>
              <a:t>Statistical significance should not be confused with a large practical difference.</a:t>
            </a:r>
            <a:endParaRPr lang="en-US" sz="112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STATISTICAL RESULTS • ANALYSIS 5</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txBody>
          <a:bodyPr/>
          <a:p/>
        </p:txBody>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Continent × leadership distribution</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Chi-Square tests whether leadership structures vary geographically.</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466344" y="1490472"/>
            <a:ext cx="6793992" cy="4535424"/>
          </a:xfrm>
          <a:prstGeom prst="roundRect">
            <a:avLst>
              <a:gd name="adj" fmla="val 2016"/>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pic>
        <p:nvPicPr>
          <p:cNvPr id="9" name="Image 0" descr="C:\Users\mossa\OneDrive\Documents\مشروع التخرج\docs\chapter4-screenshots\23-analysis-5-result.png">    </p:cNvPr>
          <p:cNvPicPr>
            <a:picLocks noChangeAspect="1"/>
          </p:cNvPicPr>
          <p:nvPr/>
        </p:nvPicPr>
        <p:blipFill>
          <a:blip r:embed="rId1"/>
          <a:stretch>
            <a:fillRect/>
          </a:stretch>
        </p:blipFill>
        <p:spPr>
          <a:xfrm>
            <a:off x="651856" y="1527048"/>
            <a:ext cx="6422967" cy="4462272"/>
          </a:xfrm>
          <a:prstGeom prst="rect">
            <a:avLst/>
          </a:prstGeom>
        </p:spPr>
      </p:pic>
      <p:sp>
        <p:nvSpPr>
          <p:cNvPr id="10" name="Text 6"/>
          <p:cNvSpPr/>
          <p:nvPr/>
        </p:nvSpPr>
        <p:spPr>
          <a:xfrm>
            <a:off x="502920" y="6044184"/>
            <a:ext cx="672084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4.20: Continental Leadership Distribution Result</a:t>
            </a:r>
            <a:endParaRPr lang="en-US" sz="900" dirty="0"/>
          </a:p>
        </p:txBody>
      </p:sp>
      <p:sp>
        <p:nvSpPr>
          <p:cNvPr id="11" name="Shape 7"/>
          <p:cNvSpPr/>
          <p:nvPr/>
        </p:nvSpPr>
        <p:spPr>
          <a:xfrm>
            <a:off x="7498080" y="1700784"/>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12" name="Shape 8"/>
          <p:cNvSpPr/>
          <p:nvPr/>
        </p:nvSpPr>
        <p:spPr>
          <a:xfrm>
            <a:off x="7498080" y="1700784"/>
            <a:ext cx="54864" cy="777240"/>
          </a:xfrm>
          <a:prstGeom prst="rect">
            <a:avLst/>
          </a:prstGeom>
          <a:solidFill>
            <a:srgbClr val="123524"/>
          </a:solidFill>
          <a:ln w="12700">
            <a:solidFill>
              <a:srgbClr val="123524"/>
            </a:solidFill>
            <a:prstDash val="solid"/>
          </a:ln>
        </p:spPr>
        <p:txBody>
          <a:bodyPr/>
          <a:p/>
        </p:txBody>
      </p:sp>
      <p:sp>
        <p:nvSpPr>
          <p:cNvPr id="13" name="Text 9"/>
          <p:cNvSpPr/>
          <p:nvPr/>
        </p:nvSpPr>
        <p:spPr>
          <a:xfrm>
            <a:off x="7662672" y="1819656"/>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CHI-SQUARE</a:t>
            </a:r>
            <a:endParaRPr lang="en-US" sz="780" dirty="0"/>
          </a:p>
        </p:txBody>
      </p:sp>
      <p:sp>
        <p:nvSpPr>
          <p:cNvPr id="14" name="Text 10"/>
          <p:cNvSpPr/>
          <p:nvPr/>
        </p:nvSpPr>
        <p:spPr>
          <a:xfrm>
            <a:off x="7662672" y="2020824"/>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128.891</a:t>
            </a:r>
            <a:endParaRPr lang="en-US" sz="1800" dirty="0"/>
          </a:p>
        </p:txBody>
      </p:sp>
      <p:sp>
        <p:nvSpPr>
          <p:cNvPr id="15" name="Shape 11"/>
          <p:cNvSpPr/>
          <p:nvPr/>
        </p:nvSpPr>
        <p:spPr>
          <a:xfrm>
            <a:off x="9619488" y="1700784"/>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16" name="Shape 12"/>
          <p:cNvSpPr/>
          <p:nvPr/>
        </p:nvSpPr>
        <p:spPr>
          <a:xfrm>
            <a:off x="9619488" y="1700784"/>
            <a:ext cx="54864" cy="777240"/>
          </a:xfrm>
          <a:prstGeom prst="rect">
            <a:avLst/>
          </a:prstGeom>
          <a:solidFill>
            <a:srgbClr val="C8A96A"/>
          </a:solidFill>
          <a:ln w="12700">
            <a:solidFill>
              <a:srgbClr val="C8A96A"/>
            </a:solidFill>
            <a:prstDash val="solid"/>
          </a:ln>
        </p:spPr>
        <p:txBody>
          <a:bodyPr/>
          <a:p/>
        </p:txBody>
      </p:sp>
      <p:sp>
        <p:nvSpPr>
          <p:cNvPr id="17" name="Text 13"/>
          <p:cNvSpPr/>
          <p:nvPr/>
        </p:nvSpPr>
        <p:spPr>
          <a:xfrm>
            <a:off x="9784080" y="1819656"/>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DF</a:t>
            </a:r>
            <a:endParaRPr lang="en-US" sz="780" dirty="0"/>
          </a:p>
        </p:txBody>
      </p:sp>
      <p:sp>
        <p:nvSpPr>
          <p:cNvPr id="18" name="Text 14"/>
          <p:cNvSpPr/>
          <p:nvPr/>
        </p:nvSpPr>
        <p:spPr>
          <a:xfrm>
            <a:off x="9784080" y="2020824"/>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8</a:t>
            </a:r>
            <a:endParaRPr lang="en-US" sz="1800" dirty="0"/>
          </a:p>
        </p:txBody>
      </p:sp>
      <p:sp>
        <p:nvSpPr>
          <p:cNvPr id="19" name="Shape 15"/>
          <p:cNvSpPr/>
          <p:nvPr/>
        </p:nvSpPr>
        <p:spPr>
          <a:xfrm>
            <a:off x="7498080" y="2724912"/>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20" name="Shape 16"/>
          <p:cNvSpPr/>
          <p:nvPr/>
        </p:nvSpPr>
        <p:spPr>
          <a:xfrm>
            <a:off x="7498080" y="2724912"/>
            <a:ext cx="54864" cy="777240"/>
          </a:xfrm>
          <a:prstGeom prst="rect">
            <a:avLst/>
          </a:prstGeom>
          <a:solidFill>
            <a:srgbClr val="123524"/>
          </a:solidFill>
          <a:ln w="12700">
            <a:solidFill>
              <a:srgbClr val="123524"/>
            </a:solidFill>
            <a:prstDash val="solid"/>
          </a:ln>
        </p:spPr>
        <p:txBody>
          <a:bodyPr/>
          <a:p/>
        </p:txBody>
      </p:sp>
      <p:sp>
        <p:nvSpPr>
          <p:cNvPr id="21" name="Text 17"/>
          <p:cNvSpPr/>
          <p:nvPr/>
        </p:nvSpPr>
        <p:spPr>
          <a:xfrm>
            <a:off x="7662672" y="2843784"/>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P-VALUE</a:t>
            </a:r>
            <a:endParaRPr lang="en-US" sz="780" dirty="0"/>
          </a:p>
        </p:txBody>
      </p:sp>
      <p:sp>
        <p:nvSpPr>
          <p:cNvPr id="22" name="Text 18"/>
          <p:cNvSpPr/>
          <p:nvPr/>
        </p:nvSpPr>
        <p:spPr>
          <a:xfrm>
            <a:off x="7662672" y="3044952"/>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&lt; .001</a:t>
            </a:r>
            <a:endParaRPr lang="en-US" sz="1800" dirty="0"/>
          </a:p>
        </p:txBody>
      </p:sp>
      <p:sp>
        <p:nvSpPr>
          <p:cNvPr id="23" name="Shape 19"/>
          <p:cNvSpPr/>
          <p:nvPr/>
        </p:nvSpPr>
        <p:spPr>
          <a:xfrm>
            <a:off x="9619488" y="2724912"/>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24" name="Shape 20"/>
          <p:cNvSpPr/>
          <p:nvPr/>
        </p:nvSpPr>
        <p:spPr>
          <a:xfrm>
            <a:off x="9619488" y="2724912"/>
            <a:ext cx="54864" cy="777240"/>
          </a:xfrm>
          <a:prstGeom prst="rect">
            <a:avLst/>
          </a:prstGeom>
          <a:solidFill>
            <a:srgbClr val="C8A96A"/>
          </a:solidFill>
          <a:ln w="12700">
            <a:solidFill>
              <a:srgbClr val="C8A96A"/>
            </a:solidFill>
            <a:prstDash val="solid"/>
          </a:ln>
        </p:spPr>
        <p:txBody>
          <a:bodyPr/>
          <a:p/>
        </p:txBody>
      </p:sp>
      <p:sp>
        <p:nvSpPr>
          <p:cNvPr id="25" name="Text 21"/>
          <p:cNvSpPr/>
          <p:nvPr/>
        </p:nvSpPr>
        <p:spPr>
          <a:xfrm>
            <a:off x="9784080" y="2843784"/>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CRAMER'S V</a:t>
            </a:r>
            <a:endParaRPr lang="en-US" sz="780" dirty="0"/>
          </a:p>
        </p:txBody>
      </p:sp>
      <p:sp>
        <p:nvSpPr>
          <p:cNvPr id="26" name="Text 22"/>
          <p:cNvSpPr/>
          <p:nvPr/>
        </p:nvSpPr>
        <p:spPr>
          <a:xfrm>
            <a:off x="9784080" y="3044952"/>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0.208</a:t>
            </a:r>
            <a:endParaRPr lang="en-US" sz="1800" dirty="0"/>
          </a:p>
        </p:txBody>
      </p:sp>
      <p:sp>
        <p:nvSpPr>
          <p:cNvPr id="27" name="Shape 23"/>
          <p:cNvSpPr/>
          <p:nvPr/>
        </p:nvSpPr>
        <p:spPr>
          <a:xfrm>
            <a:off x="7498080" y="3749040"/>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28" name="Shape 24"/>
          <p:cNvSpPr/>
          <p:nvPr/>
        </p:nvSpPr>
        <p:spPr>
          <a:xfrm>
            <a:off x="7498080" y="3749040"/>
            <a:ext cx="54864" cy="777240"/>
          </a:xfrm>
          <a:prstGeom prst="rect">
            <a:avLst/>
          </a:prstGeom>
          <a:solidFill>
            <a:srgbClr val="123524"/>
          </a:solidFill>
          <a:ln w="12700">
            <a:solidFill>
              <a:srgbClr val="123524"/>
            </a:solidFill>
            <a:prstDash val="solid"/>
          </a:ln>
        </p:spPr>
        <p:txBody>
          <a:bodyPr/>
          <a:p/>
        </p:txBody>
      </p:sp>
      <p:sp>
        <p:nvSpPr>
          <p:cNvPr id="29" name="Text 25"/>
          <p:cNvSpPr/>
          <p:nvPr/>
        </p:nvSpPr>
        <p:spPr>
          <a:xfrm>
            <a:off x="7662672" y="3867912"/>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OCCURRENCES</a:t>
            </a:r>
            <a:endParaRPr lang="en-US" sz="780" dirty="0"/>
          </a:p>
        </p:txBody>
      </p:sp>
      <p:sp>
        <p:nvSpPr>
          <p:cNvPr id="30" name="Text 26"/>
          <p:cNvSpPr/>
          <p:nvPr/>
        </p:nvSpPr>
        <p:spPr>
          <a:xfrm>
            <a:off x="7662672" y="4069080"/>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1,494</a:t>
            </a:r>
            <a:endParaRPr lang="en-US" sz="1800" dirty="0"/>
          </a:p>
        </p:txBody>
      </p:sp>
      <p:sp>
        <p:nvSpPr>
          <p:cNvPr id="31" name="Shape 27"/>
          <p:cNvSpPr/>
          <p:nvPr/>
        </p:nvSpPr>
        <p:spPr>
          <a:xfrm>
            <a:off x="9619488" y="3749040"/>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32" name="Shape 28"/>
          <p:cNvSpPr/>
          <p:nvPr/>
        </p:nvSpPr>
        <p:spPr>
          <a:xfrm>
            <a:off x="9619488" y="3749040"/>
            <a:ext cx="54864" cy="777240"/>
          </a:xfrm>
          <a:prstGeom prst="rect">
            <a:avLst/>
          </a:prstGeom>
          <a:solidFill>
            <a:srgbClr val="C8A96A"/>
          </a:solidFill>
          <a:ln w="12700">
            <a:solidFill>
              <a:srgbClr val="C8A96A"/>
            </a:solidFill>
            <a:prstDash val="solid"/>
          </a:ln>
        </p:spPr>
        <p:txBody>
          <a:bodyPr/>
          <a:p/>
        </p:txBody>
      </p:sp>
      <p:sp>
        <p:nvSpPr>
          <p:cNvPr id="33" name="Text 29"/>
          <p:cNvSpPr/>
          <p:nvPr/>
        </p:nvSpPr>
        <p:spPr>
          <a:xfrm>
            <a:off x="9784080" y="3867912"/>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STRENGTH</a:t>
            </a:r>
            <a:endParaRPr lang="en-US" sz="780" dirty="0"/>
          </a:p>
        </p:txBody>
      </p:sp>
      <p:sp>
        <p:nvSpPr>
          <p:cNvPr id="34" name="Text 30"/>
          <p:cNvSpPr/>
          <p:nvPr/>
        </p:nvSpPr>
        <p:spPr>
          <a:xfrm>
            <a:off x="9784080" y="4069080"/>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weak</a:t>
            </a:r>
            <a:endParaRPr lang="en-US" sz="1800" dirty="0"/>
          </a:p>
        </p:txBody>
      </p:sp>
      <p:sp>
        <p:nvSpPr>
          <p:cNvPr id="35" name="Shape 31"/>
          <p:cNvSpPr/>
          <p:nvPr/>
        </p:nvSpPr>
        <p:spPr>
          <a:xfrm>
            <a:off x="7498080" y="4937760"/>
            <a:ext cx="4041648" cy="438912"/>
          </a:xfrm>
          <a:prstGeom prst="roundRect">
            <a:avLst/>
          </a:prstGeom>
          <a:solidFill>
            <a:srgbClr val="E7F2EB"/>
          </a:solidFill>
          <a:ln w="10160">
            <a:solidFill>
              <a:srgbClr val="5B9B78"/>
            </a:solidFill>
            <a:prstDash val="solid"/>
          </a:ln>
        </p:spPr>
        <p:txBody>
          <a:bodyPr/>
          <a:p/>
        </p:txBody>
      </p:sp>
      <p:sp>
        <p:nvSpPr>
          <p:cNvPr id="36" name="Text 32"/>
          <p:cNvSpPr/>
          <p:nvPr/>
        </p:nvSpPr>
        <p:spPr>
          <a:xfrm>
            <a:off x="7653528" y="5038344"/>
            <a:ext cx="3730752" cy="201168"/>
          </a:xfrm>
          <a:prstGeom prst="rect">
            <a:avLst/>
          </a:prstGeom>
          <a:noFill/>
          <a:ln/>
        </p:spPr>
        <p:txBody>
          <a:bodyPr wrap="square" lIns="0" tIns="0" rIns="0" bIns="0" rtlCol="0" anchor="ctr">
            <a:normAutofit/>
          </a:bodyPr>
          <a:lstStyle/>
          <a:p>
            <a:pPr indent="0" marL="0">
              <a:buNone/>
            </a:pPr>
            <a:r>
              <a:rPr lang="en-US" sz="1050" b="1" dirty="0">
                <a:solidFill>
                  <a:srgbClr val="14251D"/>
                </a:solidFill>
                <a:latin typeface="Aptos" pitchFamily="34" charset="0"/>
                <a:ea typeface="Aptos" pitchFamily="34" charset="-122"/>
                <a:cs typeface="Aptos" pitchFamily="34" charset="-120"/>
              </a:rPr>
              <a:t>Leadership structure differs by continent, but the association is weak; geography is not a causal explanation.</a:t>
            </a:r>
            <a:endParaRPr lang="en-US" sz="10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STATISTICAL RESULTS • ANALYSIS 6</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txBody>
          <a:bodyPr/>
          <a:p/>
        </p:txBody>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Continent × formal recognition</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Recognition status differs significantly across continents.</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466344" y="1517904"/>
            <a:ext cx="6473952" cy="4480560"/>
          </a:xfrm>
          <a:prstGeom prst="roundRect">
            <a:avLst>
              <a:gd name="adj" fmla="val 2041"/>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pic>
        <p:nvPicPr>
          <p:cNvPr id="9" name="Image 0" descr="C:\Users\mossa\OneDrive\Documents\مشروع التخرج\docs\chapter4-screenshots\24-analysis-6-continent-recognition.png">    </p:cNvPr>
          <p:cNvPicPr>
            <a:picLocks noChangeAspect="1"/>
          </p:cNvPicPr>
          <p:nvPr/>
        </p:nvPicPr>
        <p:blipFill>
          <a:blip r:embed="rId1"/>
          <a:stretch>
            <a:fillRect/>
          </a:stretch>
        </p:blipFill>
        <p:spPr>
          <a:xfrm>
            <a:off x="531322" y="1554480"/>
            <a:ext cx="6343996" cy="4407408"/>
          </a:xfrm>
          <a:prstGeom prst="rect">
            <a:avLst/>
          </a:prstGeom>
        </p:spPr>
      </p:pic>
      <p:sp>
        <p:nvSpPr>
          <p:cNvPr id="10" name="Text 6"/>
          <p:cNvSpPr/>
          <p:nvPr/>
        </p:nvSpPr>
        <p:spPr>
          <a:xfrm>
            <a:off x="502920" y="6016752"/>
            <a:ext cx="640080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4.21: Recognition Distribution by Continent</a:t>
            </a:r>
            <a:endParaRPr lang="en-US" sz="900" dirty="0"/>
          </a:p>
        </p:txBody>
      </p:sp>
      <p:sp>
        <p:nvSpPr>
          <p:cNvPr id="11" name="Shape 7"/>
          <p:cNvSpPr/>
          <p:nvPr/>
        </p:nvSpPr>
        <p:spPr>
          <a:xfrm>
            <a:off x="7178040" y="1664208"/>
            <a:ext cx="199339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12" name="Shape 8"/>
          <p:cNvSpPr/>
          <p:nvPr/>
        </p:nvSpPr>
        <p:spPr>
          <a:xfrm>
            <a:off x="7178040" y="1664208"/>
            <a:ext cx="54864" cy="777240"/>
          </a:xfrm>
          <a:prstGeom prst="rect">
            <a:avLst/>
          </a:prstGeom>
          <a:solidFill>
            <a:srgbClr val="123524"/>
          </a:solidFill>
          <a:ln w="12700">
            <a:solidFill>
              <a:srgbClr val="123524"/>
            </a:solidFill>
            <a:prstDash val="solid"/>
          </a:ln>
        </p:spPr>
        <p:txBody>
          <a:bodyPr/>
          <a:p/>
        </p:txBody>
      </p:sp>
      <p:sp>
        <p:nvSpPr>
          <p:cNvPr id="13" name="Text 9"/>
          <p:cNvSpPr/>
          <p:nvPr/>
        </p:nvSpPr>
        <p:spPr>
          <a:xfrm>
            <a:off x="7342632" y="1783080"/>
            <a:ext cx="171907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CHI-SQUARE</a:t>
            </a:r>
            <a:endParaRPr lang="en-US" sz="780" dirty="0"/>
          </a:p>
        </p:txBody>
      </p:sp>
      <p:sp>
        <p:nvSpPr>
          <p:cNvPr id="14" name="Text 10"/>
          <p:cNvSpPr/>
          <p:nvPr/>
        </p:nvSpPr>
        <p:spPr>
          <a:xfrm>
            <a:off x="7342632" y="1984248"/>
            <a:ext cx="171907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70.837</a:t>
            </a:r>
            <a:endParaRPr lang="en-US" sz="1800" dirty="0"/>
          </a:p>
        </p:txBody>
      </p:sp>
      <p:sp>
        <p:nvSpPr>
          <p:cNvPr id="15" name="Shape 11"/>
          <p:cNvSpPr/>
          <p:nvPr/>
        </p:nvSpPr>
        <p:spPr>
          <a:xfrm>
            <a:off x="9400032" y="1664208"/>
            <a:ext cx="199339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16" name="Shape 12"/>
          <p:cNvSpPr/>
          <p:nvPr/>
        </p:nvSpPr>
        <p:spPr>
          <a:xfrm>
            <a:off x="9400032" y="1664208"/>
            <a:ext cx="54864" cy="777240"/>
          </a:xfrm>
          <a:prstGeom prst="rect">
            <a:avLst/>
          </a:prstGeom>
          <a:solidFill>
            <a:srgbClr val="C8A96A"/>
          </a:solidFill>
          <a:ln w="12700">
            <a:solidFill>
              <a:srgbClr val="C8A96A"/>
            </a:solidFill>
            <a:prstDash val="solid"/>
          </a:ln>
        </p:spPr>
        <p:txBody>
          <a:bodyPr/>
          <a:p/>
        </p:txBody>
      </p:sp>
      <p:sp>
        <p:nvSpPr>
          <p:cNvPr id="17" name="Text 13"/>
          <p:cNvSpPr/>
          <p:nvPr/>
        </p:nvSpPr>
        <p:spPr>
          <a:xfrm>
            <a:off x="9564624" y="1783080"/>
            <a:ext cx="171907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DF</a:t>
            </a:r>
            <a:endParaRPr lang="en-US" sz="780" dirty="0"/>
          </a:p>
        </p:txBody>
      </p:sp>
      <p:sp>
        <p:nvSpPr>
          <p:cNvPr id="18" name="Text 14"/>
          <p:cNvSpPr/>
          <p:nvPr/>
        </p:nvSpPr>
        <p:spPr>
          <a:xfrm>
            <a:off x="9564624" y="1984248"/>
            <a:ext cx="171907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4</a:t>
            </a:r>
            <a:endParaRPr lang="en-US" sz="1800" dirty="0"/>
          </a:p>
        </p:txBody>
      </p:sp>
      <p:sp>
        <p:nvSpPr>
          <p:cNvPr id="19" name="Shape 15"/>
          <p:cNvSpPr/>
          <p:nvPr/>
        </p:nvSpPr>
        <p:spPr>
          <a:xfrm>
            <a:off x="7178040" y="2688336"/>
            <a:ext cx="199339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20" name="Shape 16"/>
          <p:cNvSpPr/>
          <p:nvPr/>
        </p:nvSpPr>
        <p:spPr>
          <a:xfrm>
            <a:off x="7178040" y="2688336"/>
            <a:ext cx="54864" cy="777240"/>
          </a:xfrm>
          <a:prstGeom prst="rect">
            <a:avLst/>
          </a:prstGeom>
          <a:solidFill>
            <a:srgbClr val="123524"/>
          </a:solidFill>
          <a:ln w="12700">
            <a:solidFill>
              <a:srgbClr val="123524"/>
            </a:solidFill>
            <a:prstDash val="solid"/>
          </a:ln>
        </p:spPr>
        <p:txBody>
          <a:bodyPr/>
          <a:p/>
        </p:txBody>
      </p:sp>
      <p:sp>
        <p:nvSpPr>
          <p:cNvPr id="21" name="Text 17"/>
          <p:cNvSpPr/>
          <p:nvPr/>
        </p:nvSpPr>
        <p:spPr>
          <a:xfrm>
            <a:off x="7342632" y="2807208"/>
            <a:ext cx="171907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P-VALUE</a:t>
            </a:r>
            <a:endParaRPr lang="en-US" sz="780" dirty="0"/>
          </a:p>
        </p:txBody>
      </p:sp>
      <p:sp>
        <p:nvSpPr>
          <p:cNvPr id="22" name="Text 18"/>
          <p:cNvSpPr/>
          <p:nvPr/>
        </p:nvSpPr>
        <p:spPr>
          <a:xfrm>
            <a:off x="7342632" y="3008376"/>
            <a:ext cx="171907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&lt; .001</a:t>
            </a:r>
            <a:endParaRPr lang="en-US" sz="1800" dirty="0"/>
          </a:p>
        </p:txBody>
      </p:sp>
      <p:sp>
        <p:nvSpPr>
          <p:cNvPr id="23" name="Shape 19"/>
          <p:cNvSpPr/>
          <p:nvPr/>
        </p:nvSpPr>
        <p:spPr>
          <a:xfrm>
            <a:off x="9400032" y="2688336"/>
            <a:ext cx="199339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24" name="Shape 20"/>
          <p:cNvSpPr/>
          <p:nvPr/>
        </p:nvSpPr>
        <p:spPr>
          <a:xfrm>
            <a:off x="9400032" y="2688336"/>
            <a:ext cx="54864" cy="777240"/>
          </a:xfrm>
          <a:prstGeom prst="rect">
            <a:avLst/>
          </a:prstGeom>
          <a:solidFill>
            <a:srgbClr val="C8A96A"/>
          </a:solidFill>
          <a:ln w="12700">
            <a:solidFill>
              <a:srgbClr val="C8A96A"/>
            </a:solidFill>
            <a:prstDash val="solid"/>
          </a:ln>
        </p:spPr>
        <p:txBody>
          <a:bodyPr/>
          <a:p/>
        </p:txBody>
      </p:sp>
      <p:sp>
        <p:nvSpPr>
          <p:cNvPr id="25" name="Text 21"/>
          <p:cNvSpPr/>
          <p:nvPr/>
        </p:nvSpPr>
        <p:spPr>
          <a:xfrm>
            <a:off x="9564624" y="2807208"/>
            <a:ext cx="171907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CRAMER'S V</a:t>
            </a:r>
            <a:endParaRPr lang="en-US" sz="780" dirty="0"/>
          </a:p>
        </p:txBody>
      </p:sp>
      <p:sp>
        <p:nvSpPr>
          <p:cNvPr id="26" name="Text 22"/>
          <p:cNvSpPr/>
          <p:nvPr/>
        </p:nvSpPr>
        <p:spPr>
          <a:xfrm>
            <a:off x="9564624" y="3008376"/>
            <a:ext cx="171907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0.262</a:t>
            </a:r>
            <a:endParaRPr lang="en-US" sz="1800" dirty="0"/>
          </a:p>
        </p:txBody>
      </p:sp>
      <p:sp>
        <p:nvSpPr>
          <p:cNvPr id="27" name="Shape 23"/>
          <p:cNvSpPr/>
          <p:nvPr/>
        </p:nvSpPr>
        <p:spPr>
          <a:xfrm>
            <a:off x="7178040" y="3712464"/>
            <a:ext cx="199339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28" name="Shape 24"/>
          <p:cNvSpPr/>
          <p:nvPr/>
        </p:nvSpPr>
        <p:spPr>
          <a:xfrm>
            <a:off x="7178040" y="3712464"/>
            <a:ext cx="54864" cy="777240"/>
          </a:xfrm>
          <a:prstGeom prst="rect">
            <a:avLst/>
          </a:prstGeom>
          <a:solidFill>
            <a:srgbClr val="123524"/>
          </a:solidFill>
          <a:ln w="12700">
            <a:solidFill>
              <a:srgbClr val="123524"/>
            </a:solidFill>
            <a:prstDash val="solid"/>
          </a:ln>
        </p:spPr>
        <p:txBody>
          <a:bodyPr/>
          <a:p/>
        </p:txBody>
      </p:sp>
      <p:sp>
        <p:nvSpPr>
          <p:cNvPr id="29" name="Text 25"/>
          <p:cNvSpPr/>
          <p:nvPr/>
        </p:nvSpPr>
        <p:spPr>
          <a:xfrm>
            <a:off x="7342632" y="3831336"/>
            <a:ext cx="171907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SAMPLE</a:t>
            </a:r>
            <a:endParaRPr lang="en-US" sz="780" dirty="0"/>
          </a:p>
        </p:txBody>
      </p:sp>
      <p:sp>
        <p:nvSpPr>
          <p:cNvPr id="30" name="Text 26"/>
          <p:cNvSpPr/>
          <p:nvPr/>
        </p:nvSpPr>
        <p:spPr>
          <a:xfrm>
            <a:off x="7342632" y="4032504"/>
            <a:ext cx="171907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1,033</a:t>
            </a:r>
            <a:endParaRPr lang="en-US" sz="1800" dirty="0"/>
          </a:p>
        </p:txBody>
      </p:sp>
      <p:sp>
        <p:nvSpPr>
          <p:cNvPr id="31" name="Shape 27"/>
          <p:cNvSpPr/>
          <p:nvPr/>
        </p:nvSpPr>
        <p:spPr>
          <a:xfrm>
            <a:off x="9400032" y="3712464"/>
            <a:ext cx="199339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32" name="Shape 28"/>
          <p:cNvSpPr/>
          <p:nvPr/>
        </p:nvSpPr>
        <p:spPr>
          <a:xfrm>
            <a:off x="9400032" y="3712464"/>
            <a:ext cx="54864" cy="777240"/>
          </a:xfrm>
          <a:prstGeom prst="rect">
            <a:avLst/>
          </a:prstGeom>
          <a:solidFill>
            <a:srgbClr val="C8A96A"/>
          </a:solidFill>
          <a:ln w="12700">
            <a:solidFill>
              <a:srgbClr val="C8A96A"/>
            </a:solidFill>
            <a:prstDash val="solid"/>
          </a:ln>
        </p:spPr>
        <p:txBody>
          <a:bodyPr/>
          <a:p/>
        </p:txBody>
      </p:sp>
      <p:sp>
        <p:nvSpPr>
          <p:cNvPr id="33" name="Text 29"/>
          <p:cNvSpPr/>
          <p:nvPr/>
        </p:nvSpPr>
        <p:spPr>
          <a:xfrm>
            <a:off x="9564624" y="3831336"/>
            <a:ext cx="171907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STRENGTH</a:t>
            </a:r>
            <a:endParaRPr lang="en-US" sz="780" dirty="0"/>
          </a:p>
        </p:txBody>
      </p:sp>
      <p:sp>
        <p:nvSpPr>
          <p:cNvPr id="34" name="Text 30"/>
          <p:cNvSpPr/>
          <p:nvPr/>
        </p:nvSpPr>
        <p:spPr>
          <a:xfrm>
            <a:off x="9564624" y="4032504"/>
            <a:ext cx="171907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weak</a:t>
            </a:r>
            <a:endParaRPr lang="en-US" sz="1800" dirty="0"/>
          </a:p>
        </p:txBody>
      </p:sp>
      <p:sp>
        <p:nvSpPr>
          <p:cNvPr id="35" name="Shape 31"/>
          <p:cNvSpPr/>
          <p:nvPr/>
        </p:nvSpPr>
        <p:spPr>
          <a:xfrm>
            <a:off x="7178040" y="4800600"/>
            <a:ext cx="4224528" cy="1024128"/>
          </a:xfrm>
          <a:prstGeom prst="roundRect">
            <a:avLst>
              <a:gd name="adj" fmla="val 8929"/>
            </a:avLst>
          </a:prstGeom>
          <a:solidFill>
            <a:srgbClr val="F6EEDC"/>
          </a:solidFill>
          <a:ln w="8890">
            <a:solidFill>
              <a:srgbClr val="E0C88F"/>
            </a:solidFill>
            <a:prstDash val="solid"/>
          </a:ln>
          <a:effectLst>
            <a:outerShdw sx="100000" sy="100000" kx="0" ky="0" algn="bl" rotWithShape="0" blurRad="19050" dist="50800" dir="2700000">
              <a:srgbClr val="AAB7AF">
                <a:alpha val="13000"/>
              </a:srgbClr>
            </a:outerShdw>
          </a:effectLst>
        </p:spPr>
        <p:txBody>
          <a:bodyPr/>
          <a:p/>
        </p:txBody>
      </p:sp>
      <p:sp>
        <p:nvSpPr>
          <p:cNvPr id="36" name="Text 32"/>
          <p:cNvSpPr/>
          <p:nvPr/>
        </p:nvSpPr>
        <p:spPr>
          <a:xfrm>
            <a:off x="7424928" y="5047488"/>
            <a:ext cx="3712464" cy="347472"/>
          </a:xfrm>
          <a:prstGeom prst="rect">
            <a:avLst/>
          </a:prstGeom>
          <a:noFill/>
          <a:ln/>
        </p:spPr>
        <p:txBody>
          <a:bodyPr wrap="square" lIns="0" tIns="0" rIns="0" bIns="0" rtlCol="0" anchor="ctr">
            <a:normAutofit/>
          </a:bodyPr>
          <a:lstStyle/>
          <a:p>
            <a:pPr algn="ctr" indent="0" marL="0">
              <a:buNone/>
            </a:pPr>
            <a:r>
              <a:rPr lang="en-US" sz="1200" b="1" dirty="0">
                <a:solidFill>
                  <a:srgbClr val="14251D"/>
                </a:solidFill>
              </a:rPr>
              <a:t>Rates among complete cases: Africa 82.7% • Asia 55.4%</a:t>
            </a:r>
            <a:endParaRPr lang="en-US" sz="120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STATISTICAL RESULTS • ANALYSIS 6</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txBody>
          <a:bodyPr/>
          <a:p/>
        </p:txBody>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Observed counts versus expected frequencies</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Expected values are calculated under the null hypothesis of independence.</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493776" y="1490472"/>
            <a:ext cx="7799832" cy="4599432"/>
          </a:xfrm>
          <a:prstGeom prst="roundRect">
            <a:avLst>
              <a:gd name="adj" fmla="val 1988"/>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pic>
        <p:nvPicPr>
          <p:cNvPr id="9" name="Image 0" descr="C:\Users\mossa\OneDrive\Documents\مشروع التخرج\docs\chapter4-screenshots\25-analysis-6-observed-expected.png">    </p:cNvPr>
          <p:cNvPicPr>
            <a:picLocks noChangeAspect="1"/>
          </p:cNvPicPr>
          <p:nvPr/>
        </p:nvPicPr>
        <p:blipFill>
          <a:blip r:embed="rId1"/>
          <a:stretch>
            <a:fillRect/>
          </a:stretch>
        </p:blipFill>
        <p:spPr>
          <a:xfrm>
            <a:off x="1136142" y="1527048"/>
            <a:ext cx="6515100" cy="4526280"/>
          </a:xfrm>
          <a:prstGeom prst="rect">
            <a:avLst/>
          </a:prstGeom>
        </p:spPr>
      </p:pic>
      <p:sp>
        <p:nvSpPr>
          <p:cNvPr id="10" name="Text 6"/>
          <p:cNvSpPr/>
          <p:nvPr/>
        </p:nvSpPr>
        <p:spPr>
          <a:xfrm>
            <a:off x="530352" y="6108192"/>
            <a:ext cx="772668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4.22: Observed and Expected Continent-Recognition Frequencies</a:t>
            </a:r>
            <a:endParaRPr lang="en-US" sz="900" dirty="0"/>
          </a:p>
        </p:txBody>
      </p:sp>
      <p:sp>
        <p:nvSpPr>
          <p:cNvPr id="11" name="Shape 7"/>
          <p:cNvSpPr/>
          <p:nvPr/>
        </p:nvSpPr>
        <p:spPr>
          <a:xfrm>
            <a:off x="8522208" y="1682496"/>
            <a:ext cx="2971800" cy="1828800"/>
          </a:xfrm>
          <a:prstGeom prst="roundRect">
            <a:avLst>
              <a:gd name="adj" fmla="val 5000"/>
            </a:avLst>
          </a:prstGeom>
          <a:solidFill>
            <a:srgbClr val="EAF1EC"/>
          </a:solidFill>
          <a:ln w="8890">
            <a:solidFill>
              <a:srgbClr val="C6D8CD"/>
            </a:solidFill>
            <a:prstDash val="solid"/>
          </a:ln>
          <a:effectLst>
            <a:outerShdw sx="100000" sy="100000" kx="0" ky="0" algn="bl" rotWithShape="0" blurRad="19050" dist="50800" dir="2700000">
              <a:srgbClr val="AAB7AF">
                <a:alpha val="13000"/>
              </a:srgbClr>
            </a:outerShdw>
          </a:effectLst>
        </p:spPr>
        <p:txBody>
          <a:bodyPr/>
          <a:p/>
        </p:txBody>
      </p:sp>
      <p:sp>
        <p:nvSpPr>
          <p:cNvPr id="12" name="Text 8"/>
          <p:cNvSpPr/>
          <p:nvPr/>
        </p:nvSpPr>
        <p:spPr>
          <a:xfrm>
            <a:off x="8796528" y="1947672"/>
            <a:ext cx="1097280" cy="164592"/>
          </a:xfrm>
          <a:prstGeom prst="rect">
            <a:avLst/>
          </a:prstGeom>
          <a:noFill/>
          <a:ln/>
        </p:spPr>
        <p:txBody>
          <a:bodyPr wrap="square" lIns="0" tIns="0" rIns="0" bIns="0" rtlCol="0" anchor="ctr"/>
          <a:lstStyle/>
          <a:p>
            <a:pPr indent="0" marL="0">
              <a:buNone/>
            </a:pPr>
            <a:r>
              <a:rPr lang="en-US" sz="900" b="1" spc="70" kern="0" dirty="0">
                <a:solidFill>
                  <a:srgbClr val="123524"/>
                </a:solidFill>
              </a:rPr>
              <a:t>OBSERVED</a:t>
            </a:r>
            <a:endParaRPr lang="en-US" sz="900" dirty="0"/>
          </a:p>
        </p:txBody>
      </p:sp>
      <p:sp>
        <p:nvSpPr>
          <p:cNvPr id="13" name="Text 9"/>
          <p:cNvSpPr/>
          <p:nvPr/>
        </p:nvSpPr>
        <p:spPr>
          <a:xfrm>
            <a:off x="8796528" y="2267712"/>
            <a:ext cx="2194560" cy="274320"/>
          </a:xfrm>
          <a:prstGeom prst="rect">
            <a:avLst/>
          </a:prstGeom>
          <a:noFill/>
          <a:ln/>
        </p:spPr>
        <p:txBody>
          <a:bodyPr wrap="square" lIns="0" tIns="0" rIns="0" bIns="0" rtlCol="0" anchor="ctr"/>
          <a:lstStyle/>
          <a:p>
            <a:pPr indent="0" marL="0">
              <a:buNone/>
            </a:pPr>
            <a:r>
              <a:rPr lang="en-US" sz="1700" b="1" dirty="0">
                <a:solidFill>
                  <a:srgbClr val="14251D"/>
                </a:solidFill>
                <a:latin typeface="Georgia" pitchFamily="34" charset="0"/>
                <a:ea typeface="Georgia" pitchFamily="34" charset="-122"/>
                <a:cs typeface="Georgia" pitchFamily="34" charset="-120"/>
              </a:rPr>
              <a:t>Actual database counts</a:t>
            </a:r>
            <a:endParaRPr lang="en-US" sz="1700" dirty="0"/>
          </a:p>
        </p:txBody>
      </p:sp>
      <p:sp>
        <p:nvSpPr>
          <p:cNvPr id="14" name="Text 10"/>
          <p:cNvSpPr/>
          <p:nvPr/>
        </p:nvSpPr>
        <p:spPr>
          <a:xfrm>
            <a:off x="8796528" y="2788920"/>
            <a:ext cx="2057400" cy="201168"/>
          </a:xfrm>
          <a:prstGeom prst="rect">
            <a:avLst/>
          </a:prstGeom>
          <a:noFill/>
          <a:ln/>
        </p:spPr>
        <p:txBody>
          <a:bodyPr wrap="square" lIns="0" tIns="0" rIns="0" bIns="0" rtlCol="0" anchor="ctr"/>
          <a:lstStyle/>
          <a:p>
            <a:pPr indent="0" marL="0">
              <a:buNone/>
            </a:pPr>
            <a:r>
              <a:rPr lang="en-US" sz="1150" dirty="0">
                <a:solidFill>
                  <a:srgbClr val="65736B"/>
                </a:solidFill>
              </a:rPr>
              <a:t>Whole numbers only</a:t>
            </a:r>
            <a:endParaRPr lang="en-US" sz="1150" dirty="0"/>
          </a:p>
        </p:txBody>
      </p:sp>
      <p:sp>
        <p:nvSpPr>
          <p:cNvPr id="15" name="Shape 11"/>
          <p:cNvSpPr/>
          <p:nvPr/>
        </p:nvSpPr>
        <p:spPr>
          <a:xfrm>
            <a:off x="8522208" y="3730752"/>
            <a:ext cx="2971800" cy="1828800"/>
          </a:xfrm>
          <a:prstGeom prst="roundRect">
            <a:avLst>
              <a:gd name="adj" fmla="val 5000"/>
            </a:avLst>
          </a:prstGeom>
          <a:solidFill>
            <a:srgbClr val="F6EEDC"/>
          </a:solidFill>
          <a:ln w="8890">
            <a:solidFill>
              <a:srgbClr val="E0C88F"/>
            </a:solidFill>
            <a:prstDash val="solid"/>
          </a:ln>
          <a:effectLst>
            <a:outerShdw sx="100000" sy="100000" kx="0" ky="0" algn="bl" rotWithShape="0" blurRad="19050" dist="50800" dir="2700000">
              <a:srgbClr val="AAB7AF">
                <a:alpha val="13000"/>
              </a:srgbClr>
            </a:outerShdw>
          </a:effectLst>
        </p:spPr>
        <p:txBody>
          <a:bodyPr/>
          <a:p/>
        </p:txBody>
      </p:sp>
      <p:sp>
        <p:nvSpPr>
          <p:cNvPr id="16" name="Text 12"/>
          <p:cNvSpPr/>
          <p:nvPr/>
        </p:nvSpPr>
        <p:spPr>
          <a:xfrm>
            <a:off x="8796528" y="3995928"/>
            <a:ext cx="1097280" cy="164592"/>
          </a:xfrm>
          <a:prstGeom prst="rect">
            <a:avLst/>
          </a:prstGeom>
          <a:noFill/>
          <a:ln/>
        </p:spPr>
        <p:txBody>
          <a:bodyPr wrap="square" lIns="0" tIns="0" rIns="0" bIns="0" rtlCol="0" anchor="ctr"/>
          <a:lstStyle/>
          <a:p>
            <a:pPr indent="0" marL="0">
              <a:buNone/>
            </a:pPr>
            <a:r>
              <a:rPr lang="en-US" sz="900" b="1" spc="70" kern="0" dirty="0">
                <a:solidFill>
                  <a:srgbClr val="C8A96A"/>
                </a:solidFill>
              </a:rPr>
              <a:t>EXPECTED</a:t>
            </a:r>
            <a:endParaRPr lang="en-US" sz="900" dirty="0"/>
          </a:p>
        </p:txBody>
      </p:sp>
      <p:sp>
        <p:nvSpPr>
          <p:cNvPr id="17" name="Text 13"/>
          <p:cNvSpPr/>
          <p:nvPr/>
        </p:nvSpPr>
        <p:spPr>
          <a:xfrm>
            <a:off x="8796528" y="4315968"/>
            <a:ext cx="2212848" cy="384048"/>
          </a:xfrm>
          <a:prstGeom prst="rect">
            <a:avLst/>
          </a:prstGeom>
          <a:noFill/>
          <a:ln/>
        </p:spPr>
        <p:txBody>
          <a:bodyPr wrap="square" lIns="0" tIns="0" rIns="0" bIns="0" rtlCol="0" anchor="ctr">
            <a:normAutofit/>
          </a:bodyPr>
          <a:lstStyle/>
          <a:p>
            <a:pPr indent="0" marL="0">
              <a:buNone/>
            </a:pPr>
            <a:r>
              <a:rPr lang="en-US" sz="1600" b="1" dirty="0">
                <a:solidFill>
                  <a:srgbClr val="14251D"/>
                </a:solidFill>
                <a:latin typeface="Georgia" pitchFamily="34" charset="0"/>
                <a:ea typeface="Georgia" pitchFamily="34" charset="-122"/>
                <a:cs typeface="Georgia" pitchFamily="34" charset="-120"/>
              </a:rPr>
              <a:t>Theoretical null-model values</a:t>
            </a:r>
            <a:endParaRPr lang="en-US" sz="1600" dirty="0"/>
          </a:p>
        </p:txBody>
      </p:sp>
      <p:sp>
        <p:nvSpPr>
          <p:cNvPr id="18" name="Text 14"/>
          <p:cNvSpPr/>
          <p:nvPr/>
        </p:nvSpPr>
        <p:spPr>
          <a:xfrm>
            <a:off x="8796528" y="4882896"/>
            <a:ext cx="2176272" cy="365760"/>
          </a:xfrm>
          <a:prstGeom prst="rect">
            <a:avLst/>
          </a:prstGeom>
          <a:noFill/>
          <a:ln/>
        </p:spPr>
        <p:txBody>
          <a:bodyPr wrap="square" lIns="0" tIns="0" rIns="0" bIns="0" rtlCol="0" anchor="ctr">
            <a:normAutofit/>
          </a:bodyPr>
          <a:lstStyle/>
          <a:p>
            <a:pPr indent="0" marL="0">
              <a:buNone/>
            </a:pPr>
            <a:r>
              <a:rPr lang="en-US" sz="1150" dirty="0">
                <a:solidFill>
                  <a:srgbClr val="65736B"/>
                </a:solidFill>
              </a:rPr>
              <a:t>Decimals are correct; they are not fractional real groups.</a:t>
            </a:r>
            <a:endParaRPr lang="en-US" sz="11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STATISTICAL RESULTS • ANALYSIS 7</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txBody>
          <a:bodyPr/>
          <a:p/>
        </p:txBody>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Region × formal recognition</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Regional variation has the largest geographic recognition effect in the module.</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466344" y="1499616"/>
            <a:ext cx="6793992" cy="4553712"/>
          </a:xfrm>
          <a:prstGeom prst="roundRect">
            <a:avLst>
              <a:gd name="adj" fmla="val 2008"/>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pic>
        <p:nvPicPr>
          <p:cNvPr id="9" name="Image 0" descr="C:\Users\mossa\OneDrive\Documents\مشروع التخرج\docs\chapter4-screenshots\27-analysis-7-result.png">    </p:cNvPr>
          <p:cNvPicPr>
            <a:picLocks noChangeAspect="1"/>
          </p:cNvPicPr>
          <p:nvPr/>
        </p:nvPicPr>
        <p:blipFill>
          <a:blip r:embed="rId1"/>
          <a:stretch>
            <a:fillRect/>
          </a:stretch>
        </p:blipFill>
        <p:spPr>
          <a:xfrm>
            <a:off x="638695" y="1536192"/>
            <a:ext cx="6449291" cy="4480560"/>
          </a:xfrm>
          <a:prstGeom prst="rect">
            <a:avLst/>
          </a:prstGeom>
        </p:spPr>
      </p:pic>
      <p:sp>
        <p:nvSpPr>
          <p:cNvPr id="10" name="Text 6"/>
          <p:cNvSpPr/>
          <p:nvPr/>
        </p:nvSpPr>
        <p:spPr>
          <a:xfrm>
            <a:off x="502920" y="6071616"/>
            <a:ext cx="672084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4.23: Regional Recognition Statistical Result</a:t>
            </a:r>
            <a:endParaRPr lang="en-US" sz="900" dirty="0"/>
          </a:p>
        </p:txBody>
      </p:sp>
      <p:sp>
        <p:nvSpPr>
          <p:cNvPr id="11" name="Shape 7"/>
          <p:cNvSpPr/>
          <p:nvPr/>
        </p:nvSpPr>
        <p:spPr>
          <a:xfrm>
            <a:off x="7498080" y="1682496"/>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12" name="Shape 8"/>
          <p:cNvSpPr/>
          <p:nvPr/>
        </p:nvSpPr>
        <p:spPr>
          <a:xfrm>
            <a:off x="7498080" y="1682496"/>
            <a:ext cx="54864" cy="777240"/>
          </a:xfrm>
          <a:prstGeom prst="rect">
            <a:avLst/>
          </a:prstGeom>
          <a:solidFill>
            <a:srgbClr val="123524"/>
          </a:solidFill>
          <a:ln w="12700">
            <a:solidFill>
              <a:srgbClr val="123524"/>
            </a:solidFill>
            <a:prstDash val="solid"/>
          </a:ln>
        </p:spPr>
        <p:txBody>
          <a:bodyPr/>
          <a:p/>
        </p:txBody>
      </p:sp>
      <p:sp>
        <p:nvSpPr>
          <p:cNvPr id="13" name="Text 9"/>
          <p:cNvSpPr/>
          <p:nvPr/>
        </p:nvSpPr>
        <p:spPr>
          <a:xfrm>
            <a:off x="7662672" y="1801368"/>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CHI-SQUARE</a:t>
            </a:r>
            <a:endParaRPr lang="en-US" sz="780" dirty="0"/>
          </a:p>
        </p:txBody>
      </p:sp>
      <p:sp>
        <p:nvSpPr>
          <p:cNvPr id="14" name="Text 10"/>
          <p:cNvSpPr/>
          <p:nvPr/>
        </p:nvSpPr>
        <p:spPr>
          <a:xfrm>
            <a:off x="7662672" y="2002536"/>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93.836</a:t>
            </a:r>
            <a:endParaRPr lang="en-US" sz="1800" dirty="0"/>
          </a:p>
        </p:txBody>
      </p:sp>
      <p:sp>
        <p:nvSpPr>
          <p:cNvPr id="15" name="Shape 11"/>
          <p:cNvSpPr/>
          <p:nvPr/>
        </p:nvSpPr>
        <p:spPr>
          <a:xfrm>
            <a:off x="9619488" y="1682496"/>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16" name="Shape 12"/>
          <p:cNvSpPr/>
          <p:nvPr/>
        </p:nvSpPr>
        <p:spPr>
          <a:xfrm>
            <a:off x="9619488" y="1682496"/>
            <a:ext cx="54864" cy="777240"/>
          </a:xfrm>
          <a:prstGeom prst="rect">
            <a:avLst/>
          </a:prstGeom>
          <a:solidFill>
            <a:srgbClr val="C8A96A"/>
          </a:solidFill>
          <a:ln w="12700">
            <a:solidFill>
              <a:srgbClr val="C8A96A"/>
            </a:solidFill>
            <a:prstDash val="solid"/>
          </a:ln>
        </p:spPr>
        <p:txBody>
          <a:bodyPr/>
          <a:p/>
        </p:txBody>
      </p:sp>
      <p:sp>
        <p:nvSpPr>
          <p:cNvPr id="17" name="Text 13"/>
          <p:cNvSpPr/>
          <p:nvPr/>
        </p:nvSpPr>
        <p:spPr>
          <a:xfrm>
            <a:off x="9784080" y="1801368"/>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DF</a:t>
            </a:r>
            <a:endParaRPr lang="en-US" sz="780" dirty="0"/>
          </a:p>
        </p:txBody>
      </p:sp>
      <p:sp>
        <p:nvSpPr>
          <p:cNvPr id="18" name="Text 14"/>
          <p:cNvSpPr/>
          <p:nvPr/>
        </p:nvSpPr>
        <p:spPr>
          <a:xfrm>
            <a:off x="9784080" y="2002536"/>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6</a:t>
            </a:r>
            <a:endParaRPr lang="en-US" sz="1800" dirty="0"/>
          </a:p>
        </p:txBody>
      </p:sp>
      <p:sp>
        <p:nvSpPr>
          <p:cNvPr id="19" name="Shape 15"/>
          <p:cNvSpPr/>
          <p:nvPr/>
        </p:nvSpPr>
        <p:spPr>
          <a:xfrm>
            <a:off x="7498080" y="2706624"/>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20" name="Shape 16"/>
          <p:cNvSpPr/>
          <p:nvPr/>
        </p:nvSpPr>
        <p:spPr>
          <a:xfrm>
            <a:off x="7498080" y="2706624"/>
            <a:ext cx="54864" cy="777240"/>
          </a:xfrm>
          <a:prstGeom prst="rect">
            <a:avLst/>
          </a:prstGeom>
          <a:solidFill>
            <a:srgbClr val="123524"/>
          </a:solidFill>
          <a:ln w="12700">
            <a:solidFill>
              <a:srgbClr val="123524"/>
            </a:solidFill>
            <a:prstDash val="solid"/>
          </a:ln>
        </p:spPr>
        <p:txBody>
          <a:bodyPr/>
          <a:p/>
        </p:txBody>
      </p:sp>
      <p:sp>
        <p:nvSpPr>
          <p:cNvPr id="21" name="Text 17"/>
          <p:cNvSpPr/>
          <p:nvPr/>
        </p:nvSpPr>
        <p:spPr>
          <a:xfrm>
            <a:off x="7662672" y="2825496"/>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P-VALUE</a:t>
            </a:r>
            <a:endParaRPr lang="en-US" sz="780" dirty="0"/>
          </a:p>
        </p:txBody>
      </p:sp>
      <p:sp>
        <p:nvSpPr>
          <p:cNvPr id="22" name="Text 18"/>
          <p:cNvSpPr/>
          <p:nvPr/>
        </p:nvSpPr>
        <p:spPr>
          <a:xfrm>
            <a:off x="7662672" y="3026664"/>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&lt; .001</a:t>
            </a:r>
            <a:endParaRPr lang="en-US" sz="1800" dirty="0"/>
          </a:p>
        </p:txBody>
      </p:sp>
      <p:sp>
        <p:nvSpPr>
          <p:cNvPr id="23" name="Shape 19"/>
          <p:cNvSpPr/>
          <p:nvPr/>
        </p:nvSpPr>
        <p:spPr>
          <a:xfrm>
            <a:off x="9619488" y="2706624"/>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24" name="Shape 20"/>
          <p:cNvSpPr/>
          <p:nvPr/>
        </p:nvSpPr>
        <p:spPr>
          <a:xfrm>
            <a:off x="9619488" y="2706624"/>
            <a:ext cx="54864" cy="777240"/>
          </a:xfrm>
          <a:prstGeom prst="rect">
            <a:avLst/>
          </a:prstGeom>
          <a:solidFill>
            <a:srgbClr val="C8A96A"/>
          </a:solidFill>
          <a:ln w="12700">
            <a:solidFill>
              <a:srgbClr val="C8A96A"/>
            </a:solidFill>
            <a:prstDash val="solid"/>
          </a:ln>
        </p:spPr>
        <p:txBody>
          <a:bodyPr/>
          <a:p/>
        </p:txBody>
      </p:sp>
      <p:sp>
        <p:nvSpPr>
          <p:cNvPr id="25" name="Text 21"/>
          <p:cNvSpPr/>
          <p:nvPr/>
        </p:nvSpPr>
        <p:spPr>
          <a:xfrm>
            <a:off x="9784080" y="2825496"/>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CRAMER'S V</a:t>
            </a:r>
            <a:endParaRPr lang="en-US" sz="780" dirty="0"/>
          </a:p>
        </p:txBody>
      </p:sp>
      <p:sp>
        <p:nvSpPr>
          <p:cNvPr id="26" name="Text 22"/>
          <p:cNvSpPr/>
          <p:nvPr/>
        </p:nvSpPr>
        <p:spPr>
          <a:xfrm>
            <a:off x="9784080" y="3026664"/>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0.301</a:t>
            </a:r>
            <a:endParaRPr lang="en-US" sz="1800" dirty="0"/>
          </a:p>
        </p:txBody>
      </p:sp>
      <p:sp>
        <p:nvSpPr>
          <p:cNvPr id="27" name="Shape 23"/>
          <p:cNvSpPr/>
          <p:nvPr/>
        </p:nvSpPr>
        <p:spPr>
          <a:xfrm>
            <a:off x="7498080" y="3730752"/>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28" name="Shape 24"/>
          <p:cNvSpPr/>
          <p:nvPr/>
        </p:nvSpPr>
        <p:spPr>
          <a:xfrm>
            <a:off x="7498080" y="3730752"/>
            <a:ext cx="54864" cy="777240"/>
          </a:xfrm>
          <a:prstGeom prst="rect">
            <a:avLst/>
          </a:prstGeom>
          <a:solidFill>
            <a:srgbClr val="123524"/>
          </a:solidFill>
          <a:ln w="12700">
            <a:solidFill>
              <a:srgbClr val="123524"/>
            </a:solidFill>
            <a:prstDash val="solid"/>
          </a:ln>
        </p:spPr>
        <p:txBody>
          <a:bodyPr/>
          <a:p/>
        </p:txBody>
      </p:sp>
      <p:sp>
        <p:nvSpPr>
          <p:cNvPr id="29" name="Text 25"/>
          <p:cNvSpPr/>
          <p:nvPr/>
        </p:nvSpPr>
        <p:spPr>
          <a:xfrm>
            <a:off x="7662672" y="3849624"/>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SAMPLE</a:t>
            </a:r>
            <a:endParaRPr lang="en-US" sz="780" dirty="0"/>
          </a:p>
        </p:txBody>
      </p:sp>
      <p:sp>
        <p:nvSpPr>
          <p:cNvPr id="30" name="Text 26"/>
          <p:cNvSpPr/>
          <p:nvPr/>
        </p:nvSpPr>
        <p:spPr>
          <a:xfrm>
            <a:off x="7662672" y="4050792"/>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1,033</a:t>
            </a:r>
            <a:endParaRPr lang="en-US" sz="1800" dirty="0"/>
          </a:p>
        </p:txBody>
      </p:sp>
      <p:sp>
        <p:nvSpPr>
          <p:cNvPr id="31" name="Shape 27"/>
          <p:cNvSpPr/>
          <p:nvPr/>
        </p:nvSpPr>
        <p:spPr>
          <a:xfrm>
            <a:off x="9619488" y="3730752"/>
            <a:ext cx="1920240"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32" name="Shape 28"/>
          <p:cNvSpPr/>
          <p:nvPr/>
        </p:nvSpPr>
        <p:spPr>
          <a:xfrm>
            <a:off x="9619488" y="3730752"/>
            <a:ext cx="54864" cy="777240"/>
          </a:xfrm>
          <a:prstGeom prst="rect">
            <a:avLst/>
          </a:prstGeom>
          <a:solidFill>
            <a:srgbClr val="C8A96A"/>
          </a:solidFill>
          <a:ln w="12700">
            <a:solidFill>
              <a:srgbClr val="C8A96A"/>
            </a:solidFill>
            <a:prstDash val="solid"/>
          </a:ln>
        </p:spPr>
        <p:txBody>
          <a:bodyPr/>
          <a:p/>
        </p:txBody>
      </p:sp>
      <p:sp>
        <p:nvSpPr>
          <p:cNvPr id="33" name="Text 29"/>
          <p:cNvSpPr/>
          <p:nvPr/>
        </p:nvSpPr>
        <p:spPr>
          <a:xfrm>
            <a:off x="9784080" y="3849624"/>
            <a:ext cx="1645920"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STRENGTH</a:t>
            </a:r>
            <a:endParaRPr lang="en-US" sz="780" dirty="0"/>
          </a:p>
        </p:txBody>
      </p:sp>
      <p:sp>
        <p:nvSpPr>
          <p:cNvPr id="34" name="Text 30"/>
          <p:cNvSpPr/>
          <p:nvPr/>
        </p:nvSpPr>
        <p:spPr>
          <a:xfrm>
            <a:off x="9784080" y="4050792"/>
            <a:ext cx="1645920"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moderate</a:t>
            </a:r>
            <a:endParaRPr lang="en-US" sz="1800" dirty="0"/>
          </a:p>
        </p:txBody>
      </p:sp>
      <p:sp>
        <p:nvSpPr>
          <p:cNvPr id="35" name="Shape 31"/>
          <p:cNvSpPr/>
          <p:nvPr/>
        </p:nvSpPr>
        <p:spPr>
          <a:xfrm>
            <a:off x="7498080" y="4828032"/>
            <a:ext cx="4041648" cy="987552"/>
          </a:xfrm>
          <a:prstGeom prst="roundRect">
            <a:avLst>
              <a:gd name="adj" fmla="val 9259"/>
            </a:avLst>
          </a:prstGeom>
          <a:solidFill>
            <a:srgbClr val="EAF1EC"/>
          </a:solidFill>
          <a:ln w="8890">
            <a:solidFill>
              <a:srgbClr val="C6D8CD"/>
            </a:solidFill>
            <a:prstDash val="solid"/>
          </a:ln>
          <a:effectLst>
            <a:outerShdw sx="100000" sy="100000" kx="0" ky="0" algn="bl" rotWithShape="0" blurRad="19050" dist="50800" dir="2700000">
              <a:srgbClr val="AAB7AF">
                <a:alpha val="13000"/>
              </a:srgbClr>
            </a:outerShdw>
          </a:effectLst>
        </p:spPr>
        <p:txBody>
          <a:bodyPr/>
          <a:p/>
        </p:txBody>
      </p:sp>
      <p:sp>
        <p:nvSpPr>
          <p:cNvPr id="36" name="Text 32"/>
          <p:cNvSpPr/>
          <p:nvPr/>
        </p:nvSpPr>
        <p:spPr>
          <a:xfrm>
            <a:off x="7735824" y="5020056"/>
            <a:ext cx="3566160" cy="457200"/>
          </a:xfrm>
          <a:prstGeom prst="rect">
            <a:avLst/>
          </a:prstGeom>
          <a:noFill/>
          <a:ln/>
        </p:spPr>
        <p:txBody>
          <a:bodyPr wrap="square" lIns="0" tIns="0" rIns="0" bIns="0" rtlCol="0" anchor="ctr">
            <a:normAutofit/>
          </a:bodyPr>
          <a:lstStyle/>
          <a:p>
            <a:pPr indent="0" marL="0">
              <a:buNone/>
            </a:pPr>
            <a:r>
              <a:rPr lang="en-US" sz="1100" b="1" dirty="0">
                <a:solidFill>
                  <a:srgbClr val="14251D"/>
                </a:solidFill>
              </a:rPr>
              <a:t>Highest: Middle East &amp; North Africa (91.3%)</a:t>
            </a:r>
            <a:endParaRPr lang="en-US" sz="1100" dirty="0"/>
          </a:p>
          <a:p>
            <a:pPr indent="0" marL="0">
              <a:buNone/>
            </a:pPr>
            <a:r>
              <a:rPr lang="en-US" sz="1100" b="1" dirty="0">
                <a:solidFill>
                  <a:srgbClr val="14251D"/>
                </a:solidFill>
              </a:rPr>
              <a:t>Lowest: South Asia (40.4%)</a:t>
            </a:r>
            <a:endParaRPr lang="en-US" sz="110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STATISTICAL RESULTS • DYNAMIC ENGINE</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txBody>
          <a:bodyPr/>
          <a:p/>
        </p:txBody>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Researchers can select compatible variable pairs</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The engine automatically prepares complete cases and chooses the statistical method.</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466344" y="1499616"/>
            <a:ext cx="7114032" cy="4553712"/>
          </a:xfrm>
          <a:prstGeom prst="roundRect">
            <a:avLst>
              <a:gd name="adj" fmla="val 2008"/>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pic>
        <p:nvPicPr>
          <p:cNvPr id="9" name="Image 0" descr="C:\Users\mossa\OneDrive\Documents\مشروع التخرج\docs\chapter4-screenshots\29-analysis-8-result.png">    </p:cNvPr>
          <p:cNvPicPr>
            <a:picLocks noChangeAspect="1"/>
          </p:cNvPicPr>
          <p:nvPr/>
        </p:nvPicPr>
        <p:blipFill>
          <a:blip r:embed="rId1"/>
          <a:stretch>
            <a:fillRect/>
          </a:stretch>
        </p:blipFill>
        <p:spPr>
          <a:xfrm>
            <a:off x="798715" y="1536192"/>
            <a:ext cx="6449291" cy="4480560"/>
          </a:xfrm>
          <a:prstGeom prst="rect">
            <a:avLst/>
          </a:prstGeom>
        </p:spPr>
      </p:pic>
      <p:sp>
        <p:nvSpPr>
          <p:cNvPr id="10" name="Text 6"/>
          <p:cNvSpPr/>
          <p:nvPr/>
        </p:nvSpPr>
        <p:spPr>
          <a:xfrm>
            <a:off x="502920" y="6071616"/>
            <a:ext cx="704088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4.24: Dynamic Continent × Formal Recognition Analysis</a:t>
            </a:r>
            <a:endParaRPr lang="en-US" sz="900" dirty="0"/>
          </a:p>
        </p:txBody>
      </p:sp>
      <p:sp>
        <p:nvSpPr>
          <p:cNvPr id="11" name="Shape 7"/>
          <p:cNvSpPr/>
          <p:nvPr/>
        </p:nvSpPr>
        <p:spPr>
          <a:xfrm>
            <a:off x="7818120" y="1700784"/>
            <a:ext cx="3611880" cy="4096512"/>
          </a:xfrm>
          <a:prstGeom prst="roundRect">
            <a:avLst>
              <a:gd name="adj" fmla="val 2532"/>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12" name="Text 8"/>
          <p:cNvSpPr/>
          <p:nvPr/>
        </p:nvSpPr>
        <p:spPr>
          <a:xfrm>
            <a:off x="8119872" y="1975104"/>
            <a:ext cx="2926080" cy="274320"/>
          </a:xfrm>
          <a:prstGeom prst="rect">
            <a:avLst/>
          </a:prstGeom>
          <a:noFill/>
          <a:ln/>
        </p:spPr>
        <p:txBody>
          <a:bodyPr wrap="square" lIns="0" tIns="0" rIns="0" bIns="0" rtlCol="0" anchor="ctr"/>
          <a:lstStyle/>
          <a:p>
            <a:pPr indent="0" marL="0">
              <a:buNone/>
            </a:pPr>
            <a:r>
              <a:rPr lang="en-US" sz="1900" b="1" dirty="0">
                <a:solidFill>
                  <a:srgbClr val="123524"/>
                </a:solidFill>
                <a:latin typeface="Georgia" pitchFamily="34" charset="0"/>
                <a:ea typeface="Georgia" pitchFamily="34" charset="-122"/>
                <a:cs typeface="Georgia" pitchFamily="34" charset="-120"/>
              </a:rPr>
              <a:t>Verified sample run</a:t>
            </a:r>
            <a:endParaRPr lang="en-US" sz="1900" dirty="0"/>
          </a:p>
        </p:txBody>
      </p:sp>
      <p:sp>
        <p:nvSpPr>
          <p:cNvPr id="13" name="Text 9"/>
          <p:cNvSpPr/>
          <p:nvPr/>
        </p:nvSpPr>
        <p:spPr>
          <a:xfrm>
            <a:off x="8110728" y="2450592"/>
            <a:ext cx="2852928" cy="2331720"/>
          </a:xfrm>
          <a:prstGeom prst="rect">
            <a:avLst/>
          </a:prstGeom>
          <a:noFill/>
          <a:ln/>
        </p:spPr>
        <p:txBody>
          <a:bodyPr wrap="square" lIns="25400" tIns="25400" rIns="25400" bIns="25400" rtlCol="0" anchor="ctr">
            <a:normAutofit/>
          </a:bodyPr>
          <a:lstStyle/>
          <a:p>
            <a:pPr marL="177800" indent="-177800">
              <a:buSzPct val="100000"/>
              <a:buChar char="•"/>
            </a:pPr>
            <a:r>
              <a:rPr lang="en-US" sz="1250" dirty="0">
                <a:solidFill>
                  <a:srgbClr val="14251D"/>
                </a:solidFill>
                <a:latin typeface="Aptos" pitchFamily="34" charset="0"/>
                <a:ea typeface="Aptos" pitchFamily="34" charset="-122"/>
                <a:cs typeface="Aptos" pitchFamily="34" charset="-120"/>
              </a:rPr>
              <a:t>Variable X: Continent</a:t>
            </a:r>
            <a:endParaRPr lang="en-US" sz="1250" dirty="0"/>
          </a:p>
          <a:p>
            <a:pPr marL="177800" indent="-177800">
              <a:buSzPct val="100000"/>
              <a:buChar char="•"/>
            </a:pPr>
            <a:r>
              <a:rPr lang="en-US" sz="1250" dirty="0">
                <a:solidFill>
                  <a:srgbClr val="14251D"/>
                </a:solidFill>
                <a:latin typeface="Aptos" pitchFamily="34" charset="0"/>
                <a:ea typeface="Aptos" pitchFamily="34" charset="-122"/>
                <a:cs typeface="Aptos" pitchFamily="34" charset="-120"/>
              </a:rPr>
              <a:t>Variable Y: Formal Recognition</a:t>
            </a:r>
            <a:endParaRPr lang="en-US" sz="1250" dirty="0"/>
          </a:p>
          <a:p>
            <a:pPr marL="177800" indent="-177800">
              <a:buSzPct val="100000"/>
              <a:buChar char="•"/>
            </a:pPr>
            <a:r>
              <a:rPr lang="en-US" sz="1250" dirty="0">
                <a:solidFill>
                  <a:srgbClr val="14251D"/>
                </a:solidFill>
                <a:latin typeface="Aptos" pitchFamily="34" charset="0"/>
                <a:ea typeface="Aptos" pitchFamily="34" charset="-122"/>
                <a:cs typeface="Aptos" pitchFamily="34" charset="-120"/>
              </a:rPr>
              <a:t>Selected test: Chi-Square</a:t>
            </a:r>
            <a:endParaRPr lang="en-US" sz="1250" dirty="0"/>
          </a:p>
          <a:p>
            <a:pPr marL="177800" indent="-177800">
              <a:buSzPct val="100000"/>
              <a:buChar char="•"/>
            </a:pPr>
            <a:r>
              <a:rPr lang="en-US" sz="1250" dirty="0">
                <a:solidFill>
                  <a:srgbClr val="14251D"/>
                </a:solidFill>
                <a:latin typeface="Aptos" pitchFamily="34" charset="0"/>
                <a:ea typeface="Aptos" pitchFamily="34" charset="-122"/>
                <a:cs typeface="Aptos" pitchFamily="34" charset="-120"/>
              </a:rPr>
              <a:t>N = 1,033; 524 excluded</a:t>
            </a:r>
            <a:endParaRPr lang="en-US" sz="1250" dirty="0"/>
          </a:p>
          <a:p>
            <a:pPr marL="177800" indent="-177800">
              <a:buSzPct val="100000"/>
              <a:buChar char="•"/>
            </a:pPr>
            <a:r>
              <a:rPr lang="en-US" sz="1250" dirty="0">
                <a:solidFill>
                  <a:srgbClr val="14251D"/>
                </a:solidFill>
                <a:latin typeface="Aptos" pitchFamily="34" charset="0"/>
                <a:ea typeface="Aptos" pitchFamily="34" charset="-122"/>
                <a:cs typeface="Aptos" pitchFamily="34" charset="-120"/>
              </a:rPr>
              <a:t>χ²(4) = 70.837; p &lt; .001</a:t>
            </a:r>
            <a:endParaRPr lang="en-US" sz="1250" dirty="0"/>
          </a:p>
          <a:p>
            <a:pPr marL="177800" indent="-177800">
              <a:buSzPct val="100000"/>
              <a:buChar char="•"/>
            </a:pPr>
            <a:r>
              <a:rPr lang="en-US" sz="1250" dirty="0">
                <a:solidFill>
                  <a:srgbClr val="14251D"/>
                </a:solidFill>
                <a:latin typeface="Aptos" pitchFamily="34" charset="0"/>
                <a:ea typeface="Aptos" pitchFamily="34" charset="-122"/>
                <a:cs typeface="Aptos" pitchFamily="34" charset="-120"/>
              </a:rPr>
              <a:t>Cramer's V = .262 (weak)</a:t>
            </a:r>
            <a:endParaRPr lang="en-US" sz="1250" dirty="0"/>
          </a:p>
        </p:txBody>
      </p:sp>
      <p:sp>
        <p:nvSpPr>
          <p:cNvPr id="14" name="Shape 10"/>
          <p:cNvSpPr/>
          <p:nvPr/>
        </p:nvSpPr>
        <p:spPr>
          <a:xfrm>
            <a:off x="8019288" y="5138928"/>
            <a:ext cx="3200400" cy="438912"/>
          </a:xfrm>
          <a:prstGeom prst="roundRect">
            <a:avLst/>
          </a:prstGeom>
          <a:solidFill>
            <a:srgbClr val="F6EEDC"/>
          </a:solidFill>
          <a:ln w="10160">
            <a:solidFill>
              <a:srgbClr val="C8A96A"/>
            </a:solidFill>
            <a:prstDash val="solid"/>
          </a:ln>
        </p:spPr>
        <p:txBody>
          <a:bodyPr/>
          <a:p/>
        </p:txBody>
      </p:sp>
      <p:sp>
        <p:nvSpPr>
          <p:cNvPr id="15" name="Text 11"/>
          <p:cNvSpPr/>
          <p:nvPr/>
        </p:nvSpPr>
        <p:spPr>
          <a:xfrm>
            <a:off x="8174736" y="5239512"/>
            <a:ext cx="2889504" cy="201168"/>
          </a:xfrm>
          <a:prstGeom prst="rect">
            <a:avLst/>
          </a:prstGeom>
          <a:noFill/>
          <a:ln/>
        </p:spPr>
        <p:txBody>
          <a:bodyPr wrap="square" lIns="0" tIns="0" rIns="0" bIns="0" rtlCol="0" anchor="ctr">
            <a:normAutofit/>
          </a:bodyPr>
          <a:lstStyle/>
          <a:p>
            <a:pPr indent="0" marL="0">
              <a:buNone/>
            </a:pPr>
            <a:r>
              <a:rPr lang="en-US" sz="1050" b="1" dirty="0">
                <a:solidFill>
                  <a:srgbClr val="14251D"/>
                </a:solidFill>
                <a:latin typeface="Aptos" pitchFamily="34" charset="0"/>
                <a:ea typeface="Aptos" pitchFamily="34" charset="-122"/>
                <a:cs typeface="Aptos" pitchFamily="34" charset="-120"/>
              </a:rPr>
              <a:t>The engine complements predefined analyses; it does not change their methodology.</a:t>
            </a:r>
            <a:endParaRPr lang="en-US" sz="10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KEY FINDINGS</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txBody>
          <a:bodyPr/>
          <a:p/>
        </p:txBody>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Verified findings at a glance</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Significance is reported together with effect size and the relevant complete-case sample.</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30352" y="1664208"/>
          <a:ext cx="11119104" cy="4160520"/>
        </p:xfrm>
        <a:graphic>
          <a:graphicData uri="http://schemas.openxmlformats.org/drawingml/2006/table">
            <a:tbl>
              <a:tblPr/>
              <a:tblGrid>
                <a:gridCol w="2011680"/>
                <a:gridCol w="1234440"/>
                <a:gridCol w="1005840"/>
                <a:gridCol w="713232"/>
                <a:gridCol w="1325880"/>
                <a:gridCol w="731520"/>
                <a:gridCol w="1143000"/>
              </a:tblGrid>
              <a:tr h="274320">
                <a:tc>
                  <a:txBody>
                    <a:bodyPr/>
                    <a:lstStyle/>
                    <a:p>
                      <a:pPr indent="0" marL="0">
                        <a:buNone/>
                      </a:pPr>
                      <a:r>
                        <a:rPr lang="en-US" sz="870" dirty="0">
                          <a:solidFill>
                            <a:srgbClr val="14251D"/>
                          </a:solidFill>
                          <a:latin typeface="Aptos" pitchFamily="34" charset="0"/>
                          <a:ea typeface="Aptos" pitchFamily="34" charset="-122"/>
                          <a:cs typeface="Aptos" pitchFamily="34" charset="-120"/>
                        </a:rPr>
                        <a:t>Analysis</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Test</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Statistic</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p</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Effect</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N</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Conclusion</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70" dirty="0">
                          <a:solidFill>
                            <a:srgbClr val="14251D"/>
                          </a:solidFill>
                          <a:latin typeface="Aptos" pitchFamily="34" charset="0"/>
                          <a:ea typeface="Aptos" pitchFamily="34" charset="-122"/>
                          <a:cs typeface="Aptos" pitchFamily="34" charset="-120"/>
                        </a:rPr>
                        <a:t>King × Recognition</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Chi-Square</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74.664</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&lt; .001</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V=.269 weak</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1,033</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Significant</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70" dirty="0">
                          <a:solidFill>
                            <a:srgbClr val="14251D"/>
                          </a:solidFill>
                          <a:latin typeface="Aptos" pitchFamily="34" charset="0"/>
                          <a:ea typeface="Aptos" pitchFamily="34" charset="-122"/>
                          <a:cs typeface="Aptos" pitchFamily="34" charset="-120"/>
                        </a:rPr>
                        <a:t>Chief × Land</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Chi-Square</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64.975</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&lt; .001</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V=.239 weak</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1,139</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Significant</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70" dirty="0">
                          <a:solidFill>
                            <a:srgbClr val="14251D"/>
                          </a:solidFill>
                          <a:latin typeface="Aptos" pitchFamily="34" charset="0"/>
                          <a:ea typeface="Aptos" pitchFamily="34" charset="-122"/>
                          <a:cs typeface="Aptos" pitchFamily="34" charset="-120"/>
                        </a:rPr>
                        <a:t>Population × Recognition</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Mann–Whitney</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97,855.5</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&lt; .001</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r=.120 small</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907</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Significant</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70" dirty="0">
                          <a:solidFill>
                            <a:srgbClr val="14251D"/>
                          </a:solidFill>
                          <a:latin typeface="Aptos" pitchFamily="34" charset="0"/>
                          <a:ea typeface="Aptos" pitchFamily="34" charset="-122"/>
                          <a:cs typeface="Aptos" pitchFamily="34" charset="-120"/>
                        </a:rPr>
                        <a:t>Population × Land</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Mann–Whitney</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110,623</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=.006</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r=.088 negligible</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993</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Significant</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70" dirty="0">
                          <a:solidFill>
                            <a:srgbClr val="14251D"/>
                          </a:solidFill>
                          <a:latin typeface="Aptos" pitchFamily="34" charset="0"/>
                          <a:ea typeface="Aptos" pitchFamily="34" charset="-122"/>
                          <a:cs typeface="Aptos" pitchFamily="34" charset="-120"/>
                        </a:rPr>
                        <a:t>Continent × Leadership</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Chi-Square</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128.891</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&lt; .001</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V=.208 weak</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1,494*</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Significant</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70" dirty="0">
                          <a:solidFill>
                            <a:srgbClr val="14251D"/>
                          </a:solidFill>
                          <a:latin typeface="Aptos" pitchFamily="34" charset="0"/>
                          <a:ea typeface="Aptos" pitchFamily="34" charset="-122"/>
                          <a:cs typeface="Aptos" pitchFamily="34" charset="-120"/>
                        </a:rPr>
                        <a:t>Continent × Recognition</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Chi-Square</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70.837</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&lt; .001</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V=.262 weak</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1,033</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Significant</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r h="274320">
                <a:tc>
                  <a:txBody>
                    <a:bodyPr/>
                    <a:lstStyle/>
                    <a:p>
                      <a:pPr indent="0" marL="0">
                        <a:buNone/>
                      </a:pPr>
                      <a:r>
                        <a:rPr lang="en-US" sz="870" dirty="0">
                          <a:solidFill>
                            <a:srgbClr val="14251D"/>
                          </a:solidFill>
                          <a:latin typeface="Aptos" pitchFamily="34" charset="0"/>
                          <a:ea typeface="Aptos" pitchFamily="34" charset="-122"/>
                          <a:cs typeface="Aptos" pitchFamily="34" charset="-120"/>
                        </a:rPr>
                        <a:t>Region × Recognition</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Chi-Square</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93.836</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&lt; .001</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V=.301 moderate</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1,033</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c>
                  <a:txBody>
                    <a:bodyPr/>
                    <a:lstStyle/>
                    <a:p>
                      <a:pPr indent="0" marL="0">
                        <a:buNone/>
                      </a:pPr>
                      <a:r>
                        <a:rPr lang="en-US" sz="870" dirty="0">
                          <a:solidFill>
                            <a:srgbClr val="14251D"/>
                          </a:solidFill>
                          <a:latin typeface="Aptos" pitchFamily="34" charset="0"/>
                          <a:ea typeface="Aptos" pitchFamily="34" charset="-122"/>
                          <a:cs typeface="Aptos" pitchFamily="34" charset="-120"/>
                        </a:rPr>
                        <a:t>Significant</a:t>
                      </a:r>
                      <a:endParaRPr lang="en-US" sz="870" dirty="0">
                        <a:latin typeface="Aptos" charset="0"/>
                        <a:ea typeface="Aptos" charset="0"/>
                        <a:cs typeface="Aptos" charset="0"/>
                      </a:endParaRPr>
                    </a:p>
                  </a:txBody>
                  <a:tcPr marL="54864" marR="54864" marT="54864" marB="54864" anchor="mid">
                    <a:lnL w="8890" cap="flat" cmpd="sng" algn="ctr">
                      <a:solidFill>
                        <a:srgbClr val="D7DED9"/>
                      </a:solidFill>
                      <a:prstDash val="solid"/>
                      <a:round/>
                      <a:headEnd type="none" w="med" len="med"/>
                      <a:tailEnd type="none" w="med" len="med"/>
                    </a:lnL>
                    <a:lnR w="8890" cap="flat" cmpd="sng" algn="ctr">
                      <a:solidFill>
                        <a:srgbClr val="D7DED9"/>
                      </a:solidFill>
                      <a:prstDash val="solid"/>
                      <a:round/>
                      <a:headEnd type="none" w="med" len="med"/>
                      <a:tailEnd type="none" w="med" len="med"/>
                    </a:lnR>
                    <a:lnT w="8890" cap="flat" cmpd="sng" algn="ctr">
                      <a:solidFill>
                        <a:srgbClr val="D7DED9"/>
                      </a:solidFill>
                      <a:prstDash val="solid"/>
                      <a:round/>
                      <a:headEnd type="none" w="med" len="med"/>
                      <a:tailEnd type="none" w="med" len="med"/>
                    </a:lnT>
                    <a:lnB w="8890" cap="flat" cmpd="sng" algn="ctr">
                      <a:solidFill>
                        <a:srgbClr val="D7DED9"/>
                      </a:solidFill>
                      <a:prstDash val="solid"/>
                      <a:round/>
                      <a:headEnd type="none" w="med" len="med"/>
                      <a:tailEnd type="none" w="med" len="med"/>
                    </a:lnB>
                    <a:solidFill>
                      <a:srgbClr val="FFFFFF"/>
                    </a:solidFill>
                  </a:tcPr>
                </a:tc>
              </a:tr>
            </a:tbl>
          </a:graphicData>
        </a:graphic>
      </p:graphicFrame>
      <p:sp>
        <p:nvSpPr>
          <p:cNvPr id="9" name="Text 5"/>
          <p:cNvSpPr/>
          <p:nvPr/>
        </p:nvSpPr>
        <p:spPr>
          <a:xfrm>
            <a:off x="713232" y="5925312"/>
            <a:ext cx="10789920" cy="256032"/>
          </a:xfrm>
          <a:prstGeom prst="rect">
            <a:avLst/>
          </a:prstGeom>
          <a:noFill/>
          <a:ln/>
        </p:spPr>
        <p:txBody>
          <a:bodyPr wrap="square" lIns="0" tIns="0" rIns="0" bIns="0" rtlCol="0" anchor="ctr">
            <a:normAutofit/>
          </a:bodyPr>
          <a:lstStyle/>
          <a:p>
            <a:pPr indent="0" marL="0">
              <a:buNone/>
            </a:pPr>
            <a:r>
              <a:rPr lang="en-US" sz="930" i="1" dirty="0">
                <a:solidFill>
                  <a:srgbClr val="65736B"/>
                </a:solidFill>
              </a:rPr>
              <a:t>* Leadership indicators can overlap; N = 1,494 counts complete leadership occurrences, while the dataset contains 1,557 group rows.</a:t>
            </a:r>
            <a:endParaRPr lang="en-US" sz="93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KEY FINDINGS • EFFECT SIZE</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txBody>
          <a:bodyPr/>
          <a:p/>
        </p:txBody>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Effect size prevents overstatement</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A low p-value can coexist with a weak practical relationship.</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Text 5"/>
          <p:cNvSpPr/>
          <p:nvPr/>
        </p:nvSpPr>
        <p:spPr>
          <a:xfrm>
            <a:off x="658368" y="1737360"/>
            <a:ext cx="1828800" cy="210312"/>
          </a:xfrm>
          <a:prstGeom prst="rect">
            <a:avLst/>
          </a:prstGeom>
          <a:noFill/>
          <a:ln/>
        </p:spPr>
        <p:txBody>
          <a:bodyPr wrap="square" lIns="0" tIns="0" rIns="0" bIns="0" rtlCol="0" anchor="ctr"/>
          <a:lstStyle/>
          <a:p>
            <a:pPr indent="0" marL="0">
              <a:buNone/>
            </a:pPr>
            <a:r>
              <a:rPr lang="en-US" sz="1000" b="1" spc="90" kern="0" dirty="0">
                <a:solidFill>
                  <a:srgbClr val="C8A96A"/>
                </a:solidFill>
              </a:rPr>
              <a:t>CRAMER'S V</a:t>
            </a:r>
            <a:endParaRPr lang="en-US" sz="1000" dirty="0"/>
          </a:p>
        </p:txBody>
      </p:sp>
      <p:sp>
        <p:nvSpPr>
          <p:cNvPr id="9" name="Shape 6"/>
          <p:cNvSpPr/>
          <p:nvPr/>
        </p:nvSpPr>
        <p:spPr>
          <a:xfrm>
            <a:off x="685800" y="2176272"/>
            <a:ext cx="2029968" cy="512064"/>
          </a:xfrm>
          <a:prstGeom prst="rect">
            <a:avLst/>
          </a:prstGeom>
          <a:solidFill>
            <a:srgbClr val="DDE5E0"/>
          </a:solidFill>
          <a:ln w="12700">
            <a:solidFill>
              <a:srgbClr val="FFFFFF"/>
            </a:solidFill>
            <a:prstDash val="solid"/>
          </a:ln>
        </p:spPr>
        <p:txBody>
          <a:bodyPr/>
          <a:p/>
        </p:txBody>
      </p:sp>
      <p:sp>
        <p:nvSpPr>
          <p:cNvPr id="10" name="Text 7"/>
          <p:cNvSpPr/>
          <p:nvPr/>
        </p:nvSpPr>
        <p:spPr>
          <a:xfrm>
            <a:off x="758952" y="2340864"/>
            <a:ext cx="1874520" cy="164592"/>
          </a:xfrm>
          <a:prstGeom prst="rect">
            <a:avLst/>
          </a:prstGeom>
          <a:noFill/>
          <a:ln/>
        </p:spPr>
        <p:txBody>
          <a:bodyPr wrap="square" lIns="0" tIns="0" rIns="0" bIns="0" rtlCol="0" anchor="ctr"/>
          <a:lstStyle/>
          <a:p>
            <a:pPr algn="ctr" indent="0" marL="0">
              <a:buNone/>
            </a:pPr>
            <a:r>
              <a:rPr lang="en-US" sz="1000" b="1" dirty="0">
                <a:solidFill>
                  <a:srgbClr val="14251D"/>
                </a:solidFill>
              </a:rPr>
              <a:t>Very weak</a:t>
            </a:r>
            <a:endParaRPr lang="en-US" sz="1000" dirty="0"/>
          </a:p>
        </p:txBody>
      </p:sp>
      <p:sp>
        <p:nvSpPr>
          <p:cNvPr id="11" name="Text 8"/>
          <p:cNvSpPr/>
          <p:nvPr/>
        </p:nvSpPr>
        <p:spPr>
          <a:xfrm>
            <a:off x="868680" y="2798064"/>
            <a:ext cx="1645920" cy="164592"/>
          </a:xfrm>
          <a:prstGeom prst="rect">
            <a:avLst/>
          </a:prstGeom>
          <a:noFill/>
          <a:ln/>
        </p:spPr>
        <p:txBody>
          <a:bodyPr wrap="square" lIns="0" tIns="0" rIns="0" bIns="0" rtlCol="0" anchor="ctr"/>
          <a:lstStyle/>
          <a:p>
            <a:pPr algn="ctr" indent="0" marL="0">
              <a:buNone/>
            </a:pPr>
            <a:r>
              <a:rPr lang="en-US" sz="900" dirty="0">
                <a:solidFill>
                  <a:srgbClr val="65736B"/>
                </a:solidFill>
              </a:rPr>
              <a:t>0.00–0.09</a:t>
            </a:r>
            <a:endParaRPr lang="en-US" sz="900" dirty="0"/>
          </a:p>
        </p:txBody>
      </p:sp>
      <p:sp>
        <p:nvSpPr>
          <p:cNvPr id="12" name="Shape 9"/>
          <p:cNvSpPr/>
          <p:nvPr/>
        </p:nvSpPr>
        <p:spPr>
          <a:xfrm>
            <a:off x="2862072" y="2176272"/>
            <a:ext cx="2029968" cy="512064"/>
          </a:xfrm>
          <a:prstGeom prst="rect">
            <a:avLst/>
          </a:prstGeom>
          <a:solidFill>
            <a:srgbClr val="AAC2B4"/>
          </a:solidFill>
          <a:ln w="12700">
            <a:solidFill>
              <a:srgbClr val="FFFFFF"/>
            </a:solidFill>
            <a:prstDash val="solid"/>
          </a:ln>
        </p:spPr>
        <p:txBody>
          <a:bodyPr/>
          <a:p/>
        </p:txBody>
      </p:sp>
      <p:sp>
        <p:nvSpPr>
          <p:cNvPr id="13" name="Text 10"/>
          <p:cNvSpPr/>
          <p:nvPr/>
        </p:nvSpPr>
        <p:spPr>
          <a:xfrm>
            <a:off x="2935224" y="2340864"/>
            <a:ext cx="1874520" cy="164592"/>
          </a:xfrm>
          <a:prstGeom prst="rect">
            <a:avLst/>
          </a:prstGeom>
          <a:noFill/>
          <a:ln/>
        </p:spPr>
        <p:txBody>
          <a:bodyPr wrap="square" lIns="0" tIns="0" rIns="0" bIns="0" rtlCol="0" anchor="ctr"/>
          <a:lstStyle/>
          <a:p>
            <a:pPr algn="ctr" indent="0" marL="0">
              <a:buNone/>
            </a:pPr>
            <a:r>
              <a:rPr lang="en-US" sz="1000" b="1" dirty="0">
                <a:solidFill>
                  <a:srgbClr val="14251D"/>
                </a:solidFill>
              </a:rPr>
              <a:t>Weak</a:t>
            </a:r>
            <a:endParaRPr lang="en-US" sz="1000" dirty="0"/>
          </a:p>
        </p:txBody>
      </p:sp>
      <p:sp>
        <p:nvSpPr>
          <p:cNvPr id="14" name="Text 11"/>
          <p:cNvSpPr/>
          <p:nvPr/>
        </p:nvSpPr>
        <p:spPr>
          <a:xfrm>
            <a:off x="3044952" y="2798064"/>
            <a:ext cx="1645920" cy="164592"/>
          </a:xfrm>
          <a:prstGeom prst="rect">
            <a:avLst/>
          </a:prstGeom>
          <a:noFill/>
          <a:ln/>
        </p:spPr>
        <p:txBody>
          <a:bodyPr wrap="square" lIns="0" tIns="0" rIns="0" bIns="0" rtlCol="0" anchor="ctr"/>
          <a:lstStyle/>
          <a:p>
            <a:pPr algn="ctr" indent="0" marL="0">
              <a:buNone/>
            </a:pPr>
            <a:r>
              <a:rPr lang="en-US" sz="900" dirty="0">
                <a:solidFill>
                  <a:srgbClr val="65736B"/>
                </a:solidFill>
              </a:rPr>
              <a:t>0.10–0.29</a:t>
            </a:r>
            <a:endParaRPr lang="en-US" sz="900" dirty="0"/>
          </a:p>
        </p:txBody>
      </p:sp>
      <p:sp>
        <p:nvSpPr>
          <p:cNvPr id="15" name="Shape 12"/>
          <p:cNvSpPr/>
          <p:nvPr/>
        </p:nvSpPr>
        <p:spPr>
          <a:xfrm>
            <a:off x="5038344" y="2176272"/>
            <a:ext cx="2029968" cy="512064"/>
          </a:xfrm>
          <a:prstGeom prst="rect">
            <a:avLst/>
          </a:prstGeom>
          <a:solidFill>
            <a:srgbClr val="6F9B82"/>
          </a:solidFill>
          <a:ln w="12700">
            <a:solidFill>
              <a:srgbClr val="FFFFFF"/>
            </a:solidFill>
            <a:prstDash val="solid"/>
          </a:ln>
        </p:spPr>
        <p:txBody>
          <a:bodyPr/>
          <a:p/>
        </p:txBody>
      </p:sp>
      <p:sp>
        <p:nvSpPr>
          <p:cNvPr id="16" name="Text 13"/>
          <p:cNvSpPr/>
          <p:nvPr/>
        </p:nvSpPr>
        <p:spPr>
          <a:xfrm>
            <a:off x="5111496" y="2340864"/>
            <a:ext cx="1874520" cy="164592"/>
          </a:xfrm>
          <a:prstGeom prst="rect">
            <a:avLst/>
          </a:prstGeom>
          <a:noFill/>
          <a:ln/>
        </p:spPr>
        <p:txBody>
          <a:bodyPr wrap="square" lIns="0" tIns="0" rIns="0" bIns="0" rtlCol="0" anchor="ctr"/>
          <a:lstStyle/>
          <a:p>
            <a:pPr algn="ctr" indent="0" marL="0">
              <a:buNone/>
            </a:pPr>
            <a:r>
              <a:rPr lang="en-US" sz="1000" b="1" dirty="0">
                <a:solidFill>
                  <a:srgbClr val="14251D"/>
                </a:solidFill>
              </a:rPr>
              <a:t>Moderate</a:t>
            </a:r>
            <a:endParaRPr lang="en-US" sz="1000" dirty="0"/>
          </a:p>
        </p:txBody>
      </p:sp>
      <p:sp>
        <p:nvSpPr>
          <p:cNvPr id="17" name="Text 14"/>
          <p:cNvSpPr/>
          <p:nvPr/>
        </p:nvSpPr>
        <p:spPr>
          <a:xfrm>
            <a:off x="5221224" y="2798064"/>
            <a:ext cx="1645920" cy="164592"/>
          </a:xfrm>
          <a:prstGeom prst="rect">
            <a:avLst/>
          </a:prstGeom>
          <a:noFill/>
          <a:ln/>
        </p:spPr>
        <p:txBody>
          <a:bodyPr wrap="square" lIns="0" tIns="0" rIns="0" bIns="0" rtlCol="0" anchor="ctr"/>
          <a:lstStyle/>
          <a:p>
            <a:pPr algn="ctr" indent="0" marL="0">
              <a:buNone/>
            </a:pPr>
            <a:r>
              <a:rPr lang="en-US" sz="900" dirty="0">
                <a:solidFill>
                  <a:srgbClr val="65736B"/>
                </a:solidFill>
              </a:rPr>
              <a:t>0.30–0.49</a:t>
            </a:r>
            <a:endParaRPr lang="en-US" sz="900" dirty="0"/>
          </a:p>
        </p:txBody>
      </p:sp>
      <p:sp>
        <p:nvSpPr>
          <p:cNvPr id="18" name="Shape 15"/>
          <p:cNvSpPr/>
          <p:nvPr/>
        </p:nvSpPr>
        <p:spPr>
          <a:xfrm>
            <a:off x="7214616" y="2176272"/>
            <a:ext cx="2029968" cy="512064"/>
          </a:xfrm>
          <a:prstGeom prst="rect">
            <a:avLst/>
          </a:prstGeom>
          <a:solidFill>
            <a:srgbClr val="397052"/>
          </a:solidFill>
          <a:ln w="12700">
            <a:solidFill>
              <a:srgbClr val="FFFFFF"/>
            </a:solidFill>
            <a:prstDash val="solid"/>
          </a:ln>
        </p:spPr>
        <p:txBody>
          <a:bodyPr/>
          <a:p/>
        </p:txBody>
      </p:sp>
      <p:sp>
        <p:nvSpPr>
          <p:cNvPr id="19" name="Text 16"/>
          <p:cNvSpPr/>
          <p:nvPr/>
        </p:nvSpPr>
        <p:spPr>
          <a:xfrm>
            <a:off x="7287768" y="2340864"/>
            <a:ext cx="1874520" cy="164592"/>
          </a:xfrm>
          <a:prstGeom prst="rect">
            <a:avLst/>
          </a:prstGeom>
          <a:noFill/>
          <a:ln/>
        </p:spPr>
        <p:txBody>
          <a:bodyPr wrap="square" lIns="0" tIns="0" rIns="0" bIns="0" rtlCol="0" anchor="ctr"/>
          <a:lstStyle/>
          <a:p>
            <a:pPr algn="ctr" indent="0" marL="0">
              <a:buNone/>
            </a:pPr>
            <a:r>
              <a:rPr lang="en-US" sz="1000" b="1" dirty="0">
                <a:solidFill>
                  <a:srgbClr val="FFFFFF"/>
                </a:solidFill>
              </a:rPr>
              <a:t>Strong</a:t>
            </a:r>
            <a:endParaRPr lang="en-US" sz="1000" dirty="0"/>
          </a:p>
        </p:txBody>
      </p:sp>
      <p:sp>
        <p:nvSpPr>
          <p:cNvPr id="20" name="Text 17"/>
          <p:cNvSpPr/>
          <p:nvPr/>
        </p:nvSpPr>
        <p:spPr>
          <a:xfrm>
            <a:off x="7397496" y="2798064"/>
            <a:ext cx="1645920" cy="164592"/>
          </a:xfrm>
          <a:prstGeom prst="rect">
            <a:avLst/>
          </a:prstGeom>
          <a:noFill/>
          <a:ln/>
        </p:spPr>
        <p:txBody>
          <a:bodyPr wrap="square" lIns="0" tIns="0" rIns="0" bIns="0" rtlCol="0" anchor="ctr"/>
          <a:lstStyle/>
          <a:p>
            <a:pPr algn="ctr" indent="0" marL="0">
              <a:buNone/>
            </a:pPr>
            <a:r>
              <a:rPr lang="en-US" sz="900" dirty="0">
                <a:solidFill>
                  <a:srgbClr val="65736B"/>
                </a:solidFill>
              </a:rPr>
              <a:t>0.50–0.69</a:t>
            </a:r>
            <a:endParaRPr lang="en-US" sz="900" dirty="0"/>
          </a:p>
        </p:txBody>
      </p:sp>
      <p:sp>
        <p:nvSpPr>
          <p:cNvPr id="21" name="Shape 18"/>
          <p:cNvSpPr/>
          <p:nvPr/>
        </p:nvSpPr>
        <p:spPr>
          <a:xfrm>
            <a:off x="9390888" y="2176272"/>
            <a:ext cx="2029968" cy="512064"/>
          </a:xfrm>
          <a:prstGeom prst="rect">
            <a:avLst/>
          </a:prstGeom>
          <a:solidFill>
            <a:srgbClr val="123524"/>
          </a:solidFill>
          <a:ln w="12700">
            <a:solidFill>
              <a:srgbClr val="FFFFFF"/>
            </a:solidFill>
            <a:prstDash val="solid"/>
          </a:ln>
        </p:spPr>
        <p:txBody>
          <a:bodyPr/>
          <a:p/>
        </p:txBody>
      </p:sp>
      <p:sp>
        <p:nvSpPr>
          <p:cNvPr id="22" name="Text 19"/>
          <p:cNvSpPr/>
          <p:nvPr/>
        </p:nvSpPr>
        <p:spPr>
          <a:xfrm>
            <a:off x="9464040" y="2340864"/>
            <a:ext cx="1874520" cy="164592"/>
          </a:xfrm>
          <a:prstGeom prst="rect">
            <a:avLst/>
          </a:prstGeom>
          <a:noFill/>
          <a:ln/>
        </p:spPr>
        <p:txBody>
          <a:bodyPr wrap="square" lIns="0" tIns="0" rIns="0" bIns="0" rtlCol="0" anchor="ctr"/>
          <a:lstStyle/>
          <a:p>
            <a:pPr algn="ctr" indent="0" marL="0">
              <a:buNone/>
            </a:pPr>
            <a:r>
              <a:rPr lang="en-US" sz="1000" b="1" dirty="0">
                <a:solidFill>
                  <a:srgbClr val="FFFFFF"/>
                </a:solidFill>
              </a:rPr>
              <a:t>Very strong</a:t>
            </a:r>
            <a:endParaRPr lang="en-US" sz="1000" dirty="0"/>
          </a:p>
        </p:txBody>
      </p:sp>
      <p:sp>
        <p:nvSpPr>
          <p:cNvPr id="23" name="Text 20"/>
          <p:cNvSpPr/>
          <p:nvPr/>
        </p:nvSpPr>
        <p:spPr>
          <a:xfrm>
            <a:off x="9573768" y="2798064"/>
            <a:ext cx="1645920" cy="164592"/>
          </a:xfrm>
          <a:prstGeom prst="rect">
            <a:avLst/>
          </a:prstGeom>
          <a:noFill/>
          <a:ln/>
        </p:spPr>
        <p:txBody>
          <a:bodyPr wrap="square" lIns="0" tIns="0" rIns="0" bIns="0" rtlCol="0" anchor="ctr"/>
          <a:lstStyle/>
          <a:p>
            <a:pPr algn="ctr" indent="0" marL="0">
              <a:buNone/>
            </a:pPr>
            <a:r>
              <a:rPr lang="en-US" sz="900" dirty="0">
                <a:solidFill>
                  <a:srgbClr val="65736B"/>
                </a:solidFill>
              </a:rPr>
              <a:t>0.70–1.00</a:t>
            </a:r>
            <a:endParaRPr lang="en-US" sz="900" dirty="0"/>
          </a:p>
        </p:txBody>
      </p:sp>
      <p:sp>
        <p:nvSpPr>
          <p:cNvPr id="24" name="Shape 21"/>
          <p:cNvSpPr/>
          <p:nvPr/>
        </p:nvSpPr>
        <p:spPr>
          <a:xfrm>
            <a:off x="3612886" y="3218688"/>
            <a:ext cx="0" cy="502920"/>
          </a:xfrm>
          <a:prstGeom prst="line">
            <a:avLst/>
          </a:prstGeom>
          <a:noFill/>
          <a:ln w="29210">
            <a:solidFill>
              <a:srgbClr val="0B2D20"/>
            </a:solidFill>
            <a:prstDash val="solid"/>
          </a:ln>
        </p:spPr>
        <p:txBody>
          <a:bodyPr/>
          <a:p/>
        </p:txBody>
      </p:sp>
      <p:sp>
        <p:nvSpPr>
          <p:cNvPr id="25" name="Text 22"/>
          <p:cNvSpPr/>
          <p:nvPr/>
        </p:nvSpPr>
        <p:spPr>
          <a:xfrm>
            <a:off x="2835646" y="3794760"/>
            <a:ext cx="1554480" cy="329184"/>
          </a:xfrm>
          <a:prstGeom prst="rect">
            <a:avLst/>
          </a:prstGeom>
          <a:noFill/>
          <a:ln/>
        </p:spPr>
        <p:txBody>
          <a:bodyPr wrap="square" lIns="0" tIns="0" rIns="0" bIns="0" rtlCol="0" anchor="ctr">
            <a:normAutofit/>
          </a:bodyPr>
          <a:lstStyle/>
          <a:p>
            <a:pPr algn="ctr" indent="0" marL="0">
              <a:buNone/>
            </a:pPr>
            <a:r>
              <a:rPr lang="en-US" sz="850" b="1" dirty="0">
                <a:solidFill>
                  <a:srgbClr val="14251D"/>
                </a:solidFill>
              </a:rPr>
              <a:t>King × recognition</a:t>
            </a:r>
            <a:endParaRPr lang="en-US" sz="850" dirty="0"/>
          </a:p>
          <a:p>
            <a:pPr algn="ctr" indent="0" marL="0">
              <a:buNone/>
            </a:pPr>
            <a:r>
              <a:rPr lang="en-US" sz="850" b="1" dirty="0">
                <a:solidFill>
                  <a:srgbClr val="14251D"/>
                </a:solidFill>
              </a:rPr>
              <a:t>0.269</a:t>
            </a:r>
            <a:endParaRPr lang="en-US" sz="850" dirty="0"/>
          </a:p>
        </p:txBody>
      </p:sp>
      <p:sp>
        <p:nvSpPr>
          <p:cNvPr id="26" name="Shape 23"/>
          <p:cNvSpPr/>
          <p:nvPr/>
        </p:nvSpPr>
        <p:spPr>
          <a:xfrm>
            <a:off x="2949123" y="3218688"/>
            <a:ext cx="0" cy="502920"/>
          </a:xfrm>
          <a:prstGeom prst="line">
            <a:avLst/>
          </a:prstGeom>
          <a:noFill/>
          <a:ln w="29210">
            <a:solidFill>
              <a:srgbClr val="0B2D20"/>
            </a:solidFill>
            <a:prstDash val="solid"/>
          </a:ln>
        </p:spPr>
        <p:txBody>
          <a:bodyPr/>
          <a:p/>
        </p:txBody>
      </p:sp>
      <p:sp>
        <p:nvSpPr>
          <p:cNvPr id="27" name="Text 24"/>
          <p:cNvSpPr/>
          <p:nvPr/>
        </p:nvSpPr>
        <p:spPr>
          <a:xfrm>
            <a:off x="2171883" y="4270248"/>
            <a:ext cx="1554480" cy="329184"/>
          </a:xfrm>
          <a:prstGeom prst="rect">
            <a:avLst/>
          </a:prstGeom>
          <a:noFill/>
          <a:ln/>
        </p:spPr>
        <p:txBody>
          <a:bodyPr wrap="square" lIns="0" tIns="0" rIns="0" bIns="0" rtlCol="0" anchor="ctr">
            <a:normAutofit/>
          </a:bodyPr>
          <a:lstStyle/>
          <a:p>
            <a:pPr algn="ctr" indent="0" marL="0">
              <a:buNone/>
            </a:pPr>
            <a:r>
              <a:rPr lang="en-US" sz="850" b="1" dirty="0">
                <a:solidFill>
                  <a:srgbClr val="14251D"/>
                </a:solidFill>
              </a:rPr>
              <a:t>Continent × leadership</a:t>
            </a:r>
            <a:endParaRPr lang="en-US" sz="850" dirty="0"/>
          </a:p>
          <a:p>
            <a:pPr algn="ctr" indent="0" marL="0">
              <a:buNone/>
            </a:pPr>
            <a:r>
              <a:rPr lang="en-US" sz="850" b="1" dirty="0">
                <a:solidFill>
                  <a:srgbClr val="14251D"/>
                </a:solidFill>
              </a:rPr>
              <a:t>0.208</a:t>
            </a:r>
            <a:endParaRPr lang="en-US" sz="850" dirty="0"/>
          </a:p>
        </p:txBody>
      </p:sp>
      <p:sp>
        <p:nvSpPr>
          <p:cNvPr id="28" name="Shape 25"/>
          <p:cNvSpPr/>
          <p:nvPr/>
        </p:nvSpPr>
        <p:spPr>
          <a:xfrm>
            <a:off x="3536716" y="3218688"/>
            <a:ext cx="0" cy="502920"/>
          </a:xfrm>
          <a:prstGeom prst="line">
            <a:avLst/>
          </a:prstGeom>
          <a:noFill/>
          <a:ln w="29210">
            <a:solidFill>
              <a:srgbClr val="0B2D20"/>
            </a:solidFill>
            <a:prstDash val="solid"/>
          </a:ln>
        </p:spPr>
        <p:txBody>
          <a:bodyPr/>
          <a:p/>
        </p:txBody>
      </p:sp>
      <p:sp>
        <p:nvSpPr>
          <p:cNvPr id="29" name="Text 26"/>
          <p:cNvSpPr/>
          <p:nvPr/>
        </p:nvSpPr>
        <p:spPr>
          <a:xfrm>
            <a:off x="2759476" y="3794760"/>
            <a:ext cx="1554480" cy="329184"/>
          </a:xfrm>
          <a:prstGeom prst="rect">
            <a:avLst/>
          </a:prstGeom>
          <a:noFill/>
          <a:ln/>
        </p:spPr>
        <p:txBody>
          <a:bodyPr wrap="square" lIns="0" tIns="0" rIns="0" bIns="0" rtlCol="0" anchor="ctr">
            <a:normAutofit/>
          </a:bodyPr>
          <a:lstStyle/>
          <a:p>
            <a:pPr algn="ctr" indent="0" marL="0">
              <a:buNone/>
            </a:pPr>
            <a:r>
              <a:rPr lang="en-US" sz="850" b="1" dirty="0">
                <a:solidFill>
                  <a:srgbClr val="14251D"/>
                </a:solidFill>
              </a:rPr>
              <a:t>Continent × recognition</a:t>
            </a:r>
            <a:endParaRPr lang="en-US" sz="850" dirty="0"/>
          </a:p>
          <a:p>
            <a:pPr algn="ctr" indent="0" marL="0">
              <a:buNone/>
            </a:pPr>
            <a:r>
              <a:rPr lang="en-US" sz="850" b="1" dirty="0">
                <a:solidFill>
                  <a:srgbClr val="14251D"/>
                </a:solidFill>
              </a:rPr>
              <a:t>0.262</a:t>
            </a:r>
            <a:endParaRPr lang="en-US" sz="850" dirty="0"/>
          </a:p>
        </p:txBody>
      </p:sp>
      <p:sp>
        <p:nvSpPr>
          <p:cNvPr id="30" name="Shape 27"/>
          <p:cNvSpPr/>
          <p:nvPr/>
        </p:nvSpPr>
        <p:spPr>
          <a:xfrm>
            <a:off x="3961089" y="3218688"/>
            <a:ext cx="0" cy="502920"/>
          </a:xfrm>
          <a:prstGeom prst="line">
            <a:avLst/>
          </a:prstGeom>
          <a:noFill/>
          <a:ln w="29210">
            <a:solidFill>
              <a:srgbClr val="C8A96A"/>
            </a:solidFill>
            <a:prstDash val="solid"/>
          </a:ln>
        </p:spPr>
        <p:txBody>
          <a:bodyPr/>
          <a:p/>
        </p:txBody>
      </p:sp>
      <p:sp>
        <p:nvSpPr>
          <p:cNvPr id="31" name="Text 28"/>
          <p:cNvSpPr/>
          <p:nvPr/>
        </p:nvSpPr>
        <p:spPr>
          <a:xfrm>
            <a:off x="3183849" y="4270248"/>
            <a:ext cx="1554480" cy="329184"/>
          </a:xfrm>
          <a:prstGeom prst="rect">
            <a:avLst/>
          </a:prstGeom>
          <a:noFill/>
          <a:ln/>
        </p:spPr>
        <p:txBody>
          <a:bodyPr wrap="square" lIns="0" tIns="0" rIns="0" bIns="0" rtlCol="0" anchor="ctr">
            <a:normAutofit/>
          </a:bodyPr>
          <a:lstStyle/>
          <a:p>
            <a:pPr algn="ctr" indent="0" marL="0">
              <a:buNone/>
            </a:pPr>
            <a:r>
              <a:rPr lang="en-US" sz="850" b="1" dirty="0">
                <a:solidFill>
                  <a:srgbClr val="C8A96A"/>
                </a:solidFill>
              </a:rPr>
              <a:t>Region × recognition</a:t>
            </a:r>
            <a:endParaRPr lang="en-US" sz="850" dirty="0"/>
          </a:p>
          <a:p>
            <a:pPr algn="ctr" indent="0" marL="0">
              <a:buNone/>
            </a:pPr>
            <a:r>
              <a:rPr lang="en-US" sz="850" b="1" dirty="0">
                <a:solidFill>
                  <a:srgbClr val="C8A96A"/>
                </a:solidFill>
              </a:rPr>
              <a:t>0.301</a:t>
            </a:r>
            <a:endParaRPr lang="en-US" sz="850" dirty="0"/>
          </a:p>
        </p:txBody>
      </p:sp>
      <p:sp>
        <p:nvSpPr>
          <p:cNvPr id="32" name="Shape 29"/>
          <p:cNvSpPr/>
          <p:nvPr/>
        </p:nvSpPr>
        <p:spPr>
          <a:xfrm>
            <a:off x="713232" y="5623560"/>
            <a:ext cx="10744200" cy="438912"/>
          </a:xfrm>
          <a:prstGeom prst="roundRect">
            <a:avLst/>
          </a:prstGeom>
          <a:solidFill>
            <a:srgbClr val="E7F2EB"/>
          </a:solidFill>
          <a:ln w="10160">
            <a:solidFill>
              <a:srgbClr val="5B9B78"/>
            </a:solidFill>
            <a:prstDash val="solid"/>
          </a:ln>
        </p:spPr>
        <p:txBody>
          <a:bodyPr/>
          <a:p/>
        </p:txBody>
      </p:sp>
      <p:sp>
        <p:nvSpPr>
          <p:cNvPr id="33" name="Text 30"/>
          <p:cNvSpPr/>
          <p:nvPr/>
        </p:nvSpPr>
        <p:spPr>
          <a:xfrm>
            <a:off x="868680" y="5724144"/>
            <a:ext cx="10433304" cy="201168"/>
          </a:xfrm>
          <a:prstGeom prst="rect">
            <a:avLst/>
          </a:prstGeom>
          <a:noFill/>
          <a:ln/>
        </p:spPr>
        <p:txBody>
          <a:bodyPr wrap="square" lIns="0" tIns="0" rIns="0" bIns="0" rtlCol="0" anchor="ctr">
            <a:normAutofit/>
          </a:bodyPr>
          <a:lstStyle/>
          <a:p>
            <a:pPr indent="0" marL="0">
              <a:buNone/>
            </a:pPr>
            <a:r>
              <a:rPr lang="en-US" sz="1050" b="1" dirty="0">
                <a:solidFill>
                  <a:srgbClr val="14251D"/>
                </a:solidFill>
                <a:latin typeface="Aptos" pitchFamily="34" charset="0"/>
                <a:ea typeface="Aptos" pitchFamily="34" charset="-122"/>
                <a:cs typeface="Aptos" pitchFamily="34" charset="-120"/>
              </a:rPr>
              <a:t>The most defensible conclusion is that several variables are associated, but most measured relationships are modest.</a:t>
            </a:r>
            <a:endParaRPr lang="en-US" sz="10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DISCUSSION</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txBody>
          <a:bodyPr/>
          <a:p/>
        </p:txBody>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What the combined results suggest</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Patterns vary by leadership form, population distribution, continent, and region.</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566928" y="1664208"/>
            <a:ext cx="3520440" cy="1691640"/>
          </a:xfrm>
          <a:prstGeom prst="roundRect">
            <a:avLst>
              <a:gd name="adj" fmla="val 540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9" name="Text 6"/>
          <p:cNvSpPr/>
          <p:nvPr/>
        </p:nvSpPr>
        <p:spPr>
          <a:xfrm>
            <a:off x="768096" y="1874520"/>
            <a:ext cx="502920" cy="292608"/>
          </a:xfrm>
          <a:prstGeom prst="rect">
            <a:avLst/>
          </a:prstGeom>
          <a:noFill/>
          <a:ln/>
        </p:spPr>
        <p:txBody>
          <a:bodyPr wrap="square" lIns="0" tIns="0" rIns="0" bIns="0" rtlCol="0" anchor="ctr"/>
          <a:lstStyle/>
          <a:p>
            <a:pPr indent="0" marL="0">
              <a:buNone/>
            </a:pPr>
            <a:r>
              <a:rPr lang="en-US" sz="2100" b="1" dirty="0">
                <a:solidFill>
                  <a:srgbClr val="C8A96A"/>
                </a:solidFill>
                <a:latin typeface="Georgia" pitchFamily="34" charset="0"/>
                <a:ea typeface="Georgia" pitchFamily="34" charset="-122"/>
                <a:cs typeface="Georgia" pitchFamily="34" charset="-120"/>
              </a:rPr>
              <a:t>01</a:t>
            </a:r>
            <a:endParaRPr lang="en-US" sz="2100" dirty="0"/>
          </a:p>
        </p:txBody>
      </p:sp>
      <p:sp>
        <p:nvSpPr>
          <p:cNvPr id="10" name="Text 7"/>
          <p:cNvSpPr/>
          <p:nvPr/>
        </p:nvSpPr>
        <p:spPr>
          <a:xfrm>
            <a:off x="1389888" y="1892808"/>
            <a:ext cx="2468880" cy="237744"/>
          </a:xfrm>
          <a:prstGeom prst="rect">
            <a:avLst/>
          </a:prstGeom>
          <a:noFill/>
          <a:ln/>
        </p:spPr>
        <p:txBody>
          <a:bodyPr wrap="square" lIns="0" tIns="0" rIns="0" bIns="0" rtlCol="0" anchor="ctr">
            <a:normAutofit/>
          </a:bodyPr>
          <a:lstStyle/>
          <a:p>
            <a:pPr indent="0" marL="0">
              <a:buNone/>
            </a:pPr>
            <a:r>
              <a:rPr lang="en-US" sz="1100" b="1" dirty="0">
                <a:solidFill>
                  <a:srgbClr val="123524"/>
                </a:solidFill>
              </a:rPr>
              <a:t>Leadership &amp; recognition</a:t>
            </a:r>
            <a:endParaRPr lang="en-US" sz="1100" dirty="0"/>
          </a:p>
        </p:txBody>
      </p:sp>
      <p:sp>
        <p:nvSpPr>
          <p:cNvPr id="11" name="Text 8"/>
          <p:cNvSpPr/>
          <p:nvPr/>
        </p:nvSpPr>
        <p:spPr>
          <a:xfrm>
            <a:off x="795528" y="2423160"/>
            <a:ext cx="3063240" cy="603504"/>
          </a:xfrm>
          <a:prstGeom prst="rect">
            <a:avLst/>
          </a:prstGeom>
          <a:noFill/>
          <a:ln/>
        </p:spPr>
        <p:txBody>
          <a:bodyPr wrap="square" lIns="0" tIns="0" rIns="0" bIns="0" rtlCol="0" anchor="ctr">
            <a:normAutofit/>
          </a:bodyPr>
          <a:lstStyle/>
          <a:p>
            <a:pPr indent="0" marL="0">
              <a:buNone/>
            </a:pPr>
            <a:r>
              <a:rPr lang="en-US" sz="1150" dirty="0">
                <a:solidFill>
                  <a:srgbClr val="14251D"/>
                </a:solidFill>
              </a:rPr>
              <a:t>All three indicators are significant; effects range from very weak to weak.</a:t>
            </a:r>
            <a:endParaRPr lang="en-US" sz="1150" dirty="0"/>
          </a:p>
        </p:txBody>
      </p:sp>
      <p:sp>
        <p:nvSpPr>
          <p:cNvPr id="12" name="Shape 9"/>
          <p:cNvSpPr/>
          <p:nvPr/>
        </p:nvSpPr>
        <p:spPr>
          <a:xfrm>
            <a:off x="4343400" y="1664208"/>
            <a:ext cx="3520440" cy="1691640"/>
          </a:xfrm>
          <a:prstGeom prst="roundRect">
            <a:avLst>
              <a:gd name="adj" fmla="val 540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13" name="Text 10"/>
          <p:cNvSpPr/>
          <p:nvPr/>
        </p:nvSpPr>
        <p:spPr>
          <a:xfrm>
            <a:off x="4544568" y="1874520"/>
            <a:ext cx="502920" cy="292608"/>
          </a:xfrm>
          <a:prstGeom prst="rect">
            <a:avLst/>
          </a:prstGeom>
          <a:noFill/>
          <a:ln/>
        </p:spPr>
        <p:txBody>
          <a:bodyPr wrap="square" lIns="0" tIns="0" rIns="0" bIns="0" rtlCol="0" anchor="ctr"/>
          <a:lstStyle/>
          <a:p>
            <a:pPr indent="0" marL="0">
              <a:buNone/>
            </a:pPr>
            <a:r>
              <a:rPr lang="en-US" sz="2100" b="1" dirty="0">
                <a:solidFill>
                  <a:srgbClr val="C8A96A"/>
                </a:solidFill>
                <a:latin typeface="Georgia" pitchFamily="34" charset="0"/>
                <a:ea typeface="Georgia" pitchFamily="34" charset="-122"/>
                <a:cs typeface="Georgia" pitchFamily="34" charset="-120"/>
              </a:rPr>
              <a:t>02</a:t>
            </a:r>
            <a:endParaRPr lang="en-US" sz="2100" dirty="0"/>
          </a:p>
        </p:txBody>
      </p:sp>
      <p:sp>
        <p:nvSpPr>
          <p:cNvPr id="14" name="Text 11"/>
          <p:cNvSpPr/>
          <p:nvPr/>
        </p:nvSpPr>
        <p:spPr>
          <a:xfrm>
            <a:off x="5166360" y="1892808"/>
            <a:ext cx="2468880" cy="237744"/>
          </a:xfrm>
          <a:prstGeom prst="rect">
            <a:avLst/>
          </a:prstGeom>
          <a:noFill/>
          <a:ln/>
        </p:spPr>
        <p:txBody>
          <a:bodyPr wrap="square" lIns="0" tIns="0" rIns="0" bIns="0" rtlCol="0" anchor="ctr">
            <a:normAutofit/>
          </a:bodyPr>
          <a:lstStyle/>
          <a:p>
            <a:pPr indent="0" marL="0">
              <a:buNone/>
            </a:pPr>
            <a:r>
              <a:rPr lang="en-US" sz="1100" b="1" dirty="0">
                <a:solidFill>
                  <a:srgbClr val="123524"/>
                </a:solidFill>
              </a:rPr>
              <a:t>Functions</a:t>
            </a:r>
            <a:endParaRPr lang="en-US" sz="1100" dirty="0"/>
          </a:p>
        </p:txBody>
      </p:sp>
      <p:sp>
        <p:nvSpPr>
          <p:cNvPr id="15" name="Text 12"/>
          <p:cNvSpPr/>
          <p:nvPr/>
        </p:nvSpPr>
        <p:spPr>
          <a:xfrm>
            <a:off x="4572000" y="2423160"/>
            <a:ext cx="3063240" cy="603504"/>
          </a:xfrm>
          <a:prstGeom prst="rect">
            <a:avLst/>
          </a:prstGeom>
          <a:noFill/>
          <a:ln/>
        </p:spPr>
        <p:txBody>
          <a:bodyPr wrap="square" lIns="0" tIns="0" rIns="0" bIns="0" rtlCol="0" anchor="ctr">
            <a:normAutofit/>
          </a:bodyPr>
          <a:lstStyle/>
          <a:p>
            <a:pPr indent="0" marL="0">
              <a:buNone/>
            </a:pPr>
            <a:r>
              <a:rPr lang="en-US" sz="1150" dirty="0">
                <a:solidFill>
                  <a:srgbClr val="14251D"/>
                </a:solidFill>
              </a:rPr>
              <a:t>Land and security show more consistent relationships than healing, which has extensive missingness.</a:t>
            </a:r>
            <a:endParaRPr lang="en-US" sz="1150" dirty="0"/>
          </a:p>
        </p:txBody>
      </p:sp>
      <p:sp>
        <p:nvSpPr>
          <p:cNvPr id="16" name="Shape 13"/>
          <p:cNvSpPr/>
          <p:nvPr/>
        </p:nvSpPr>
        <p:spPr>
          <a:xfrm>
            <a:off x="8119872" y="1664208"/>
            <a:ext cx="3520440" cy="1691640"/>
          </a:xfrm>
          <a:prstGeom prst="roundRect">
            <a:avLst>
              <a:gd name="adj" fmla="val 540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17" name="Text 14"/>
          <p:cNvSpPr/>
          <p:nvPr/>
        </p:nvSpPr>
        <p:spPr>
          <a:xfrm>
            <a:off x="8321040" y="1874520"/>
            <a:ext cx="502920" cy="292608"/>
          </a:xfrm>
          <a:prstGeom prst="rect">
            <a:avLst/>
          </a:prstGeom>
          <a:noFill/>
          <a:ln/>
        </p:spPr>
        <p:txBody>
          <a:bodyPr wrap="square" lIns="0" tIns="0" rIns="0" bIns="0" rtlCol="0" anchor="ctr"/>
          <a:lstStyle/>
          <a:p>
            <a:pPr indent="0" marL="0">
              <a:buNone/>
            </a:pPr>
            <a:r>
              <a:rPr lang="en-US" sz="2100" b="1" dirty="0">
                <a:solidFill>
                  <a:srgbClr val="C8A96A"/>
                </a:solidFill>
                <a:latin typeface="Georgia" pitchFamily="34" charset="0"/>
                <a:ea typeface="Georgia" pitchFamily="34" charset="-122"/>
                <a:cs typeface="Georgia" pitchFamily="34" charset="-120"/>
              </a:rPr>
              <a:t>03</a:t>
            </a:r>
            <a:endParaRPr lang="en-US" sz="2100" dirty="0"/>
          </a:p>
        </p:txBody>
      </p:sp>
      <p:sp>
        <p:nvSpPr>
          <p:cNvPr id="18" name="Text 15"/>
          <p:cNvSpPr/>
          <p:nvPr/>
        </p:nvSpPr>
        <p:spPr>
          <a:xfrm>
            <a:off x="8942832" y="1892808"/>
            <a:ext cx="2468880" cy="237744"/>
          </a:xfrm>
          <a:prstGeom prst="rect">
            <a:avLst/>
          </a:prstGeom>
          <a:noFill/>
          <a:ln/>
        </p:spPr>
        <p:txBody>
          <a:bodyPr wrap="square" lIns="0" tIns="0" rIns="0" bIns="0" rtlCol="0" anchor="ctr">
            <a:normAutofit/>
          </a:bodyPr>
          <a:lstStyle/>
          <a:p>
            <a:pPr indent="0" marL="0">
              <a:buNone/>
            </a:pPr>
            <a:r>
              <a:rPr lang="en-US" sz="1100" b="1" dirty="0">
                <a:solidFill>
                  <a:srgbClr val="123524"/>
                </a:solidFill>
              </a:rPr>
              <a:t>Population</a:t>
            </a:r>
            <a:endParaRPr lang="en-US" sz="1100" dirty="0"/>
          </a:p>
        </p:txBody>
      </p:sp>
      <p:sp>
        <p:nvSpPr>
          <p:cNvPr id="19" name="Text 16"/>
          <p:cNvSpPr/>
          <p:nvPr/>
        </p:nvSpPr>
        <p:spPr>
          <a:xfrm>
            <a:off x="8348472" y="2423160"/>
            <a:ext cx="3063240" cy="603504"/>
          </a:xfrm>
          <a:prstGeom prst="rect">
            <a:avLst/>
          </a:prstGeom>
          <a:noFill/>
          <a:ln/>
        </p:spPr>
        <p:txBody>
          <a:bodyPr wrap="square" lIns="0" tIns="0" rIns="0" bIns="0" rtlCol="0" anchor="ctr">
            <a:normAutofit/>
          </a:bodyPr>
          <a:lstStyle/>
          <a:p>
            <a:pPr indent="0" marL="0">
              <a:buNone/>
            </a:pPr>
            <a:r>
              <a:rPr lang="en-US" sz="1150" dirty="0">
                <a:solidFill>
                  <a:srgbClr val="14251D"/>
                </a:solidFill>
              </a:rPr>
              <a:t>Recognized and function-present groups often rank higher, but effects are small or negligible.</a:t>
            </a:r>
            <a:endParaRPr lang="en-US" sz="1150" dirty="0"/>
          </a:p>
        </p:txBody>
      </p:sp>
      <p:sp>
        <p:nvSpPr>
          <p:cNvPr id="20" name="Shape 17"/>
          <p:cNvSpPr/>
          <p:nvPr/>
        </p:nvSpPr>
        <p:spPr>
          <a:xfrm>
            <a:off x="2468880" y="4005072"/>
            <a:ext cx="3566160" cy="1691640"/>
          </a:xfrm>
          <a:prstGeom prst="roundRect">
            <a:avLst>
              <a:gd name="adj" fmla="val 540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21" name="Text 18"/>
          <p:cNvSpPr/>
          <p:nvPr/>
        </p:nvSpPr>
        <p:spPr>
          <a:xfrm>
            <a:off x="2670048" y="4215384"/>
            <a:ext cx="502920" cy="292608"/>
          </a:xfrm>
          <a:prstGeom prst="rect">
            <a:avLst/>
          </a:prstGeom>
          <a:noFill/>
          <a:ln/>
        </p:spPr>
        <p:txBody>
          <a:bodyPr wrap="square" lIns="0" tIns="0" rIns="0" bIns="0" rtlCol="0" anchor="ctr"/>
          <a:lstStyle/>
          <a:p>
            <a:pPr indent="0" marL="0">
              <a:buNone/>
            </a:pPr>
            <a:r>
              <a:rPr lang="en-US" sz="2100" b="1" dirty="0">
                <a:solidFill>
                  <a:srgbClr val="C8A96A"/>
                </a:solidFill>
                <a:latin typeface="Georgia" pitchFamily="34" charset="0"/>
                <a:ea typeface="Georgia" pitchFamily="34" charset="-122"/>
                <a:cs typeface="Georgia" pitchFamily="34" charset="-120"/>
              </a:rPr>
              <a:t>04</a:t>
            </a:r>
            <a:endParaRPr lang="en-US" sz="2100" dirty="0"/>
          </a:p>
        </p:txBody>
      </p:sp>
      <p:sp>
        <p:nvSpPr>
          <p:cNvPr id="22" name="Text 19"/>
          <p:cNvSpPr/>
          <p:nvPr/>
        </p:nvSpPr>
        <p:spPr>
          <a:xfrm>
            <a:off x="3291840" y="4233672"/>
            <a:ext cx="2514600" cy="237744"/>
          </a:xfrm>
          <a:prstGeom prst="rect">
            <a:avLst/>
          </a:prstGeom>
          <a:noFill/>
          <a:ln/>
        </p:spPr>
        <p:txBody>
          <a:bodyPr wrap="square" lIns="0" tIns="0" rIns="0" bIns="0" rtlCol="0" anchor="ctr">
            <a:normAutofit/>
          </a:bodyPr>
          <a:lstStyle/>
          <a:p>
            <a:pPr indent="0" marL="0">
              <a:buNone/>
            </a:pPr>
            <a:r>
              <a:rPr lang="en-US" sz="1100" b="1" dirty="0">
                <a:solidFill>
                  <a:srgbClr val="123524"/>
                </a:solidFill>
              </a:rPr>
              <a:t>Geography</a:t>
            </a:r>
            <a:endParaRPr lang="en-US" sz="1100" dirty="0"/>
          </a:p>
        </p:txBody>
      </p:sp>
      <p:sp>
        <p:nvSpPr>
          <p:cNvPr id="23" name="Text 20"/>
          <p:cNvSpPr/>
          <p:nvPr/>
        </p:nvSpPr>
        <p:spPr>
          <a:xfrm>
            <a:off x="2697480" y="4764024"/>
            <a:ext cx="3108960" cy="603504"/>
          </a:xfrm>
          <a:prstGeom prst="rect">
            <a:avLst/>
          </a:prstGeom>
          <a:noFill/>
          <a:ln/>
        </p:spPr>
        <p:txBody>
          <a:bodyPr wrap="square" lIns="0" tIns="0" rIns="0" bIns="0" rtlCol="0" anchor="ctr">
            <a:normAutofit/>
          </a:bodyPr>
          <a:lstStyle/>
          <a:p>
            <a:pPr indent="0" marL="0">
              <a:buNone/>
            </a:pPr>
            <a:r>
              <a:rPr lang="en-US" sz="1150" dirty="0">
                <a:solidFill>
                  <a:srgbClr val="14251D"/>
                </a:solidFill>
              </a:rPr>
              <a:t>Recognition varies across continents and regions; the regional effect is moderate.</a:t>
            </a:r>
            <a:endParaRPr lang="en-US" sz="1150" dirty="0"/>
          </a:p>
        </p:txBody>
      </p:sp>
      <p:sp>
        <p:nvSpPr>
          <p:cNvPr id="24" name="Shape 21"/>
          <p:cNvSpPr/>
          <p:nvPr/>
        </p:nvSpPr>
        <p:spPr>
          <a:xfrm>
            <a:off x="6291072" y="4005072"/>
            <a:ext cx="3566160" cy="1691640"/>
          </a:xfrm>
          <a:prstGeom prst="roundRect">
            <a:avLst>
              <a:gd name="adj" fmla="val 5405"/>
            </a:avLst>
          </a:prstGeom>
          <a:solidFill>
            <a:srgbClr val="F6EEDC"/>
          </a:solidFill>
          <a:ln w="8890">
            <a:solidFill>
              <a:srgbClr val="E0C88F"/>
            </a:solidFill>
            <a:prstDash val="solid"/>
          </a:ln>
          <a:effectLst>
            <a:outerShdw sx="100000" sy="100000" kx="0" ky="0" algn="bl" rotWithShape="0" blurRad="19050" dist="50800" dir="2700000">
              <a:srgbClr val="AAB7AF">
                <a:alpha val="13000"/>
              </a:srgbClr>
            </a:outerShdw>
          </a:effectLst>
        </p:spPr>
        <p:txBody>
          <a:bodyPr/>
          <a:p/>
        </p:txBody>
      </p:sp>
      <p:sp>
        <p:nvSpPr>
          <p:cNvPr id="25" name="Text 22"/>
          <p:cNvSpPr/>
          <p:nvPr/>
        </p:nvSpPr>
        <p:spPr>
          <a:xfrm>
            <a:off x="6492240" y="4215384"/>
            <a:ext cx="502920" cy="292608"/>
          </a:xfrm>
          <a:prstGeom prst="rect">
            <a:avLst/>
          </a:prstGeom>
          <a:noFill/>
          <a:ln/>
        </p:spPr>
        <p:txBody>
          <a:bodyPr wrap="square" lIns="0" tIns="0" rIns="0" bIns="0" rtlCol="0" anchor="ctr"/>
          <a:lstStyle/>
          <a:p>
            <a:pPr indent="0" marL="0">
              <a:buNone/>
            </a:pPr>
            <a:r>
              <a:rPr lang="en-US" sz="2100" b="1" dirty="0">
                <a:solidFill>
                  <a:srgbClr val="C8A96A"/>
                </a:solidFill>
                <a:latin typeface="Georgia" pitchFamily="34" charset="0"/>
                <a:ea typeface="Georgia" pitchFamily="34" charset="-122"/>
                <a:cs typeface="Georgia" pitchFamily="34" charset="-120"/>
              </a:rPr>
              <a:t>05</a:t>
            </a:r>
            <a:endParaRPr lang="en-US" sz="2100" dirty="0"/>
          </a:p>
        </p:txBody>
      </p:sp>
      <p:sp>
        <p:nvSpPr>
          <p:cNvPr id="26" name="Text 23"/>
          <p:cNvSpPr/>
          <p:nvPr/>
        </p:nvSpPr>
        <p:spPr>
          <a:xfrm>
            <a:off x="7114032" y="4233672"/>
            <a:ext cx="2514600" cy="237744"/>
          </a:xfrm>
          <a:prstGeom prst="rect">
            <a:avLst/>
          </a:prstGeom>
          <a:noFill/>
          <a:ln/>
        </p:spPr>
        <p:txBody>
          <a:bodyPr wrap="square" lIns="0" tIns="0" rIns="0" bIns="0" rtlCol="0" anchor="ctr">
            <a:normAutofit/>
          </a:bodyPr>
          <a:lstStyle/>
          <a:p>
            <a:pPr indent="0" marL="0">
              <a:buNone/>
            </a:pPr>
            <a:r>
              <a:rPr lang="en-US" sz="1100" b="1" dirty="0">
                <a:solidFill>
                  <a:srgbClr val="123524"/>
                </a:solidFill>
              </a:rPr>
              <a:t>Interpretive boundary</a:t>
            </a:r>
            <a:endParaRPr lang="en-US" sz="1100" dirty="0"/>
          </a:p>
        </p:txBody>
      </p:sp>
      <p:sp>
        <p:nvSpPr>
          <p:cNvPr id="27" name="Text 24"/>
          <p:cNvSpPr/>
          <p:nvPr/>
        </p:nvSpPr>
        <p:spPr>
          <a:xfrm>
            <a:off x="6519672" y="4764024"/>
            <a:ext cx="3108960" cy="603504"/>
          </a:xfrm>
          <a:prstGeom prst="rect">
            <a:avLst/>
          </a:prstGeom>
          <a:noFill/>
          <a:ln/>
        </p:spPr>
        <p:txBody>
          <a:bodyPr wrap="square" lIns="0" tIns="0" rIns="0" bIns="0" rtlCol="0" anchor="ctr">
            <a:normAutofit/>
          </a:bodyPr>
          <a:lstStyle/>
          <a:p>
            <a:pPr indent="0" marL="0">
              <a:buNone/>
            </a:pPr>
            <a:r>
              <a:rPr lang="en-US" sz="1150" dirty="0">
                <a:solidFill>
                  <a:srgbClr val="14251D"/>
                </a:solidFill>
              </a:rPr>
              <a:t>The dataset is observational and cross-sectional. Historical mechanisms require separate research.</a:t>
            </a:r>
            <a:endParaRPr lang="en-US" sz="11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LIMITATIONS • MISSING DATA</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txBody>
          <a:bodyPr/>
          <a:p/>
        </p:txBody>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Missing data shapes the strength of inference</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Complete-case samples differ across analyses and must be reported explicitly.</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Text 5"/>
          <p:cNvSpPr/>
          <p:nvPr/>
        </p:nvSpPr>
        <p:spPr>
          <a:xfrm>
            <a:off x="685800" y="1828800"/>
            <a:ext cx="1645920" cy="182880"/>
          </a:xfrm>
          <a:prstGeom prst="rect">
            <a:avLst/>
          </a:prstGeom>
          <a:noFill/>
          <a:ln/>
        </p:spPr>
        <p:txBody>
          <a:bodyPr wrap="square" lIns="0" tIns="0" rIns="0" bIns="0" rtlCol="0" anchor="ctr"/>
          <a:lstStyle/>
          <a:p>
            <a:pPr indent="0" marL="0">
              <a:buNone/>
            </a:pPr>
            <a:r>
              <a:rPr lang="en-US" sz="1050" b="1" dirty="0">
                <a:solidFill>
                  <a:srgbClr val="14251D"/>
                </a:solidFill>
              </a:rPr>
              <a:t>Formal recognition</a:t>
            </a:r>
            <a:endParaRPr lang="en-US" sz="1050" dirty="0"/>
          </a:p>
        </p:txBody>
      </p:sp>
      <p:sp>
        <p:nvSpPr>
          <p:cNvPr id="9" name="Shape 6"/>
          <p:cNvSpPr/>
          <p:nvPr/>
        </p:nvSpPr>
        <p:spPr>
          <a:xfrm>
            <a:off x="2468880" y="1783080"/>
            <a:ext cx="6858000" cy="320040"/>
          </a:xfrm>
          <a:prstGeom prst="rect">
            <a:avLst/>
          </a:prstGeom>
          <a:solidFill>
            <a:srgbClr val="E6E9E7"/>
          </a:solidFill>
          <a:ln w="12700">
            <a:solidFill>
              <a:srgbClr val="E6E9E7"/>
            </a:solidFill>
            <a:prstDash val="solid"/>
          </a:ln>
        </p:spPr>
        <p:txBody>
          <a:bodyPr/>
          <a:p/>
        </p:txBody>
      </p:sp>
      <p:sp>
        <p:nvSpPr>
          <p:cNvPr id="10" name="Shape 7"/>
          <p:cNvSpPr/>
          <p:nvPr/>
        </p:nvSpPr>
        <p:spPr>
          <a:xfrm>
            <a:off x="2468880" y="1783080"/>
            <a:ext cx="2308023" cy="320040"/>
          </a:xfrm>
          <a:prstGeom prst="rect">
            <a:avLst/>
          </a:prstGeom>
          <a:solidFill>
            <a:srgbClr val="C8A96A"/>
          </a:solidFill>
          <a:ln w="12700">
            <a:solidFill>
              <a:srgbClr val="C8A96A"/>
            </a:solidFill>
            <a:prstDash val="solid"/>
          </a:ln>
        </p:spPr>
        <p:txBody>
          <a:bodyPr/>
          <a:p/>
        </p:txBody>
      </p:sp>
      <p:sp>
        <p:nvSpPr>
          <p:cNvPr id="11" name="Text 8"/>
          <p:cNvSpPr/>
          <p:nvPr/>
        </p:nvSpPr>
        <p:spPr>
          <a:xfrm>
            <a:off x="9528048" y="1828800"/>
            <a:ext cx="1143000" cy="182880"/>
          </a:xfrm>
          <a:prstGeom prst="rect">
            <a:avLst/>
          </a:prstGeom>
          <a:noFill/>
          <a:ln/>
        </p:spPr>
        <p:txBody>
          <a:bodyPr wrap="square" lIns="0" tIns="0" rIns="0" bIns="0" rtlCol="0" anchor="ctr"/>
          <a:lstStyle/>
          <a:p>
            <a:pPr algn="r" indent="0" marL="0">
              <a:buNone/>
            </a:pPr>
            <a:r>
              <a:rPr lang="en-US" sz="1050" b="1" dirty="0">
                <a:solidFill>
                  <a:srgbClr val="C8A96A"/>
                </a:solidFill>
              </a:rPr>
              <a:t>524 missing</a:t>
            </a:r>
            <a:endParaRPr lang="en-US" sz="1050" dirty="0"/>
          </a:p>
        </p:txBody>
      </p:sp>
      <p:sp>
        <p:nvSpPr>
          <p:cNvPr id="12" name="Text 9"/>
          <p:cNvSpPr/>
          <p:nvPr/>
        </p:nvSpPr>
        <p:spPr>
          <a:xfrm>
            <a:off x="685800" y="2560320"/>
            <a:ext cx="1645920" cy="182880"/>
          </a:xfrm>
          <a:prstGeom prst="rect">
            <a:avLst/>
          </a:prstGeom>
          <a:noFill/>
          <a:ln/>
        </p:spPr>
        <p:txBody>
          <a:bodyPr wrap="square" lIns="0" tIns="0" rIns="0" bIns="0" rtlCol="0" anchor="ctr"/>
          <a:lstStyle/>
          <a:p>
            <a:pPr indent="0" marL="0">
              <a:buNone/>
            </a:pPr>
            <a:r>
              <a:rPr lang="en-US" sz="1050" b="1" dirty="0">
                <a:solidFill>
                  <a:srgbClr val="14251D"/>
                </a:solidFill>
              </a:rPr>
              <a:t>Leadership variables</a:t>
            </a:r>
            <a:endParaRPr lang="en-US" sz="1050" dirty="0"/>
          </a:p>
        </p:txBody>
      </p:sp>
      <p:sp>
        <p:nvSpPr>
          <p:cNvPr id="13" name="Shape 10"/>
          <p:cNvSpPr/>
          <p:nvPr/>
        </p:nvSpPr>
        <p:spPr>
          <a:xfrm>
            <a:off x="2468880" y="2514600"/>
            <a:ext cx="6858000" cy="320040"/>
          </a:xfrm>
          <a:prstGeom prst="rect">
            <a:avLst/>
          </a:prstGeom>
          <a:solidFill>
            <a:srgbClr val="E6E9E7"/>
          </a:solidFill>
          <a:ln w="12700">
            <a:solidFill>
              <a:srgbClr val="E6E9E7"/>
            </a:solidFill>
            <a:prstDash val="solid"/>
          </a:ln>
        </p:spPr>
        <p:txBody>
          <a:bodyPr/>
          <a:p/>
        </p:txBody>
      </p:sp>
      <p:sp>
        <p:nvSpPr>
          <p:cNvPr id="14" name="Shape 11"/>
          <p:cNvSpPr/>
          <p:nvPr/>
        </p:nvSpPr>
        <p:spPr>
          <a:xfrm>
            <a:off x="2468880" y="2514600"/>
            <a:ext cx="1471145" cy="320040"/>
          </a:xfrm>
          <a:prstGeom prst="rect">
            <a:avLst/>
          </a:prstGeom>
          <a:solidFill>
            <a:srgbClr val="123524"/>
          </a:solidFill>
          <a:ln w="12700">
            <a:solidFill>
              <a:srgbClr val="123524"/>
            </a:solidFill>
            <a:prstDash val="solid"/>
          </a:ln>
        </p:spPr>
        <p:txBody>
          <a:bodyPr/>
          <a:p/>
        </p:txBody>
      </p:sp>
      <p:sp>
        <p:nvSpPr>
          <p:cNvPr id="15" name="Text 12"/>
          <p:cNvSpPr/>
          <p:nvPr/>
        </p:nvSpPr>
        <p:spPr>
          <a:xfrm>
            <a:off x="9528048" y="2560320"/>
            <a:ext cx="1143000" cy="182880"/>
          </a:xfrm>
          <a:prstGeom prst="rect">
            <a:avLst/>
          </a:prstGeom>
          <a:noFill/>
          <a:ln/>
        </p:spPr>
        <p:txBody>
          <a:bodyPr wrap="square" lIns="0" tIns="0" rIns="0" bIns="0" rtlCol="0" anchor="ctr"/>
          <a:lstStyle/>
          <a:p>
            <a:pPr algn="r" indent="0" marL="0">
              <a:buNone/>
            </a:pPr>
            <a:r>
              <a:rPr lang="en-US" sz="1050" b="1" dirty="0">
                <a:solidFill>
                  <a:srgbClr val="123524"/>
                </a:solidFill>
              </a:rPr>
              <a:t>334 missing</a:t>
            </a:r>
            <a:endParaRPr lang="en-US" sz="1050" dirty="0"/>
          </a:p>
        </p:txBody>
      </p:sp>
      <p:sp>
        <p:nvSpPr>
          <p:cNvPr id="16" name="Text 13"/>
          <p:cNvSpPr/>
          <p:nvPr/>
        </p:nvSpPr>
        <p:spPr>
          <a:xfrm>
            <a:off x="685800" y="3291840"/>
            <a:ext cx="1645920" cy="182880"/>
          </a:xfrm>
          <a:prstGeom prst="rect">
            <a:avLst/>
          </a:prstGeom>
          <a:noFill/>
          <a:ln/>
        </p:spPr>
        <p:txBody>
          <a:bodyPr wrap="square" lIns="0" tIns="0" rIns="0" bIns="0" rtlCol="0" anchor="ctr"/>
          <a:lstStyle/>
          <a:p>
            <a:pPr indent="0" marL="0">
              <a:buNone/>
            </a:pPr>
            <a:r>
              <a:rPr lang="en-US" sz="1050" b="1" dirty="0">
                <a:solidFill>
                  <a:srgbClr val="14251D"/>
                </a:solidFill>
              </a:rPr>
              <a:t>Land / Security</a:t>
            </a:r>
            <a:endParaRPr lang="en-US" sz="1050" dirty="0"/>
          </a:p>
        </p:txBody>
      </p:sp>
      <p:sp>
        <p:nvSpPr>
          <p:cNvPr id="17" name="Shape 14"/>
          <p:cNvSpPr/>
          <p:nvPr/>
        </p:nvSpPr>
        <p:spPr>
          <a:xfrm>
            <a:off x="2468880" y="3246120"/>
            <a:ext cx="6858000" cy="320040"/>
          </a:xfrm>
          <a:prstGeom prst="rect">
            <a:avLst/>
          </a:prstGeom>
          <a:solidFill>
            <a:srgbClr val="E6E9E7"/>
          </a:solidFill>
          <a:ln w="12700">
            <a:solidFill>
              <a:srgbClr val="E6E9E7"/>
            </a:solidFill>
            <a:prstDash val="solid"/>
          </a:ln>
        </p:spPr>
        <p:txBody>
          <a:bodyPr/>
          <a:p/>
        </p:txBody>
      </p:sp>
      <p:sp>
        <p:nvSpPr>
          <p:cNvPr id="18" name="Shape 15"/>
          <p:cNvSpPr/>
          <p:nvPr/>
        </p:nvSpPr>
        <p:spPr>
          <a:xfrm>
            <a:off x="2468880" y="3246120"/>
            <a:ext cx="1841133" cy="320040"/>
          </a:xfrm>
          <a:prstGeom prst="rect">
            <a:avLst/>
          </a:prstGeom>
          <a:solidFill>
            <a:srgbClr val="447B71"/>
          </a:solidFill>
          <a:ln w="12700">
            <a:solidFill>
              <a:srgbClr val="447B71"/>
            </a:solidFill>
            <a:prstDash val="solid"/>
          </a:ln>
        </p:spPr>
        <p:txBody>
          <a:bodyPr/>
          <a:p/>
        </p:txBody>
      </p:sp>
      <p:sp>
        <p:nvSpPr>
          <p:cNvPr id="19" name="Text 16"/>
          <p:cNvSpPr/>
          <p:nvPr/>
        </p:nvSpPr>
        <p:spPr>
          <a:xfrm>
            <a:off x="9528048" y="3291840"/>
            <a:ext cx="1143000" cy="182880"/>
          </a:xfrm>
          <a:prstGeom prst="rect">
            <a:avLst/>
          </a:prstGeom>
          <a:noFill/>
          <a:ln/>
        </p:spPr>
        <p:txBody>
          <a:bodyPr wrap="square" lIns="0" tIns="0" rIns="0" bIns="0" rtlCol="0" anchor="ctr"/>
          <a:lstStyle/>
          <a:p>
            <a:pPr algn="r" indent="0" marL="0">
              <a:buNone/>
            </a:pPr>
            <a:r>
              <a:rPr lang="en-US" sz="1050" b="1" dirty="0">
                <a:solidFill>
                  <a:srgbClr val="447B71"/>
                </a:solidFill>
              </a:rPr>
              <a:t>418 missing</a:t>
            </a:r>
            <a:endParaRPr lang="en-US" sz="1050" dirty="0"/>
          </a:p>
        </p:txBody>
      </p:sp>
      <p:sp>
        <p:nvSpPr>
          <p:cNvPr id="20" name="Text 17"/>
          <p:cNvSpPr/>
          <p:nvPr/>
        </p:nvSpPr>
        <p:spPr>
          <a:xfrm>
            <a:off x="685800" y="4023360"/>
            <a:ext cx="1645920" cy="182880"/>
          </a:xfrm>
          <a:prstGeom prst="rect">
            <a:avLst/>
          </a:prstGeom>
          <a:noFill/>
          <a:ln/>
        </p:spPr>
        <p:txBody>
          <a:bodyPr wrap="square" lIns="0" tIns="0" rIns="0" bIns="0" rtlCol="0" anchor="ctr"/>
          <a:lstStyle/>
          <a:p>
            <a:pPr indent="0" marL="0">
              <a:buNone/>
            </a:pPr>
            <a:r>
              <a:rPr lang="en-US" sz="1050" b="1" dirty="0">
                <a:solidFill>
                  <a:srgbClr val="14251D"/>
                </a:solidFill>
              </a:rPr>
              <a:t>Healing</a:t>
            </a:r>
            <a:endParaRPr lang="en-US" sz="1050" dirty="0"/>
          </a:p>
        </p:txBody>
      </p:sp>
      <p:sp>
        <p:nvSpPr>
          <p:cNvPr id="21" name="Shape 18"/>
          <p:cNvSpPr/>
          <p:nvPr/>
        </p:nvSpPr>
        <p:spPr>
          <a:xfrm>
            <a:off x="2468880" y="3977640"/>
            <a:ext cx="6858000" cy="320040"/>
          </a:xfrm>
          <a:prstGeom prst="rect">
            <a:avLst/>
          </a:prstGeom>
          <a:solidFill>
            <a:srgbClr val="E6E9E7"/>
          </a:solidFill>
          <a:ln w="12700">
            <a:solidFill>
              <a:srgbClr val="E6E9E7"/>
            </a:solidFill>
            <a:prstDash val="solid"/>
          </a:ln>
        </p:spPr>
        <p:txBody>
          <a:bodyPr/>
          <a:p/>
        </p:txBody>
      </p:sp>
      <p:sp>
        <p:nvSpPr>
          <p:cNvPr id="22" name="Shape 19"/>
          <p:cNvSpPr/>
          <p:nvPr/>
        </p:nvSpPr>
        <p:spPr>
          <a:xfrm>
            <a:off x="2468880" y="3977640"/>
            <a:ext cx="5510185" cy="320040"/>
          </a:xfrm>
          <a:prstGeom prst="rect">
            <a:avLst/>
          </a:prstGeom>
          <a:solidFill>
            <a:srgbClr val="A94E47"/>
          </a:solidFill>
          <a:ln w="12700">
            <a:solidFill>
              <a:srgbClr val="A94E47"/>
            </a:solidFill>
            <a:prstDash val="solid"/>
          </a:ln>
        </p:spPr>
        <p:txBody>
          <a:bodyPr/>
          <a:p/>
        </p:txBody>
      </p:sp>
      <p:sp>
        <p:nvSpPr>
          <p:cNvPr id="23" name="Text 20"/>
          <p:cNvSpPr/>
          <p:nvPr/>
        </p:nvSpPr>
        <p:spPr>
          <a:xfrm>
            <a:off x="9528048" y="4023360"/>
            <a:ext cx="1143000" cy="182880"/>
          </a:xfrm>
          <a:prstGeom prst="rect">
            <a:avLst/>
          </a:prstGeom>
          <a:noFill/>
          <a:ln/>
        </p:spPr>
        <p:txBody>
          <a:bodyPr wrap="square" lIns="0" tIns="0" rIns="0" bIns="0" rtlCol="0" anchor="ctr"/>
          <a:lstStyle/>
          <a:p>
            <a:pPr algn="r" indent="0" marL="0">
              <a:buNone/>
            </a:pPr>
            <a:r>
              <a:rPr lang="en-US" sz="1050" b="1" dirty="0">
                <a:solidFill>
                  <a:srgbClr val="A94E47"/>
                </a:solidFill>
              </a:rPr>
              <a:t>1,251 missing</a:t>
            </a:r>
            <a:endParaRPr lang="en-US" sz="1050" dirty="0"/>
          </a:p>
        </p:txBody>
      </p:sp>
      <p:sp>
        <p:nvSpPr>
          <p:cNvPr id="24" name="Text 21"/>
          <p:cNvSpPr/>
          <p:nvPr/>
        </p:nvSpPr>
        <p:spPr>
          <a:xfrm>
            <a:off x="685800" y="4754880"/>
            <a:ext cx="1645920" cy="182880"/>
          </a:xfrm>
          <a:prstGeom prst="rect">
            <a:avLst/>
          </a:prstGeom>
          <a:noFill/>
          <a:ln/>
        </p:spPr>
        <p:txBody>
          <a:bodyPr wrap="square" lIns="0" tIns="0" rIns="0" bIns="0" rtlCol="0" anchor="ctr"/>
          <a:lstStyle/>
          <a:p>
            <a:pPr indent="0" marL="0">
              <a:buNone/>
            </a:pPr>
            <a:r>
              <a:rPr lang="en-US" sz="1050" b="1" dirty="0">
                <a:solidFill>
                  <a:srgbClr val="14251D"/>
                </a:solidFill>
              </a:rPr>
              <a:t>Population</a:t>
            </a:r>
            <a:endParaRPr lang="en-US" sz="1050" dirty="0"/>
          </a:p>
        </p:txBody>
      </p:sp>
      <p:sp>
        <p:nvSpPr>
          <p:cNvPr id="25" name="Shape 22"/>
          <p:cNvSpPr/>
          <p:nvPr/>
        </p:nvSpPr>
        <p:spPr>
          <a:xfrm>
            <a:off x="2468880" y="4709160"/>
            <a:ext cx="6858000" cy="320040"/>
          </a:xfrm>
          <a:prstGeom prst="rect">
            <a:avLst/>
          </a:prstGeom>
          <a:solidFill>
            <a:srgbClr val="E6E9E7"/>
          </a:solidFill>
          <a:ln w="12700">
            <a:solidFill>
              <a:srgbClr val="E6E9E7"/>
            </a:solidFill>
            <a:prstDash val="solid"/>
          </a:ln>
        </p:spPr>
        <p:txBody>
          <a:bodyPr/>
          <a:p/>
        </p:txBody>
      </p:sp>
      <p:sp>
        <p:nvSpPr>
          <p:cNvPr id="26" name="Shape 23"/>
          <p:cNvSpPr/>
          <p:nvPr/>
        </p:nvSpPr>
        <p:spPr>
          <a:xfrm>
            <a:off x="2468880" y="4709160"/>
            <a:ext cx="823665" cy="320040"/>
          </a:xfrm>
          <a:prstGeom prst="rect">
            <a:avLst/>
          </a:prstGeom>
          <a:solidFill>
            <a:srgbClr val="AEB8B2"/>
          </a:solidFill>
          <a:ln w="12700">
            <a:solidFill>
              <a:srgbClr val="AEB8B2"/>
            </a:solidFill>
            <a:prstDash val="solid"/>
          </a:ln>
        </p:spPr>
        <p:txBody>
          <a:bodyPr/>
          <a:p/>
        </p:txBody>
      </p:sp>
      <p:sp>
        <p:nvSpPr>
          <p:cNvPr id="27" name="Text 24"/>
          <p:cNvSpPr/>
          <p:nvPr/>
        </p:nvSpPr>
        <p:spPr>
          <a:xfrm>
            <a:off x="9528048" y="4754880"/>
            <a:ext cx="1143000" cy="182880"/>
          </a:xfrm>
          <a:prstGeom prst="rect">
            <a:avLst/>
          </a:prstGeom>
          <a:noFill/>
          <a:ln/>
        </p:spPr>
        <p:txBody>
          <a:bodyPr wrap="square" lIns="0" tIns="0" rIns="0" bIns="0" rtlCol="0" anchor="ctr"/>
          <a:lstStyle/>
          <a:p>
            <a:pPr algn="r" indent="0" marL="0">
              <a:buNone/>
            </a:pPr>
            <a:r>
              <a:rPr lang="en-US" sz="1050" b="1" dirty="0">
                <a:solidFill>
                  <a:srgbClr val="AEB8B2"/>
                </a:solidFill>
              </a:rPr>
              <a:t>187 missing</a:t>
            </a:r>
            <a:endParaRPr lang="en-US" sz="1050" dirty="0"/>
          </a:p>
        </p:txBody>
      </p:sp>
      <p:sp>
        <p:nvSpPr>
          <p:cNvPr id="28" name="Shape 25"/>
          <p:cNvSpPr/>
          <p:nvPr/>
        </p:nvSpPr>
        <p:spPr>
          <a:xfrm>
            <a:off x="8001000" y="5468112"/>
            <a:ext cx="3383280" cy="658368"/>
          </a:xfrm>
          <a:prstGeom prst="roundRect">
            <a:avLst>
              <a:gd name="adj" fmla="val 13889"/>
            </a:avLst>
          </a:prstGeom>
          <a:solidFill>
            <a:srgbClr val="F6EEDC"/>
          </a:solidFill>
          <a:ln w="8890">
            <a:solidFill>
              <a:srgbClr val="E0C88F"/>
            </a:solidFill>
            <a:prstDash val="solid"/>
          </a:ln>
          <a:effectLst>
            <a:outerShdw sx="100000" sy="100000" kx="0" ky="0" algn="bl" rotWithShape="0" blurRad="19050" dist="50800" dir="2700000">
              <a:srgbClr val="AAB7AF">
                <a:alpha val="13000"/>
              </a:srgbClr>
            </a:outerShdw>
          </a:effectLst>
        </p:spPr>
        <p:txBody>
          <a:bodyPr/>
          <a:p/>
        </p:txBody>
      </p:sp>
      <p:sp>
        <p:nvSpPr>
          <p:cNvPr id="29" name="Text 26"/>
          <p:cNvSpPr/>
          <p:nvPr/>
        </p:nvSpPr>
        <p:spPr>
          <a:xfrm>
            <a:off x="8211312" y="5632704"/>
            <a:ext cx="2971800" cy="283464"/>
          </a:xfrm>
          <a:prstGeom prst="rect">
            <a:avLst/>
          </a:prstGeom>
          <a:noFill/>
          <a:ln/>
        </p:spPr>
        <p:txBody>
          <a:bodyPr wrap="square" lIns="0" tIns="0" rIns="0" bIns="0" rtlCol="0" anchor="ctr">
            <a:normAutofit/>
          </a:bodyPr>
          <a:lstStyle/>
          <a:p>
            <a:pPr indent="0" marL="0">
              <a:buNone/>
            </a:pPr>
            <a:r>
              <a:rPr lang="en-US" sz="1050" b="1" dirty="0">
                <a:solidFill>
                  <a:srgbClr val="14251D"/>
                </a:solidFill>
              </a:rPr>
              <a:t>Key limitation: healing analyses use much smaller complete-case samples and should be interpreted cautiously.</a:t>
            </a:r>
            <a:endParaRPr lang="en-US" sz="10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28</a:t>
            </a:fld>
            <a:endParaRPr lang="en-US"/>
          </a:p>
        </p:txBody>
      </p:sp>
      <p:sp>
        <p:nvSpPr>
          <p:cNvPr id="30" name="Rounded Rectangle 29"/>
          <p:cNvSpPr/>
          <p:nvPr/>
        </p:nvSpPr>
        <p:spPr>
          <a:xfrm>
            <a:off x="713232" y="5559552"/>
            <a:ext cx="6903720" cy="585216"/>
          </a:xfrm>
          <a:prstGeom prst="roundRect">
            <a:avLst/>
          </a:prstGeom>
          <a:solidFill>
            <a:srgbClr val="E9EFEA"/>
          </a:solidFill>
          <a:ln w="10160">
            <a:solidFill>
              <a:srgbClr val="C6D8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715000"/>
            <a:ext cx="6492240" cy="256032"/>
          </a:xfrm>
          <a:prstGeom prst="rect">
            <a:avLst/>
          </a:prstGeom>
          <a:noFill/>
        </p:spPr>
        <p:txBody>
          <a:bodyPr wrap="square" lIns="27432" rIns="27432" tIns="27432" bIns="27432" anchor="ctr">
            <a:spAutoFit/>
          </a:bodyPr>
          <a:lstStyle/>
          <a:p>
            <a:pPr algn="ctr"/>
            <a:r>
              <a:rPr sz="1019" b="1" i="0">
                <a:solidFill>
                  <a:srgbClr val="14251D"/>
                </a:solidFill>
                <a:latin typeface="Aptos"/>
              </a:rPr>
              <a:t>Missing values were not treated as ‘No’. Inferential analyses used valid complete cases for the variables required by each test.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SYSTEM ACCESSIBILITY</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txBody>
          <a:bodyPr/>
          <a:p/>
        </p:txBody>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The interface supports bilingual and dark-mode use</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Presentation preferences persist across the multi-page website.</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530352" y="1563624"/>
            <a:ext cx="5468112" cy="4325112"/>
          </a:xfrm>
          <a:prstGeom prst="roundRect">
            <a:avLst>
              <a:gd name="adj" fmla="val 2114"/>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pic>
        <p:nvPicPr>
          <p:cNvPr id="9" name="Image 0" descr="C:\Users\mossa\OneDrive\Documents\مشروع التخرج\docs\chapter4-screenshots\34-arabic-rtl-home.png">    </p:cNvPr>
          <p:cNvPicPr>
            <a:picLocks noChangeAspect="1"/>
          </p:cNvPicPr>
          <p:nvPr/>
        </p:nvPicPr>
        <p:blipFill>
          <a:blip r:embed="rId1"/>
          <a:stretch>
            <a:fillRect/>
          </a:stretch>
        </p:blipFill>
        <p:spPr>
          <a:xfrm>
            <a:off x="566928" y="1852141"/>
            <a:ext cx="5394960" cy="3748077"/>
          </a:xfrm>
          <a:prstGeom prst="rect">
            <a:avLst/>
          </a:prstGeom>
        </p:spPr>
      </p:pic>
      <p:sp>
        <p:nvSpPr>
          <p:cNvPr id="10" name="Text 6"/>
          <p:cNvSpPr/>
          <p:nvPr/>
        </p:nvSpPr>
        <p:spPr>
          <a:xfrm>
            <a:off x="566928" y="5907024"/>
            <a:ext cx="539496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4.25: Arabic Right-to-Left Interface</a:t>
            </a:r>
            <a:endParaRPr lang="en-US" sz="900" dirty="0"/>
          </a:p>
        </p:txBody>
      </p:sp>
      <p:sp>
        <p:nvSpPr>
          <p:cNvPr id="11" name="Shape 7"/>
          <p:cNvSpPr/>
          <p:nvPr/>
        </p:nvSpPr>
        <p:spPr>
          <a:xfrm>
            <a:off x="6199632" y="1563624"/>
            <a:ext cx="5468112" cy="4325112"/>
          </a:xfrm>
          <a:prstGeom prst="roundRect">
            <a:avLst>
              <a:gd name="adj" fmla="val 2114"/>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pic>
        <p:nvPicPr>
          <p:cNvPr id="12" name="Image 1" descr="C:\Users\mossa\OneDrive\Documents\مشروع التخرج\docs\chapter4-screenshots\35-dark-mode-statistics.png">    </p:cNvPr>
          <p:cNvPicPr>
            <a:picLocks noChangeAspect="1"/>
          </p:cNvPicPr>
          <p:nvPr/>
        </p:nvPicPr>
        <p:blipFill>
          <a:blip r:embed="rId2"/>
          <a:stretch>
            <a:fillRect/>
          </a:stretch>
        </p:blipFill>
        <p:spPr>
          <a:xfrm>
            <a:off x="6236208" y="1852141"/>
            <a:ext cx="5394960" cy="3748077"/>
          </a:xfrm>
          <a:prstGeom prst="rect">
            <a:avLst/>
          </a:prstGeom>
        </p:spPr>
      </p:pic>
      <p:sp>
        <p:nvSpPr>
          <p:cNvPr id="13" name="Text 8"/>
          <p:cNvSpPr/>
          <p:nvPr/>
        </p:nvSpPr>
        <p:spPr>
          <a:xfrm>
            <a:off x="6236208" y="5907024"/>
            <a:ext cx="5394960" cy="219456"/>
          </a:xfrm>
          <a:prstGeom prst="rect">
            <a:avLst/>
          </a:prstGeom>
          <a:noFill/>
          <a:ln/>
        </p:spPr>
        <p:txBody>
          <a:bodyPr wrap="square" lIns="0" tIns="0" rIns="0" bIns="0" rtlCol="0" anchor="ctr">
            <a:normAutofit/>
          </a:bodyPr>
          <a:lstStyle/>
          <a:p>
            <a:pPr algn="ctr" indent="0" marL="0">
              <a:buNone/>
            </a:pPr>
            <a:r>
              <a:rPr lang="en-US" sz="900" i="1" dirty="0">
                <a:solidFill>
                  <a:srgbClr val="65736B"/>
                </a:solidFill>
                <a:latin typeface="Aptos" pitchFamily="34" charset="0"/>
                <a:ea typeface="Aptos" pitchFamily="34" charset="-122"/>
                <a:cs typeface="Aptos" pitchFamily="34" charset="-120"/>
              </a:rPr>
              <a:t>Figure 4.26: Dark-Mode Statistics Interface</a:t>
            </a:r>
            <a:endParaRPr lang="en-US" sz="900" dirty="0"/>
          </a:p>
        </p:txBody>
      </p:sp>
      <p:sp>
        <p:nvSpPr>
          <p:cNvPr id="14" name="Shape 9"/>
          <p:cNvSpPr/>
          <p:nvPr/>
        </p:nvSpPr>
        <p:spPr>
          <a:xfrm>
            <a:off x="2926080" y="6071616"/>
            <a:ext cx="6309360" cy="438912"/>
          </a:xfrm>
          <a:prstGeom prst="roundRect">
            <a:avLst/>
          </a:prstGeom>
          <a:solidFill>
            <a:srgbClr val="F6EEDC"/>
          </a:solidFill>
          <a:ln w="10160">
            <a:solidFill>
              <a:srgbClr val="C8A96A"/>
            </a:solidFill>
            <a:prstDash val="solid"/>
          </a:ln>
        </p:spPr>
        <p:txBody>
          <a:bodyPr/>
          <a:p/>
        </p:txBody>
      </p:sp>
      <p:sp>
        <p:nvSpPr>
          <p:cNvPr id="15" name="Text 10"/>
          <p:cNvSpPr/>
          <p:nvPr/>
        </p:nvSpPr>
        <p:spPr>
          <a:xfrm>
            <a:off x="3081528" y="6172200"/>
            <a:ext cx="5998464" cy="201168"/>
          </a:xfrm>
          <a:prstGeom prst="rect">
            <a:avLst/>
          </a:prstGeom>
          <a:noFill/>
          <a:ln/>
        </p:spPr>
        <p:txBody>
          <a:bodyPr wrap="square" lIns="0" tIns="0" rIns="0" bIns="0" rtlCol="0" anchor="ctr">
            <a:normAutofit/>
          </a:bodyPr>
          <a:lstStyle/>
          <a:p>
            <a:pPr indent="0" marL="0">
              <a:buNone/>
            </a:pPr>
            <a:r>
              <a:rPr lang="en-US" sz="1050" b="1" dirty="0">
                <a:solidFill>
                  <a:srgbClr val="14251D"/>
                </a:solidFill>
                <a:latin typeface="Aptos" pitchFamily="34" charset="0"/>
                <a:ea typeface="Aptos" pitchFamily="34" charset="-122"/>
                <a:cs typeface="Aptos" pitchFamily="34" charset="-120"/>
              </a:rPr>
              <a:t>Saved preferences remain active across page navigation and refresh.</a:t>
            </a:r>
            <a:endParaRPr lang="en-US" sz="105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SYSTEM RESULT SUMMARY</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txBody>
          <a:bodyPr/>
          <a:p/>
        </p:txBody>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The completed platform meets its research-interface goals</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The same database supports discovery, visualization, comparison, and statistical testing.</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594360" y="1645920"/>
            <a:ext cx="3520440" cy="1664208"/>
          </a:xfrm>
          <a:prstGeom prst="roundRect">
            <a:avLst>
              <a:gd name="adj" fmla="val 549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9" name="Text 6"/>
          <p:cNvSpPr/>
          <p:nvPr/>
        </p:nvSpPr>
        <p:spPr>
          <a:xfrm>
            <a:off x="795528" y="1828800"/>
            <a:ext cx="502920" cy="320040"/>
          </a:xfrm>
          <a:prstGeom prst="rect">
            <a:avLst/>
          </a:prstGeom>
          <a:noFill/>
          <a:ln/>
        </p:spPr>
        <p:txBody>
          <a:bodyPr wrap="square" lIns="0" tIns="0" rIns="0" bIns="0" rtlCol="0" anchor="ctr"/>
          <a:lstStyle/>
          <a:p>
            <a:pPr indent="0" marL="0">
              <a:buNone/>
            </a:pPr>
            <a:r>
              <a:rPr lang="en-US" sz="2300" b="1" dirty="0">
                <a:solidFill>
                  <a:srgbClr val="C8A96A"/>
                </a:solidFill>
                <a:latin typeface="Georgia" pitchFamily="34" charset="0"/>
                <a:ea typeface="Georgia" pitchFamily="34" charset="-122"/>
                <a:cs typeface="Georgia" pitchFamily="34" charset="-120"/>
              </a:rPr>
              <a:t>01</a:t>
            </a:r>
            <a:endParaRPr lang="en-US" sz="2300" dirty="0"/>
          </a:p>
        </p:txBody>
      </p:sp>
      <p:sp>
        <p:nvSpPr>
          <p:cNvPr id="10" name="Text 7"/>
          <p:cNvSpPr/>
          <p:nvPr/>
        </p:nvSpPr>
        <p:spPr>
          <a:xfrm>
            <a:off x="1453896" y="1856232"/>
            <a:ext cx="2286000" cy="182880"/>
          </a:xfrm>
          <a:prstGeom prst="rect">
            <a:avLst/>
          </a:prstGeom>
          <a:noFill/>
          <a:ln/>
        </p:spPr>
        <p:txBody>
          <a:bodyPr wrap="square" lIns="0" tIns="0" rIns="0" bIns="0" rtlCol="0" anchor="ctr"/>
          <a:lstStyle/>
          <a:p>
            <a:pPr indent="0" marL="0">
              <a:buNone/>
            </a:pPr>
            <a:r>
              <a:rPr lang="en-US" sz="1000" b="1" spc="80" kern="0" dirty="0">
                <a:solidFill>
                  <a:srgbClr val="123524"/>
                </a:solidFill>
              </a:rPr>
              <a:t>EXPLORE</a:t>
            </a:r>
            <a:endParaRPr lang="en-US" sz="1000" dirty="0"/>
          </a:p>
        </p:txBody>
      </p:sp>
      <p:sp>
        <p:nvSpPr>
          <p:cNvPr id="11" name="Text 8"/>
          <p:cNvSpPr/>
          <p:nvPr/>
        </p:nvSpPr>
        <p:spPr>
          <a:xfrm>
            <a:off x="822960" y="2432304"/>
            <a:ext cx="2999232" cy="530352"/>
          </a:xfrm>
          <a:prstGeom prst="rect">
            <a:avLst/>
          </a:prstGeom>
          <a:noFill/>
          <a:ln/>
        </p:spPr>
        <p:txBody>
          <a:bodyPr wrap="square" lIns="0" tIns="0" rIns="0" bIns="0" rtlCol="0" anchor="ctr">
            <a:normAutofit/>
          </a:bodyPr>
          <a:lstStyle/>
          <a:p>
            <a:pPr indent="0" marL="0">
              <a:buNone/>
            </a:pPr>
            <a:r>
              <a:rPr lang="en-US" sz="1200" b="1" dirty="0">
                <a:solidFill>
                  <a:srgbClr val="14251D"/>
                </a:solidFill>
              </a:rPr>
              <a:t>Search, filters, sorting, pagination, detail dialog</a:t>
            </a:r>
            <a:endParaRPr lang="en-US" sz="1200" dirty="0"/>
          </a:p>
        </p:txBody>
      </p:sp>
      <p:sp>
        <p:nvSpPr>
          <p:cNvPr id="12" name="Shape 9"/>
          <p:cNvSpPr/>
          <p:nvPr/>
        </p:nvSpPr>
        <p:spPr>
          <a:xfrm>
            <a:off x="4416552" y="1645920"/>
            <a:ext cx="3520440" cy="1664208"/>
          </a:xfrm>
          <a:prstGeom prst="roundRect">
            <a:avLst>
              <a:gd name="adj" fmla="val 549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13" name="Text 10"/>
          <p:cNvSpPr/>
          <p:nvPr/>
        </p:nvSpPr>
        <p:spPr>
          <a:xfrm>
            <a:off x="4617720" y="1828800"/>
            <a:ext cx="502920" cy="320040"/>
          </a:xfrm>
          <a:prstGeom prst="rect">
            <a:avLst/>
          </a:prstGeom>
          <a:noFill/>
          <a:ln/>
        </p:spPr>
        <p:txBody>
          <a:bodyPr wrap="square" lIns="0" tIns="0" rIns="0" bIns="0" rtlCol="0" anchor="ctr"/>
          <a:lstStyle/>
          <a:p>
            <a:pPr indent="0" marL="0">
              <a:buNone/>
            </a:pPr>
            <a:r>
              <a:rPr lang="en-US" sz="2300" b="1" dirty="0">
                <a:solidFill>
                  <a:srgbClr val="C8A96A"/>
                </a:solidFill>
                <a:latin typeface="Georgia" pitchFamily="34" charset="0"/>
                <a:ea typeface="Georgia" pitchFamily="34" charset="-122"/>
                <a:cs typeface="Georgia" pitchFamily="34" charset="-120"/>
              </a:rPr>
              <a:t>02</a:t>
            </a:r>
            <a:endParaRPr lang="en-US" sz="2300" dirty="0"/>
          </a:p>
        </p:txBody>
      </p:sp>
      <p:sp>
        <p:nvSpPr>
          <p:cNvPr id="14" name="Text 11"/>
          <p:cNvSpPr/>
          <p:nvPr/>
        </p:nvSpPr>
        <p:spPr>
          <a:xfrm>
            <a:off x="5276088" y="1856232"/>
            <a:ext cx="2286000" cy="182880"/>
          </a:xfrm>
          <a:prstGeom prst="rect">
            <a:avLst/>
          </a:prstGeom>
          <a:noFill/>
          <a:ln/>
        </p:spPr>
        <p:txBody>
          <a:bodyPr wrap="square" lIns="0" tIns="0" rIns="0" bIns="0" rtlCol="0" anchor="ctr"/>
          <a:lstStyle/>
          <a:p>
            <a:pPr indent="0" marL="0">
              <a:buNone/>
            </a:pPr>
            <a:r>
              <a:rPr lang="en-US" sz="1000" b="1" spc="80" kern="0" dirty="0">
                <a:solidFill>
                  <a:srgbClr val="123524"/>
                </a:solidFill>
              </a:rPr>
              <a:t>MAP</a:t>
            </a:r>
            <a:endParaRPr lang="en-US" sz="1000" dirty="0"/>
          </a:p>
        </p:txBody>
      </p:sp>
      <p:sp>
        <p:nvSpPr>
          <p:cNvPr id="15" name="Text 12"/>
          <p:cNvSpPr/>
          <p:nvPr/>
        </p:nvSpPr>
        <p:spPr>
          <a:xfrm>
            <a:off x="4645152" y="2432304"/>
            <a:ext cx="2999232" cy="530352"/>
          </a:xfrm>
          <a:prstGeom prst="rect">
            <a:avLst/>
          </a:prstGeom>
          <a:noFill/>
          <a:ln/>
        </p:spPr>
        <p:txBody>
          <a:bodyPr wrap="square" lIns="0" tIns="0" rIns="0" bIns="0" rtlCol="0" anchor="ctr">
            <a:normAutofit/>
          </a:bodyPr>
          <a:lstStyle/>
          <a:p>
            <a:pPr indent="0" marL="0">
              <a:buNone/>
            </a:pPr>
            <a:r>
              <a:rPr lang="en-US" sz="1200" b="1" dirty="0">
                <a:solidFill>
                  <a:srgbClr val="14251D"/>
                </a:solidFill>
              </a:rPr>
              <a:t>Five live continent totals and marker navigation</a:t>
            </a:r>
            <a:endParaRPr lang="en-US" sz="1200" dirty="0"/>
          </a:p>
        </p:txBody>
      </p:sp>
      <p:sp>
        <p:nvSpPr>
          <p:cNvPr id="16" name="Shape 13"/>
          <p:cNvSpPr/>
          <p:nvPr/>
        </p:nvSpPr>
        <p:spPr>
          <a:xfrm>
            <a:off x="8238744" y="1645920"/>
            <a:ext cx="3520440" cy="1664208"/>
          </a:xfrm>
          <a:prstGeom prst="roundRect">
            <a:avLst>
              <a:gd name="adj" fmla="val 549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17" name="Text 14"/>
          <p:cNvSpPr/>
          <p:nvPr/>
        </p:nvSpPr>
        <p:spPr>
          <a:xfrm>
            <a:off x="8439912" y="1828800"/>
            <a:ext cx="502920" cy="320040"/>
          </a:xfrm>
          <a:prstGeom prst="rect">
            <a:avLst/>
          </a:prstGeom>
          <a:noFill/>
          <a:ln/>
        </p:spPr>
        <p:txBody>
          <a:bodyPr wrap="square" lIns="0" tIns="0" rIns="0" bIns="0" rtlCol="0" anchor="ctr"/>
          <a:lstStyle/>
          <a:p>
            <a:pPr indent="0" marL="0">
              <a:buNone/>
            </a:pPr>
            <a:r>
              <a:rPr lang="en-US" sz="2300" b="1" dirty="0">
                <a:solidFill>
                  <a:srgbClr val="C8A96A"/>
                </a:solidFill>
                <a:latin typeface="Georgia" pitchFamily="34" charset="0"/>
                <a:ea typeface="Georgia" pitchFamily="34" charset="-122"/>
                <a:cs typeface="Georgia" pitchFamily="34" charset="-120"/>
              </a:rPr>
              <a:t>03</a:t>
            </a:r>
            <a:endParaRPr lang="en-US" sz="2300" dirty="0"/>
          </a:p>
        </p:txBody>
      </p:sp>
      <p:sp>
        <p:nvSpPr>
          <p:cNvPr id="18" name="Text 15"/>
          <p:cNvSpPr/>
          <p:nvPr/>
        </p:nvSpPr>
        <p:spPr>
          <a:xfrm>
            <a:off x="9098280" y="1856232"/>
            <a:ext cx="2286000" cy="182880"/>
          </a:xfrm>
          <a:prstGeom prst="rect">
            <a:avLst/>
          </a:prstGeom>
          <a:noFill/>
          <a:ln/>
        </p:spPr>
        <p:txBody>
          <a:bodyPr wrap="square" lIns="0" tIns="0" rIns="0" bIns="0" rtlCol="0" anchor="ctr"/>
          <a:lstStyle/>
          <a:p>
            <a:pPr indent="0" marL="0">
              <a:buNone/>
            </a:pPr>
            <a:r>
              <a:rPr lang="en-US" sz="1000" b="1" spc="80" kern="0" dirty="0">
                <a:solidFill>
                  <a:srgbClr val="123524"/>
                </a:solidFill>
              </a:rPr>
              <a:t>DESCRIBE</a:t>
            </a:r>
            <a:endParaRPr lang="en-US" sz="1000" dirty="0"/>
          </a:p>
        </p:txBody>
      </p:sp>
      <p:sp>
        <p:nvSpPr>
          <p:cNvPr id="19" name="Text 16"/>
          <p:cNvSpPr/>
          <p:nvPr/>
        </p:nvSpPr>
        <p:spPr>
          <a:xfrm>
            <a:off x="8467344" y="2432304"/>
            <a:ext cx="2999232" cy="530352"/>
          </a:xfrm>
          <a:prstGeom prst="rect">
            <a:avLst/>
          </a:prstGeom>
          <a:noFill/>
          <a:ln/>
        </p:spPr>
        <p:txBody>
          <a:bodyPr wrap="square" lIns="0" tIns="0" rIns="0" bIns="0" rtlCol="0" anchor="ctr">
            <a:normAutofit/>
          </a:bodyPr>
          <a:lstStyle/>
          <a:p>
            <a:pPr indent="0" marL="0">
              <a:buNone/>
            </a:pPr>
            <a:r>
              <a:rPr lang="en-US" sz="1200" b="1" dirty="0">
                <a:solidFill>
                  <a:srgbClr val="14251D"/>
                </a:solidFill>
              </a:rPr>
              <a:t>Scoped dashboard with seven dynamic charts</a:t>
            </a:r>
            <a:endParaRPr lang="en-US" sz="1200" dirty="0"/>
          </a:p>
        </p:txBody>
      </p:sp>
      <p:sp>
        <p:nvSpPr>
          <p:cNvPr id="20" name="Shape 17"/>
          <p:cNvSpPr/>
          <p:nvPr/>
        </p:nvSpPr>
        <p:spPr>
          <a:xfrm>
            <a:off x="594360" y="3657600"/>
            <a:ext cx="3520440" cy="1664208"/>
          </a:xfrm>
          <a:prstGeom prst="roundRect">
            <a:avLst>
              <a:gd name="adj" fmla="val 549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21" name="Text 18"/>
          <p:cNvSpPr/>
          <p:nvPr/>
        </p:nvSpPr>
        <p:spPr>
          <a:xfrm>
            <a:off x="795528" y="3840480"/>
            <a:ext cx="502920" cy="320040"/>
          </a:xfrm>
          <a:prstGeom prst="rect">
            <a:avLst/>
          </a:prstGeom>
          <a:noFill/>
          <a:ln/>
        </p:spPr>
        <p:txBody>
          <a:bodyPr wrap="square" lIns="0" tIns="0" rIns="0" bIns="0" rtlCol="0" anchor="ctr"/>
          <a:lstStyle/>
          <a:p>
            <a:pPr indent="0" marL="0">
              <a:buNone/>
            </a:pPr>
            <a:r>
              <a:rPr lang="en-US" sz="2300" b="1" dirty="0">
                <a:solidFill>
                  <a:srgbClr val="C8A96A"/>
                </a:solidFill>
                <a:latin typeface="Georgia" pitchFamily="34" charset="0"/>
                <a:ea typeface="Georgia" pitchFamily="34" charset="-122"/>
                <a:cs typeface="Georgia" pitchFamily="34" charset="-120"/>
              </a:rPr>
              <a:t>04</a:t>
            </a:r>
            <a:endParaRPr lang="en-US" sz="2300" dirty="0"/>
          </a:p>
        </p:txBody>
      </p:sp>
      <p:sp>
        <p:nvSpPr>
          <p:cNvPr id="22" name="Text 19"/>
          <p:cNvSpPr/>
          <p:nvPr/>
        </p:nvSpPr>
        <p:spPr>
          <a:xfrm>
            <a:off x="1453896" y="3867912"/>
            <a:ext cx="2286000" cy="182880"/>
          </a:xfrm>
          <a:prstGeom prst="rect">
            <a:avLst/>
          </a:prstGeom>
          <a:noFill/>
          <a:ln/>
        </p:spPr>
        <p:txBody>
          <a:bodyPr wrap="square" lIns="0" tIns="0" rIns="0" bIns="0" rtlCol="0" anchor="ctr"/>
          <a:lstStyle/>
          <a:p>
            <a:pPr indent="0" marL="0">
              <a:buNone/>
            </a:pPr>
            <a:r>
              <a:rPr lang="en-US" sz="1000" b="1" spc="80" kern="0" dirty="0">
                <a:solidFill>
                  <a:srgbClr val="123524"/>
                </a:solidFill>
              </a:rPr>
              <a:t>COMPARE</a:t>
            </a:r>
            <a:endParaRPr lang="en-US" sz="1000" dirty="0"/>
          </a:p>
        </p:txBody>
      </p:sp>
      <p:sp>
        <p:nvSpPr>
          <p:cNvPr id="23" name="Text 20"/>
          <p:cNvSpPr/>
          <p:nvPr/>
        </p:nvSpPr>
        <p:spPr>
          <a:xfrm>
            <a:off x="822960" y="4443984"/>
            <a:ext cx="2999232" cy="530352"/>
          </a:xfrm>
          <a:prstGeom prst="rect">
            <a:avLst/>
          </a:prstGeom>
          <a:noFill/>
          <a:ln/>
        </p:spPr>
        <p:txBody>
          <a:bodyPr wrap="square" lIns="0" tIns="0" rIns="0" bIns="0" rtlCol="0" anchor="ctr">
            <a:normAutofit/>
          </a:bodyPr>
          <a:lstStyle/>
          <a:p>
            <a:pPr indent="0" marL="0">
              <a:buNone/>
            </a:pPr>
            <a:r>
              <a:rPr lang="en-US" sz="1200" b="1" dirty="0">
                <a:solidFill>
                  <a:srgbClr val="14251D"/>
                </a:solidFill>
              </a:rPr>
              <a:t>Country, continent, and region profiles</a:t>
            </a:r>
            <a:endParaRPr lang="en-US" sz="1200" dirty="0"/>
          </a:p>
        </p:txBody>
      </p:sp>
      <p:sp>
        <p:nvSpPr>
          <p:cNvPr id="24" name="Shape 21"/>
          <p:cNvSpPr/>
          <p:nvPr/>
        </p:nvSpPr>
        <p:spPr>
          <a:xfrm>
            <a:off x="4416552" y="3657600"/>
            <a:ext cx="3520440" cy="1664208"/>
          </a:xfrm>
          <a:prstGeom prst="roundRect">
            <a:avLst>
              <a:gd name="adj" fmla="val 549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25" name="Text 22"/>
          <p:cNvSpPr/>
          <p:nvPr/>
        </p:nvSpPr>
        <p:spPr>
          <a:xfrm>
            <a:off x="4617720" y="3840480"/>
            <a:ext cx="502920" cy="320040"/>
          </a:xfrm>
          <a:prstGeom prst="rect">
            <a:avLst/>
          </a:prstGeom>
          <a:noFill/>
          <a:ln/>
        </p:spPr>
        <p:txBody>
          <a:bodyPr wrap="square" lIns="0" tIns="0" rIns="0" bIns="0" rtlCol="0" anchor="ctr"/>
          <a:lstStyle/>
          <a:p>
            <a:pPr indent="0" marL="0">
              <a:buNone/>
            </a:pPr>
            <a:r>
              <a:rPr lang="en-US" sz="2300" b="1" dirty="0">
                <a:solidFill>
                  <a:srgbClr val="C8A96A"/>
                </a:solidFill>
                <a:latin typeface="Georgia" pitchFamily="34" charset="0"/>
                <a:ea typeface="Georgia" pitchFamily="34" charset="-122"/>
                <a:cs typeface="Georgia" pitchFamily="34" charset="-120"/>
              </a:rPr>
              <a:t>05</a:t>
            </a:r>
            <a:endParaRPr lang="en-US" sz="2300" dirty="0"/>
          </a:p>
        </p:txBody>
      </p:sp>
      <p:sp>
        <p:nvSpPr>
          <p:cNvPr id="26" name="Text 23"/>
          <p:cNvSpPr/>
          <p:nvPr/>
        </p:nvSpPr>
        <p:spPr>
          <a:xfrm>
            <a:off x="5276088" y="3867912"/>
            <a:ext cx="2286000" cy="182880"/>
          </a:xfrm>
          <a:prstGeom prst="rect">
            <a:avLst/>
          </a:prstGeom>
          <a:noFill/>
          <a:ln/>
        </p:spPr>
        <p:txBody>
          <a:bodyPr wrap="square" lIns="0" tIns="0" rIns="0" bIns="0" rtlCol="0" anchor="ctr"/>
          <a:lstStyle/>
          <a:p>
            <a:pPr indent="0" marL="0">
              <a:buNone/>
            </a:pPr>
            <a:r>
              <a:rPr lang="en-US" sz="1000" b="1" spc="80" kern="0" dirty="0">
                <a:solidFill>
                  <a:srgbClr val="123524"/>
                </a:solidFill>
              </a:rPr>
              <a:t>ANALYZE</a:t>
            </a:r>
            <a:endParaRPr lang="en-US" sz="1000" dirty="0"/>
          </a:p>
        </p:txBody>
      </p:sp>
      <p:sp>
        <p:nvSpPr>
          <p:cNvPr id="27" name="Text 24"/>
          <p:cNvSpPr/>
          <p:nvPr/>
        </p:nvSpPr>
        <p:spPr>
          <a:xfrm>
            <a:off x="4645152" y="4443984"/>
            <a:ext cx="2999232" cy="530352"/>
          </a:xfrm>
          <a:prstGeom prst="rect">
            <a:avLst/>
          </a:prstGeom>
          <a:noFill/>
          <a:ln/>
        </p:spPr>
        <p:txBody>
          <a:bodyPr wrap="square" lIns="0" tIns="0" rIns="0" bIns="0" rtlCol="0" anchor="ctr">
            <a:normAutofit/>
          </a:bodyPr>
          <a:lstStyle/>
          <a:p>
            <a:pPr indent="0" marL="0">
              <a:buNone/>
            </a:pPr>
            <a:r>
              <a:rPr lang="en-US" sz="1200" b="1" dirty="0">
                <a:solidFill>
                  <a:srgbClr val="14251D"/>
                </a:solidFill>
              </a:rPr>
              <a:t>Predefined tests plus a dynamic method selector</a:t>
            </a:r>
            <a:endParaRPr lang="en-US" sz="1200" dirty="0"/>
          </a:p>
        </p:txBody>
      </p:sp>
      <p:sp>
        <p:nvSpPr>
          <p:cNvPr id="28" name="Shape 25"/>
          <p:cNvSpPr/>
          <p:nvPr/>
        </p:nvSpPr>
        <p:spPr>
          <a:xfrm>
            <a:off x="8238744" y="3657600"/>
            <a:ext cx="3520440" cy="1664208"/>
          </a:xfrm>
          <a:prstGeom prst="roundRect">
            <a:avLst>
              <a:gd name="adj" fmla="val 549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29" name="Text 26"/>
          <p:cNvSpPr/>
          <p:nvPr/>
        </p:nvSpPr>
        <p:spPr>
          <a:xfrm>
            <a:off x="8439912" y="3840480"/>
            <a:ext cx="502920" cy="320040"/>
          </a:xfrm>
          <a:prstGeom prst="rect">
            <a:avLst/>
          </a:prstGeom>
          <a:noFill/>
          <a:ln/>
        </p:spPr>
        <p:txBody>
          <a:bodyPr wrap="square" lIns="0" tIns="0" rIns="0" bIns="0" rtlCol="0" anchor="ctr"/>
          <a:lstStyle/>
          <a:p>
            <a:pPr indent="0" marL="0">
              <a:buNone/>
            </a:pPr>
            <a:r>
              <a:rPr lang="en-US" sz="2300" b="1" dirty="0">
                <a:solidFill>
                  <a:srgbClr val="C8A96A"/>
                </a:solidFill>
                <a:latin typeface="Georgia" pitchFamily="34" charset="0"/>
                <a:ea typeface="Georgia" pitchFamily="34" charset="-122"/>
                <a:cs typeface="Georgia" pitchFamily="34" charset="-120"/>
              </a:rPr>
              <a:t>06</a:t>
            </a:r>
            <a:endParaRPr lang="en-US" sz="2300" dirty="0"/>
          </a:p>
        </p:txBody>
      </p:sp>
      <p:sp>
        <p:nvSpPr>
          <p:cNvPr id="30" name="Text 27"/>
          <p:cNvSpPr/>
          <p:nvPr/>
        </p:nvSpPr>
        <p:spPr>
          <a:xfrm>
            <a:off x="9098280" y="3867912"/>
            <a:ext cx="2286000" cy="182880"/>
          </a:xfrm>
          <a:prstGeom prst="rect">
            <a:avLst/>
          </a:prstGeom>
          <a:noFill/>
          <a:ln/>
        </p:spPr>
        <p:txBody>
          <a:bodyPr wrap="square" lIns="0" tIns="0" rIns="0" bIns="0" rtlCol="0" anchor="ctr"/>
          <a:lstStyle/>
          <a:p>
            <a:pPr indent="0" marL="0">
              <a:buNone/>
            </a:pPr>
            <a:r>
              <a:rPr lang="en-US" sz="1000" b="1" spc="80" kern="0" dirty="0">
                <a:solidFill>
                  <a:srgbClr val="123524"/>
                </a:solidFill>
              </a:rPr>
              <a:t>PRESENT</a:t>
            </a:r>
            <a:endParaRPr lang="en-US" sz="1000" dirty="0"/>
          </a:p>
        </p:txBody>
      </p:sp>
      <p:sp>
        <p:nvSpPr>
          <p:cNvPr id="31" name="Text 28"/>
          <p:cNvSpPr/>
          <p:nvPr/>
        </p:nvSpPr>
        <p:spPr>
          <a:xfrm>
            <a:off x="8467344" y="4443984"/>
            <a:ext cx="2999232" cy="530352"/>
          </a:xfrm>
          <a:prstGeom prst="rect">
            <a:avLst/>
          </a:prstGeom>
          <a:noFill/>
          <a:ln/>
        </p:spPr>
        <p:txBody>
          <a:bodyPr wrap="square" lIns="0" tIns="0" rIns="0" bIns="0" rtlCol="0" anchor="ctr">
            <a:normAutofit/>
          </a:bodyPr>
          <a:lstStyle/>
          <a:p>
            <a:pPr indent="0" marL="0">
              <a:buNone/>
            </a:pPr>
            <a:r>
              <a:rPr lang="en-US" sz="1200" b="1" dirty="0">
                <a:solidFill>
                  <a:srgbClr val="14251D"/>
                </a:solidFill>
              </a:rPr>
              <a:t>Responsive, bilingual, accessible, dark-mode interface</a:t>
            </a:r>
            <a:endParaRPr lang="en-US" sz="1200" dirty="0"/>
          </a:p>
        </p:txBody>
      </p:sp>
      <p:sp>
        <p:nvSpPr>
          <p:cNvPr id="32" name="Shape 29"/>
          <p:cNvSpPr/>
          <p:nvPr/>
        </p:nvSpPr>
        <p:spPr>
          <a:xfrm>
            <a:off x="548640" y="5687568"/>
            <a:ext cx="213055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33" name="Shape 30"/>
          <p:cNvSpPr/>
          <p:nvPr/>
        </p:nvSpPr>
        <p:spPr>
          <a:xfrm>
            <a:off x="548640" y="5687568"/>
            <a:ext cx="54864" cy="777240"/>
          </a:xfrm>
          <a:prstGeom prst="rect">
            <a:avLst/>
          </a:prstGeom>
          <a:solidFill>
            <a:srgbClr val="123524"/>
          </a:solidFill>
          <a:ln w="12700">
            <a:solidFill>
              <a:srgbClr val="123524"/>
            </a:solidFill>
            <a:prstDash val="solid"/>
          </a:ln>
        </p:spPr>
        <p:txBody>
          <a:bodyPr/>
          <a:p/>
        </p:txBody>
      </p:sp>
      <p:sp>
        <p:nvSpPr>
          <p:cNvPr id="34" name="Text 31"/>
          <p:cNvSpPr/>
          <p:nvPr/>
        </p:nvSpPr>
        <p:spPr>
          <a:xfrm>
            <a:off x="713232" y="5806440"/>
            <a:ext cx="185623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GROUPS</a:t>
            </a:r>
            <a:endParaRPr lang="en-US" sz="780" dirty="0"/>
          </a:p>
        </p:txBody>
      </p:sp>
      <p:sp>
        <p:nvSpPr>
          <p:cNvPr id="35" name="Text 32"/>
          <p:cNvSpPr/>
          <p:nvPr/>
        </p:nvSpPr>
        <p:spPr>
          <a:xfrm>
            <a:off x="713232" y="6007608"/>
            <a:ext cx="185623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1,557</a:t>
            </a:r>
            <a:endParaRPr lang="en-US" sz="1800" dirty="0"/>
          </a:p>
        </p:txBody>
      </p:sp>
      <p:sp>
        <p:nvSpPr>
          <p:cNvPr id="36" name="Shape 33"/>
          <p:cNvSpPr/>
          <p:nvPr/>
        </p:nvSpPr>
        <p:spPr>
          <a:xfrm>
            <a:off x="2788920" y="5687568"/>
            <a:ext cx="213055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37" name="Shape 34"/>
          <p:cNvSpPr/>
          <p:nvPr/>
        </p:nvSpPr>
        <p:spPr>
          <a:xfrm>
            <a:off x="2788920" y="5687568"/>
            <a:ext cx="54864" cy="777240"/>
          </a:xfrm>
          <a:prstGeom prst="rect">
            <a:avLst/>
          </a:prstGeom>
          <a:solidFill>
            <a:srgbClr val="123524"/>
          </a:solidFill>
          <a:ln w="12700">
            <a:solidFill>
              <a:srgbClr val="123524"/>
            </a:solidFill>
            <a:prstDash val="solid"/>
          </a:ln>
        </p:spPr>
        <p:txBody>
          <a:bodyPr/>
          <a:p/>
        </p:txBody>
      </p:sp>
      <p:sp>
        <p:nvSpPr>
          <p:cNvPr id="38" name="Text 35"/>
          <p:cNvSpPr/>
          <p:nvPr/>
        </p:nvSpPr>
        <p:spPr>
          <a:xfrm>
            <a:off x="2953512" y="5806440"/>
            <a:ext cx="185623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COUNTRIES</a:t>
            </a:r>
            <a:endParaRPr lang="en-US" sz="780" dirty="0"/>
          </a:p>
        </p:txBody>
      </p:sp>
      <p:sp>
        <p:nvSpPr>
          <p:cNvPr id="39" name="Text 36"/>
          <p:cNvSpPr/>
          <p:nvPr/>
        </p:nvSpPr>
        <p:spPr>
          <a:xfrm>
            <a:off x="2953512" y="6007608"/>
            <a:ext cx="185623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130</a:t>
            </a:r>
            <a:endParaRPr lang="en-US" sz="1800" dirty="0"/>
          </a:p>
        </p:txBody>
      </p:sp>
      <p:sp>
        <p:nvSpPr>
          <p:cNvPr id="40" name="Shape 37"/>
          <p:cNvSpPr/>
          <p:nvPr/>
        </p:nvSpPr>
        <p:spPr>
          <a:xfrm>
            <a:off x="5029200" y="5687568"/>
            <a:ext cx="213055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41" name="Shape 38"/>
          <p:cNvSpPr/>
          <p:nvPr/>
        </p:nvSpPr>
        <p:spPr>
          <a:xfrm>
            <a:off x="5029200" y="5687568"/>
            <a:ext cx="54864" cy="777240"/>
          </a:xfrm>
          <a:prstGeom prst="rect">
            <a:avLst/>
          </a:prstGeom>
          <a:solidFill>
            <a:srgbClr val="123524"/>
          </a:solidFill>
          <a:ln w="12700">
            <a:solidFill>
              <a:srgbClr val="123524"/>
            </a:solidFill>
            <a:prstDash val="solid"/>
          </a:ln>
        </p:spPr>
        <p:txBody>
          <a:bodyPr/>
          <a:p/>
        </p:txBody>
      </p:sp>
      <p:sp>
        <p:nvSpPr>
          <p:cNvPr id="42" name="Text 39"/>
          <p:cNvSpPr/>
          <p:nvPr/>
        </p:nvSpPr>
        <p:spPr>
          <a:xfrm>
            <a:off x="5193792" y="5806440"/>
            <a:ext cx="185623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CONTINENTS</a:t>
            </a:r>
            <a:endParaRPr lang="en-US" sz="780" dirty="0"/>
          </a:p>
        </p:txBody>
      </p:sp>
      <p:sp>
        <p:nvSpPr>
          <p:cNvPr id="43" name="Text 40"/>
          <p:cNvSpPr/>
          <p:nvPr/>
        </p:nvSpPr>
        <p:spPr>
          <a:xfrm>
            <a:off x="5193792" y="6007608"/>
            <a:ext cx="185623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5</a:t>
            </a:r>
            <a:endParaRPr lang="en-US" sz="1800" dirty="0"/>
          </a:p>
        </p:txBody>
      </p:sp>
      <p:sp>
        <p:nvSpPr>
          <p:cNvPr id="44" name="Shape 41"/>
          <p:cNvSpPr/>
          <p:nvPr/>
        </p:nvSpPr>
        <p:spPr>
          <a:xfrm>
            <a:off x="7269480" y="5687568"/>
            <a:ext cx="213055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45" name="Shape 42"/>
          <p:cNvSpPr/>
          <p:nvPr/>
        </p:nvSpPr>
        <p:spPr>
          <a:xfrm>
            <a:off x="7269480" y="5687568"/>
            <a:ext cx="54864" cy="777240"/>
          </a:xfrm>
          <a:prstGeom prst="rect">
            <a:avLst/>
          </a:prstGeom>
          <a:solidFill>
            <a:srgbClr val="123524"/>
          </a:solidFill>
          <a:ln w="12700">
            <a:solidFill>
              <a:srgbClr val="123524"/>
            </a:solidFill>
            <a:prstDash val="solid"/>
          </a:ln>
        </p:spPr>
        <p:txBody>
          <a:bodyPr/>
          <a:p/>
        </p:txBody>
      </p:sp>
      <p:sp>
        <p:nvSpPr>
          <p:cNvPr id="46" name="Text 43"/>
          <p:cNvSpPr/>
          <p:nvPr/>
        </p:nvSpPr>
        <p:spPr>
          <a:xfrm>
            <a:off x="7434072" y="5806440"/>
            <a:ext cx="185623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RECOGNIZED</a:t>
            </a:r>
            <a:endParaRPr lang="en-US" sz="780" dirty="0"/>
          </a:p>
        </p:txBody>
      </p:sp>
      <p:sp>
        <p:nvSpPr>
          <p:cNvPr id="47" name="Text 44"/>
          <p:cNvSpPr/>
          <p:nvPr/>
        </p:nvSpPr>
        <p:spPr>
          <a:xfrm>
            <a:off x="7434072" y="6007608"/>
            <a:ext cx="185623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744</a:t>
            </a:r>
            <a:endParaRPr lang="en-US" sz="1800" dirty="0"/>
          </a:p>
        </p:txBody>
      </p:sp>
      <p:sp>
        <p:nvSpPr>
          <p:cNvPr id="48" name="Shape 45"/>
          <p:cNvSpPr/>
          <p:nvPr/>
        </p:nvSpPr>
        <p:spPr>
          <a:xfrm>
            <a:off x="9509760" y="5687568"/>
            <a:ext cx="2130552" cy="777240"/>
          </a:xfrm>
          <a:prstGeom prst="roundRect">
            <a:avLst>
              <a:gd name="adj" fmla="val 11765"/>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49" name="Shape 46"/>
          <p:cNvSpPr/>
          <p:nvPr/>
        </p:nvSpPr>
        <p:spPr>
          <a:xfrm>
            <a:off x="9509760" y="5687568"/>
            <a:ext cx="54864" cy="777240"/>
          </a:xfrm>
          <a:prstGeom prst="rect">
            <a:avLst/>
          </a:prstGeom>
          <a:solidFill>
            <a:srgbClr val="123524"/>
          </a:solidFill>
          <a:ln w="12700">
            <a:solidFill>
              <a:srgbClr val="123524"/>
            </a:solidFill>
            <a:prstDash val="solid"/>
          </a:ln>
        </p:spPr>
        <p:txBody>
          <a:bodyPr/>
          <a:p/>
        </p:txBody>
      </p:sp>
      <p:sp>
        <p:nvSpPr>
          <p:cNvPr id="50" name="Text 47"/>
          <p:cNvSpPr/>
          <p:nvPr/>
        </p:nvSpPr>
        <p:spPr>
          <a:xfrm>
            <a:off x="9674352" y="5806440"/>
            <a:ext cx="1856232" cy="146304"/>
          </a:xfrm>
          <a:prstGeom prst="rect">
            <a:avLst/>
          </a:prstGeom>
          <a:noFill/>
          <a:ln/>
        </p:spPr>
        <p:txBody>
          <a:bodyPr wrap="square" lIns="0" tIns="0" rIns="0" bIns="0" rtlCol="0" anchor="ctr">
            <a:normAutofit/>
          </a:bodyPr>
          <a:lstStyle/>
          <a:p>
            <a:pPr indent="0" marL="0">
              <a:buNone/>
            </a:pPr>
            <a:r>
              <a:rPr lang="en-US" sz="780" b="1" spc="70" kern="0" dirty="0">
                <a:solidFill>
                  <a:srgbClr val="65736B"/>
                </a:solidFill>
                <a:latin typeface="Aptos" pitchFamily="34" charset="0"/>
                <a:ea typeface="Aptos" pitchFamily="34" charset="-122"/>
                <a:cs typeface="Aptos" pitchFamily="34" charset="-120"/>
              </a:rPr>
              <a:t>API ERRORS</a:t>
            </a:r>
            <a:endParaRPr lang="en-US" sz="780" dirty="0"/>
          </a:p>
        </p:txBody>
      </p:sp>
      <p:sp>
        <p:nvSpPr>
          <p:cNvPr id="51" name="Text 48"/>
          <p:cNvSpPr/>
          <p:nvPr/>
        </p:nvSpPr>
        <p:spPr>
          <a:xfrm>
            <a:off x="9674352" y="6007608"/>
            <a:ext cx="1856232" cy="256032"/>
          </a:xfrm>
          <a:prstGeom prst="rect">
            <a:avLst/>
          </a:prstGeom>
          <a:noFill/>
          <a:ln/>
        </p:spPr>
        <p:txBody>
          <a:bodyPr wrap="square" lIns="0" tIns="0" rIns="0" bIns="0" rtlCol="0" anchor="ctr">
            <a:normAutofit/>
          </a:bodyPr>
          <a:lstStyle/>
          <a:p>
            <a:pPr indent="0" marL="0">
              <a:buNone/>
            </a:pPr>
            <a:r>
              <a:rPr lang="en-US" sz="1800" b="1" dirty="0">
                <a:solidFill>
                  <a:srgbClr val="14251D"/>
                </a:solidFill>
                <a:latin typeface="Georgia" pitchFamily="34" charset="0"/>
                <a:ea typeface="Georgia" pitchFamily="34" charset="-122"/>
                <a:cs typeface="Georgia" pitchFamily="34" charset="-120"/>
              </a:rPr>
              <a:t>0</a:t>
            </a:r>
            <a:endParaRPr lang="en-US" sz="1800" dirty="0"/>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292608"/>
            <a:ext cx="3657600" cy="219456"/>
          </a:xfrm>
          <a:prstGeom prst="rect">
            <a:avLst/>
          </a:prstGeom>
          <a:noFill/>
          <a:ln/>
        </p:spPr>
        <p:txBody>
          <a:bodyPr wrap="square" lIns="0" tIns="0" rIns="0" bIns="0" rtlCol="0" anchor="ctr"/>
          <a:lstStyle/>
          <a:p>
            <a:pPr indent="0" marL="0">
              <a:buNone/>
            </a:pPr>
            <a:r>
              <a:rPr lang="en-US" sz="900" b="1" spc="120" kern="0" dirty="0">
                <a:solidFill>
                  <a:srgbClr val="123524"/>
                </a:solidFill>
                <a:latin typeface="Aptos" pitchFamily="34" charset="0"/>
                <a:ea typeface="Aptos" pitchFamily="34" charset="-122"/>
                <a:cs typeface="Aptos" pitchFamily="34" charset="-120"/>
              </a:rPr>
              <a:t>CHAPTER SUMMARY</a:t>
            </a:r>
            <a:endParaRPr lang="en-US" sz="900" dirty="0"/>
          </a:p>
        </p:txBody>
      </p:sp>
      <p:sp>
        <p:nvSpPr>
          <p:cNvPr id="3" name="Shape 1"/>
          <p:cNvSpPr/>
          <p:nvPr/>
        </p:nvSpPr>
        <p:spPr>
          <a:xfrm>
            <a:off x="502920" y="585216"/>
            <a:ext cx="411480" cy="0"/>
          </a:xfrm>
          <a:prstGeom prst="line">
            <a:avLst/>
          </a:prstGeom>
          <a:noFill/>
          <a:ln w="19050">
            <a:solidFill>
              <a:srgbClr val="C8A96A"/>
            </a:solidFill>
            <a:prstDash val="solid"/>
          </a:ln>
        </p:spPr>
        <p:txBody>
          <a:bodyPr/>
          <a:p/>
        </p:txBody>
      </p:sp>
      <p:sp>
        <p:nvSpPr>
          <p:cNvPr id="4" name="Text 2"/>
          <p:cNvSpPr/>
          <p:nvPr/>
        </p:nvSpPr>
        <p:spPr>
          <a:xfrm>
            <a:off x="502920" y="658368"/>
            <a:ext cx="11064240" cy="475488"/>
          </a:xfrm>
          <a:prstGeom prst="rect">
            <a:avLst/>
          </a:prstGeom>
          <a:noFill/>
          <a:ln/>
        </p:spPr>
        <p:txBody>
          <a:bodyPr wrap="square" lIns="0" tIns="0" rIns="0" bIns="0" rtlCol="0" anchor="ctr">
            <a:normAutofit/>
          </a:bodyPr>
          <a:lstStyle/>
          <a:p>
            <a:pPr indent="0" marL="0">
              <a:buNone/>
            </a:pPr>
            <a:r>
              <a:rPr lang="en-US" sz="2500" dirty="0">
                <a:solidFill>
                  <a:srgbClr val="14251D"/>
                </a:solidFill>
                <a:latin typeface="Georgia" pitchFamily="34" charset="0"/>
                <a:ea typeface="Georgia" pitchFamily="34" charset="-122"/>
                <a:cs typeface="Georgia" pitchFamily="34" charset="-120"/>
              </a:rPr>
              <a:t>Chapter 4 established both technical and analytical outcomes</a:t>
            </a:r>
            <a:endParaRPr lang="en-US" sz="2500" dirty="0"/>
          </a:p>
        </p:txBody>
      </p:sp>
      <p:sp>
        <p:nvSpPr>
          <p:cNvPr id="5" name="Text 3"/>
          <p:cNvSpPr/>
          <p:nvPr/>
        </p:nvSpPr>
        <p:spPr>
          <a:xfrm>
            <a:off x="521208" y="1170432"/>
            <a:ext cx="10881360" cy="329184"/>
          </a:xfrm>
          <a:prstGeom prst="rect">
            <a:avLst/>
          </a:prstGeom>
          <a:noFill/>
          <a:ln/>
        </p:spPr>
        <p:txBody>
          <a:bodyPr wrap="square" lIns="0" tIns="0" rIns="0" bIns="0" rtlCol="0" anchor="ctr">
            <a:normAutofit/>
          </a:bodyPr>
          <a:lstStyle/>
          <a:p>
            <a:pPr indent="0" marL="0">
              <a:buNone/>
            </a:pPr>
            <a:r>
              <a:rPr lang="en-US" sz="1150" dirty="0">
                <a:solidFill>
                  <a:srgbClr val="65736B"/>
                </a:solidFill>
                <a:latin typeface="Aptos" pitchFamily="34" charset="0"/>
                <a:ea typeface="Aptos" pitchFamily="34" charset="-122"/>
                <a:cs typeface="Aptos" pitchFamily="34" charset="-120"/>
              </a:rPr>
              <a:t>The platform is functional, evidence-based, and ready to support the final conclusions.</a:t>
            </a:r>
            <a:endParaRPr lang="en-US" sz="1150" dirty="0"/>
          </a:p>
        </p:txBody>
      </p:sp>
      <p:sp>
        <p:nvSpPr>
          <p:cNvPr id="6" name="Text 4"/>
          <p:cNvSpPr/>
          <p:nvPr/>
        </p:nvSpPr>
        <p:spPr>
          <a:xfrm>
            <a:off x="502920" y="6684264"/>
            <a:ext cx="6217920" cy="100584"/>
          </a:xfrm>
          <a:prstGeom prst="rect">
            <a:avLst/>
          </a:prstGeom>
          <a:noFill/>
          <a:ln/>
        </p:spPr>
        <p:txBody>
          <a:bodyPr wrap="square" lIns="0" tIns="0" rIns="0" bIns="0" rtlCol="0" anchor="ctr"/>
          <a:lstStyle/>
          <a:p>
            <a:pPr indent="0" marL="0">
              <a:buNone/>
            </a:pPr>
            <a:r>
              <a:rPr lang="en-US" sz="750" dirty="0">
                <a:solidFill>
                  <a:srgbClr val="DDE7E0"/>
                </a:solidFill>
                <a:latin typeface="Aptos" pitchFamily="34" charset="0"/>
                <a:ea typeface="Aptos" pitchFamily="34" charset="-122"/>
                <a:cs typeface="Aptos" pitchFamily="34" charset="-120"/>
              </a:rPr>
              <a:t>Chapter 4 • Results and Discussion</a:t>
            </a:r>
            <a:endParaRPr lang="en-US" sz="750" dirty="0"/>
          </a:p>
        </p:txBody>
      </p:sp>
      <p:sp>
        <p:nvSpPr>
          <p:cNvPr id="8" name="Shape 5"/>
          <p:cNvSpPr/>
          <p:nvPr/>
        </p:nvSpPr>
        <p:spPr>
          <a:xfrm>
            <a:off x="658368" y="1691640"/>
            <a:ext cx="6537960" cy="4114800"/>
          </a:xfrm>
          <a:prstGeom prst="roundRect">
            <a:avLst>
              <a:gd name="adj" fmla="val 2222"/>
            </a:avLst>
          </a:prstGeom>
          <a:solidFill>
            <a:srgbClr val="FFFFFF"/>
          </a:solidFill>
          <a:ln w="8890">
            <a:solidFill>
              <a:srgbClr val="D7DED9"/>
            </a:solidFill>
            <a:prstDash val="solid"/>
          </a:ln>
          <a:effectLst>
            <a:outerShdw sx="100000" sy="100000" kx="0" ky="0" algn="bl" rotWithShape="0" blurRad="19050" dist="50800" dir="2700000">
              <a:srgbClr val="AAB7AF">
                <a:alpha val="13000"/>
              </a:srgbClr>
            </a:outerShdw>
          </a:effectLst>
        </p:spPr>
        <p:txBody>
          <a:bodyPr/>
          <a:p/>
        </p:txBody>
      </p:sp>
      <p:sp>
        <p:nvSpPr>
          <p:cNvPr id="9" name="Text 6"/>
          <p:cNvSpPr/>
          <p:nvPr/>
        </p:nvSpPr>
        <p:spPr>
          <a:xfrm>
            <a:off x="987552" y="2011680"/>
            <a:ext cx="3474720" cy="329184"/>
          </a:xfrm>
          <a:prstGeom prst="rect">
            <a:avLst/>
          </a:prstGeom>
          <a:noFill/>
          <a:ln/>
        </p:spPr>
        <p:txBody>
          <a:bodyPr wrap="square" lIns="0" tIns="0" rIns="0" bIns="0" rtlCol="0" anchor="ctr"/>
          <a:lstStyle/>
          <a:p>
            <a:pPr indent="0" marL="0">
              <a:buNone/>
            </a:pPr>
            <a:r>
              <a:rPr lang="en-US" sz="2100" b="1" dirty="0">
                <a:solidFill>
                  <a:srgbClr val="123524"/>
                </a:solidFill>
                <a:latin typeface="Georgia" pitchFamily="34" charset="0"/>
                <a:ea typeface="Georgia" pitchFamily="34" charset="-122"/>
                <a:cs typeface="Georgia" pitchFamily="34" charset="-120"/>
              </a:rPr>
              <a:t>Established in this chapter</a:t>
            </a:r>
            <a:endParaRPr lang="en-US" sz="2100" dirty="0"/>
          </a:p>
        </p:txBody>
      </p:sp>
      <p:sp>
        <p:nvSpPr>
          <p:cNvPr id="10" name="Text 7"/>
          <p:cNvSpPr/>
          <p:nvPr/>
        </p:nvSpPr>
        <p:spPr>
          <a:xfrm>
            <a:off x="960120" y="2606040"/>
            <a:ext cx="5852160" cy="2514600"/>
          </a:xfrm>
          <a:prstGeom prst="rect">
            <a:avLst/>
          </a:prstGeom>
          <a:noFill/>
          <a:ln/>
        </p:spPr>
        <p:txBody>
          <a:bodyPr wrap="square" lIns="25400" tIns="25400" rIns="25400" bIns="25400" rtlCol="0" anchor="ctr">
            <a:normAutofit/>
          </a:bodyPr>
          <a:lstStyle/>
          <a:p>
            <a:pPr marL="177800" indent="-177800">
              <a:buSzPct val="100000"/>
              <a:buChar char="•"/>
            </a:pPr>
            <a:r>
              <a:rPr lang="en-US" sz="1320" dirty="0">
                <a:solidFill>
                  <a:srgbClr val="14251D"/>
                </a:solidFill>
                <a:latin typeface="Aptos" pitchFamily="34" charset="0"/>
                <a:ea typeface="Aptos" pitchFamily="34" charset="-122"/>
                <a:cs typeface="Aptos" pitchFamily="34" charset="-120"/>
              </a:rPr>
              <a:t>The final frontend is connected to live Flask–MySQL services.</a:t>
            </a:r>
            <a:endParaRPr lang="en-US" sz="1320" dirty="0"/>
          </a:p>
          <a:p>
            <a:pPr marL="177800" indent="-177800">
              <a:buSzPct val="100000"/>
              <a:buChar char="•"/>
            </a:pPr>
            <a:r>
              <a:rPr lang="en-US" sz="1320" dirty="0">
                <a:solidFill>
                  <a:srgbClr val="14251D"/>
                </a:solidFill>
                <a:latin typeface="Aptos" pitchFamily="34" charset="0"/>
                <a:ea typeface="Aptos" pitchFamily="34" charset="-122"/>
                <a:cs typeface="Aptos" pitchFamily="34" charset="-120"/>
              </a:rPr>
              <a:t>Search, filters, map navigation, statistics, and comparisons are operational.</a:t>
            </a:r>
            <a:endParaRPr lang="en-US" sz="1320" dirty="0"/>
          </a:p>
          <a:p>
            <a:pPr marL="177800" indent="-177800">
              <a:buSzPct val="100000"/>
              <a:buChar char="•"/>
            </a:pPr>
            <a:r>
              <a:rPr lang="en-US" sz="1320" dirty="0">
                <a:solidFill>
                  <a:srgbClr val="14251D"/>
                </a:solidFill>
                <a:latin typeface="Aptos" pitchFamily="34" charset="0"/>
                <a:ea typeface="Aptos" pitchFamily="34" charset="-122"/>
                <a:cs typeface="Aptos" pitchFamily="34" charset="-120"/>
              </a:rPr>
              <a:t>Inferential outputs match the current API and preserve decimal expected frequencies.</a:t>
            </a:r>
            <a:endParaRPr lang="en-US" sz="1320" dirty="0"/>
          </a:p>
          <a:p>
            <a:pPr marL="177800" indent="-177800">
              <a:buSzPct val="100000"/>
              <a:buChar char="•"/>
            </a:pPr>
            <a:r>
              <a:rPr lang="en-US" sz="1320" dirty="0">
                <a:solidFill>
                  <a:srgbClr val="14251D"/>
                </a:solidFill>
                <a:latin typeface="Aptos" pitchFamily="34" charset="0"/>
                <a:ea typeface="Aptos" pitchFamily="34" charset="-122"/>
                <a:cs typeface="Aptos" pitchFamily="34" charset="-120"/>
              </a:rPr>
              <a:t>Most significant relationships have weak, very weak, small, or negligible effects.</a:t>
            </a:r>
            <a:endParaRPr lang="en-US" sz="1320" dirty="0"/>
          </a:p>
          <a:p>
            <a:pPr marL="177800" indent="-177800">
              <a:buSzPct val="100000"/>
              <a:buChar char="•"/>
            </a:pPr>
            <a:r>
              <a:rPr lang="en-US" sz="1320" dirty="0">
                <a:solidFill>
                  <a:srgbClr val="14251D"/>
                </a:solidFill>
                <a:latin typeface="Aptos" pitchFamily="34" charset="0"/>
                <a:ea typeface="Aptos" pitchFamily="34" charset="-122"/>
                <a:cs typeface="Aptos" pitchFamily="34" charset="-120"/>
              </a:rPr>
              <a:t>Geographic recognition differences are evident, with the regional result showing a moderate effect.</a:t>
            </a:r>
            <a:endParaRPr lang="en-US" sz="1320" dirty="0"/>
          </a:p>
          <a:p>
            <a:pPr marL="177800" indent="-177800">
              <a:buSzPct val="100000"/>
              <a:buChar char="•"/>
            </a:pPr>
            <a:r>
              <a:rPr lang="en-US" sz="1320" dirty="0">
                <a:solidFill>
                  <a:srgbClr val="14251D"/>
                </a:solidFill>
                <a:latin typeface="Aptos" pitchFamily="34" charset="0"/>
                <a:ea typeface="Aptos" pitchFamily="34" charset="-122"/>
                <a:cs typeface="Aptos" pitchFamily="34" charset="-120"/>
              </a:rPr>
              <a:t>Findings describe association or difference—not causation.</a:t>
            </a:r>
            <a:endParaRPr lang="en-US" sz="1320" dirty="0"/>
          </a:p>
        </p:txBody>
      </p:sp>
      <p:sp>
        <p:nvSpPr>
          <p:cNvPr id="11" name="Shape 8"/>
          <p:cNvSpPr/>
          <p:nvPr/>
        </p:nvSpPr>
        <p:spPr>
          <a:xfrm>
            <a:off x="7498080" y="1691640"/>
            <a:ext cx="3977640" cy="4114800"/>
          </a:xfrm>
          <a:prstGeom prst="roundRect">
            <a:avLst>
              <a:gd name="adj" fmla="val 2299"/>
            </a:avLst>
          </a:prstGeom>
          <a:solidFill>
            <a:srgbClr val="EAF1EC"/>
          </a:solidFill>
          <a:ln w="8890">
            <a:solidFill>
              <a:srgbClr val="C6D8CD"/>
            </a:solidFill>
            <a:prstDash val="solid"/>
          </a:ln>
          <a:effectLst>
            <a:outerShdw sx="100000" sy="100000" kx="0" ky="0" algn="bl" rotWithShape="0" blurRad="19050" dist="50800" dir="2700000">
              <a:srgbClr val="AAB7AF">
                <a:alpha val="13000"/>
              </a:srgbClr>
            </a:outerShdw>
          </a:effectLst>
        </p:spPr>
        <p:txBody>
          <a:bodyPr/>
          <a:p/>
        </p:txBody>
      </p:sp>
      <p:sp>
        <p:nvSpPr>
          <p:cNvPr id="12" name="Text 9"/>
          <p:cNvSpPr/>
          <p:nvPr/>
        </p:nvSpPr>
        <p:spPr>
          <a:xfrm>
            <a:off x="7845552" y="2011680"/>
            <a:ext cx="914400" cy="182880"/>
          </a:xfrm>
          <a:prstGeom prst="rect">
            <a:avLst/>
          </a:prstGeom>
          <a:noFill/>
          <a:ln/>
        </p:spPr>
        <p:txBody>
          <a:bodyPr wrap="square" lIns="0" tIns="0" rIns="0" bIns="0" rtlCol="0" anchor="ctr"/>
          <a:lstStyle/>
          <a:p>
            <a:pPr indent="0" marL="0">
              <a:buNone/>
            </a:pPr>
            <a:r>
              <a:rPr lang="en-US" sz="1000" b="1" spc="100" kern="0" dirty="0">
                <a:solidFill>
                  <a:srgbClr val="C8A96A"/>
                </a:solidFill>
              </a:rPr>
              <a:t>NEXT</a:t>
            </a:r>
            <a:endParaRPr lang="en-US" sz="1000" dirty="0"/>
          </a:p>
        </p:txBody>
      </p:sp>
      <p:sp>
        <p:nvSpPr>
          <p:cNvPr id="13" name="Text 10"/>
          <p:cNvSpPr/>
          <p:nvPr/>
        </p:nvSpPr>
        <p:spPr>
          <a:xfrm>
            <a:off x="7845552" y="2395728"/>
            <a:ext cx="2926080" cy="438912"/>
          </a:xfrm>
          <a:prstGeom prst="rect">
            <a:avLst/>
          </a:prstGeom>
          <a:noFill/>
          <a:ln/>
        </p:spPr>
        <p:txBody>
          <a:bodyPr wrap="square" lIns="0" tIns="0" rIns="0" bIns="0" rtlCol="0" anchor="ctr"/>
          <a:lstStyle/>
          <a:p>
            <a:pPr indent="0" marL="0">
              <a:buNone/>
            </a:pPr>
            <a:r>
              <a:rPr lang="en-US" sz="2700" b="1" dirty="0">
                <a:solidFill>
                  <a:srgbClr val="123524"/>
                </a:solidFill>
                <a:latin typeface="Georgia" pitchFamily="34" charset="0"/>
                <a:ea typeface="Georgia" pitchFamily="34" charset="-122"/>
                <a:cs typeface="Georgia" pitchFamily="34" charset="-120"/>
              </a:rPr>
              <a:t>Chapter 5</a:t>
            </a:r>
            <a:endParaRPr lang="en-US" sz="2700" dirty="0"/>
          </a:p>
        </p:txBody>
      </p:sp>
      <p:sp>
        <p:nvSpPr>
          <p:cNvPr id="14" name="Text 11"/>
          <p:cNvSpPr/>
          <p:nvPr/>
        </p:nvSpPr>
        <p:spPr>
          <a:xfrm>
            <a:off x="7845552" y="3090672"/>
            <a:ext cx="3127248" cy="822960"/>
          </a:xfrm>
          <a:prstGeom prst="rect">
            <a:avLst/>
          </a:prstGeom>
          <a:noFill/>
          <a:ln/>
        </p:spPr>
        <p:txBody>
          <a:bodyPr wrap="square" lIns="0" tIns="0" rIns="0" bIns="0" rtlCol="0" anchor="ctr">
            <a:normAutofit/>
          </a:bodyPr>
          <a:lstStyle/>
          <a:p>
            <a:pPr indent="0" marL="0">
              <a:buNone/>
            </a:pPr>
            <a:r>
              <a:rPr lang="en-US" sz="1600" b="1" dirty="0">
                <a:solidFill>
                  <a:srgbClr val="14251D"/>
                </a:solidFill>
              </a:rPr>
              <a:t>Conclusions, recommendations, and future development priorities.</a:t>
            </a:r>
            <a:endParaRPr lang="en-US" sz="1600" dirty="0"/>
          </a:p>
        </p:txBody>
      </p:sp>
      <p:sp>
        <p:nvSpPr>
          <p:cNvPr id="15" name="Shape 12"/>
          <p:cNvSpPr/>
          <p:nvPr/>
        </p:nvSpPr>
        <p:spPr>
          <a:xfrm>
            <a:off x="7845552" y="4736592"/>
            <a:ext cx="1874520" cy="512064"/>
          </a:xfrm>
          <a:prstGeom prst="rightArrow">
            <a:avLst/>
          </a:prstGeom>
          <a:solidFill>
            <a:srgbClr val="C8A96A"/>
          </a:solidFill>
          <a:ln w="12700">
            <a:solidFill>
              <a:srgbClr val="C8A96A"/>
            </a:solidFill>
            <a:prstDash val="solid"/>
          </a:ln>
        </p:spPr>
        <p:txBody>
          <a:bodyPr/>
          <a:p/>
        </p:txBody>
      </p:sp>
      <p:sp>
        <p:nvSpPr>
          <p:cNvPr id="25" name="Slide Number Placeholder 0"/>
          <p:cNvSpPr>
            <a:spLocks noGrp="1"/>
          </p:cNvSpPr>
          <p:nvPr>
            <p:ph type="sldNum" sz="quarter" idx="4294967295"/>
          </p:nvPr>
        </p:nvSpPr>
        <p:spPr>
          <a:xfrm>
            <a:off x="11475720" y="6665976"/>
            <a:ext cx="365760" cy="10972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Aptos"/>
                <a:ea typeface="Aptos"/>
                <a:cs typeface="Aptos"/>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V_BACKGROUND"/>
          <p:cNvSpPr/>
          <p:nvPr/>
        </p:nvSpPr>
        <p:spPr>
          <a:xfrm>
            <a:off x="0" y="0"/>
            <a:ext cx="12192000" cy="68580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972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2000" cy="20116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V_SECTION"/>
          <p:cNvSpPr txBox="1"/>
          <p:nvPr/>
        </p:nvSpPr>
        <p:spPr>
          <a:xfrm>
            <a:off x="502920" y="283464"/>
            <a:ext cx="4389120" cy="201168"/>
          </a:xfrm>
          <a:prstGeom prst="rect">
            <a:avLst/>
          </a:prstGeom>
          <a:noFill/>
        </p:spPr>
        <p:txBody>
          <a:bodyPr wrap="square" lIns="27432" rIns="27432" tIns="27432" bIns="27432" anchor="t">
            <a:spAutoFit/>
          </a:bodyPr>
          <a:lstStyle/>
          <a:p>
            <a:pPr algn="l"/>
            <a:r>
              <a:rPr sz="900" b="1" i="0">
                <a:solidFill>
                  <a:srgbClr val="123524"/>
                </a:solidFill>
                <a:latin typeface="Aptos"/>
              </a:rPr>
              <a:t>4.9 • ABOUT PAGE</a:t>
            </a:r>
          </a:p>
        </p:txBody>
      </p:sp>
      <p:sp>
        <p:nvSpPr>
          <p:cNvPr id="6" name="Rectangle 5"/>
          <p:cNvSpPr/>
          <p:nvPr/>
        </p:nvSpPr>
        <p:spPr>
          <a:xfrm>
            <a:off x="502920" y="576072"/>
            <a:ext cx="420624" cy="22860"/>
          </a:xfrm>
          <a:prstGeom prst="rect">
            <a:avLst/>
          </a:prstGeom>
          <a:solidFill>
            <a:srgbClr val="C8A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V_TITLE"/>
          <p:cNvSpPr txBox="1"/>
          <p:nvPr/>
        </p:nvSpPr>
        <p:spPr>
          <a:xfrm>
            <a:off x="502920" y="658368"/>
            <a:ext cx="11018520" cy="475488"/>
          </a:xfrm>
          <a:prstGeom prst="rect">
            <a:avLst/>
          </a:prstGeom>
          <a:noFill/>
        </p:spPr>
        <p:txBody>
          <a:bodyPr wrap="square" lIns="27432" rIns="27432" tIns="27432" bIns="27432" anchor="t">
            <a:spAutoFit/>
          </a:bodyPr>
          <a:lstStyle/>
          <a:p>
            <a:pPr algn="l"/>
            <a:r>
              <a:rPr sz="2500" b="0" i="0">
                <a:solidFill>
                  <a:srgbClr val="14251D"/>
                </a:solidFill>
                <a:latin typeface="Georgia"/>
              </a:rPr>
              <a:t>Understand the purpose and scope of the project</a:t>
            </a:r>
          </a:p>
        </p:txBody>
      </p:sp>
      <p:sp>
        <p:nvSpPr>
          <p:cNvPr id="8" name="REV_SUBTITLE"/>
          <p:cNvSpPr txBox="1"/>
          <p:nvPr/>
        </p:nvSpPr>
        <p:spPr>
          <a:xfrm>
            <a:off x="521207" y="1179576"/>
            <a:ext cx="10927080" cy="320040"/>
          </a:xfrm>
          <a:prstGeom prst="rect">
            <a:avLst/>
          </a:prstGeom>
          <a:noFill/>
        </p:spPr>
        <p:txBody>
          <a:bodyPr wrap="square" lIns="27432" rIns="27432" tIns="27432" bIns="27432" anchor="t">
            <a:spAutoFit/>
          </a:bodyPr>
          <a:lstStyle/>
          <a:p>
            <a:pPr algn="l"/>
            <a:r>
              <a:rPr sz="1150" b="0" i="0">
                <a:solidFill>
                  <a:srgbClr val="65736B"/>
                </a:solidFill>
                <a:latin typeface="Aptos"/>
              </a:rPr>
              <a:t>The About page explains why the platform exists and what research activities it supports.</a:t>
            </a:r>
          </a:p>
        </p:txBody>
      </p:sp>
      <p:sp>
        <p:nvSpPr>
          <p:cNvPr id="9" name="TextBox 8"/>
          <p:cNvSpPr txBox="1"/>
          <p:nvPr/>
        </p:nvSpPr>
        <p:spPr>
          <a:xfrm>
            <a:off x="502920" y="6684264"/>
            <a:ext cx="4572000" cy="100584"/>
          </a:xfrm>
          <a:prstGeom prst="rect">
            <a:avLst/>
          </a:prstGeom>
          <a:noFill/>
        </p:spPr>
        <p:txBody>
          <a:bodyPr wrap="square" lIns="0" rIns="0" tIns="0" bIns="0" anchor="t">
            <a:spAutoFit/>
          </a:bodyPr>
          <a:lstStyle/>
          <a:p>
            <a:pPr algn="l"/>
            <a:r>
              <a:rPr sz="750" b="0" i="0">
                <a:solidFill>
                  <a:srgbClr val="DDE7E0"/>
                </a:solidFill>
                <a:latin typeface="Aptos"/>
              </a:rPr>
              <a:t>Chapter 4 • Results and Discussion</a:t>
            </a:r>
          </a:p>
        </p:txBody>
      </p:sp>
      <p:sp>
        <p:nvSpPr>
          <p:cNvPr id="10" name="TextBox 9"/>
          <p:cNvSpPr txBox="1"/>
          <p:nvPr/>
        </p:nvSpPr>
        <p:spPr>
          <a:xfrm>
            <a:off x="11475720" y="6684264"/>
            <a:ext cx="274320" cy="100584"/>
          </a:xfrm>
          <a:prstGeom prst="rect">
            <a:avLst/>
          </a:prstGeom>
          <a:noFill/>
        </p:spPr>
        <p:txBody>
          <a:bodyPr wrap="square" lIns="0" rIns="0" tIns="0" bIns="0" anchor="t">
            <a:spAutoFit/>
          </a:bodyPr>
          <a:lstStyle/>
          <a:p>
            <a:pPr algn="r"/>
            <a:r>
              <a:rPr sz="800" b="0" i="0">
                <a:solidFill>
                  <a:srgbClr val="FFFFFF"/>
                </a:solidFill>
                <a:latin typeface="Aptos"/>
              </a:rPr>
              <a:t>15</a:t>
            </a:r>
          </a:p>
        </p:txBody>
      </p:sp>
      <p:sp>
        <p:nvSpPr>
          <p:cNvPr id="11" name="Rounded Rectangle 10"/>
          <p:cNvSpPr/>
          <p:nvPr/>
        </p:nvSpPr>
        <p:spPr>
          <a:xfrm>
            <a:off x="498347" y="1540764"/>
            <a:ext cx="7607808" cy="456285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48-about-current.png"/>
          <p:cNvPicPr>
            <a:picLocks noChangeAspect="1"/>
          </p:cNvPicPr>
          <p:nvPr/>
        </p:nvPicPr>
        <p:blipFill>
          <a:blip r:embed="rId2"/>
          <a:stretch>
            <a:fillRect/>
          </a:stretch>
        </p:blipFill>
        <p:spPr>
          <a:xfrm>
            <a:off x="1064444" y="1572768"/>
            <a:ext cx="6475614" cy="4498848"/>
          </a:xfrm>
          <a:prstGeom prst="rect">
            <a:avLst/>
          </a:prstGeom>
        </p:spPr>
      </p:pic>
      <p:sp>
        <p:nvSpPr>
          <p:cNvPr id="13" name="REV_CAPTION"/>
          <p:cNvSpPr txBox="1"/>
          <p:nvPr/>
        </p:nvSpPr>
        <p:spPr>
          <a:xfrm>
            <a:off x="530352" y="6108192"/>
            <a:ext cx="7543800" cy="201168"/>
          </a:xfrm>
          <a:prstGeom prst="rect">
            <a:avLst/>
          </a:prstGeom>
          <a:noFill/>
        </p:spPr>
        <p:txBody>
          <a:bodyPr wrap="square" lIns="0" rIns="0" tIns="0" bIns="0" anchor="t">
            <a:spAutoFit/>
          </a:bodyPr>
          <a:lstStyle/>
          <a:p>
            <a:pPr algn="ctr"/>
            <a:r>
              <a:rPr sz="900" b="0" i="1">
                <a:solidFill>
                  <a:srgbClr val="65736B"/>
                </a:solidFill>
                <a:latin typeface="Aptos"/>
              </a:rPr>
              <a:t>Figure 4.14: About Page of the Traditional Governance Platform</a:t>
            </a:r>
          </a:p>
        </p:txBody>
      </p:sp>
      <p:sp>
        <p:nvSpPr>
          <p:cNvPr id="14" name="Rounded Rectangle 13"/>
          <p:cNvSpPr/>
          <p:nvPr/>
        </p:nvSpPr>
        <p:spPr>
          <a:xfrm>
            <a:off x="8302752" y="1627632"/>
            <a:ext cx="3200400"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67344" y="1801368"/>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90204" y="1868119"/>
            <a:ext cx="265176" cy="118872"/>
          </a:xfrm>
          <a:prstGeom prst="rect">
            <a:avLst/>
          </a:prstGeom>
          <a:noFill/>
        </p:spPr>
        <p:txBody>
          <a:bodyPr wrap="square" lIns="0" rIns="0" tIns="0" bIns="0" anchor="t">
            <a:spAutoFit/>
          </a:bodyPr>
          <a:lstStyle/>
          <a:p>
            <a:pPr algn="ctr"/>
            <a:r>
              <a:rPr sz="850" b="1" i="0">
                <a:solidFill>
                  <a:srgbClr val="0B2D20"/>
                </a:solidFill>
                <a:latin typeface="Aptos"/>
              </a:rPr>
              <a:t>1</a:t>
            </a:r>
          </a:p>
        </p:txBody>
      </p:sp>
      <p:sp>
        <p:nvSpPr>
          <p:cNvPr id="17" name="TextBox 16"/>
          <p:cNvSpPr txBox="1"/>
          <p:nvPr/>
        </p:nvSpPr>
        <p:spPr>
          <a:xfrm>
            <a:off x="8887968" y="1746504"/>
            <a:ext cx="2450592" cy="155448"/>
          </a:xfrm>
          <a:prstGeom prst="rect">
            <a:avLst/>
          </a:prstGeom>
          <a:noFill/>
        </p:spPr>
        <p:txBody>
          <a:bodyPr wrap="square" lIns="0" rIns="0" tIns="0" bIns="0" anchor="t">
            <a:spAutoFit/>
          </a:bodyPr>
          <a:lstStyle/>
          <a:p>
            <a:pPr algn="l"/>
            <a:r>
              <a:rPr sz="800" b="1" i="0">
                <a:solidFill>
                  <a:srgbClr val="123524"/>
                </a:solidFill>
                <a:latin typeface="Aptos"/>
              </a:rPr>
              <a:t>WHAT IS IT?</a:t>
            </a:r>
          </a:p>
        </p:txBody>
      </p:sp>
      <p:sp>
        <p:nvSpPr>
          <p:cNvPr id="18" name="TextBox 17"/>
          <p:cNvSpPr txBox="1"/>
          <p:nvPr/>
        </p:nvSpPr>
        <p:spPr>
          <a:xfrm>
            <a:off x="8887968" y="1965960"/>
            <a:ext cx="2450592" cy="438911"/>
          </a:xfrm>
          <a:prstGeom prst="rect">
            <a:avLst/>
          </a:prstGeom>
          <a:noFill/>
        </p:spPr>
        <p:txBody>
          <a:bodyPr wrap="square" lIns="0" rIns="0" tIns="0" bIns="0" anchor="t">
            <a:spAutoFit/>
          </a:bodyPr>
          <a:lstStyle/>
          <a:p>
            <a:pPr algn="l"/>
            <a:r>
              <a:rPr sz="1050" b="1" i="0">
                <a:solidFill>
                  <a:srgbClr val="14251D"/>
                </a:solidFill>
                <a:latin typeface="Aptos"/>
              </a:rPr>
              <a:t>The background and purpose page for the project.</a:t>
            </a:r>
          </a:p>
        </p:txBody>
      </p:sp>
      <p:sp>
        <p:nvSpPr>
          <p:cNvPr id="19" name="Rounded Rectangle 18"/>
          <p:cNvSpPr/>
          <p:nvPr/>
        </p:nvSpPr>
        <p:spPr>
          <a:xfrm>
            <a:off x="8302752" y="2651760"/>
            <a:ext cx="3200400"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67344" y="2825496"/>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90204" y="2892247"/>
            <a:ext cx="265176" cy="118872"/>
          </a:xfrm>
          <a:prstGeom prst="rect">
            <a:avLst/>
          </a:prstGeom>
          <a:noFill/>
        </p:spPr>
        <p:txBody>
          <a:bodyPr wrap="square" lIns="0" rIns="0" tIns="0" bIns="0" anchor="t">
            <a:spAutoFit/>
          </a:bodyPr>
          <a:lstStyle/>
          <a:p>
            <a:pPr algn="ctr"/>
            <a:r>
              <a:rPr sz="850" b="1" i="0">
                <a:solidFill>
                  <a:srgbClr val="0B2D20"/>
                </a:solidFill>
                <a:latin typeface="Aptos"/>
              </a:rPr>
              <a:t>2</a:t>
            </a:r>
          </a:p>
        </p:txBody>
      </p:sp>
      <p:sp>
        <p:nvSpPr>
          <p:cNvPr id="22" name="TextBox 21"/>
          <p:cNvSpPr txBox="1"/>
          <p:nvPr/>
        </p:nvSpPr>
        <p:spPr>
          <a:xfrm>
            <a:off x="8887968" y="2770632"/>
            <a:ext cx="2450592" cy="155448"/>
          </a:xfrm>
          <a:prstGeom prst="rect">
            <a:avLst/>
          </a:prstGeom>
          <a:noFill/>
        </p:spPr>
        <p:txBody>
          <a:bodyPr wrap="square" lIns="0" rIns="0" tIns="0" bIns="0" anchor="t">
            <a:spAutoFit/>
          </a:bodyPr>
          <a:lstStyle/>
          <a:p>
            <a:pPr algn="l"/>
            <a:r>
              <a:rPr sz="800" b="1" i="0">
                <a:solidFill>
                  <a:srgbClr val="123524"/>
                </a:solidFill>
                <a:latin typeface="Aptos"/>
              </a:rPr>
              <a:t>WHAT DOES IT SHOW?</a:t>
            </a:r>
          </a:p>
        </p:txBody>
      </p:sp>
      <p:sp>
        <p:nvSpPr>
          <p:cNvPr id="23" name="TextBox 22"/>
          <p:cNvSpPr txBox="1"/>
          <p:nvPr/>
        </p:nvSpPr>
        <p:spPr>
          <a:xfrm>
            <a:off x="8887968" y="2990088"/>
            <a:ext cx="2450592" cy="438911"/>
          </a:xfrm>
          <a:prstGeom prst="rect">
            <a:avLst/>
          </a:prstGeom>
          <a:noFill/>
        </p:spPr>
        <p:txBody>
          <a:bodyPr wrap="square" lIns="0" rIns="0" tIns="0" bIns="0" anchor="t">
            <a:spAutoFit/>
          </a:bodyPr>
          <a:lstStyle/>
          <a:p>
            <a:pPr algn="l"/>
            <a:r>
              <a:rPr sz="1050" b="1" i="0">
                <a:solidFill>
                  <a:srgbClr val="14251D"/>
                </a:solidFill>
                <a:latin typeface="Aptos"/>
              </a:rPr>
              <a:t>The platform's purpose, scope, and research experience.</a:t>
            </a:r>
          </a:p>
        </p:txBody>
      </p:sp>
      <p:sp>
        <p:nvSpPr>
          <p:cNvPr id="24" name="Rounded Rectangle 23"/>
          <p:cNvSpPr/>
          <p:nvPr/>
        </p:nvSpPr>
        <p:spPr>
          <a:xfrm>
            <a:off x="8302752" y="3675888"/>
            <a:ext cx="3200400"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67344" y="3849624"/>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90204" y="3916375"/>
            <a:ext cx="265176" cy="118872"/>
          </a:xfrm>
          <a:prstGeom prst="rect">
            <a:avLst/>
          </a:prstGeom>
          <a:noFill/>
        </p:spPr>
        <p:txBody>
          <a:bodyPr wrap="square" lIns="0" rIns="0" tIns="0" bIns="0" anchor="t">
            <a:spAutoFit/>
          </a:bodyPr>
          <a:lstStyle/>
          <a:p>
            <a:pPr algn="ctr"/>
            <a:r>
              <a:rPr sz="850" b="1" i="0">
                <a:solidFill>
                  <a:srgbClr val="0B2D20"/>
                </a:solidFill>
                <a:latin typeface="Aptos"/>
              </a:rPr>
              <a:t>3</a:t>
            </a:r>
          </a:p>
        </p:txBody>
      </p:sp>
      <p:sp>
        <p:nvSpPr>
          <p:cNvPr id="27" name="TextBox 26"/>
          <p:cNvSpPr txBox="1"/>
          <p:nvPr/>
        </p:nvSpPr>
        <p:spPr>
          <a:xfrm>
            <a:off x="8887968" y="3794760"/>
            <a:ext cx="2450592" cy="155448"/>
          </a:xfrm>
          <a:prstGeom prst="rect">
            <a:avLst/>
          </a:prstGeom>
          <a:noFill/>
        </p:spPr>
        <p:txBody>
          <a:bodyPr wrap="square" lIns="0" rIns="0" tIns="0" bIns="0" anchor="t">
            <a:spAutoFit/>
          </a:bodyPr>
          <a:lstStyle/>
          <a:p>
            <a:pPr algn="l"/>
            <a:r>
              <a:rPr sz="800" b="1" i="0">
                <a:solidFill>
                  <a:srgbClr val="123524"/>
                </a:solidFill>
                <a:latin typeface="Aptos"/>
              </a:rPr>
              <a:t>WHAT CAN THE USER DO?</a:t>
            </a:r>
          </a:p>
        </p:txBody>
      </p:sp>
      <p:sp>
        <p:nvSpPr>
          <p:cNvPr id="28" name="TextBox 27"/>
          <p:cNvSpPr txBox="1"/>
          <p:nvPr/>
        </p:nvSpPr>
        <p:spPr>
          <a:xfrm>
            <a:off x="8887968" y="4014216"/>
            <a:ext cx="2450592" cy="438911"/>
          </a:xfrm>
          <a:prstGeom prst="rect">
            <a:avLst/>
          </a:prstGeom>
          <a:noFill/>
        </p:spPr>
        <p:txBody>
          <a:bodyPr wrap="square" lIns="0" rIns="0" tIns="0" bIns="0" anchor="t">
            <a:spAutoFit/>
          </a:bodyPr>
          <a:lstStyle/>
          <a:p>
            <a:pPr algn="l"/>
            <a:r>
              <a:rPr sz="1050" b="1" i="0">
                <a:solidFill>
                  <a:srgbClr val="14251D"/>
                </a:solidFill>
                <a:latin typeface="Aptos"/>
              </a:rPr>
              <a:t>Learn how the system supports discovery, analysis, comparison, and current insights.</a:t>
            </a:r>
          </a:p>
        </p:txBody>
      </p:sp>
      <p:sp>
        <p:nvSpPr>
          <p:cNvPr id="29" name="Rounded Rectangle 28"/>
          <p:cNvSpPr/>
          <p:nvPr/>
        </p:nvSpPr>
        <p:spPr>
          <a:xfrm>
            <a:off x="8302752" y="4700016"/>
            <a:ext cx="3200400"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467344" y="4873752"/>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90204" y="4940503"/>
            <a:ext cx="265176" cy="118872"/>
          </a:xfrm>
          <a:prstGeom prst="rect">
            <a:avLst/>
          </a:prstGeom>
          <a:noFill/>
        </p:spPr>
        <p:txBody>
          <a:bodyPr wrap="square" lIns="0" rIns="0" tIns="0" bIns="0" anchor="t">
            <a:spAutoFit/>
          </a:bodyPr>
          <a:lstStyle/>
          <a:p>
            <a:pPr algn="ctr"/>
            <a:r>
              <a:rPr sz="850" b="1" i="0">
                <a:solidFill>
                  <a:srgbClr val="0B2D20"/>
                </a:solidFill>
                <a:latin typeface="Aptos"/>
              </a:rPr>
              <a:t>4</a:t>
            </a:r>
          </a:p>
        </p:txBody>
      </p:sp>
      <p:sp>
        <p:nvSpPr>
          <p:cNvPr id="32" name="TextBox 31"/>
          <p:cNvSpPr txBox="1"/>
          <p:nvPr/>
        </p:nvSpPr>
        <p:spPr>
          <a:xfrm>
            <a:off x="8887968" y="4818888"/>
            <a:ext cx="2450592" cy="155448"/>
          </a:xfrm>
          <a:prstGeom prst="rect">
            <a:avLst/>
          </a:prstGeom>
          <a:noFill/>
        </p:spPr>
        <p:txBody>
          <a:bodyPr wrap="square" lIns="0" rIns="0" tIns="0" bIns="0" anchor="t">
            <a:spAutoFit/>
          </a:bodyPr>
          <a:lstStyle/>
          <a:p>
            <a:pPr algn="l"/>
            <a:r>
              <a:rPr sz="800" b="1" i="0">
                <a:solidFill>
                  <a:srgbClr val="123524"/>
                </a:solidFill>
                <a:latin typeface="Aptos"/>
              </a:rPr>
              <a:t>WHAT IS THE BENEFIT?</a:t>
            </a:r>
          </a:p>
        </p:txBody>
      </p:sp>
      <p:sp>
        <p:nvSpPr>
          <p:cNvPr id="33" name="TextBox 32"/>
          <p:cNvSpPr txBox="1"/>
          <p:nvPr/>
        </p:nvSpPr>
        <p:spPr>
          <a:xfrm>
            <a:off x="8887968" y="5038344"/>
            <a:ext cx="2450592" cy="438911"/>
          </a:xfrm>
          <a:prstGeom prst="rect">
            <a:avLst/>
          </a:prstGeom>
          <a:noFill/>
        </p:spPr>
        <p:txBody>
          <a:bodyPr wrap="square" lIns="0" rIns="0" tIns="0" bIns="0" anchor="t">
            <a:spAutoFit/>
          </a:bodyPr>
          <a:lstStyle/>
          <a:p>
            <a:pPr algn="l"/>
            <a:r>
              <a:rPr sz="1050" b="1" i="0">
                <a:solidFill>
                  <a:srgbClr val="14251D"/>
                </a:solidFill>
                <a:latin typeface="Aptos"/>
              </a:rPr>
              <a:t>It provides context before the user interprets the data.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V_BACKGROUND"/>
          <p:cNvSpPr/>
          <p:nvPr/>
        </p:nvSpPr>
        <p:spPr>
          <a:xfrm>
            <a:off x="0" y="0"/>
            <a:ext cx="12192000" cy="6858000"/>
          </a:xfrm>
          <a:prstGeom prst="rect">
            <a:avLst/>
          </a:prstGeom>
          <a:solidFill>
            <a:srgbClr val="F8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972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2000" cy="201168"/>
          </a:xfrm>
          <a:prstGeom prst="rect">
            <a:avLst/>
          </a:prstGeom>
          <a:solidFill>
            <a:srgbClr val="123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V_SECTION"/>
          <p:cNvSpPr txBox="1"/>
          <p:nvPr/>
        </p:nvSpPr>
        <p:spPr>
          <a:xfrm>
            <a:off x="502920" y="283464"/>
            <a:ext cx="4389120" cy="201168"/>
          </a:xfrm>
          <a:prstGeom prst="rect">
            <a:avLst/>
          </a:prstGeom>
          <a:noFill/>
        </p:spPr>
        <p:txBody>
          <a:bodyPr wrap="square" lIns="27432" rIns="27432" tIns="27432" bIns="27432" anchor="t">
            <a:spAutoFit/>
          </a:bodyPr>
          <a:lstStyle/>
          <a:p>
            <a:pPr algn="l"/>
            <a:r>
              <a:rPr sz="900" b="1" i="0">
                <a:solidFill>
                  <a:srgbClr val="123524"/>
                </a:solidFill>
                <a:latin typeface="Aptos"/>
              </a:rPr>
              <a:t>4.10 • CONTACT PAGE</a:t>
            </a:r>
          </a:p>
        </p:txBody>
      </p:sp>
      <p:sp>
        <p:nvSpPr>
          <p:cNvPr id="6" name="Rectangle 5"/>
          <p:cNvSpPr/>
          <p:nvPr/>
        </p:nvSpPr>
        <p:spPr>
          <a:xfrm>
            <a:off x="502920" y="576072"/>
            <a:ext cx="420624" cy="22860"/>
          </a:xfrm>
          <a:prstGeom prst="rect">
            <a:avLst/>
          </a:prstGeom>
          <a:solidFill>
            <a:srgbClr val="C8A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V_TITLE"/>
          <p:cNvSpPr txBox="1"/>
          <p:nvPr/>
        </p:nvSpPr>
        <p:spPr>
          <a:xfrm>
            <a:off x="502920" y="658368"/>
            <a:ext cx="11018520" cy="475488"/>
          </a:xfrm>
          <a:prstGeom prst="rect">
            <a:avLst/>
          </a:prstGeom>
          <a:noFill/>
        </p:spPr>
        <p:txBody>
          <a:bodyPr wrap="square" lIns="27432" rIns="27432" tIns="27432" bIns="27432" anchor="t">
            <a:spAutoFit/>
          </a:bodyPr>
          <a:lstStyle/>
          <a:p>
            <a:pPr algn="l"/>
            <a:r>
              <a:rPr sz="2500" b="0" i="0">
                <a:solidFill>
                  <a:srgbClr val="14251D"/>
                </a:solidFill>
                <a:latin typeface="Georgia"/>
              </a:rPr>
              <a:t>Communicate with the project team</a:t>
            </a:r>
          </a:p>
        </p:txBody>
      </p:sp>
      <p:sp>
        <p:nvSpPr>
          <p:cNvPr id="8" name="REV_SUBTITLE"/>
          <p:cNvSpPr txBox="1"/>
          <p:nvPr/>
        </p:nvSpPr>
        <p:spPr>
          <a:xfrm>
            <a:off x="521207" y="1179576"/>
            <a:ext cx="10927080" cy="320040"/>
          </a:xfrm>
          <a:prstGeom prst="rect">
            <a:avLst/>
          </a:prstGeom>
          <a:noFill/>
        </p:spPr>
        <p:txBody>
          <a:bodyPr wrap="square" lIns="27432" rIns="27432" tIns="27432" bIns="27432" anchor="t">
            <a:spAutoFit/>
          </a:bodyPr>
          <a:lstStyle/>
          <a:p>
            <a:pPr algn="l"/>
            <a:r>
              <a:rPr sz="1150" b="0" i="0">
                <a:solidFill>
                  <a:srgbClr val="65736B"/>
                </a:solidFill>
                <a:latin typeface="Aptos"/>
              </a:rPr>
              <a:t>The Contact page provides a structured form for project feedback, dataset questions, and collaboration enquiries.</a:t>
            </a:r>
          </a:p>
        </p:txBody>
      </p:sp>
      <p:sp>
        <p:nvSpPr>
          <p:cNvPr id="9" name="TextBox 8"/>
          <p:cNvSpPr txBox="1"/>
          <p:nvPr/>
        </p:nvSpPr>
        <p:spPr>
          <a:xfrm>
            <a:off x="502920" y="6684264"/>
            <a:ext cx="4572000" cy="100584"/>
          </a:xfrm>
          <a:prstGeom prst="rect">
            <a:avLst/>
          </a:prstGeom>
          <a:noFill/>
        </p:spPr>
        <p:txBody>
          <a:bodyPr wrap="square" lIns="0" rIns="0" tIns="0" bIns="0" anchor="t">
            <a:spAutoFit/>
          </a:bodyPr>
          <a:lstStyle/>
          <a:p>
            <a:pPr algn="l"/>
            <a:r>
              <a:rPr sz="750" b="0" i="0">
                <a:solidFill>
                  <a:srgbClr val="DDE7E0"/>
                </a:solidFill>
                <a:latin typeface="Aptos"/>
              </a:rPr>
              <a:t>Chapter 4 • Results and Discussion</a:t>
            </a:r>
          </a:p>
        </p:txBody>
      </p:sp>
      <p:sp>
        <p:nvSpPr>
          <p:cNvPr id="10" name="TextBox 9"/>
          <p:cNvSpPr txBox="1"/>
          <p:nvPr/>
        </p:nvSpPr>
        <p:spPr>
          <a:xfrm>
            <a:off x="11475720" y="6684264"/>
            <a:ext cx="274320" cy="100584"/>
          </a:xfrm>
          <a:prstGeom prst="rect">
            <a:avLst/>
          </a:prstGeom>
          <a:noFill/>
        </p:spPr>
        <p:txBody>
          <a:bodyPr wrap="square" lIns="0" rIns="0" tIns="0" bIns="0" anchor="t">
            <a:spAutoFit/>
          </a:bodyPr>
          <a:lstStyle/>
          <a:p>
            <a:pPr algn="r"/>
            <a:r>
              <a:rPr sz="800" b="0" i="0">
                <a:solidFill>
                  <a:srgbClr val="FFFFFF"/>
                </a:solidFill>
                <a:latin typeface="Aptos"/>
              </a:rPr>
              <a:t>16</a:t>
            </a:r>
          </a:p>
        </p:txBody>
      </p:sp>
      <p:sp>
        <p:nvSpPr>
          <p:cNvPr id="11" name="Rounded Rectangle 10"/>
          <p:cNvSpPr/>
          <p:nvPr/>
        </p:nvSpPr>
        <p:spPr>
          <a:xfrm>
            <a:off x="498347" y="1540764"/>
            <a:ext cx="7470648" cy="456285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49-contact-current.png"/>
          <p:cNvPicPr>
            <a:picLocks noChangeAspect="1"/>
          </p:cNvPicPr>
          <p:nvPr/>
        </p:nvPicPr>
        <p:blipFill>
          <a:blip r:embed="rId2"/>
          <a:stretch>
            <a:fillRect/>
          </a:stretch>
        </p:blipFill>
        <p:spPr>
          <a:xfrm>
            <a:off x="995864" y="1572768"/>
            <a:ext cx="6475614" cy="4498848"/>
          </a:xfrm>
          <a:prstGeom prst="rect">
            <a:avLst/>
          </a:prstGeom>
        </p:spPr>
      </p:pic>
      <p:sp>
        <p:nvSpPr>
          <p:cNvPr id="13" name="REV_CAPTION"/>
          <p:cNvSpPr txBox="1"/>
          <p:nvPr/>
        </p:nvSpPr>
        <p:spPr>
          <a:xfrm>
            <a:off x="530352" y="6108192"/>
            <a:ext cx="7406640" cy="201168"/>
          </a:xfrm>
          <a:prstGeom prst="rect">
            <a:avLst/>
          </a:prstGeom>
          <a:noFill/>
        </p:spPr>
        <p:txBody>
          <a:bodyPr wrap="square" lIns="0" rIns="0" tIns="0" bIns="0" anchor="t">
            <a:spAutoFit/>
          </a:bodyPr>
          <a:lstStyle/>
          <a:p>
            <a:pPr algn="ctr"/>
            <a:r>
              <a:rPr sz="900" b="0" i="1">
                <a:solidFill>
                  <a:srgbClr val="65736B"/>
                </a:solidFill>
                <a:latin typeface="Aptos"/>
              </a:rPr>
              <a:t>Figure 4.15: Contact Page and Project Enquiry Form</a:t>
            </a:r>
          </a:p>
        </p:txBody>
      </p:sp>
      <p:sp>
        <p:nvSpPr>
          <p:cNvPr id="14" name="Rounded Rectangle 13"/>
          <p:cNvSpPr/>
          <p:nvPr/>
        </p:nvSpPr>
        <p:spPr>
          <a:xfrm>
            <a:off x="8183879" y="1627632"/>
            <a:ext cx="3319272"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48471" y="1801368"/>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71331" y="1868119"/>
            <a:ext cx="265176" cy="118872"/>
          </a:xfrm>
          <a:prstGeom prst="rect">
            <a:avLst/>
          </a:prstGeom>
          <a:noFill/>
        </p:spPr>
        <p:txBody>
          <a:bodyPr wrap="square" lIns="0" rIns="0" tIns="0" bIns="0" anchor="t">
            <a:spAutoFit/>
          </a:bodyPr>
          <a:lstStyle/>
          <a:p>
            <a:pPr algn="ctr"/>
            <a:r>
              <a:rPr sz="850" b="1" i="0">
                <a:solidFill>
                  <a:srgbClr val="0B2D20"/>
                </a:solidFill>
                <a:latin typeface="Aptos"/>
              </a:rPr>
              <a:t>1</a:t>
            </a:r>
          </a:p>
        </p:txBody>
      </p:sp>
      <p:sp>
        <p:nvSpPr>
          <p:cNvPr id="17" name="TextBox 16"/>
          <p:cNvSpPr txBox="1"/>
          <p:nvPr/>
        </p:nvSpPr>
        <p:spPr>
          <a:xfrm>
            <a:off x="8769096" y="1746504"/>
            <a:ext cx="2569464" cy="155448"/>
          </a:xfrm>
          <a:prstGeom prst="rect">
            <a:avLst/>
          </a:prstGeom>
          <a:noFill/>
        </p:spPr>
        <p:txBody>
          <a:bodyPr wrap="square" lIns="0" rIns="0" tIns="0" bIns="0" anchor="t">
            <a:spAutoFit/>
          </a:bodyPr>
          <a:lstStyle/>
          <a:p>
            <a:pPr algn="l"/>
            <a:r>
              <a:rPr sz="800" b="1" i="0">
                <a:solidFill>
                  <a:srgbClr val="123524"/>
                </a:solidFill>
                <a:latin typeface="Aptos"/>
              </a:rPr>
              <a:t>WHAT IS IT?</a:t>
            </a:r>
          </a:p>
        </p:txBody>
      </p:sp>
      <p:sp>
        <p:nvSpPr>
          <p:cNvPr id="18" name="TextBox 17"/>
          <p:cNvSpPr txBox="1"/>
          <p:nvPr/>
        </p:nvSpPr>
        <p:spPr>
          <a:xfrm>
            <a:off x="8769096" y="1965960"/>
            <a:ext cx="2569464" cy="438911"/>
          </a:xfrm>
          <a:prstGeom prst="rect">
            <a:avLst/>
          </a:prstGeom>
          <a:noFill/>
        </p:spPr>
        <p:txBody>
          <a:bodyPr wrap="square" lIns="0" rIns="0" tIns="0" bIns="0" anchor="t">
            <a:spAutoFit/>
          </a:bodyPr>
          <a:lstStyle/>
          <a:p>
            <a:pPr algn="l"/>
            <a:r>
              <a:rPr sz="1050" b="1" i="0">
                <a:solidFill>
                  <a:srgbClr val="14251D"/>
                </a:solidFill>
                <a:latin typeface="Aptos"/>
              </a:rPr>
              <a:t>The communication page for the project.</a:t>
            </a:r>
          </a:p>
        </p:txBody>
      </p:sp>
      <p:sp>
        <p:nvSpPr>
          <p:cNvPr id="19" name="Rounded Rectangle 18"/>
          <p:cNvSpPr/>
          <p:nvPr/>
        </p:nvSpPr>
        <p:spPr>
          <a:xfrm>
            <a:off x="8183879" y="2651760"/>
            <a:ext cx="3319272"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348471" y="2825496"/>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71331" y="2892247"/>
            <a:ext cx="265176" cy="118872"/>
          </a:xfrm>
          <a:prstGeom prst="rect">
            <a:avLst/>
          </a:prstGeom>
          <a:noFill/>
        </p:spPr>
        <p:txBody>
          <a:bodyPr wrap="square" lIns="0" rIns="0" tIns="0" bIns="0" anchor="t">
            <a:spAutoFit/>
          </a:bodyPr>
          <a:lstStyle/>
          <a:p>
            <a:pPr algn="ctr"/>
            <a:r>
              <a:rPr sz="850" b="1" i="0">
                <a:solidFill>
                  <a:srgbClr val="0B2D20"/>
                </a:solidFill>
                <a:latin typeface="Aptos"/>
              </a:rPr>
              <a:t>2</a:t>
            </a:r>
          </a:p>
        </p:txBody>
      </p:sp>
      <p:sp>
        <p:nvSpPr>
          <p:cNvPr id="22" name="TextBox 21"/>
          <p:cNvSpPr txBox="1"/>
          <p:nvPr/>
        </p:nvSpPr>
        <p:spPr>
          <a:xfrm>
            <a:off x="8769096" y="2770632"/>
            <a:ext cx="2569464" cy="155448"/>
          </a:xfrm>
          <a:prstGeom prst="rect">
            <a:avLst/>
          </a:prstGeom>
          <a:noFill/>
        </p:spPr>
        <p:txBody>
          <a:bodyPr wrap="square" lIns="0" rIns="0" tIns="0" bIns="0" anchor="t">
            <a:spAutoFit/>
          </a:bodyPr>
          <a:lstStyle/>
          <a:p>
            <a:pPr algn="l"/>
            <a:r>
              <a:rPr sz="800" b="1" i="0">
                <a:solidFill>
                  <a:srgbClr val="123524"/>
                </a:solidFill>
                <a:latin typeface="Aptos"/>
              </a:rPr>
              <a:t>WHAT DOES IT SHOW?</a:t>
            </a:r>
          </a:p>
        </p:txBody>
      </p:sp>
      <p:sp>
        <p:nvSpPr>
          <p:cNvPr id="23" name="TextBox 22"/>
          <p:cNvSpPr txBox="1"/>
          <p:nvPr/>
        </p:nvSpPr>
        <p:spPr>
          <a:xfrm>
            <a:off x="8769096" y="2990088"/>
            <a:ext cx="2569464" cy="438911"/>
          </a:xfrm>
          <a:prstGeom prst="rect">
            <a:avLst/>
          </a:prstGeom>
          <a:noFill/>
        </p:spPr>
        <p:txBody>
          <a:bodyPr wrap="square" lIns="0" rIns="0" tIns="0" bIns="0" anchor="t">
            <a:spAutoFit/>
          </a:bodyPr>
          <a:lstStyle/>
          <a:p>
            <a:pPr algn="l"/>
            <a:r>
              <a:rPr sz="1050" b="1" i="0">
                <a:solidFill>
                  <a:srgbClr val="14251D"/>
                </a:solidFill>
                <a:latin typeface="Aptos"/>
              </a:rPr>
              <a:t>Project contact details and an enquiry form.</a:t>
            </a:r>
          </a:p>
        </p:txBody>
      </p:sp>
      <p:sp>
        <p:nvSpPr>
          <p:cNvPr id="24" name="Rounded Rectangle 23"/>
          <p:cNvSpPr/>
          <p:nvPr/>
        </p:nvSpPr>
        <p:spPr>
          <a:xfrm>
            <a:off x="8183879" y="3675888"/>
            <a:ext cx="3319272"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348471" y="3849624"/>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71331" y="3916375"/>
            <a:ext cx="265176" cy="118872"/>
          </a:xfrm>
          <a:prstGeom prst="rect">
            <a:avLst/>
          </a:prstGeom>
          <a:noFill/>
        </p:spPr>
        <p:txBody>
          <a:bodyPr wrap="square" lIns="0" rIns="0" tIns="0" bIns="0" anchor="t">
            <a:spAutoFit/>
          </a:bodyPr>
          <a:lstStyle/>
          <a:p>
            <a:pPr algn="ctr"/>
            <a:r>
              <a:rPr sz="850" b="1" i="0">
                <a:solidFill>
                  <a:srgbClr val="0B2D20"/>
                </a:solidFill>
                <a:latin typeface="Aptos"/>
              </a:rPr>
              <a:t>3</a:t>
            </a:r>
          </a:p>
        </p:txBody>
      </p:sp>
      <p:sp>
        <p:nvSpPr>
          <p:cNvPr id="27" name="TextBox 26"/>
          <p:cNvSpPr txBox="1"/>
          <p:nvPr/>
        </p:nvSpPr>
        <p:spPr>
          <a:xfrm>
            <a:off x="8769096" y="3794760"/>
            <a:ext cx="2569464" cy="155448"/>
          </a:xfrm>
          <a:prstGeom prst="rect">
            <a:avLst/>
          </a:prstGeom>
          <a:noFill/>
        </p:spPr>
        <p:txBody>
          <a:bodyPr wrap="square" lIns="0" rIns="0" tIns="0" bIns="0" anchor="t">
            <a:spAutoFit/>
          </a:bodyPr>
          <a:lstStyle/>
          <a:p>
            <a:pPr algn="l"/>
            <a:r>
              <a:rPr sz="800" b="1" i="0">
                <a:solidFill>
                  <a:srgbClr val="123524"/>
                </a:solidFill>
                <a:latin typeface="Aptos"/>
              </a:rPr>
              <a:t>WHAT CAN THE USER DO?</a:t>
            </a:r>
          </a:p>
        </p:txBody>
      </p:sp>
      <p:sp>
        <p:nvSpPr>
          <p:cNvPr id="28" name="TextBox 27"/>
          <p:cNvSpPr txBox="1"/>
          <p:nvPr/>
        </p:nvSpPr>
        <p:spPr>
          <a:xfrm>
            <a:off x="8769096" y="4014216"/>
            <a:ext cx="2569464" cy="438911"/>
          </a:xfrm>
          <a:prstGeom prst="rect">
            <a:avLst/>
          </a:prstGeom>
          <a:noFill/>
        </p:spPr>
        <p:txBody>
          <a:bodyPr wrap="square" lIns="0" rIns="0" tIns="0" bIns="0" anchor="t">
            <a:spAutoFit/>
          </a:bodyPr>
          <a:lstStyle/>
          <a:p>
            <a:pPr algn="l"/>
            <a:r>
              <a:rPr sz="1050" b="1" i="0">
                <a:solidFill>
                  <a:srgbClr val="14251D"/>
                </a:solidFill>
                <a:latin typeface="Aptos"/>
              </a:rPr>
              <a:t>Enter a name, email, subject, and message, then select Send Message.</a:t>
            </a:r>
          </a:p>
        </p:txBody>
      </p:sp>
      <p:sp>
        <p:nvSpPr>
          <p:cNvPr id="29" name="Rounded Rectangle 28"/>
          <p:cNvSpPr/>
          <p:nvPr/>
        </p:nvSpPr>
        <p:spPr>
          <a:xfrm>
            <a:off x="8183879" y="4700016"/>
            <a:ext cx="3319272" cy="859536"/>
          </a:xfrm>
          <a:prstGeom prst="roundRect">
            <a:avLst/>
          </a:prstGeom>
          <a:solidFill>
            <a:srgbClr val="FFFFFF"/>
          </a:solidFill>
          <a:ln w="1016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348471" y="4873752"/>
            <a:ext cx="310896" cy="310896"/>
          </a:xfrm>
          <a:prstGeom prst="ellipse">
            <a:avLst/>
          </a:prstGeom>
          <a:solidFill>
            <a:srgbClr val="C8A96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71331" y="4940503"/>
            <a:ext cx="265176" cy="118872"/>
          </a:xfrm>
          <a:prstGeom prst="rect">
            <a:avLst/>
          </a:prstGeom>
          <a:noFill/>
        </p:spPr>
        <p:txBody>
          <a:bodyPr wrap="square" lIns="0" rIns="0" tIns="0" bIns="0" anchor="t">
            <a:spAutoFit/>
          </a:bodyPr>
          <a:lstStyle/>
          <a:p>
            <a:pPr algn="ctr"/>
            <a:r>
              <a:rPr sz="850" b="1" i="0">
                <a:solidFill>
                  <a:srgbClr val="0B2D20"/>
                </a:solidFill>
                <a:latin typeface="Aptos"/>
              </a:rPr>
              <a:t>4</a:t>
            </a:r>
          </a:p>
        </p:txBody>
      </p:sp>
      <p:sp>
        <p:nvSpPr>
          <p:cNvPr id="32" name="TextBox 31"/>
          <p:cNvSpPr txBox="1"/>
          <p:nvPr/>
        </p:nvSpPr>
        <p:spPr>
          <a:xfrm>
            <a:off x="8769096" y="4818888"/>
            <a:ext cx="2569464" cy="155448"/>
          </a:xfrm>
          <a:prstGeom prst="rect">
            <a:avLst/>
          </a:prstGeom>
          <a:noFill/>
        </p:spPr>
        <p:txBody>
          <a:bodyPr wrap="square" lIns="0" rIns="0" tIns="0" bIns="0" anchor="t">
            <a:spAutoFit/>
          </a:bodyPr>
          <a:lstStyle/>
          <a:p>
            <a:pPr algn="l"/>
            <a:r>
              <a:rPr sz="800" b="1" i="0">
                <a:solidFill>
                  <a:srgbClr val="123524"/>
                </a:solidFill>
                <a:latin typeface="Aptos"/>
              </a:rPr>
              <a:t>WHAT IS THE BENEFIT?</a:t>
            </a:r>
          </a:p>
        </p:txBody>
      </p:sp>
      <p:sp>
        <p:nvSpPr>
          <p:cNvPr id="33" name="TextBox 32"/>
          <p:cNvSpPr txBox="1"/>
          <p:nvPr/>
        </p:nvSpPr>
        <p:spPr>
          <a:xfrm>
            <a:off x="8769096" y="5038344"/>
            <a:ext cx="2569464" cy="438911"/>
          </a:xfrm>
          <a:prstGeom prst="rect">
            <a:avLst/>
          </a:prstGeom>
          <a:noFill/>
        </p:spPr>
        <p:txBody>
          <a:bodyPr wrap="square" lIns="0" rIns="0" tIns="0" bIns="0" anchor="t">
            <a:spAutoFit/>
          </a:bodyPr>
          <a:lstStyle/>
          <a:p>
            <a:pPr algn="l"/>
            <a:r>
              <a:rPr sz="1050" b="1" i="0">
                <a:solidFill>
                  <a:srgbClr val="14251D"/>
                </a:solidFill>
                <a:latin typeface="Aptos"/>
              </a:rPr>
              <a:t>It supports feedback, questions, and possible research collaboration.</a:t>
            </a:r>
          </a:p>
        </p:txBody>
      </p:sp>
      <p:sp>
        <p:nvSpPr>
          <p:cNvPr id="34" name="TextBox 33"/>
          <p:cNvSpPr txBox="1"/>
          <p:nvPr/>
        </p:nvSpPr>
        <p:spPr>
          <a:xfrm>
            <a:off x="8211312" y="5623560"/>
            <a:ext cx="3246120" cy="457200"/>
          </a:xfrm>
          <a:prstGeom prst="rect">
            <a:avLst/>
          </a:prstGeom>
          <a:noFill/>
        </p:spPr>
        <p:txBody>
          <a:bodyPr wrap="square" lIns="27432" rIns="27432" tIns="27432" bIns="27432" anchor="ctr">
            <a:spAutoFit/>
          </a:bodyPr>
          <a:lstStyle/>
          <a:p>
            <a:pPr algn="ctr"/>
            <a:r>
              <a:rPr sz="950" b="0" i="1">
                <a:solidFill>
                  <a:srgbClr val="65736B"/>
                </a:solidFill>
                <a:latin typeface="Aptos"/>
              </a:rPr>
              <a:t>Verification note: no message was sent during this review; delivery depends on the configured contact service.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University Graduation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 Results and Discussion</dc:title>
  <dc:subject>Chapter 4 — Results and Discussion</dc:subject>
  <dc:creator>Traditional Governance Data Analytics and Visualization Platform</dc:creator>
  <cp:lastModifiedBy>Traditional Governance Data Analytics and Visualization Platform</cp:lastModifiedBy>
  <cp:revision>1</cp:revision>
  <dcterms:created xsi:type="dcterms:W3CDTF">2026-08-08T19:50:41Z</dcterms:created>
  <dcterms:modified xsi:type="dcterms:W3CDTF">2026-08-08T19:50:41Z</dcterms:modified>
</cp:coreProperties>
</file>