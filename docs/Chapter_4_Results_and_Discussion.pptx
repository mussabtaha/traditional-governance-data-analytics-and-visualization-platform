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Chapter 4 as the evidence chapter. Explain that every interface screenshot and every numerical result comes from the running project and the connected MySQL database. State that the discussion reports associations, not causal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this chapter answers two questions: did the system work as intended, and what patterns are visible in the current data? Mention that screenshots, API responses, and statistical outputs were checked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from left to right. MySQL stores the dataset. Flask performs parameterized queries and statistical preparation. Pandas, NumPy, and SciPy calculate results. The REST API returns JSON. JavaScript and Chart.js render the final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the homepage is not a static mock-up. The totals and continent markers were read from the Flask API. Explain that the page gives a researcher an immediate understanding of dataset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figures aloud. Explain that the homepage totals match GET /api/stats and that the map markers match continent aggregation from the live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this interface avoids downloading the whole dataset. Search, continent, region, country, leadership, recognition, sorting, and pagination are sent to Flask and executed in 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show the transition from discovery to inspection. The dialog organizes geographic, leadership, selection, governance-function, council, assembly, and recognition fields. Missing data is presented safely as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map uses the current world-map asset and five live markers. The database uses one Americas category, so one marker represents North and South America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tested path: Africa marker, query parameter, continent filter, then 726 matching records. This verifies that the visualization is interactive rather than decorative.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page combines summary totals with leadership, leadership selection, functions, recognition, geography, largest populations, and top-country views. The charts reuse their instances and update with new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current scope label and the Africa metrics. Explain that the backend applies one geographic filter and returns a complete statistics payload for the selected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comparison is useful: the same indicators are aligned side by side, avoiding manual cross-page reading. The selected entities here are Africa and Asia.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raw counts and normalized percentages answer different questions. Raw counts show scale; normalized values help compare profiles with different numbers of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descriptive charts show what is present, while inferential tests examine whether observed patterns are unlikely under a null model. Mention that the current project contains seven predefined analyses and one dynamic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before the individual analyses. A small p-value indicates evidence against independence or equal distributions. The effect size describes strength. Observed frequencies are real counts; expected frequencies are theoretical null-model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King, Chief, and Headman were tested separately against binary formal recognition using Chi-Square. For the displayed King result, N is 1,033 after 524 rows with missing recognition were excluded.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seven relationships were significant. King–Healing could not be estimated safely from the available complete table, and Headman–Healing was not significant. Most measurable effects were weak or very weak.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method selection: Shapiro–Wilk indicated non-normality, so a rank-based test was used. The result is significant, but the rank-biserial effect is small. Recognized groups tend to have larger populations in rank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all three population/function distributions were non-normal. Land and Security differences were statistically significant, but both effects were negligible. Healing was not significant and had a much smaller sample because of missing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leadership fields are separate binary indicators, so a group may contribute more than one leadership occurrence. The inferential sample of 1,494 therefore counts complete leadership occurrences, not unique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complete-case table: N is 1,033 after missing recognition values are excluded. Africa has the highest complete-case recognition rate and Asia the lowest in the current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both tables. Observed values are actual database counts and therefore whole numbers. Expected values are theoretical values distributed according to the row and column totals, so decimals are mathematically correct and do not represent fractional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seven-region table produced a significant moderate association. The highest complete-case rate is Middle East and North Africa, and the lowest is South Asia. Missing recognition is still displayed descriptively even though the test uses complete binary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this is a capability demonstration, not an additional independent finding. For the verified sample, Continent and Formal Recognition reproduce Analysis 6 and therefore return the same Chi-Square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pattern: many associations are statistically significant, but most effects are weak, very weak, small, or negligible. The strongest effect in the predefined module is the moderate region-recognition association.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effect-size scale to explain why the chapter does not describe every significant result as strong. Large datasets can produce small p-values for modest differences. Region-recognition is moderate; most remaining relationships are weak or smaller.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the results cautiously. Leadership institutions and governance responsibilities are related in several tests, but effect sizes are generally weak. Recognition varies geographically, with regional classification showing the strongest association. Population differences exist but are small in practical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missing values are not treated as No. They are excluded from inferential tests unless they form a separate descriptive category. Healing has the largest missingness, so conclusions about healing are the least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Arabic changes document language and direction to RTL, while English source group names remain isolated for readability. Dark mode applies consistently to cards, tables, forms, charts, and navigation.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system result in six points. Emphasize integration: these are not isolated mock-ups. Each page consumes the Flask API and reflects the same MySQL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chapter. State that the implementation was verified end to end and that the statistical evidence was interpreted with effect sizes, missing-value limitations, and non-causal language. Transition to Chapter 5, which should synthesize conclusions, recommendations, and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8F7F3"/>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23524"/>
          </a:solidFill>
          <a:ln w="12700">
            <a:solidFill>
              <a:srgbClr val="123524"/>
            </a:solidFill>
            <a:prstDash val="solid"/>
          </a:ln>
        </p:spPr>
      </p:sp>
      <p:sp>
        <p:nvSpPr>
          <p:cNvPr id="3" name="Shape 1"/>
          <p:cNvSpPr/>
          <p:nvPr/>
        </p:nvSpPr>
        <p:spPr>
          <a:xfrm>
            <a:off x="0" y="6656832"/>
            <a:ext cx="12191695" cy="201168"/>
          </a:xfrm>
          <a:prstGeom prst="rect">
            <a:avLst/>
          </a:prstGeom>
          <a:solidFill>
            <a:srgbClr val="123524"/>
          </a:solidFill>
          <a:ln w="12700">
            <a:solidFill>
              <a:srgbClr val="123524"/>
            </a:solidFill>
            <a:prstDash val="solid"/>
          </a:ln>
        </p:spPr>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2.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D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2D20"/>
          </a:solidFill>
          <a:ln w="12700">
            <a:solidFill>
              <a:srgbClr val="0B2D20"/>
            </a:solidFill>
            <a:prstDash val="solid"/>
          </a:ln>
        </p:spPr>
      </p:sp>
      <p:sp>
        <p:nvSpPr>
          <p:cNvPr id="3" name="Shape 1"/>
          <p:cNvSpPr/>
          <p:nvPr/>
        </p:nvSpPr>
        <p:spPr>
          <a:xfrm rot="900000">
            <a:off x="8229600" y="0"/>
            <a:ext cx="3657600" cy="3657600"/>
          </a:xfrm>
          <a:prstGeom prst="arc">
            <a:avLst/>
          </a:prstGeom>
          <a:solidFill>
            <a:srgbClr val="0B2D20">
              <a:alpha val="0"/>
            </a:srgbClr>
          </a:solidFill>
          <a:ln w="25400">
            <a:solidFill>
              <a:srgbClr val="C8A96A">
                <a:alpha val="55000"/>
              </a:srgbClr>
            </a:solidFill>
            <a:prstDash val="solid"/>
          </a:ln>
        </p:spPr>
      </p:sp>
      <p:sp>
        <p:nvSpPr>
          <p:cNvPr id="4" name="Shape 2"/>
          <p:cNvSpPr/>
          <p:nvPr/>
        </p:nvSpPr>
        <p:spPr>
          <a:xfrm rot="900000">
            <a:off x="8887968" y="411480"/>
            <a:ext cx="2743200" cy="2743200"/>
          </a:xfrm>
          <a:prstGeom prst="arc">
            <a:avLst/>
          </a:prstGeom>
          <a:solidFill>
            <a:srgbClr val="0B2D20">
              <a:alpha val="0"/>
            </a:srgbClr>
          </a:solidFill>
          <a:ln w="15240">
            <a:solidFill>
              <a:srgbClr val="6F937F">
                <a:alpha val="45000"/>
              </a:srgbClr>
            </a:solidFill>
            <a:prstDash val="solid"/>
          </a:ln>
        </p:spPr>
      </p:sp>
      <p:pic>
        <p:nvPicPr>
          <p:cNvPr id="5" name="Image 0" descr="C:\Users\mossa\OneDrive\Documents\مشروع التخرج\assets\icons\apple-touch-icon.png">    </p:cNvPr>
          <p:cNvPicPr>
            <a:picLocks noChangeAspect="1"/>
          </p:cNvPicPr>
          <p:nvPr/>
        </p:nvPicPr>
        <p:blipFill>
          <a:blip r:embed="rId1"/>
          <a:stretch>
            <a:fillRect/>
          </a:stretch>
        </p:blipFill>
        <p:spPr>
          <a:xfrm>
            <a:off x="658368" y="566928"/>
            <a:ext cx="658368" cy="658368"/>
          </a:xfrm>
          <a:prstGeom prst="rect">
            <a:avLst/>
          </a:prstGeom>
        </p:spPr>
      </p:pic>
      <p:sp>
        <p:nvSpPr>
          <p:cNvPr id="6" name="Text 3"/>
          <p:cNvSpPr/>
          <p:nvPr/>
        </p:nvSpPr>
        <p:spPr>
          <a:xfrm>
            <a:off x="1444752" y="694944"/>
            <a:ext cx="7223760" cy="274320"/>
          </a:xfrm>
          <a:prstGeom prst="rect">
            <a:avLst/>
          </a:prstGeom>
          <a:noFill/>
          <a:ln/>
        </p:spPr>
        <p:txBody>
          <a:bodyPr wrap="square" lIns="0" tIns="0" rIns="0" bIns="0" rtlCol="0" anchor="ctr">
            <a:normAutofit/>
          </a:bodyPr>
          <a:lstStyle/>
          <a:p>
            <a:pPr indent="0" marL="0">
              <a:buNone/>
            </a:pPr>
            <a:r>
              <a:rPr lang="en-US" sz="1000" b="1" spc="125" kern="0" dirty="0">
                <a:solidFill>
                  <a:srgbClr val="C8A96A"/>
                </a:solidFill>
                <a:latin typeface="Aptos" pitchFamily="34" charset="0"/>
                <a:ea typeface="Aptos" pitchFamily="34" charset="-122"/>
                <a:cs typeface="Aptos" pitchFamily="34" charset="-120"/>
              </a:rPr>
              <a:t>TRADITIONAL GOVERNANCE DATA ANALYTICS AND VISUALIZATION PLATFORM</a:t>
            </a:r>
            <a:endParaRPr lang="en-US" sz="1000" dirty="0"/>
          </a:p>
        </p:txBody>
      </p:sp>
      <p:sp>
        <p:nvSpPr>
          <p:cNvPr id="7" name="Text 4"/>
          <p:cNvSpPr/>
          <p:nvPr/>
        </p:nvSpPr>
        <p:spPr>
          <a:xfrm>
            <a:off x="658368" y="1874520"/>
            <a:ext cx="4663440" cy="594360"/>
          </a:xfrm>
          <a:prstGeom prst="rect">
            <a:avLst/>
          </a:prstGeom>
          <a:noFill/>
          <a:ln/>
        </p:spPr>
        <p:txBody>
          <a:bodyPr wrap="square" lIns="0" tIns="0" rIns="0" bIns="0" rtlCol="0" anchor="ctr"/>
          <a:lstStyle/>
          <a:p>
            <a:pPr indent="0" marL="0">
              <a:buNone/>
            </a:pPr>
            <a:r>
              <a:rPr lang="en-US" sz="3800" dirty="0">
                <a:solidFill>
                  <a:srgbClr val="FFFFFF"/>
                </a:solidFill>
                <a:latin typeface="Georgia" pitchFamily="34" charset="0"/>
                <a:ea typeface="Georgia" pitchFamily="34" charset="-122"/>
                <a:cs typeface="Georgia" pitchFamily="34" charset="-120"/>
              </a:rPr>
              <a:t>Chapter 4</a:t>
            </a:r>
            <a:endParaRPr lang="en-US" sz="3800" dirty="0"/>
          </a:p>
        </p:txBody>
      </p:sp>
      <p:sp>
        <p:nvSpPr>
          <p:cNvPr id="8" name="Text 5"/>
          <p:cNvSpPr/>
          <p:nvPr/>
        </p:nvSpPr>
        <p:spPr>
          <a:xfrm>
            <a:off x="658368" y="2487168"/>
            <a:ext cx="8046720" cy="658368"/>
          </a:xfrm>
          <a:prstGeom prst="rect">
            <a:avLst/>
          </a:prstGeom>
          <a:noFill/>
          <a:ln/>
        </p:spPr>
        <p:txBody>
          <a:bodyPr wrap="square" lIns="0" tIns="0" rIns="0" bIns="0" rtlCol="0" anchor="ctr">
            <a:normAutofit/>
          </a:bodyPr>
          <a:lstStyle/>
          <a:p>
            <a:pPr indent="0" marL="0">
              <a:buNone/>
            </a:pPr>
            <a:r>
              <a:rPr lang="en-US" sz="4000" b="1" dirty="0">
                <a:solidFill>
                  <a:srgbClr val="FFFFFF"/>
                </a:solidFill>
                <a:latin typeface="Georgia" pitchFamily="34" charset="0"/>
                <a:ea typeface="Georgia" pitchFamily="34" charset="-122"/>
                <a:cs typeface="Georgia" pitchFamily="34" charset="-120"/>
              </a:rPr>
              <a:t>Results and Discussion</a:t>
            </a:r>
            <a:endParaRPr lang="en-US" sz="4000" dirty="0"/>
          </a:p>
        </p:txBody>
      </p:sp>
      <p:sp>
        <p:nvSpPr>
          <p:cNvPr id="9" name="Shape 6"/>
          <p:cNvSpPr/>
          <p:nvPr/>
        </p:nvSpPr>
        <p:spPr>
          <a:xfrm>
            <a:off x="676656" y="3337560"/>
            <a:ext cx="1051560" cy="0"/>
          </a:xfrm>
          <a:prstGeom prst="line">
            <a:avLst/>
          </a:prstGeom>
          <a:noFill/>
          <a:ln w="38100">
            <a:solidFill>
              <a:srgbClr val="C8A96A"/>
            </a:solidFill>
            <a:prstDash val="solid"/>
          </a:ln>
        </p:spPr>
      </p:sp>
      <p:sp>
        <p:nvSpPr>
          <p:cNvPr id="10" name="Text 7"/>
          <p:cNvSpPr/>
          <p:nvPr/>
        </p:nvSpPr>
        <p:spPr>
          <a:xfrm>
            <a:off x="658368" y="3584448"/>
            <a:ext cx="8046720" cy="640080"/>
          </a:xfrm>
          <a:prstGeom prst="rect">
            <a:avLst/>
          </a:prstGeom>
          <a:noFill/>
          <a:ln/>
        </p:spPr>
        <p:txBody>
          <a:bodyPr wrap="square" lIns="0" tIns="0" rIns="0" bIns="0" rtlCol="0" anchor="ctr">
            <a:normAutofit/>
          </a:bodyPr>
          <a:lstStyle/>
          <a:p>
            <a:pPr indent="0" marL="0">
              <a:buNone/>
            </a:pPr>
            <a:r>
              <a:rPr lang="en-US" sz="1700" dirty="0">
                <a:solidFill>
                  <a:srgbClr val="DBE7DF"/>
                </a:solidFill>
                <a:latin typeface="Aptos" pitchFamily="34" charset="0"/>
                <a:ea typeface="Aptos" pitchFamily="34" charset="-122"/>
                <a:cs typeface="Aptos" pitchFamily="34" charset="-120"/>
              </a:rPr>
              <a:t>Verified implementation outcomes, live-data visualizations, statistical findings, and academic interpretation.</a:t>
            </a:r>
            <a:endParaRPr lang="en-US" sz="1700" dirty="0"/>
          </a:p>
        </p:txBody>
      </p:sp>
      <p:sp>
        <p:nvSpPr>
          <p:cNvPr id="11" name="Text 8"/>
          <p:cNvSpPr/>
          <p:nvPr/>
        </p:nvSpPr>
        <p:spPr>
          <a:xfrm>
            <a:off x="658368" y="6062472"/>
            <a:ext cx="5486400" cy="228600"/>
          </a:xfrm>
          <a:prstGeom prst="rect">
            <a:avLst/>
          </a:prstGeom>
          <a:noFill/>
          <a:ln/>
        </p:spPr>
        <p:txBody>
          <a:bodyPr wrap="square" lIns="0" tIns="0" rIns="0" bIns="0" rtlCol="0" anchor="ctr"/>
          <a:lstStyle/>
          <a:p>
            <a:pPr indent="0" marL="0">
              <a:buNone/>
            </a:pPr>
            <a:r>
              <a:rPr lang="en-US" sz="1050" dirty="0">
                <a:solidFill>
                  <a:srgbClr val="C8A96A"/>
                </a:solidFill>
                <a:latin typeface="Aptos" pitchFamily="34" charset="0"/>
                <a:ea typeface="Aptos" pitchFamily="34" charset="-122"/>
                <a:cs typeface="Aptos" pitchFamily="34" charset="-120"/>
              </a:rPr>
              <a:t>University Graduation Project  •  8 August 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4.1 • INTRODUCTION</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What Chapter 4 demonstrates</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From implementation to verified evidence.</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sp>
        <p:nvSpPr>
          <p:cNvPr id="8" name="Shape 5"/>
          <p:cNvSpPr/>
          <p:nvPr/>
        </p:nvSpPr>
        <p:spPr>
          <a:xfrm>
            <a:off x="594360" y="1664208"/>
            <a:ext cx="3520440" cy="3611880"/>
          </a:xfrm>
          <a:prstGeom prst="roundRect">
            <a:avLst>
              <a:gd name="adj" fmla="val 2597"/>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9" name="Shape 6"/>
          <p:cNvSpPr/>
          <p:nvPr/>
        </p:nvSpPr>
        <p:spPr>
          <a:xfrm>
            <a:off x="4334256" y="1664208"/>
            <a:ext cx="3520440" cy="3611880"/>
          </a:xfrm>
          <a:prstGeom prst="roundRect">
            <a:avLst>
              <a:gd name="adj" fmla="val 2597"/>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10" name="Shape 7"/>
          <p:cNvSpPr/>
          <p:nvPr/>
        </p:nvSpPr>
        <p:spPr>
          <a:xfrm>
            <a:off x="8074152" y="1664208"/>
            <a:ext cx="3520440" cy="3611880"/>
          </a:xfrm>
          <a:prstGeom prst="roundRect">
            <a:avLst>
              <a:gd name="adj" fmla="val 2597"/>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11" name="Text 8"/>
          <p:cNvSpPr/>
          <p:nvPr/>
        </p:nvSpPr>
        <p:spPr>
          <a:xfrm>
            <a:off x="822960" y="1920240"/>
            <a:ext cx="594360" cy="457200"/>
          </a:xfrm>
          <a:prstGeom prst="rect">
            <a:avLst/>
          </a:prstGeom>
          <a:noFill/>
          <a:ln/>
        </p:spPr>
        <p:txBody>
          <a:bodyPr wrap="square" lIns="0" tIns="0" rIns="0" bIns="0" rtlCol="0" anchor="ctr"/>
          <a:lstStyle/>
          <a:p>
            <a:pPr indent="0" marL="0">
              <a:buNone/>
            </a:pPr>
            <a:r>
              <a:rPr lang="en-US" sz="2700" b="1" dirty="0">
                <a:solidFill>
                  <a:srgbClr val="C8A96A"/>
                </a:solidFill>
                <a:latin typeface="Georgia" pitchFamily="34" charset="0"/>
                <a:ea typeface="Georgia" pitchFamily="34" charset="-122"/>
                <a:cs typeface="Georgia" pitchFamily="34" charset="-120"/>
              </a:rPr>
              <a:t>01</a:t>
            </a:r>
            <a:endParaRPr lang="en-US" sz="2700" dirty="0"/>
          </a:p>
        </p:txBody>
      </p:sp>
      <p:sp>
        <p:nvSpPr>
          <p:cNvPr id="12" name="Text 9"/>
          <p:cNvSpPr/>
          <p:nvPr/>
        </p:nvSpPr>
        <p:spPr>
          <a:xfrm>
            <a:off x="822960" y="2542032"/>
            <a:ext cx="3017520" cy="237744"/>
          </a:xfrm>
          <a:prstGeom prst="rect">
            <a:avLst/>
          </a:prstGeom>
          <a:noFill/>
          <a:ln/>
        </p:spPr>
        <p:txBody>
          <a:bodyPr wrap="square" lIns="0" tIns="0" rIns="0" bIns="0" rtlCol="0" anchor="ctr"/>
          <a:lstStyle/>
          <a:p>
            <a:pPr indent="0" marL="0">
              <a:buNone/>
            </a:pPr>
            <a:r>
              <a:rPr lang="en-US" sz="1000" b="1" spc="80" kern="0" dirty="0">
                <a:solidFill>
                  <a:srgbClr val="123524"/>
                </a:solidFill>
                <a:latin typeface="Aptos" pitchFamily="34" charset="0"/>
                <a:ea typeface="Aptos" pitchFamily="34" charset="-122"/>
                <a:cs typeface="Aptos" pitchFamily="34" charset="-120"/>
              </a:rPr>
              <a:t>SYSTEM RESULTS</a:t>
            </a:r>
            <a:endParaRPr lang="en-US" sz="1000" dirty="0"/>
          </a:p>
        </p:txBody>
      </p:sp>
      <p:sp>
        <p:nvSpPr>
          <p:cNvPr id="13" name="Text 10"/>
          <p:cNvSpPr/>
          <p:nvPr/>
        </p:nvSpPr>
        <p:spPr>
          <a:xfrm>
            <a:off x="822960" y="2971800"/>
            <a:ext cx="2971800" cy="1600200"/>
          </a:xfrm>
          <a:prstGeom prst="rect">
            <a:avLst/>
          </a:prstGeom>
          <a:noFill/>
          <a:ln/>
        </p:spPr>
        <p:txBody>
          <a:bodyPr wrap="square" lIns="25400" tIns="25400" rIns="25400" bIns="25400" rtlCol="0" anchor="ctr">
            <a:normAutofit/>
          </a:bodyPr>
          <a:lstStyle/>
          <a:p>
            <a:pPr marL="177800" indent="-177800">
              <a:buSzPct val="100000"/>
              <a:buChar char="•"/>
            </a:pPr>
            <a:r>
              <a:rPr lang="en-US" sz="1300" dirty="0">
                <a:solidFill>
                  <a:srgbClr val="14251D"/>
                </a:solidFill>
                <a:latin typeface="Aptos" pitchFamily="34" charset="0"/>
                <a:ea typeface="Aptos" pitchFamily="34" charset="-122"/>
                <a:cs typeface="Aptos" pitchFamily="34" charset="-120"/>
              </a:rPr>
              <a:t>Functional pages and navigation</a:t>
            </a:r>
            <a:endParaRPr lang="en-US" sz="1300" dirty="0"/>
          </a:p>
          <a:p>
            <a:pPr marL="177800" indent="-177800">
              <a:buSzPct val="100000"/>
              <a:buChar char="•"/>
            </a:pPr>
            <a:r>
              <a:rPr lang="en-US" sz="1300" dirty="0">
                <a:solidFill>
                  <a:srgbClr val="14251D"/>
                </a:solidFill>
                <a:latin typeface="Aptos" pitchFamily="34" charset="0"/>
                <a:ea typeface="Aptos" pitchFamily="34" charset="-122"/>
                <a:cs typeface="Aptos" pitchFamily="34" charset="-120"/>
              </a:rPr>
              <a:t>Live Flask–MySQL integration</a:t>
            </a:r>
            <a:endParaRPr lang="en-US" sz="1300" dirty="0"/>
          </a:p>
          <a:p>
            <a:pPr marL="177800" indent="-177800">
              <a:buSzPct val="100000"/>
              <a:buChar char="•"/>
            </a:pPr>
            <a:r>
              <a:rPr lang="en-US" sz="1300" dirty="0">
                <a:solidFill>
                  <a:srgbClr val="14251D"/>
                </a:solidFill>
                <a:latin typeface="Aptos" pitchFamily="34" charset="0"/>
                <a:ea typeface="Aptos" pitchFamily="34" charset="-122"/>
                <a:cs typeface="Aptos" pitchFamily="34" charset="-120"/>
              </a:rPr>
              <a:t>Responsive bilingual interface</a:t>
            </a:r>
            <a:endParaRPr lang="en-US" sz="1300" dirty="0"/>
          </a:p>
        </p:txBody>
      </p:sp>
      <p:sp>
        <p:nvSpPr>
          <p:cNvPr id="14" name="Text 11"/>
          <p:cNvSpPr/>
          <p:nvPr/>
        </p:nvSpPr>
        <p:spPr>
          <a:xfrm>
            <a:off x="4562856" y="1920240"/>
            <a:ext cx="594360" cy="457200"/>
          </a:xfrm>
          <a:prstGeom prst="rect">
            <a:avLst/>
          </a:prstGeom>
          <a:noFill/>
          <a:ln/>
        </p:spPr>
        <p:txBody>
          <a:bodyPr wrap="square" lIns="0" tIns="0" rIns="0" bIns="0" rtlCol="0" anchor="ctr"/>
          <a:lstStyle/>
          <a:p>
            <a:pPr indent="0" marL="0">
              <a:buNone/>
            </a:pPr>
            <a:r>
              <a:rPr lang="en-US" sz="2700" b="1" dirty="0">
                <a:solidFill>
                  <a:srgbClr val="C8A96A"/>
                </a:solidFill>
                <a:latin typeface="Georgia" pitchFamily="34" charset="0"/>
                <a:ea typeface="Georgia" pitchFamily="34" charset="-122"/>
                <a:cs typeface="Georgia" pitchFamily="34" charset="-120"/>
              </a:rPr>
              <a:t>02</a:t>
            </a:r>
            <a:endParaRPr lang="en-US" sz="2700" dirty="0"/>
          </a:p>
        </p:txBody>
      </p:sp>
      <p:sp>
        <p:nvSpPr>
          <p:cNvPr id="15" name="Text 12"/>
          <p:cNvSpPr/>
          <p:nvPr/>
        </p:nvSpPr>
        <p:spPr>
          <a:xfrm>
            <a:off x="4562856" y="2542032"/>
            <a:ext cx="3017520" cy="237744"/>
          </a:xfrm>
          <a:prstGeom prst="rect">
            <a:avLst/>
          </a:prstGeom>
          <a:noFill/>
          <a:ln/>
        </p:spPr>
        <p:txBody>
          <a:bodyPr wrap="square" lIns="0" tIns="0" rIns="0" bIns="0" rtlCol="0" anchor="ctr"/>
          <a:lstStyle/>
          <a:p>
            <a:pPr indent="0" marL="0">
              <a:buNone/>
            </a:pPr>
            <a:r>
              <a:rPr lang="en-US" sz="1000" b="1" spc="80" kern="0" dirty="0">
                <a:solidFill>
                  <a:srgbClr val="123524"/>
                </a:solidFill>
                <a:latin typeface="Aptos" pitchFamily="34" charset="0"/>
                <a:ea typeface="Aptos" pitchFamily="34" charset="-122"/>
                <a:cs typeface="Aptos" pitchFamily="34" charset="-120"/>
              </a:rPr>
              <a:t>DATA RESULTS</a:t>
            </a:r>
            <a:endParaRPr lang="en-US" sz="1000" dirty="0"/>
          </a:p>
        </p:txBody>
      </p:sp>
      <p:sp>
        <p:nvSpPr>
          <p:cNvPr id="16" name="Text 13"/>
          <p:cNvSpPr/>
          <p:nvPr/>
        </p:nvSpPr>
        <p:spPr>
          <a:xfrm>
            <a:off x="4562856" y="2971800"/>
            <a:ext cx="2971800" cy="1600200"/>
          </a:xfrm>
          <a:prstGeom prst="rect">
            <a:avLst/>
          </a:prstGeom>
          <a:noFill/>
          <a:ln/>
        </p:spPr>
        <p:txBody>
          <a:bodyPr wrap="square" lIns="25400" tIns="25400" rIns="25400" bIns="25400" rtlCol="0" anchor="ctr">
            <a:normAutofit/>
          </a:bodyPr>
          <a:lstStyle/>
          <a:p>
            <a:pPr marL="177800" indent="-177800">
              <a:buSzPct val="100000"/>
              <a:buChar char="•"/>
            </a:pPr>
            <a:r>
              <a:rPr lang="en-US" sz="1300" dirty="0">
                <a:solidFill>
                  <a:srgbClr val="14251D"/>
                </a:solidFill>
                <a:latin typeface="Aptos" pitchFamily="34" charset="0"/>
                <a:ea typeface="Aptos" pitchFamily="34" charset="-122"/>
                <a:cs typeface="Aptos" pitchFamily="34" charset="-120"/>
              </a:rPr>
              <a:t>1,557 groups across 130 countries</a:t>
            </a:r>
            <a:endParaRPr lang="en-US" sz="1300" dirty="0"/>
          </a:p>
          <a:p>
            <a:pPr marL="177800" indent="-177800">
              <a:buSzPct val="100000"/>
              <a:buChar char="•"/>
            </a:pPr>
            <a:r>
              <a:rPr lang="en-US" sz="1300" dirty="0">
                <a:solidFill>
                  <a:srgbClr val="14251D"/>
                </a:solidFill>
                <a:latin typeface="Aptos" pitchFamily="34" charset="0"/>
                <a:ea typeface="Aptos" pitchFamily="34" charset="-122"/>
                <a:cs typeface="Aptos" pitchFamily="34" charset="-120"/>
              </a:rPr>
              <a:t>Descriptive geographic patterns</a:t>
            </a:r>
            <a:endParaRPr lang="en-US" sz="1300" dirty="0"/>
          </a:p>
          <a:p>
            <a:pPr marL="177800" indent="-177800">
              <a:buSzPct val="100000"/>
              <a:buChar char="•"/>
            </a:pPr>
            <a:r>
              <a:rPr lang="en-US" sz="1300" dirty="0">
                <a:solidFill>
                  <a:srgbClr val="14251D"/>
                </a:solidFill>
                <a:latin typeface="Aptos" pitchFamily="34" charset="0"/>
                <a:ea typeface="Aptos" pitchFamily="34" charset="-122"/>
                <a:cs typeface="Aptos" pitchFamily="34" charset="-120"/>
              </a:rPr>
              <a:t>Filterable charts and comparisons</a:t>
            </a:r>
            <a:endParaRPr lang="en-US" sz="1300" dirty="0"/>
          </a:p>
        </p:txBody>
      </p:sp>
      <p:sp>
        <p:nvSpPr>
          <p:cNvPr id="17" name="Text 14"/>
          <p:cNvSpPr/>
          <p:nvPr/>
        </p:nvSpPr>
        <p:spPr>
          <a:xfrm>
            <a:off x="8302752" y="1920240"/>
            <a:ext cx="594360" cy="457200"/>
          </a:xfrm>
          <a:prstGeom prst="rect">
            <a:avLst/>
          </a:prstGeom>
          <a:noFill/>
          <a:ln/>
        </p:spPr>
        <p:txBody>
          <a:bodyPr wrap="square" lIns="0" tIns="0" rIns="0" bIns="0" rtlCol="0" anchor="ctr"/>
          <a:lstStyle/>
          <a:p>
            <a:pPr indent="0" marL="0">
              <a:buNone/>
            </a:pPr>
            <a:r>
              <a:rPr lang="en-US" sz="2700" b="1" dirty="0">
                <a:solidFill>
                  <a:srgbClr val="C8A96A"/>
                </a:solidFill>
                <a:latin typeface="Georgia" pitchFamily="34" charset="0"/>
                <a:ea typeface="Georgia" pitchFamily="34" charset="-122"/>
                <a:cs typeface="Georgia" pitchFamily="34" charset="-120"/>
              </a:rPr>
              <a:t>03</a:t>
            </a:r>
            <a:endParaRPr lang="en-US" sz="2700" dirty="0"/>
          </a:p>
        </p:txBody>
      </p:sp>
      <p:sp>
        <p:nvSpPr>
          <p:cNvPr id="18" name="Text 15"/>
          <p:cNvSpPr/>
          <p:nvPr/>
        </p:nvSpPr>
        <p:spPr>
          <a:xfrm>
            <a:off x="8302752" y="2542032"/>
            <a:ext cx="3017520" cy="237744"/>
          </a:xfrm>
          <a:prstGeom prst="rect">
            <a:avLst/>
          </a:prstGeom>
          <a:noFill/>
          <a:ln/>
        </p:spPr>
        <p:txBody>
          <a:bodyPr wrap="square" lIns="0" tIns="0" rIns="0" bIns="0" rtlCol="0" anchor="ctr"/>
          <a:lstStyle/>
          <a:p>
            <a:pPr indent="0" marL="0">
              <a:buNone/>
            </a:pPr>
            <a:r>
              <a:rPr lang="en-US" sz="1000" b="1" spc="80" kern="0" dirty="0">
                <a:solidFill>
                  <a:srgbClr val="123524"/>
                </a:solidFill>
                <a:latin typeface="Aptos" pitchFamily="34" charset="0"/>
                <a:ea typeface="Aptos" pitchFamily="34" charset="-122"/>
                <a:cs typeface="Aptos" pitchFamily="34" charset="-120"/>
              </a:rPr>
              <a:t>ANALYTICAL RESULTS</a:t>
            </a:r>
            <a:endParaRPr lang="en-US" sz="1000" dirty="0"/>
          </a:p>
        </p:txBody>
      </p:sp>
      <p:sp>
        <p:nvSpPr>
          <p:cNvPr id="19" name="Text 16"/>
          <p:cNvSpPr/>
          <p:nvPr/>
        </p:nvSpPr>
        <p:spPr>
          <a:xfrm>
            <a:off x="8302752" y="2971800"/>
            <a:ext cx="2971800" cy="1600200"/>
          </a:xfrm>
          <a:prstGeom prst="rect">
            <a:avLst/>
          </a:prstGeom>
          <a:noFill/>
          <a:ln/>
        </p:spPr>
        <p:txBody>
          <a:bodyPr wrap="square" lIns="25400" tIns="25400" rIns="25400" bIns="25400" rtlCol="0" anchor="ctr">
            <a:normAutofit/>
          </a:bodyPr>
          <a:lstStyle/>
          <a:p>
            <a:pPr marL="177800" indent="-177800">
              <a:buSzPct val="100000"/>
              <a:buChar char="•"/>
            </a:pPr>
            <a:r>
              <a:rPr lang="en-US" sz="1300" dirty="0">
                <a:solidFill>
                  <a:srgbClr val="14251D"/>
                </a:solidFill>
                <a:latin typeface="Aptos" pitchFamily="34" charset="0"/>
                <a:ea typeface="Aptos" pitchFamily="34" charset="-122"/>
                <a:cs typeface="Aptos" pitchFamily="34" charset="-120"/>
              </a:rPr>
              <a:t>Inferential tests selected by variable type</a:t>
            </a:r>
            <a:endParaRPr lang="en-US" sz="1300" dirty="0"/>
          </a:p>
          <a:p>
            <a:pPr marL="177800" indent="-177800">
              <a:buSzPct val="100000"/>
              <a:buChar char="•"/>
            </a:pPr>
            <a:r>
              <a:rPr lang="en-US" sz="1300" dirty="0">
                <a:solidFill>
                  <a:srgbClr val="14251D"/>
                </a:solidFill>
                <a:latin typeface="Aptos" pitchFamily="34" charset="0"/>
                <a:ea typeface="Aptos" pitchFamily="34" charset="-122"/>
                <a:cs typeface="Aptos" pitchFamily="34" charset="-120"/>
              </a:rPr>
              <a:t>Missing values excluded transparently</a:t>
            </a:r>
            <a:endParaRPr lang="en-US" sz="1300" dirty="0"/>
          </a:p>
          <a:p>
            <a:pPr marL="177800" indent="-177800">
              <a:buSzPct val="100000"/>
              <a:buChar char="•"/>
            </a:pPr>
            <a:r>
              <a:rPr lang="en-US" sz="1300" dirty="0">
                <a:solidFill>
                  <a:srgbClr val="14251D"/>
                </a:solidFill>
                <a:latin typeface="Aptos" pitchFamily="34" charset="0"/>
                <a:ea typeface="Aptos" pitchFamily="34" charset="-122"/>
                <a:cs typeface="Aptos" pitchFamily="34" charset="-120"/>
              </a:rPr>
              <a:t>Effect sizes interpreted with p-values</a:t>
            </a:r>
            <a:endParaRPr lang="en-US" sz="1300" dirty="0"/>
          </a:p>
        </p:txBody>
      </p:sp>
      <p:sp>
        <p:nvSpPr>
          <p:cNvPr id="20" name="Shape 17"/>
          <p:cNvSpPr/>
          <p:nvPr/>
        </p:nvSpPr>
        <p:spPr>
          <a:xfrm>
            <a:off x="731520" y="5760720"/>
            <a:ext cx="10698480" cy="438912"/>
          </a:xfrm>
          <a:prstGeom prst="roundRect">
            <a:avLst/>
          </a:prstGeom>
          <a:solidFill>
            <a:srgbClr val="F6EEDC"/>
          </a:solidFill>
          <a:ln w="10160">
            <a:solidFill>
              <a:srgbClr val="C8A96A"/>
            </a:solidFill>
            <a:prstDash val="solid"/>
          </a:ln>
        </p:spPr>
      </p:sp>
      <p:sp>
        <p:nvSpPr>
          <p:cNvPr id="21" name="Text 18"/>
          <p:cNvSpPr/>
          <p:nvPr/>
        </p:nvSpPr>
        <p:spPr>
          <a:xfrm>
            <a:off x="886968" y="5861304"/>
            <a:ext cx="10387584" cy="201168"/>
          </a:xfrm>
          <a:prstGeom prst="rect">
            <a:avLst/>
          </a:prstGeom>
          <a:noFill/>
          <a:ln/>
        </p:spPr>
        <p:txBody>
          <a:bodyPr wrap="square" lIns="0" tIns="0" rIns="0" bIns="0" rtlCol="0" anchor="ctr">
            <a:normAutofit/>
          </a:bodyPr>
          <a:lstStyle/>
          <a:p>
            <a:pPr indent="0" marL="0">
              <a:buNone/>
            </a:pPr>
            <a:r>
              <a:rPr lang="en-US" sz="1050" b="1" dirty="0">
                <a:solidFill>
                  <a:srgbClr val="14251D"/>
                </a:solidFill>
                <a:latin typeface="Aptos" pitchFamily="34" charset="0"/>
                <a:ea typeface="Aptos" pitchFamily="34" charset="-122"/>
                <a:cs typeface="Aptos" pitchFamily="34" charset="-120"/>
              </a:rPr>
              <a:t>Acceptance criterion: evidence was captured only after the live page finished loading and no fetch or console errors were present.</a:t>
            </a:r>
            <a:endParaRPr lang="en-US" sz="1050" dirty="0"/>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4.2 • FINAL SYSTEM OVERVIEW</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The completed system turns records into evidence</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A transparent path from relational data to an interactive research interface.</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sp>
        <p:nvSpPr>
          <p:cNvPr id="8" name="Shape 5"/>
          <p:cNvSpPr/>
          <p:nvPr/>
        </p:nvSpPr>
        <p:spPr>
          <a:xfrm>
            <a:off x="411480" y="2057400"/>
            <a:ext cx="1353312" cy="1051560"/>
          </a:xfrm>
          <a:prstGeom prst="roundRect">
            <a:avLst>
              <a:gd name="adj" fmla="val 8696"/>
            </a:avLst>
          </a:prstGeom>
          <a:solidFill>
            <a:srgbClr val="EAF1EC"/>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9" name="Text 6"/>
          <p:cNvSpPr/>
          <p:nvPr/>
        </p:nvSpPr>
        <p:spPr>
          <a:xfrm>
            <a:off x="484632" y="2276856"/>
            <a:ext cx="1207008" cy="219456"/>
          </a:xfrm>
          <a:prstGeom prst="rect">
            <a:avLst/>
          </a:prstGeom>
          <a:noFill/>
          <a:ln/>
        </p:spPr>
        <p:txBody>
          <a:bodyPr wrap="square" lIns="0" tIns="0" rIns="0" bIns="0" rtlCol="0" anchor="ctr"/>
          <a:lstStyle/>
          <a:p>
            <a:pPr algn="ctr" indent="0" marL="0">
              <a:buNone/>
            </a:pPr>
            <a:r>
              <a:rPr lang="en-US" sz="1600" b="1" dirty="0">
                <a:solidFill>
                  <a:srgbClr val="123524"/>
                </a:solidFill>
                <a:latin typeface="Georgia" pitchFamily="34" charset="0"/>
                <a:ea typeface="Georgia" pitchFamily="34" charset="-122"/>
                <a:cs typeface="Georgia" pitchFamily="34" charset="-120"/>
              </a:rPr>
              <a:t>MySQL</a:t>
            </a:r>
            <a:endParaRPr lang="en-US" sz="1600" dirty="0"/>
          </a:p>
        </p:txBody>
      </p:sp>
      <p:sp>
        <p:nvSpPr>
          <p:cNvPr id="10" name="Text 7"/>
          <p:cNvSpPr/>
          <p:nvPr/>
        </p:nvSpPr>
        <p:spPr>
          <a:xfrm>
            <a:off x="484632" y="2587752"/>
            <a:ext cx="1207008" cy="164592"/>
          </a:xfrm>
          <a:prstGeom prst="rect">
            <a:avLst/>
          </a:prstGeom>
          <a:noFill/>
          <a:ln/>
        </p:spPr>
        <p:txBody>
          <a:bodyPr wrap="square" lIns="0" tIns="0" rIns="0" bIns="0" rtlCol="0" anchor="ctr">
            <a:normAutofit/>
          </a:bodyPr>
          <a:lstStyle/>
          <a:p>
            <a:pPr algn="ctr" indent="0" marL="0">
              <a:buNone/>
            </a:pPr>
            <a:r>
              <a:rPr lang="en-US" sz="900" dirty="0">
                <a:solidFill>
                  <a:srgbClr val="65736B"/>
                </a:solidFill>
                <a:latin typeface="Aptos" pitchFamily="34" charset="0"/>
                <a:ea typeface="Aptos" pitchFamily="34" charset="-122"/>
                <a:cs typeface="Aptos" pitchFamily="34" charset="-120"/>
              </a:rPr>
              <a:t>1,557 records</a:t>
            </a:r>
            <a:endParaRPr lang="en-US" sz="900" dirty="0"/>
          </a:p>
        </p:txBody>
      </p:sp>
      <p:sp>
        <p:nvSpPr>
          <p:cNvPr id="11" name="Shape 8"/>
          <p:cNvSpPr/>
          <p:nvPr/>
        </p:nvSpPr>
        <p:spPr>
          <a:xfrm>
            <a:off x="1801368" y="2359152"/>
            <a:ext cx="256032" cy="384048"/>
          </a:xfrm>
          <a:prstGeom prst="chevron">
            <a:avLst/>
          </a:prstGeom>
          <a:solidFill>
            <a:srgbClr val="C8A96A"/>
          </a:solidFill>
          <a:ln w="12700">
            <a:solidFill>
              <a:srgbClr val="C8A96A"/>
            </a:solidFill>
            <a:prstDash val="solid"/>
          </a:ln>
        </p:spPr>
      </p:sp>
      <p:sp>
        <p:nvSpPr>
          <p:cNvPr id="12" name="Shape 9"/>
          <p:cNvSpPr/>
          <p:nvPr/>
        </p:nvSpPr>
        <p:spPr>
          <a:xfrm>
            <a:off x="2075688" y="2057400"/>
            <a:ext cx="1353312" cy="1051560"/>
          </a:xfrm>
          <a:prstGeom prst="roundRect">
            <a:avLst>
              <a:gd name="adj" fmla="val 8696"/>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13" name="Text 10"/>
          <p:cNvSpPr/>
          <p:nvPr/>
        </p:nvSpPr>
        <p:spPr>
          <a:xfrm>
            <a:off x="2148840" y="2276856"/>
            <a:ext cx="1207008" cy="219456"/>
          </a:xfrm>
          <a:prstGeom prst="rect">
            <a:avLst/>
          </a:prstGeom>
          <a:noFill/>
          <a:ln/>
        </p:spPr>
        <p:txBody>
          <a:bodyPr wrap="square" lIns="0" tIns="0" rIns="0" bIns="0" rtlCol="0" anchor="ctr"/>
          <a:lstStyle/>
          <a:p>
            <a:pPr algn="ctr" indent="0" marL="0">
              <a:buNone/>
            </a:pPr>
            <a:r>
              <a:rPr lang="en-US" sz="1600" b="1" dirty="0">
                <a:solidFill>
                  <a:srgbClr val="123524"/>
                </a:solidFill>
                <a:latin typeface="Georgia" pitchFamily="34" charset="0"/>
                <a:ea typeface="Georgia" pitchFamily="34" charset="-122"/>
                <a:cs typeface="Georgia" pitchFamily="34" charset="-120"/>
              </a:rPr>
              <a:t>Flask</a:t>
            </a:r>
            <a:endParaRPr lang="en-US" sz="1600" dirty="0"/>
          </a:p>
        </p:txBody>
      </p:sp>
      <p:sp>
        <p:nvSpPr>
          <p:cNvPr id="14" name="Text 11"/>
          <p:cNvSpPr/>
          <p:nvPr/>
        </p:nvSpPr>
        <p:spPr>
          <a:xfrm>
            <a:off x="2148840" y="2587752"/>
            <a:ext cx="1207008" cy="164592"/>
          </a:xfrm>
          <a:prstGeom prst="rect">
            <a:avLst/>
          </a:prstGeom>
          <a:noFill/>
          <a:ln/>
        </p:spPr>
        <p:txBody>
          <a:bodyPr wrap="square" lIns="0" tIns="0" rIns="0" bIns="0" rtlCol="0" anchor="ctr">
            <a:normAutofit/>
          </a:bodyPr>
          <a:lstStyle/>
          <a:p>
            <a:pPr algn="ctr" indent="0" marL="0">
              <a:buNone/>
            </a:pPr>
            <a:r>
              <a:rPr lang="en-US" sz="900" dirty="0">
                <a:solidFill>
                  <a:srgbClr val="65736B"/>
                </a:solidFill>
                <a:latin typeface="Aptos" pitchFamily="34" charset="0"/>
                <a:ea typeface="Aptos" pitchFamily="34" charset="-122"/>
                <a:cs typeface="Aptos" pitchFamily="34" charset="-120"/>
              </a:rPr>
              <a:t>REST routes</a:t>
            </a:r>
            <a:endParaRPr lang="en-US" sz="900" dirty="0"/>
          </a:p>
        </p:txBody>
      </p:sp>
      <p:sp>
        <p:nvSpPr>
          <p:cNvPr id="15" name="Shape 12"/>
          <p:cNvSpPr/>
          <p:nvPr/>
        </p:nvSpPr>
        <p:spPr>
          <a:xfrm>
            <a:off x="3465576" y="2359152"/>
            <a:ext cx="256032" cy="384048"/>
          </a:xfrm>
          <a:prstGeom prst="chevron">
            <a:avLst/>
          </a:prstGeom>
          <a:solidFill>
            <a:srgbClr val="C8A96A"/>
          </a:solidFill>
          <a:ln w="12700">
            <a:solidFill>
              <a:srgbClr val="C8A96A"/>
            </a:solidFill>
            <a:prstDash val="solid"/>
          </a:ln>
        </p:spPr>
      </p:sp>
      <p:sp>
        <p:nvSpPr>
          <p:cNvPr id="16" name="Shape 13"/>
          <p:cNvSpPr/>
          <p:nvPr/>
        </p:nvSpPr>
        <p:spPr>
          <a:xfrm>
            <a:off x="3739896" y="2057400"/>
            <a:ext cx="1353312" cy="1051560"/>
          </a:xfrm>
          <a:prstGeom prst="roundRect">
            <a:avLst>
              <a:gd name="adj" fmla="val 8696"/>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17" name="Text 14"/>
          <p:cNvSpPr/>
          <p:nvPr/>
        </p:nvSpPr>
        <p:spPr>
          <a:xfrm>
            <a:off x="3813048" y="2276856"/>
            <a:ext cx="1207008" cy="219456"/>
          </a:xfrm>
          <a:prstGeom prst="rect">
            <a:avLst/>
          </a:prstGeom>
          <a:noFill/>
          <a:ln/>
        </p:spPr>
        <p:txBody>
          <a:bodyPr wrap="square" lIns="0" tIns="0" rIns="0" bIns="0" rtlCol="0" anchor="ctr"/>
          <a:lstStyle/>
          <a:p>
            <a:pPr algn="ctr" indent="0" marL="0">
              <a:buNone/>
            </a:pPr>
            <a:r>
              <a:rPr lang="en-US" sz="1600" b="1" dirty="0">
                <a:solidFill>
                  <a:srgbClr val="123524"/>
                </a:solidFill>
                <a:latin typeface="Georgia" pitchFamily="34" charset="0"/>
                <a:ea typeface="Georgia" pitchFamily="34" charset="-122"/>
                <a:cs typeface="Georgia" pitchFamily="34" charset="-120"/>
              </a:rPr>
              <a:t>Pandas</a:t>
            </a:r>
            <a:endParaRPr lang="en-US" sz="1600" dirty="0"/>
          </a:p>
        </p:txBody>
      </p:sp>
      <p:sp>
        <p:nvSpPr>
          <p:cNvPr id="18" name="Text 15"/>
          <p:cNvSpPr/>
          <p:nvPr/>
        </p:nvSpPr>
        <p:spPr>
          <a:xfrm>
            <a:off x="3813048" y="2587752"/>
            <a:ext cx="1207008" cy="164592"/>
          </a:xfrm>
          <a:prstGeom prst="rect">
            <a:avLst/>
          </a:prstGeom>
          <a:noFill/>
          <a:ln/>
        </p:spPr>
        <p:txBody>
          <a:bodyPr wrap="square" lIns="0" tIns="0" rIns="0" bIns="0" rtlCol="0" anchor="ctr">
            <a:normAutofit/>
          </a:bodyPr>
          <a:lstStyle/>
          <a:p>
            <a:pPr algn="ctr" indent="0" marL="0">
              <a:buNone/>
            </a:pPr>
            <a:r>
              <a:rPr lang="en-US" sz="900" dirty="0">
                <a:solidFill>
                  <a:srgbClr val="65736B"/>
                </a:solidFill>
                <a:latin typeface="Aptos" pitchFamily="34" charset="0"/>
                <a:ea typeface="Aptos" pitchFamily="34" charset="-122"/>
                <a:cs typeface="Aptos" pitchFamily="34" charset="-120"/>
              </a:rPr>
              <a:t>Preparation</a:t>
            </a:r>
            <a:endParaRPr lang="en-US" sz="900" dirty="0"/>
          </a:p>
        </p:txBody>
      </p:sp>
      <p:sp>
        <p:nvSpPr>
          <p:cNvPr id="19" name="Shape 16"/>
          <p:cNvSpPr/>
          <p:nvPr/>
        </p:nvSpPr>
        <p:spPr>
          <a:xfrm>
            <a:off x="5129784" y="2359152"/>
            <a:ext cx="256032" cy="384048"/>
          </a:xfrm>
          <a:prstGeom prst="chevron">
            <a:avLst/>
          </a:prstGeom>
          <a:solidFill>
            <a:srgbClr val="C8A96A"/>
          </a:solidFill>
          <a:ln w="12700">
            <a:solidFill>
              <a:srgbClr val="C8A96A"/>
            </a:solidFill>
            <a:prstDash val="solid"/>
          </a:ln>
        </p:spPr>
      </p:sp>
      <p:sp>
        <p:nvSpPr>
          <p:cNvPr id="20" name="Shape 17"/>
          <p:cNvSpPr/>
          <p:nvPr/>
        </p:nvSpPr>
        <p:spPr>
          <a:xfrm>
            <a:off x="5404104" y="2057400"/>
            <a:ext cx="1353312" cy="1051560"/>
          </a:xfrm>
          <a:prstGeom prst="roundRect">
            <a:avLst>
              <a:gd name="adj" fmla="val 8696"/>
            </a:avLst>
          </a:prstGeom>
          <a:solidFill>
            <a:srgbClr val="FFFFFF"/>
          </a:solidFill>
          <a:ln w="8890">
            <a:solidFill>
              <a:srgbClr val="C8A96A"/>
            </a:solidFill>
            <a:prstDash val="solid"/>
          </a:ln>
          <a:effectLst>
            <a:outerShdw sx="100000" sy="100000" kx="0" ky="0" algn="bl" rotWithShape="0" blurRad="19050" dist="50800" dir="2700000">
              <a:srgbClr val="AAB7AF">
                <a:alpha val="13000"/>
              </a:srgbClr>
            </a:outerShdw>
          </a:effectLst>
        </p:spPr>
      </p:sp>
      <p:sp>
        <p:nvSpPr>
          <p:cNvPr id="21" name="Text 18"/>
          <p:cNvSpPr/>
          <p:nvPr/>
        </p:nvSpPr>
        <p:spPr>
          <a:xfrm>
            <a:off x="5477256" y="2276856"/>
            <a:ext cx="1207008" cy="219456"/>
          </a:xfrm>
          <a:prstGeom prst="rect">
            <a:avLst/>
          </a:prstGeom>
          <a:noFill/>
          <a:ln/>
        </p:spPr>
        <p:txBody>
          <a:bodyPr wrap="square" lIns="0" tIns="0" rIns="0" bIns="0" rtlCol="0" anchor="ctr"/>
          <a:lstStyle/>
          <a:p>
            <a:pPr algn="ctr" indent="0" marL="0">
              <a:buNone/>
            </a:pPr>
            <a:r>
              <a:rPr lang="en-US" sz="1600" b="1" dirty="0">
                <a:solidFill>
                  <a:srgbClr val="123524"/>
                </a:solidFill>
                <a:latin typeface="Georgia" pitchFamily="34" charset="0"/>
                <a:ea typeface="Georgia" pitchFamily="34" charset="-122"/>
                <a:cs typeface="Georgia" pitchFamily="34" charset="-120"/>
              </a:rPr>
              <a:t>SciPy</a:t>
            </a:r>
            <a:endParaRPr lang="en-US" sz="1600" dirty="0"/>
          </a:p>
        </p:txBody>
      </p:sp>
      <p:sp>
        <p:nvSpPr>
          <p:cNvPr id="22" name="Text 19"/>
          <p:cNvSpPr/>
          <p:nvPr/>
        </p:nvSpPr>
        <p:spPr>
          <a:xfrm>
            <a:off x="5477256" y="2587752"/>
            <a:ext cx="1207008" cy="164592"/>
          </a:xfrm>
          <a:prstGeom prst="rect">
            <a:avLst/>
          </a:prstGeom>
          <a:noFill/>
          <a:ln/>
        </p:spPr>
        <p:txBody>
          <a:bodyPr wrap="square" lIns="0" tIns="0" rIns="0" bIns="0" rtlCol="0" anchor="ctr">
            <a:normAutofit/>
          </a:bodyPr>
          <a:lstStyle/>
          <a:p>
            <a:pPr algn="ctr" indent="0" marL="0">
              <a:buNone/>
            </a:pPr>
            <a:r>
              <a:rPr lang="en-US" sz="900" dirty="0">
                <a:solidFill>
                  <a:srgbClr val="65736B"/>
                </a:solidFill>
                <a:latin typeface="Aptos" pitchFamily="34" charset="0"/>
                <a:ea typeface="Aptos" pitchFamily="34" charset="-122"/>
                <a:cs typeface="Aptos" pitchFamily="34" charset="-120"/>
              </a:rPr>
              <a:t>Tests</a:t>
            </a:r>
            <a:endParaRPr lang="en-US" sz="900" dirty="0"/>
          </a:p>
        </p:txBody>
      </p:sp>
      <p:sp>
        <p:nvSpPr>
          <p:cNvPr id="23" name="Shape 20"/>
          <p:cNvSpPr/>
          <p:nvPr/>
        </p:nvSpPr>
        <p:spPr>
          <a:xfrm>
            <a:off x="6793992" y="2359152"/>
            <a:ext cx="256032" cy="384048"/>
          </a:xfrm>
          <a:prstGeom prst="chevron">
            <a:avLst/>
          </a:prstGeom>
          <a:solidFill>
            <a:srgbClr val="C8A96A"/>
          </a:solidFill>
          <a:ln w="12700">
            <a:solidFill>
              <a:srgbClr val="C8A96A"/>
            </a:solidFill>
            <a:prstDash val="solid"/>
          </a:ln>
        </p:spPr>
      </p:sp>
      <p:sp>
        <p:nvSpPr>
          <p:cNvPr id="24" name="Shape 21"/>
          <p:cNvSpPr/>
          <p:nvPr/>
        </p:nvSpPr>
        <p:spPr>
          <a:xfrm>
            <a:off x="7068312" y="2057400"/>
            <a:ext cx="1353312" cy="1051560"/>
          </a:xfrm>
          <a:prstGeom prst="roundRect">
            <a:avLst>
              <a:gd name="adj" fmla="val 8696"/>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25" name="Text 22"/>
          <p:cNvSpPr/>
          <p:nvPr/>
        </p:nvSpPr>
        <p:spPr>
          <a:xfrm>
            <a:off x="7141464" y="2276856"/>
            <a:ext cx="1207008" cy="219456"/>
          </a:xfrm>
          <a:prstGeom prst="rect">
            <a:avLst/>
          </a:prstGeom>
          <a:noFill/>
          <a:ln/>
        </p:spPr>
        <p:txBody>
          <a:bodyPr wrap="square" lIns="0" tIns="0" rIns="0" bIns="0" rtlCol="0" anchor="ctr"/>
          <a:lstStyle/>
          <a:p>
            <a:pPr algn="ctr" indent="0" marL="0">
              <a:buNone/>
            </a:pPr>
            <a:r>
              <a:rPr lang="en-US" sz="1600" b="1" dirty="0">
                <a:solidFill>
                  <a:srgbClr val="123524"/>
                </a:solidFill>
                <a:latin typeface="Georgia" pitchFamily="34" charset="0"/>
                <a:ea typeface="Georgia" pitchFamily="34" charset="-122"/>
                <a:cs typeface="Georgia" pitchFamily="34" charset="-120"/>
              </a:rPr>
              <a:t>JSON</a:t>
            </a:r>
            <a:endParaRPr lang="en-US" sz="1600" dirty="0"/>
          </a:p>
        </p:txBody>
      </p:sp>
      <p:sp>
        <p:nvSpPr>
          <p:cNvPr id="26" name="Text 23"/>
          <p:cNvSpPr/>
          <p:nvPr/>
        </p:nvSpPr>
        <p:spPr>
          <a:xfrm>
            <a:off x="7141464" y="2587752"/>
            <a:ext cx="1207008" cy="164592"/>
          </a:xfrm>
          <a:prstGeom prst="rect">
            <a:avLst/>
          </a:prstGeom>
          <a:noFill/>
          <a:ln/>
        </p:spPr>
        <p:txBody>
          <a:bodyPr wrap="square" lIns="0" tIns="0" rIns="0" bIns="0" rtlCol="0" anchor="ctr">
            <a:normAutofit/>
          </a:bodyPr>
          <a:lstStyle/>
          <a:p>
            <a:pPr algn="ctr" indent="0" marL="0">
              <a:buNone/>
            </a:pPr>
            <a:r>
              <a:rPr lang="en-US" sz="900" dirty="0">
                <a:solidFill>
                  <a:srgbClr val="65736B"/>
                </a:solidFill>
                <a:latin typeface="Aptos" pitchFamily="34" charset="0"/>
                <a:ea typeface="Aptos" pitchFamily="34" charset="-122"/>
                <a:cs typeface="Aptos" pitchFamily="34" charset="-120"/>
              </a:rPr>
              <a:t>Structured results</a:t>
            </a:r>
            <a:endParaRPr lang="en-US" sz="900" dirty="0"/>
          </a:p>
        </p:txBody>
      </p:sp>
      <p:sp>
        <p:nvSpPr>
          <p:cNvPr id="27" name="Shape 24"/>
          <p:cNvSpPr/>
          <p:nvPr/>
        </p:nvSpPr>
        <p:spPr>
          <a:xfrm>
            <a:off x="8458200" y="2359152"/>
            <a:ext cx="256032" cy="384048"/>
          </a:xfrm>
          <a:prstGeom prst="chevron">
            <a:avLst/>
          </a:prstGeom>
          <a:solidFill>
            <a:srgbClr val="C8A96A"/>
          </a:solidFill>
          <a:ln w="12700">
            <a:solidFill>
              <a:srgbClr val="C8A96A"/>
            </a:solidFill>
            <a:prstDash val="solid"/>
          </a:ln>
        </p:spPr>
      </p:sp>
      <p:sp>
        <p:nvSpPr>
          <p:cNvPr id="28" name="Shape 25"/>
          <p:cNvSpPr/>
          <p:nvPr/>
        </p:nvSpPr>
        <p:spPr>
          <a:xfrm>
            <a:off x="8732520" y="2057400"/>
            <a:ext cx="1353312" cy="1051560"/>
          </a:xfrm>
          <a:prstGeom prst="roundRect">
            <a:avLst>
              <a:gd name="adj" fmla="val 8696"/>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29" name="Text 26"/>
          <p:cNvSpPr/>
          <p:nvPr/>
        </p:nvSpPr>
        <p:spPr>
          <a:xfrm>
            <a:off x="8805672" y="2276856"/>
            <a:ext cx="1207008" cy="219456"/>
          </a:xfrm>
          <a:prstGeom prst="rect">
            <a:avLst/>
          </a:prstGeom>
          <a:noFill/>
          <a:ln/>
        </p:spPr>
        <p:txBody>
          <a:bodyPr wrap="square" lIns="0" tIns="0" rIns="0" bIns="0" rtlCol="0" anchor="ctr"/>
          <a:lstStyle/>
          <a:p>
            <a:pPr algn="ctr" indent="0" marL="0">
              <a:buNone/>
            </a:pPr>
            <a:r>
              <a:rPr lang="en-US" sz="1600" b="1" dirty="0">
                <a:solidFill>
                  <a:srgbClr val="123524"/>
                </a:solidFill>
                <a:latin typeface="Georgia" pitchFamily="34" charset="0"/>
                <a:ea typeface="Georgia" pitchFamily="34" charset="-122"/>
                <a:cs typeface="Georgia" pitchFamily="34" charset="-120"/>
              </a:rPr>
              <a:t>Frontend</a:t>
            </a:r>
            <a:endParaRPr lang="en-US" sz="1600" dirty="0"/>
          </a:p>
        </p:txBody>
      </p:sp>
      <p:sp>
        <p:nvSpPr>
          <p:cNvPr id="30" name="Text 27"/>
          <p:cNvSpPr/>
          <p:nvPr/>
        </p:nvSpPr>
        <p:spPr>
          <a:xfrm>
            <a:off x="8805672" y="2587752"/>
            <a:ext cx="1207008" cy="164592"/>
          </a:xfrm>
          <a:prstGeom prst="rect">
            <a:avLst/>
          </a:prstGeom>
          <a:noFill/>
          <a:ln/>
        </p:spPr>
        <p:txBody>
          <a:bodyPr wrap="square" lIns="0" tIns="0" rIns="0" bIns="0" rtlCol="0" anchor="ctr">
            <a:normAutofit/>
          </a:bodyPr>
          <a:lstStyle/>
          <a:p>
            <a:pPr algn="ctr" indent="0" marL="0">
              <a:buNone/>
            </a:pPr>
            <a:r>
              <a:rPr lang="en-US" sz="900" dirty="0">
                <a:solidFill>
                  <a:srgbClr val="65736B"/>
                </a:solidFill>
                <a:latin typeface="Aptos" pitchFamily="34" charset="0"/>
                <a:ea typeface="Aptos" pitchFamily="34" charset="-122"/>
                <a:cs typeface="Aptos" pitchFamily="34" charset="-120"/>
              </a:rPr>
              <a:t>HTML • CSS • JS</a:t>
            </a:r>
            <a:endParaRPr lang="en-US" sz="900" dirty="0"/>
          </a:p>
        </p:txBody>
      </p:sp>
      <p:sp>
        <p:nvSpPr>
          <p:cNvPr id="31" name="Shape 28"/>
          <p:cNvSpPr/>
          <p:nvPr/>
        </p:nvSpPr>
        <p:spPr>
          <a:xfrm>
            <a:off x="10122408" y="2359152"/>
            <a:ext cx="256032" cy="384048"/>
          </a:xfrm>
          <a:prstGeom prst="chevron">
            <a:avLst/>
          </a:prstGeom>
          <a:solidFill>
            <a:srgbClr val="C8A96A"/>
          </a:solidFill>
          <a:ln w="12700">
            <a:solidFill>
              <a:srgbClr val="C8A96A"/>
            </a:solidFill>
            <a:prstDash val="solid"/>
          </a:ln>
        </p:spPr>
      </p:sp>
      <p:sp>
        <p:nvSpPr>
          <p:cNvPr id="32" name="Shape 29"/>
          <p:cNvSpPr/>
          <p:nvPr/>
        </p:nvSpPr>
        <p:spPr>
          <a:xfrm>
            <a:off x="10396728" y="2057400"/>
            <a:ext cx="1353312" cy="1051560"/>
          </a:xfrm>
          <a:prstGeom prst="roundRect">
            <a:avLst>
              <a:gd name="adj" fmla="val 8696"/>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33" name="Text 30"/>
          <p:cNvSpPr/>
          <p:nvPr/>
        </p:nvSpPr>
        <p:spPr>
          <a:xfrm>
            <a:off x="10469880" y="2276856"/>
            <a:ext cx="1207008" cy="219456"/>
          </a:xfrm>
          <a:prstGeom prst="rect">
            <a:avLst/>
          </a:prstGeom>
          <a:noFill/>
          <a:ln/>
        </p:spPr>
        <p:txBody>
          <a:bodyPr wrap="square" lIns="0" tIns="0" rIns="0" bIns="0" rtlCol="0" anchor="ctr"/>
          <a:lstStyle/>
          <a:p>
            <a:pPr algn="ctr" indent="0" marL="0">
              <a:buNone/>
            </a:pPr>
            <a:r>
              <a:rPr lang="en-US" sz="1600" b="1" dirty="0">
                <a:solidFill>
                  <a:srgbClr val="123524"/>
                </a:solidFill>
                <a:latin typeface="Georgia" pitchFamily="34" charset="0"/>
                <a:ea typeface="Georgia" pitchFamily="34" charset="-122"/>
                <a:cs typeface="Georgia" pitchFamily="34" charset="-120"/>
              </a:rPr>
              <a:t>Chart.js</a:t>
            </a:r>
            <a:endParaRPr lang="en-US" sz="1600" dirty="0"/>
          </a:p>
        </p:txBody>
      </p:sp>
      <p:sp>
        <p:nvSpPr>
          <p:cNvPr id="34" name="Text 31"/>
          <p:cNvSpPr/>
          <p:nvPr/>
        </p:nvSpPr>
        <p:spPr>
          <a:xfrm>
            <a:off x="10469880" y="2587752"/>
            <a:ext cx="1207008" cy="164592"/>
          </a:xfrm>
          <a:prstGeom prst="rect">
            <a:avLst/>
          </a:prstGeom>
          <a:noFill/>
          <a:ln/>
        </p:spPr>
        <p:txBody>
          <a:bodyPr wrap="square" lIns="0" tIns="0" rIns="0" bIns="0" rtlCol="0" anchor="ctr">
            <a:normAutofit/>
          </a:bodyPr>
          <a:lstStyle/>
          <a:p>
            <a:pPr algn="ctr" indent="0" marL="0">
              <a:buNone/>
            </a:pPr>
            <a:r>
              <a:rPr lang="en-US" sz="900" dirty="0">
                <a:solidFill>
                  <a:srgbClr val="65736B"/>
                </a:solidFill>
                <a:latin typeface="Aptos" pitchFamily="34" charset="0"/>
                <a:ea typeface="Aptos" pitchFamily="34" charset="-122"/>
                <a:cs typeface="Aptos" pitchFamily="34" charset="-120"/>
              </a:rPr>
              <a:t>Visual evidence</a:t>
            </a:r>
            <a:endParaRPr lang="en-US" sz="900" dirty="0"/>
          </a:p>
        </p:txBody>
      </p:sp>
      <p:sp>
        <p:nvSpPr>
          <p:cNvPr id="35" name="Shape 32"/>
          <p:cNvSpPr/>
          <p:nvPr/>
        </p:nvSpPr>
        <p:spPr>
          <a:xfrm>
            <a:off x="1097280" y="3675888"/>
            <a:ext cx="9966960" cy="0"/>
          </a:xfrm>
          <a:prstGeom prst="line">
            <a:avLst/>
          </a:prstGeom>
          <a:noFill/>
          <a:ln w="25400">
            <a:solidFill>
              <a:srgbClr val="123524"/>
            </a:solidFill>
            <a:prstDash val="solid"/>
          </a:ln>
        </p:spPr>
      </p:sp>
      <p:sp>
        <p:nvSpPr>
          <p:cNvPr id="36" name="Shape 33"/>
          <p:cNvSpPr/>
          <p:nvPr/>
        </p:nvSpPr>
        <p:spPr>
          <a:xfrm>
            <a:off x="658368" y="3493008"/>
            <a:ext cx="347472" cy="347472"/>
          </a:xfrm>
          <a:prstGeom prst="ellipse">
            <a:avLst/>
          </a:prstGeom>
          <a:solidFill>
            <a:srgbClr val="C8A96A"/>
          </a:solidFill>
          <a:ln w="12700">
            <a:solidFill>
              <a:srgbClr val="FFFFFF"/>
            </a:solidFill>
            <a:prstDash val="solid"/>
          </a:ln>
        </p:spPr>
      </p:sp>
      <p:sp>
        <p:nvSpPr>
          <p:cNvPr id="37" name="Text 34"/>
          <p:cNvSpPr/>
          <p:nvPr/>
        </p:nvSpPr>
        <p:spPr>
          <a:xfrm>
            <a:off x="676656" y="3557016"/>
            <a:ext cx="310896" cy="118872"/>
          </a:xfrm>
          <a:prstGeom prst="rect">
            <a:avLst/>
          </a:prstGeom>
          <a:noFill/>
          <a:ln/>
        </p:spPr>
        <p:txBody>
          <a:bodyPr wrap="square" lIns="0" tIns="0" rIns="0" bIns="0" rtlCol="0" anchor="ctr"/>
          <a:lstStyle/>
          <a:p>
            <a:pPr algn="ctr" indent="0" marL="0">
              <a:buNone/>
            </a:pPr>
            <a:r>
              <a:rPr lang="en-US" sz="900" b="1" dirty="0">
                <a:solidFill>
                  <a:srgbClr val="0B2D20"/>
                </a:solidFill>
              </a:rPr>
              <a:t>1</a:t>
            </a:r>
            <a:endParaRPr lang="en-US" sz="900" dirty="0"/>
          </a:p>
        </p:txBody>
      </p:sp>
      <p:sp>
        <p:nvSpPr>
          <p:cNvPr id="38" name="Text 35"/>
          <p:cNvSpPr/>
          <p:nvPr/>
        </p:nvSpPr>
        <p:spPr>
          <a:xfrm>
            <a:off x="493776" y="3986784"/>
            <a:ext cx="1554480" cy="219456"/>
          </a:xfrm>
          <a:prstGeom prst="rect">
            <a:avLst/>
          </a:prstGeom>
          <a:noFill/>
          <a:ln/>
        </p:spPr>
        <p:txBody>
          <a:bodyPr wrap="square" lIns="0" tIns="0" rIns="0" bIns="0" rtlCol="0" anchor="ctr"/>
          <a:lstStyle/>
          <a:p>
            <a:pPr algn="ctr" indent="0" marL="0">
              <a:buNone/>
            </a:pPr>
            <a:r>
              <a:rPr lang="en-US" sz="1100" b="1" dirty="0">
                <a:solidFill>
                  <a:srgbClr val="14251D"/>
                </a:solidFill>
                <a:latin typeface="Aptos" pitchFamily="34" charset="0"/>
                <a:ea typeface="Aptos" pitchFamily="34" charset="-122"/>
                <a:cs typeface="Aptos" pitchFamily="34" charset="-120"/>
              </a:rPr>
              <a:t>Search &amp; filters</a:t>
            </a:r>
            <a:endParaRPr lang="en-US" sz="1100" dirty="0"/>
          </a:p>
        </p:txBody>
      </p:sp>
      <p:sp>
        <p:nvSpPr>
          <p:cNvPr id="39" name="Text 36"/>
          <p:cNvSpPr/>
          <p:nvPr/>
        </p:nvSpPr>
        <p:spPr>
          <a:xfrm>
            <a:off x="493776" y="4270248"/>
            <a:ext cx="1554480" cy="182880"/>
          </a:xfrm>
          <a:prstGeom prst="rect">
            <a:avLst/>
          </a:prstGeom>
          <a:noFill/>
          <a:ln/>
        </p:spPr>
        <p:txBody>
          <a:bodyPr wrap="square" lIns="0" tIns="0" rIns="0" bIns="0" rtlCol="0" anchor="ctr"/>
          <a:lstStyle/>
          <a:p>
            <a:pPr algn="ctr" indent="0" marL="0">
              <a:buNone/>
            </a:pPr>
            <a:r>
              <a:rPr lang="en-US" sz="900" dirty="0">
                <a:solidFill>
                  <a:srgbClr val="65736B"/>
                </a:solidFill>
                <a:latin typeface="Aptos" pitchFamily="34" charset="0"/>
                <a:ea typeface="Aptos" pitchFamily="34" charset="-122"/>
                <a:cs typeface="Aptos" pitchFamily="34" charset="-120"/>
              </a:rPr>
              <a:t>SQL-side</a:t>
            </a:r>
            <a:endParaRPr lang="en-US" sz="900" dirty="0"/>
          </a:p>
        </p:txBody>
      </p:sp>
      <p:sp>
        <p:nvSpPr>
          <p:cNvPr id="40" name="Shape 37"/>
          <p:cNvSpPr/>
          <p:nvPr/>
        </p:nvSpPr>
        <p:spPr>
          <a:xfrm>
            <a:off x="2926080" y="3493008"/>
            <a:ext cx="347472" cy="347472"/>
          </a:xfrm>
          <a:prstGeom prst="ellipse">
            <a:avLst/>
          </a:prstGeom>
          <a:solidFill>
            <a:srgbClr val="C8A96A"/>
          </a:solidFill>
          <a:ln w="12700">
            <a:solidFill>
              <a:srgbClr val="FFFFFF"/>
            </a:solidFill>
            <a:prstDash val="solid"/>
          </a:ln>
        </p:spPr>
      </p:sp>
      <p:sp>
        <p:nvSpPr>
          <p:cNvPr id="41" name="Text 38"/>
          <p:cNvSpPr/>
          <p:nvPr/>
        </p:nvSpPr>
        <p:spPr>
          <a:xfrm>
            <a:off x="2944368" y="3557016"/>
            <a:ext cx="310896" cy="118872"/>
          </a:xfrm>
          <a:prstGeom prst="rect">
            <a:avLst/>
          </a:prstGeom>
          <a:noFill/>
          <a:ln/>
        </p:spPr>
        <p:txBody>
          <a:bodyPr wrap="square" lIns="0" tIns="0" rIns="0" bIns="0" rtlCol="0" anchor="ctr"/>
          <a:lstStyle/>
          <a:p>
            <a:pPr algn="ctr" indent="0" marL="0">
              <a:buNone/>
            </a:pPr>
            <a:r>
              <a:rPr lang="en-US" sz="900" b="1" dirty="0">
                <a:solidFill>
                  <a:srgbClr val="0B2D20"/>
                </a:solidFill>
              </a:rPr>
              <a:t>2</a:t>
            </a:r>
            <a:endParaRPr lang="en-US" sz="900" dirty="0"/>
          </a:p>
        </p:txBody>
      </p:sp>
      <p:sp>
        <p:nvSpPr>
          <p:cNvPr id="42" name="Text 39"/>
          <p:cNvSpPr/>
          <p:nvPr/>
        </p:nvSpPr>
        <p:spPr>
          <a:xfrm>
            <a:off x="2761488" y="3986784"/>
            <a:ext cx="1554480" cy="219456"/>
          </a:xfrm>
          <a:prstGeom prst="rect">
            <a:avLst/>
          </a:prstGeom>
          <a:noFill/>
          <a:ln/>
        </p:spPr>
        <p:txBody>
          <a:bodyPr wrap="square" lIns="0" tIns="0" rIns="0" bIns="0" rtlCol="0" anchor="ctr"/>
          <a:lstStyle/>
          <a:p>
            <a:pPr algn="ctr" indent="0" marL="0">
              <a:buNone/>
            </a:pPr>
            <a:r>
              <a:rPr lang="en-US" sz="1100" b="1" dirty="0">
                <a:solidFill>
                  <a:srgbClr val="14251D"/>
                </a:solidFill>
                <a:latin typeface="Aptos" pitchFamily="34" charset="0"/>
                <a:ea typeface="Aptos" pitchFamily="34" charset="-122"/>
                <a:cs typeface="Aptos" pitchFamily="34" charset="-120"/>
              </a:rPr>
              <a:t>Pagination</a:t>
            </a:r>
            <a:endParaRPr lang="en-US" sz="1100" dirty="0"/>
          </a:p>
        </p:txBody>
      </p:sp>
      <p:sp>
        <p:nvSpPr>
          <p:cNvPr id="43" name="Text 40"/>
          <p:cNvSpPr/>
          <p:nvPr/>
        </p:nvSpPr>
        <p:spPr>
          <a:xfrm>
            <a:off x="2761488" y="4270248"/>
            <a:ext cx="1554480" cy="182880"/>
          </a:xfrm>
          <a:prstGeom prst="rect">
            <a:avLst/>
          </a:prstGeom>
          <a:noFill/>
          <a:ln/>
        </p:spPr>
        <p:txBody>
          <a:bodyPr wrap="square" lIns="0" tIns="0" rIns="0" bIns="0" rtlCol="0" anchor="ctr"/>
          <a:lstStyle/>
          <a:p>
            <a:pPr algn="ctr" indent="0" marL="0">
              <a:buNone/>
            </a:pPr>
            <a:r>
              <a:rPr lang="en-US" sz="900" dirty="0">
                <a:solidFill>
                  <a:srgbClr val="65736B"/>
                </a:solidFill>
                <a:latin typeface="Aptos" pitchFamily="34" charset="0"/>
                <a:ea typeface="Aptos" pitchFamily="34" charset="-122"/>
                <a:cs typeface="Aptos" pitchFamily="34" charset="-120"/>
              </a:rPr>
              <a:t>One page/request</a:t>
            </a:r>
            <a:endParaRPr lang="en-US" sz="900" dirty="0"/>
          </a:p>
        </p:txBody>
      </p:sp>
      <p:sp>
        <p:nvSpPr>
          <p:cNvPr id="44" name="Shape 41"/>
          <p:cNvSpPr/>
          <p:nvPr/>
        </p:nvSpPr>
        <p:spPr>
          <a:xfrm>
            <a:off x="5193792" y="3493008"/>
            <a:ext cx="347472" cy="347472"/>
          </a:xfrm>
          <a:prstGeom prst="ellipse">
            <a:avLst/>
          </a:prstGeom>
          <a:solidFill>
            <a:srgbClr val="C8A96A"/>
          </a:solidFill>
          <a:ln w="12700">
            <a:solidFill>
              <a:srgbClr val="FFFFFF"/>
            </a:solidFill>
            <a:prstDash val="solid"/>
          </a:ln>
        </p:spPr>
      </p:sp>
      <p:sp>
        <p:nvSpPr>
          <p:cNvPr id="45" name="Text 42"/>
          <p:cNvSpPr/>
          <p:nvPr/>
        </p:nvSpPr>
        <p:spPr>
          <a:xfrm>
            <a:off x="5212080" y="3557016"/>
            <a:ext cx="310896" cy="118872"/>
          </a:xfrm>
          <a:prstGeom prst="rect">
            <a:avLst/>
          </a:prstGeom>
          <a:noFill/>
          <a:ln/>
        </p:spPr>
        <p:txBody>
          <a:bodyPr wrap="square" lIns="0" tIns="0" rIns="0" bIns="0" rtlCol="0" anchor="ctr"/>
          <a:lstStyle/>
          <a:p>
            <a:pPr algn="ctr" indent="0" marL="0">
              <a:buNone/>
            </a:pPr>
            <a:r>
              <a:rPr lang="en-US" sz="900" b="1" dirty="0">
                <a:solidFill>
                  <a:srgbClr val="0B2D20"/>
                </a:solidFill>
              </a:rPr>
              <a:t>3</a:t>
            </a:r>
            <a:endParaRPr lang="en-US" sz="900" dirty="0"/>
          </a:p>
        </p:txBody>
      </p:sp>
      <p:sp>
        <p:nvSpPr>
          <p:cNvPr id="46" name="Text 43"/>
          <p:cNvSpPr/>
          <p:nvPr/>
        </p:nvSpPr>
        <p:spPr>
          <a:xfrm>
            <a:off x="5029200" y="3986784"/>
            <a:ext cx="1554480" cy="219456"/>
          </a:xfrm>
          <a:prstGeom prst="rect">
            <a:avLst/>
          </a:prstGeom>
          <a:noFill/>
          <a:ln/>
        </p:spPr>
        <p:txBody>
          <a:bodyPr wrap="square" lIns="0" tIns="0" rIns="0" bIns="0" rtlCol="0" anchor="ctr"/>
          <a:lstStyle/>
          <a:p>
            <a:pPr algn="ctr" indent="0" marL="0">
              <a:buNone/>
            </a:pPr>
            <a:r>
              <a:rPr lang="en-US" sz="1100" b="1" dirty="0">
                <a:solidFill>
                  <a:srgbClr val="14251D"/>
                </a:solidFill>
                <a:latin typeface="Aptos" pitchFamily="34" charset="0"/>
                <a:ea typeface="Aptos" pitchFamily="34" charset="-122"/>
                <a:cs typeface="Aptos" pitchFamily="34" charset="-120"/>
              </a:rPr>
              <a:t>Comparisons</a:t>
            </a:r>
            <a:endParaRPr lang="en-US" sz="1100" dirty="0"/>
          </a:p>
        </p:txBody>
      </p:sp>
      <p:sp>
        <p:nvSpPr>
          <p:cNvPr id="47" name="Text 44"/>
          <p:cNvSpPr/>
          <p:nvPr/>
        </p:nvSpPr>
        <p:spPr>
          <a:xfrm>
            <a:off x="5029200" y="4270248"/>
            <a:ext cx="1554480" cy="182880"/>
          </a:xfrm>
          <a:prstGeom prst="rect">
            <a:avLst/>
          </a:prstGeom>
          <a:noFill/>
          <a:ln/>
        </p:spPr>
        <p:txBody>
          <a:bodyPr wrap="square" lIns="0" tIns="0" rIns="0" bIns="0" rtlCol="0" anchor="ctr"/>
          <a:lstStyle/>
          <a:p>
            <a:pPr algn="ctr" indent="0" marL="0">
              <a:buNone/>
            </a:pPr>
            <a:r>
              <a:rPr lang="en-US" sz="900" dirty="0">
                <a:solidFill>
                  <a:srgbClr val="65736B"/>
                </a:solidFill>
                <a:latin typeface="Aptos" pitchFamily="34" charset="0"/>
                <a:ea typeface="Aptos" pitchFamily="34" charset="-122"/>
                <a:cs typeface="Aptos" pitchFamily="34" charset="-120"/>
              </a:rPr>
              <a:t>Aggregated profiles</a:t>
            </a:r>
            <a:endParaRPr lang="en-US" sz="900" dirty="0"/>
          </a:p>
        </p:txBody>
      </p:sp>
      <p:sp>
        <p:nvSpPr>
          <p:cNvPr id="48" name="Shape 45"/>
          <p:cNvSpPr/>
          <p:nvPr/>
        </p:nvSpPr>
        <p:spPr>
          <a:xfrm>
            <a:off x="7461504" y="3493008"/>
            <a:ext cx="347472" cy="347472"/>
          </a:xfrm>
          <a:prstGeom prst="ellipse">
            <a:avLst/>
          </a:prstGeom>
          <a:solidFill>
            <a:srgbClr val="C8A96A"/>
          </a:solidFill>
          <a:ln w="12700">
            <a:solidFill>
              <a:srgbClr val="FFFFFF"/>
            </a:solidFill>
            <a:prstDash val="solid"/>
          </a:ln>
        </p:spPr>
      </p:sp>
      <p:sp>
        <p:nvSpPr>
          <p:cNvPr id="49" name="Text 46"/>
          <p:cNvSpPr/>
          <p:nvPr/>
        </p:nvSpPr>
        <p:spPr>
          <a:xfrm>
            <a:off x="7479792" y="3557016"/>
            <a:ext cx="310896" cy="118872"/>
          </a:xfrm>
          <a:prstGeom prst="rect">
            <a:avLst/>
          </a:prstGeom>
          <a:noFill/>
          <a:ln/>
        </p:spPr>
        <p:txBody>
          <a:bodyPr wrap="square" lIns="0" tIns="0" rIns="0" bIns="0" rtlCol="0" anchor="ctr"/>
          <a:lstStyle/>
          <a:p>
            <a:pPr algn="ctr" indent="0" marL="0">
              <a:buNone/>
            </a:pPr>
            <a:r>
              <a:rPr lang="en-US" sz="900" b="1" dirty="0">
                <a:solidFill>
                  <a:srgbClr val="0B2D20"/>
                </a:solidFill>
              </a:rPr>
              <a:t>4</a:t>
            </a:r>
            <a:endParaRPr lang="en-US" sz="900" dirty="0"/>
          </a:p>
        </p:txBody>
      </p:sp>
      <p:sp>
        <p:nvSpPr>
          <p:cNvPr id="50" name="Text 47"/>
          <p:cNvSpPr/>
          <p:nvPr/>
        </p:nvSpPr>
        <p:spPr>
          <a:xfrm>
            <a:off x="7296912" y="3986784"/>
            <a:ext cx="1554480" cy="219456"/>
          </a:xfrm>
          <a:prstGeom prst="rect">
            <a:avLst/>
          </a:prstGeom>
          <a:noFill/>
          <a:ln/>
        </p:spPr>
        <p:txBody>
          <a:bodyPr wrap="square" lIns="0" tIns="0" rIns="0" bIns="0" rtlCol="0" anchor="ctr"/>
          <a:lstStyle/>
          <a:p>
            <a:pPr algn="ctr" indent="0" marL="0">
              <a:buNone/>
            </a:pPr>
            <a:r>
              <a:rPr lang="en-US" sz="1100" b="1" dirty="0">
                <a:solidFill>
                  <a:srgbClr val="14251D"/>
                </a:solidFill>
                <a:latin typeface="Aptos" pitchFamily="34" charset="0"/>
                <a:ea typeface="Aptos" pitchFamily="34" charset="-122"/>
                <a:cs typeface="Aptos" pitchFamily="34" charset="-120"/>
              </a:rPr>
              <a:t>Statistics</a:t>
            </a:r>
            <a:endParaRPr lang="en-US" sz="1100" dirty="0"/>
          </a:p>
        </p:txBody>
      </p:sp>
      <p:sp>
        <p:nvSpPr>
          <p:cNvPr id="51" name="Text 48"/>
          <p:cNvSpPr/>
          <p:nvPr/>
        </p:nvSpPr>
        <p:spPr>
          <a:xfrm>
            <a:off x="7296912" y="4270248"/>
            <a:ext cx="1554480" cy="182880"/>
          </a:xfrm>
          <a:prstGeom prst="rect">
            <a:avLst/>
          </a:prstGeom>
          <a:noFill/>
          <a:ln/>
        </p:spPr>
        <p:txBody>
          <a:bodyPr wrap="square" lIns="0" tIns="0" rIns="0" bIns="0" rtlCol="0" anchor="ctr"/>
          <a:lstStyle/>
          <a:p>
            <a:pPr algn="ctr" indent="0" marL="0">
              <a:buNone/>
            </a:pPr>
            <a:r>
              <a:rPr lang="en-US" sz="900" dirty="0">
                <a:solidFill>
                  <a:srgbClr val="65736B"/>
                </a:solidFill>
                <a:latin typeface="Aptos" pitchFamily="34" charset="0"/>
                <a:ea typeface="Aptos" pitchFamily="34" charset="-122"/>
                <a:cs typeface="Aptos" pitchFamily="34" charset="-120"/>
              </a:rPr>
              <a:t>Dynamic scope</a:t>
            </a:r>
            <a:endParaRPr lang="en-US" sz="900" dirty="0"/>
          </a:p>
        </p:txBody>
      </p:sp>
      <p:sp>
        <p:nvSpPr>
          <p:cNvPr id="52" name="Shape 49"/>
          <p:cNvSpPr/>
          <p:nvPr/>
        </p:nvSpPr>
        <p:spPr>
          <a:xfrm>
            <a:off x="9729216" y="3493008"/>
            <a:ext cx="347472" cy="347472"/>
          </a:xfrm>
          <a:prstGeom prst="ellipse">
            <a:avLst/>
          </a:prstGeom>
          <a:solidFill>
            <a:srgbClr val="C8A96A"/>
          </a:solidFill>
          <a:ln w="12700">
            <a:solidFill>
              <a:srgbClr val="FFFFFF"/>
            </a:solidFill>
            <a:prstDash val="solid"/>
          </a:ln>
        </p:spPr>
      </p:sp>
      <p:sp>
        <p:nvSpPr>
          <p:cNvPr id="53" name="Text 50"/>
          <p:cNvSpPr/>
          <p:nvPr/>
        </p:nvSpPr>
        <p:spPr>
          <a:xfrm>
            <a:off x="9747504" y="3557016"/>
            <a:ext cx="310896" cy="118872"/>
          </a:xfrm>
          <a:prstGeom prst="rect">
            <a:avLst/>
          </a:prstGeom>
          <a:noFill/>
          <a:ln/>
        </p:spPr>
        <p:txBody>
          <a:bodyPr wrap="square" lIns="0" tIns="0" rIns="0" bIns="0" rtlCol="0" anchor="ctr"/>
          <a:lstStyle/>
          <a:p>
            <a:pPr algn="ctr" indent="0" marL="0">
              <a:buNone/>
            </a:pPr>
            <a:r>
              <a:rPr lang="en-US" sz="900" b="1" dirty="0">
                <a:solidFill>
                  <a:srgbClr val="0B2D20"/>
                </a:solidFill>
              </a:rPr>
              <a:t>5</a:t>
            </a:r>
            <a:endParaRPr lang="en-US" sz="900" dirty="0"/>
          </a:p>
        </p:txBody>
      </p:sp>
      <p:sp>
        <p:nvSpPr>
          <p:cNvPr id="54" name="Text 51"/>
          <p:cNvSpPr/>
          <p:nvPr/>
        </p:nvSpPr>
        <p:spPr>
          <a:xfrm>
            <a:off x="9564624" y="3986784"/>
            <a:ext cx="1554480" cy="219456"/>
          </a:xfrm>
          <a:prstGeom prst="rect">
            <a:avLst/>
          </a:prstGeom>
          <a:noFill/>
          <a:ln/>
        </p:spPr>
        <p:txBody>
          <a:bodyPr wrap="square" lIns="0" tIns="0" rIns="0" bIns="0" rtlCol="0" anchor="ctr"/>
          <a:lstStyle/>
          <a:p>
            <a:pPr algn="ctr" indent="0" marL="0">
              <a:buNone/>
            </a:pPr>
            <a:r>
              <a:rPr lang="en-US" sz="1100" b="1" dirty="0">
                <a:solidFill>
                  <a:srgbClr val="14251D"/>
                </a:solidFill>
                <a:latin typeface="Aptos" pitchFamily="34" charset="0"/>
                <a:ea typeface="Aptos" pitchFamily="34" charset="-122"/>
                <a:cs typeface="Aptos" pitchFamily="34" charset="-120"/>
              </a:rPr>
              <a:t>Analysis</a:t>
            </a:r>
            <a:endParaRPr lang="en-US" sz="1100" dirty="0"/>
          </a:p>
        </p:txBody>
      </p:sp>
      <p:sp>
        <p:nvSpPr>
          <p:cNvPr id="55" name="Text 52"/>
          <p:cNvSpPr/>
          <p:nvPr/>
        </p:nvSpPr>
        <p:spPr>
          <a:xfrm>
            <a:off x="9564624" y="4270248"/>
            <a:ext cx="1554480" cy="182880"/>
          </a:xfrm>
          <a:prstGeom prst="rect">
            <a:avLst/>
          </a:prstGeom>
          <a:noFill/>
          <a:ln/>
        </p:spPr>
        <p:txBody>
          <a:bodyPr wrap="square" lIns="0" tIns="0" rIns="0" bIns="0" rtlCol="0" anchor="ctr"/>
          <a:lstStyle/>
          <a:p>
            <a:pPr algn="ctr" indent="0" marL="0">
              <a:buNone/>
            </a:pPr>
            <a:r>
              <a:rPr lang="en-US" sz="900" dirty="0">
                <a:solidFill>
                  <a:srgbClr val="65736B"/>
                </a:solidFill>
                <a:latin typeface="Aptos" pitchFamily="34" charset="0"/>
                <a:ea typeface="Aptos" pitchFamily="34" charset="-122"/>
                <a:cs typeface="Aptos" pitchFamily="34" charset="-120"/>
              </a:rPr>
              <a:t>Inferential output</a:t>
            </a:r>
            <a:endParaRPr lang="en-US" sz="900" dirty="0"/>
          </a:p>
        </p:txBody>
      </p:sp>
      <p:sp>
        <p:nvSpPr>
          <p:cNvPr id="56" name="Shape 53"/>
          <p:cNvSpPr/>
          <p:nvPr/>
        </p:nvSpPr>
        <p:spPr>
          <a:xfrm>
            <a:off x="548640" y="5166360"/>
            <a:ext cx="2130552"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57" name="Shape 54"/>
          <p:cNvSpPr/>
          <p:nvPr/>
        </p:nvSpPr>
        <p:spPr>
          <a:xfrm>
            <a:off x="548640" y="5166360"/>
            <a:ext cx="54864" cy="777240"/>
          </a:xfrm>
          <a:prstGeom prst="rect">
            <a:avLst/>
          </a:prstGeom>
          <a:solidFill>
            <a:srgbClr val="123524"/>
          </a:solidFill>
          <a:ln w="12700">
            <a:solidFill>
              <a:srgbClr val="123524"/>
            </a:solidFill>
            <a:prstDash val="solid"/>
          </a:ln>
        </p:spPr>
      </p:sp>
      <p:sp>
        <p:nvSpPr>
          <p:cNvPr id="58" name="Text 55"/>
          <p:cNvSpPr/>
          <p:nvPr/>
        </p:nvSpPr>
        <p:spPr>
          <a:xfrm>
            <a:off x="713232" y="5285232"/>
            <a:ext cx="1856232"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DATASET ROWS</a:t>
            </a:r>
            <a:endParaRPr lang="en-US" sz="780" dirty="0"/>
          </a:p>
        </p:txBody>
      </p:sp>
      <p:sp>
        <p:nvSpPr>
          <p:cNvPr id="59" name="Text 56"/>
          <p:cNvSpPr/>
          <p:nvPr/>
        </p:nvSpPr>
        <p:spPr>
          <a:xfrm>
            <a:off x="713232" y="5486400"/>
            <a:ext cx="1856232"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1,557</a:t>
            </a:r>
            <a:endParaRPr lang="en-US" sz="1800" dirty="0"/>
          </a:p>
        </p:txBody>
      </p:sp>
      <p:sp>
        <p:nvSpPr>
          <p:cNvPr id="60" name="Shape 57"/>
          <p:cNvSpPr/>
          <p:nvPr/>
        </p:nvSpPr>
        <p:spPr>
          <a:xfrm>
            <a:off x="2788920" y="5166360"/>
            <a:ext cx="2130552"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61" name="Shape 58"/>
          <p:cNvSpPr/>
          <p:nvPr/>
        </p:nvSpPr>
        <p:spPr>
          <a:xfrm>
            <a:off x="2788920" y="5166360"/>
            <a:ext cx="54864" cy="777240"/>
          </a:xfrm>
          <a:prstGeom prst="rect">
            <a:avLst/>
          </a:prstGeom>
          <a:solidFill>
            <a:srgbClr val="123524"/>
          </a:solidFill>
          <a:ln w="12700">
            <a:solidFill>
              <a:srgbClr val="123524"/>
            </a:solidFill>
            <a:prstDash val="solid"/>
          </a:ln>
        </p:spPr>
      </p:sp>
      <p:sp>
        <p:nvSpPr>
          <p:cNvPr id="62" name="Text 59"/>
          <p:cNvSpPr/>
          <p:nvPr/>
        </p:nvSpPr>
        <p:spPr>
          <a:xfrm>
            <a:off x="2953512" y="5285232"/>
            <a:ext cx="1856232"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COUNTRIES</a:t>
            </a:r>
            <a:endParaRPr lang="en-US" sz="780" dirty="0"/>
          </a:p>
        </p:txBody>
      </p:sp>
      <p:sp>
        <p:nvSpPr>
          <p:cNvPr id="63" name="Text 60"/>
          <p:cNvSpPr/>
          <p:nvPr/>
        </p:nvSpPr>
        <p:spPr>
          <a:xfrm>
            <a:off x="2953512" y="5486400"/>
            <a:ext cx="1856232"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130</a:t>
            </a:r>
            <a:endParaRPr lang="en-US" sz="1800" dirty="0"/>
          </a:p>
        </p:txBody>
      </p:sp>
      <p:sp>
        <p:nvSpPr>
          <p:cNvPr id="64" name="Shape 61"/>
          <p:cNvSpPr/>
          <p:nvPr/>
        </p:nvSpPr>
        <p:spPr>
          <a:xfrm>
            <a:off x="5029200" y="5166360"/>
            <a:ext cx="2130552"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65" name="Shape 62"/>
          <p:cNvSpPr/>
          <p:nvPr/>
        </p:nvSpPr>
        <p:spPr>
          <a:xfrm>
            <a:off x="5029200" y="5166360"/>
            <a:ext cx="54864" cy="777240"/>
          </a:xfrm>
          <a:prstGeom prst="rect">
            <a:avLst/>
          </a:prstGeom>
          <a:solidFill>
            <a:srgbClr val="123524"/>
          </a:solidFill>
          <a:ln w="12700">
            <a:solidFill>
              <a:srgbClr val="123524"/>
            </a:solidFill>
            <a:prstDash val="solid"/>
          </a:ln>
        </p:spPr>
      </p:sp>
      <p:sp>
        <p:nvSpPr>
          <p:cNvPr id="66" name="Text 63"/>
          <p:cNvSpPr/>
          <p:nvPr/>
        </p:nvSpPr>
        <p:spPr>
          <a:xfrm>
            <a:off x="5193792" y="5285232"/>
            <a:ext cx="1856232"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CONTINENTS</a:t>
            </a:r>
            <a:endParaRPr lang="en-US" sz="780" dirty="0"/>
          </a:p>
        </p:txBody>
      </p:sp>
      <p:sp>
        <p:nvSpPr>
          <p:cNvPr id="67" name="Text 64"/>
          <p:cNvSpPr/>
          <p:nvPr/>
        </p:nvSpPr>
        <p:spPr>
          <a:xfrm>
            <a:off x="5193792" y="5486400"/>
            <a:ext cx="1856232"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5</a:t>
            </a:r>
            <a:endParaRPr lang="en-US" sz="1800" dirty="0"/>
          </a:p>
        </p:txBody>
      </p:sp>
      <p:sp>
        <p:nvSpPr>
          <p:cNvPr id="68" name="Shape 65"/>
          <p:cNvSpPr/>
          <p:nvPr/>
        </p:nvSpPr>
        <p:spPr>
          <a:xfrm>
            <a:off x="7269480" y="5166360"/>
            <a:ext cx="2130552"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69" name="Shape 66"/>
          <p:cNvSpPr/>
          <p:nvPr/>
        </p:nvSpPr>
        <p:spPr>
          <a:xfrm>
            <a:off x="7269480" y="5166360"/>
            <a:ext cx="54864" cy="777240"/>
          </a:xfrm>
          <a:prstGeom prst="rect">
            <a:avLst/>
          </a:prstGeom>
          <a:solidFill>
            <a:srgbClr val="123524"/>
          </a:solidFill>
          <a:ln w="12700">
            <a:solidFill>
              <a:srgbClr val="123524"/>
            </a:solidFill>
            <a:prstDash val="solid"/>
          </a:ln>
        </p:spPr>
      </p:sp>
      <p:sp>
        <p:nvSpPr>
          <p:cNvPr id="70" name="Text 67"/>
          <p:cNvSpPr/>
          <p:nvPr/>
        </p:nvSpPr>
        <p:spPr>
          <a:xfrm>
            <a:off x="7434072" y="5285232"/>
            <a:ext cx="1856232"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REGIONS</a:t>
            </a:r>
            <a:endParaRPr lang="en-US" sz="780" dirty="0"/>
          </a:p>
        </p:txBody>
      </p:sp>
      <p:sp>
        <p:nvSpPr>
          <p:cNvPr id="71" name="Text 68"/>
          <p:cNvSpPr/>
          <p:nvPr/>
        </p:nvSpPr>
        <p:spPr>
          <a:xfrm>
            <a:off x="7434072" y="5486400"/>
            <a:ext cx="1856232"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7</a:t>
            </a:r>
            <a:endParaRPr lang="en-US" sz="1800" dirty="0"/>
          </a:p>
        </p:txBody>
      </p:sp>
      <p:sp>
        <p:nvSpPr>
          <p:cNvPr id="72" name="Shape 69"/>
          <p:cNvSpPr/>
          <p:nvPr/>
        </p:nvSpPr>
        <p:spPr>
          <a:xfrm>
            <a:off x="9509760" y="5166360"/>
            <a:ext cx="2130552"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73" name="Shape 70"/>
          <p:cNvSpPr/>
          <p:nvPr/>
        </p:nvSpPr>
        <p:spPr>
          <a:xfrm>
            <a:off x="9509760" y="5166360"/>
            <a:ext cx="54864" cy="777240"/>
          </a:xfrm>
          <a:prstGeom prst="rect">
            <a:avLst/>
          </a:prstGeom>
          <a:solidFill>
            <a:srgbClr val="123524"/>
          </a:solidFill>
          <a:ln w="12700">
            <a:solidFill>
              <a:srgbClr val="123524"/>
            </a:solidFill>
            <a:prstDash val="solid"/>
          </a:ln>
        </p:spPr>
      </p:sp>
      <p:sp>
        <p:nvSpPr>
          <p:cNvPr id="74" name="Text 71"/>
          <p:cNvSpPr/>
          <p:nvPr/>
        </p:nvSpPr>
        <p:spPr>
          <a:xfrm>
            <a:off x="9674352" y="5285232"/>
            <a:ext cx="1856232"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WITH TPI</a:t>
            </a:r>
            <a:endParaRPr lang="en-US" sz="780" dirty="0"/>
          </a:p>
        </p:txBody>
      </p:sp>
      <p:sp>
        <p:nvSpPr>
          <p:cNvPr id="75" name="Text 72"/>
          <p:cNvSpPr/>
          <p:nvPr/>
        </p:nvSpPr>
        <p:spPr>
          <a:xfrm>
            <a:off x="9674352" y="5486400"/>
            <a:ext cx="1856232"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1,351</a:t>
            </a:r>
            <a:endParaRPr lang="en-US" sz="1800" dirty="0"/>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4.3 • HOME PAGE</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The home dashboard communicates scope immediately</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Live counters, navigation, distribution map, and recently added groups.</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sp>
        <p:nvSpPr>
          <p:cNvPr id="8" name="Shape 5"/>
          <p:cNvSpPr/>
          <p:nvPr/>
        </p:nvSpPr>
        <p:spPr>
          <a:xfrm>
            <a:off x="530352" y="1536192"/>
            <a:ext cx="11119104" cy="4443984"/>
          </a:xfrm>
          <a:prstGeom prst="roundRect">
            <a:avLst>
              <a:gd name="adj" fmla="val 2058"/>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pic>
        <p:nvPicPr>
          <p:cNvPr id="9" name="Image 0" descr="C:\Users\mossa\OneDrive\Documents\مشروع التخرج\docs\chapter4-screenshots\02-home-overview.png">    </p:cNvPr>
          <p:cNvPicPr>
            <a:picLocks noChangeAspect="1"/>
          </p:cNvPicPr>
          <p:nvPr/>
        </p:nvPicPr>
        <p:blipFill>
          <a:blip r:embed="rId1"/>
          <a:stretch>
            <a:fillRect/>
          </a:stretch>
        </p:blipFill>
        <p:spPr>
          <a:xfrm>
            <a:off x="2944229" y="1572768"/>
            <a:ext cx="6291349" cy="4370832"/>
          </a:xfrm>
          <a:prstGeom prst="rect">
            <a:avLst/>
          </a:prstGeom>
        </p:spPr>
      </p:pic>
      <p:sp>
        <p:nvSpPr>
          <p:cNvPr id="10" name="Text 6"/>
          <p:cNvSpPr/>
          <p:nvPr/>
        </p:nvSpPr>
        <p:spPr>
          <a:xfrm>
            <a:off x="566928" y="5998464"/>
            <a:ext cx="11045952" cy="219456"/>
          </a:xfrm>
          <a:prstGeom prst="rect">
            <a:avLst/>
          </a:prstGeom>
          <a:noFill/>
          <a:ln/>
        </p:spPr>
        <p:txBody>
          <a:bodyPr wrap="square" lIns="0" tIns="0" rIns="0" bIns="0" rtlCol="0" anchor="ctr">
            <a:normAutofit/>
          </a:bodyPr>
          <a:lstStyle/>
          <a:p>
            <a:pPr algn="ctr" indent="0" marL="0">
              <a:buNone/>
            </a:pPr>
            <a:r>
              <a:rPr lang="en-US" sz="900" i="1" dirty="0">
                <a:solidFill>
                  <a:srgbClr val="65736B"/>
                </a:solidFill>
                <a:latin typeface="Aptos" pitchFamily="34" charset="0"/>
                <a:ea typeface="Aptos" pitchFamily="34" charset="-122"/>
                <a:cs typeface="Aptos" pitchFamily="34" charset="-120"/>
              </a:rPr>
              <a:t>Figure 4.1: Home Page of the Traditional Governance Platform</a:t>
            </a:r>
            <a:endParaRPr lang="en-US" sz="900" dirty="0"/>
          </a:p>
        </p:txBody>
      </p:sp>
      <p:sp>
        <p:nvSpPr>
          <p:cNvPr id="11" name="Shape 7"/>
          <p:cNvSpPr/>
          <p:nvPr/>
        </p:nvSpPr>
        <p:spPr>
          <a:xfrm>
            <a:off x="914400" y="1828800"/>
            <a:ext cx="310896" cy="310896"/>
          </a:xfrm>
          <a:prstGeom prst="ellipse">
            <a:avLst/>
          </a:prstGeom>
          <a:solidFill>
            <a:srgbClr val="C8A96A"/>
          </a:solidFill>
          <a:ln w="15240">
            <a:solidFill>
              <a:srgbClr val="FFFFFF"/>
            </a:solidFill>
            <a:prstDash val="solid"/>
          </a:ln>
        </p:spPr>
      </p:sp>
      <p:sp>
        <p:nvSpPr>
          <p:cNvPr id="12" name="Text 8"/>
          <p:cNvSpPr/>
          <p:nvPr/>
        </p:nvSpPr>
        <p:spPr>
          <a:xfrm>
            <a:off x="923544" y="1856232"/>
            <a:ext cx="292608" cy="155448"/>
          </a:xfrm>
          <a:prstGeom prst="rect">
            <a:avLst/>
          </a:prstGeom>
          <a:noFill/>
          <a:ln/>
        </p:spPr>
        <p:txBody>
          <a:bodyPr wrap="square" lIns="0" tIns="0" rIns="0" bIns="0" rtlCol="0" anchor="ctr"/>
          <a:lstStyle/>
          <a:p>
            <a:pPr algn="ctr" indent="0" marL="0">
              <a:buNone/>
            </a:pPr>
            <a:r>
              <a:rPr lang="en-US" sz="1000" b="1" dirty="0">
                <a:solidFill>
                  <a:srgbClr val="0B2D20"/>
                </a:solidFill>
                <a:latin typeface="Aptos" pitchFamily="34" charset="0"/>
                <a:ea typeface="Aptos" pitchFamily="34" charset="-122"/>
                <a:cs typeface="Aptos" pitchFamily="34" charset="-120"/>
              </a:rPr>
              <a:t>1</a:t>
            </a:r>
            <a:endParaRPr lang="en-US" sz="1000" dirty="0"/>
          </a:p>
        </p:txBody>
      </p:sp>
      <p:sp>
        <p:nvSpPr>
          <p:cNvPr id="13" name="Shape 9"/>
          <p:cNvSpPr/>
          <p:nvPr/>
        </p:nvSpPr>
        <p:spPr>
          <a:xfrm>
            <a:off x="1069848" y="2139696"/>
            <a:ext cx="-475488" cy="-877824"/>
          </a:xfrm>
          <a:prstGeom prst="line">
            <a:avLst/>
          </a:prstGeom>
          <a:noFill/>
          <a:ln w="12700">
            <a:solidFill>
              <a:srgbClr val="C8A96A"/>
            </a:solidFill>
            <a:prstDash val="solid"/>
          </a:ln>
        </p:spPr>
      </p:sp>
      <p:sp>
        <p:nvSpPr>
          <p:cNvPr id="14" name="Text 10"/>
          <p:cNvSpPr/>
          <p:nvPr/>
        </p:nvSpPr>
        <p:spPr>
          <a:xfrm>
            <a:off x="594360" y="1261872"/>
            <a:ext cx="2011680" cy="320040"/>
          </a:xfrm>
          <a:prstGeom prst="rect">
            <a:avLst/>
          </a:prstGeom>
          <a:noFill/>
          <a:ln/>
        </p:spPr>
        <p:txBody>
          <a:bodyPr wrap="square" lIns="0" tIns="0" rIns="0" bIns="0" rtlCol="0" anchor="ctr">
            <a:normAutofit/>
          </a:bodyPr>
          <a:lstStyle/>
          <a:p>
            <a:pPr indent="0" marL="0">
              <a:buNone/>
            </a:pPr>
            <a:r>
              <a:rPr lang="en-US" sz="950" b="1" dirty="0">
                <a:solidFill>
                  <a:srgbClr val="14251D"/>
                </a:solidFill>
                <a:latin typeface="Aptos" pitchFamily="34" charset="0"/>
                <a:ea typeface="Aptos" pitchFamily="34" charset="-122"/>
                <a:cs typeface="Aptos" pitchFamily="34" charset="-120"/>
              </a:rPr>
              <a:t>Primary project purpose</a:t>
            </a:r>
            <a:endParaRPr lang="en-US" sz="950" dirty="0"/>
          </a:p>
        </p:txBody>
      </p:sp>
      <p:sp>
        <p:nvSpPr>
          <p:cNvPr id="15" name="Shape 11"/>
          <p:cNvSpPr/>
          <p:nvPr/>
        </p:nvSpPr>
        <p:spPr>
          <a:xfrm>
            <a:off x="5486400" y="4315968"/>
            <a:ext cx="310896" cy="310896"/>
          </a:xfrm>
          <a:prstGeom prst="ellipse">
            <a:avLst/>
          </a:prstGeom>
          <a:solidFill>
            <a:srgbClr val="C8A96A"/>
          </a:solidFill>
          <a:ln w="15240">
            <a:solidFill>
              <a:srgbClr val="FFFFFF"/>
            </a:solidFill>
            <a:prstDash val="solid"/>
          </a:ln>
        </p:spPr>
      </p:sp>
      <p:sp>
        <p:nvSpPr>
          <p:cNvPr id="16" name="Text 12"/>
          <p:cNvSpPr/>
          <p:nvPr/>
        </p:nvSpPr>
        <p:spPr>
          <a:xfrm>
            <a:off x="5495544" y="4343400"/>
            <a:ext cx="292608" cy="155448"/>
          </a:xfrm>
          <a:prstGeom prst="rect">
            <a:avLst/>
          </a:prstGeom>
          <a:noFill/>
          <a:ln/>
        </p:spPr>
        <p:txBody>
          <a:bodyPr wrap="square" lIns="0" tIns="0" rIns="0" bIns="0" rtlCol="0" anchor="ctr"/>
          <a:lstStyle/>
          <a:p>
            <a:pPr algn="ctr" indent="0" marL="0">
              <a:buNone/>
            </a:pPr>
            <a:r>
              <a:rPr lang="en-US" sz="1000" b="1" dirty="0">
                <a:solidFill>
                  <a:srgbClr val="0B2D20"/>
                </a:solidFill>
                <a:latin typeface="Aptos" pitchFamily="34" charset="0"/>
                <a:ea typeface="Aptos" pitchFamily="34" charset="-122"/>
                <a:cs typeface="Aptos" pitchFamily="34" charset="-120"/>
              </a:rPr>
              <a:t>2</a:t>
            </a:r>
            <a:endParaRPr lang="en-US" sz="1000" dirty="0"/>
          </a:p>
        </p:txBody>
      </p:sp>
      <p:sp>
        <p:nvSpPr>
          <p:cNvPr id="17" name="Shape 13"/>
          <p:cNvSpPr/>
          <p:nvPr/>
        </p:nvSpPr>
        <p:spPr>
          <a:xfrm>
            <a:off x="5641848" y="4626864"/>
            <a:ext cx="-1069848" cy="1426464"/>
          </a:xfrm>
          <a:prstGeom prst="line">
            <a:avLst/>
          </a:prstGeom>
          <a:noFill/>
          <a:ln w="12700">
            <a:solidFill>
              <a:srgbClr val="C8A96A"/>
            </a:solidFill>
            <a:prstDash val="solid"/>
          </a:ln>
        </p:spPr>
      </p:sp>
      <p:sp>
        <p:nvSpPr>
          <p:cNvPr id="18" name="Text 14"/>
          <p:cNvSpPr/>
          <p:nvPr/>
        </p:nvSpPr>
        <p:spPr>
          <a:xfrm>
            <a:off x="4572000" y="6053328"/>
            <a:ext cx="1920240" cy="320040"/>
          </a:xfrm>
          <a:prstGeom prst="rect">
            <a:avLst/>
          </a:prstGeom>
          <a:noFill/>
          <a:ln/>
        </p:spPr>
        <p:txBody>
          <a:bodyPr wrap="square" lIns="0" tIns="0" rIns="0" bIns="0" rtlCol="0" anchor="ctr">
            <a:normAutofit/>
          </a:bodyPr>
          <a:lstStyle/>
          <a:p>
            <a:pPr indent="0" marL="0">
              <a:buNone/>
            </a:pPr>
            <a:r>
              <a:rPr lang="en-US" sz="950" b="1" dirty="0">
                <a:solidFill>
                  <a:srgbClr val="14251D"/>
                </a:solidFill>
                <a:latin typeface="Aptos" pitchFamily="34" charset="0"/>
                <a:ea typeface="Aptos" pitchFamily="34" charset="-122"/>
                <a:cs typeface="Aptos" pitchFamily="34" charset="-120"/>
              </a:rPr>
              <a:t>Live summary metrics</a:t>
            </a:r>
            <a:endParaRPr lang="en-US" sz="950" dirty="0"/>
          </a:p>
        </p:txBody>
      </p:sp>
      <p:sp>
        <p:nvSpPr>
          <p:cNvPr id="19" name="Shape 15"/>
          <p:cNvSpPr/>
          <p:nvPr/>
        </p:nvSpPr>
        <p:spPr>
          <a:xfrm>
            <a:off x="10332720" y="1783080"/>
            <a:ext cx="310896" cy="310896"/>
          </a:xfrm>
          <a:prstGeom prst="ellipse">
            <a:avLst/>
          </a:prstGeom>
          <a:solidFill>
            <a:srgbClr val="C8A96A"/>
          </a:solidFill>
          <a:ln w="15240">
            <a:solidFill>
              <a:srgbClr val="FFFFFF"/>
            </a:solidFill>
            <a:prstDash val="solid"/>
          </a:ln>
        </p:spPr>
      </p:sp>
      <p:sp>
        <p:nvSpPr>
          <p:cNvPr id="20" name="Text 16"/>
          <p:cNvSpPr/>
          <p:nvPr/>
        </p:nvSpPr>
        <p:spPr>
          <a:xfrm>
            <a:off x="10341864" y="1810512"/>
            <a:ext cx="292608" cy="155448"/>
          </a:xfrm>
          <a:prstGeom prst="rect">
            <a:avLst/>
          </a:prstGeom>
          <a:noFill/>
          <a:ln/>
        </p:spPr>
        <p:txBody>
          <a:bodyPr wrap="square" lIns="0" tIns="0" rIns="0" bIns="0" rtlCol="0" anchor="ctr"/>
          <a:lstStyle/>
          <a:p>
            <a:pPr algn="ctr" indent="0" marL="0">
              <a:buNone/>
            </a:pPr>
            <a:r>
              <a:rPr lang="en-US" sz="1000" b="1" dirty="0">
                <a:solidFill>
                  <a:srgbClr val="0B2D20"/>
                </a:solidFill>
                <a:latin typeface="Aptos" pitchFamily="34" charset="0"/>
                <a:ea typeface="Aptos" pitchFamily="34" charset="-122"/>
                <a:cs typeface="Aptos" pitchFamily="34" charset="-120"/>
              </a:rPr>
              <a:t>3</a:t>
            </a:r>
            <a:endParaRPr lang="en-US" sz="1000" dirty="0"/>
          </a:p>
        </p:txBody>
      </p:sp>
      <p:sp>
        <p:nvSpPr>
          <p:cNvPr id="21" name="Shape 17"/>
          <p:cNvSpPr/>
          <p:nvPr/>
        </p:nvSpPr>
        <p:spPr>
          <a:xfrm>
            <a:off x="10488168" y="2093976"/>
            <a:ext cx="-932688" cy="-841248"/>
          </a:xfrm>
          <a:prstGeom prst="line">
            <a:avLst/>
          </a:prstGeom>
          <a:noFill/>
          <a:ln w="12700">
            <a:solidFill>
              <a:srgbClr val="C8A96A"/>
            </a:solidFill>
            <a:prstDash val="solid"/>
          </a:ln>
        </p:spPr>
      </p:sp>
      <p:sp>
        <p:nvSpPr>
          <p:cNvPr id="22" name="Text 18"/>
          <p:cNvSpPr/>
          <p:nvPr/>
        </p:nvSpPr>
        <p:spPr>
          <a:xfrm>
            <a:off x="9555480" y="1252728"/>
            <a:ext cx="1828800" cy="320040"/>
          </a:xfrm>
          <a:prstGeom prst="rect">
            <a:avLst/>
          </a:prstGeom>
          <a:noFill/>
          <a:ln/>
        </p:spPr>
        <p:txBody>
          <a:bodyPr wrap="square" lIns="0" tIns="0" rIns="0" bIns="0" rtlCol="0" anchor="ctr">
            <a:normAutofit/>
          </a:bodyPr>
          <a:lstStyle/>
          <a:p>
            <a:pPr indent="0" marL="0">
              <a:buNone/>
            </a:pPr>
            <a:r>
              <a:rPr lang="en-US" sz="950" b="1" dirty="0">
                <a:solidFill>
                  <a:srgbClr val="14251D"/>
                </a:solidFill>
                <a:latin typeface="Aptos" pitchFamily="34" charset="0"/>
                <a:ea typeface="Aptos" pitchFamily="34" charset="-122"/>
                <a:cs typeface="Aptos" pitchFamily="34" charset="-120"/>
              </a:rPr>
              <a:t>Global preferences</a:t>
            </a:r>
            <a:endParaRPr lang="en-US" sz="950" dirty="0"/>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4.3 • HOME PAGE</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Homepage outcomes verified from the API</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The dashboard summarizes the same database used by all analytical modules.</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sp>
        <p:nvSpPr>
          <p:cNvPr id="8" name="Shape 5"/>
          <p:cNvSpPr/>
          <p:nvPr/>
        </p:nvSpPr>
        <p:spPr>
          <a:xfrm>
            <a:off x="530352" y="1554480"/>
            <a:ext cx="4828032" cy="4599432"/>
          </a:xfrm>
          <a:prstGeom prst="roundRect">
            <a:avLst>
              <a:gd name="adj" fmla="val 1988"/>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pic>
        <p:nvPicPr>
          <p:cNvPr id="9" name="Image 0" descr="C:\Users\mossa\OneDrive\Documents\مشروع التخرج\docs\chapter4-screenshots\01-home-full.png">    </p:cNvPr>
          <p:cNvPicPr>
            <a:picLocks noChangeAspect="1"/>
          </p:cNvPicPr>
          <p:nvPr/>
        </p:nvPicPr>
        <p:blipFill>
          <a:blip r:embed="rId1"/>
          <a:stretch>
            <a:fillRect/>
          </a:stretch>
        </p:blipFill>
        <p:spPr>
          <a:xfrm>
            <a:off x="566928" y="2145776"/>
            <a:ext cx="4754880" cy="3416840"/>
          </a:xfrm>
          <a:prstGeom prst="rect">
            <a:avLst/>
          </a:prstGeom>
        </p:spPr>
      </p:pic>
      <p:sp>
        <p:nvSpPr>
          <p:cNvPr id="10" name="Text 6"/>
          <p:cNvSpPr/>
          <p:nvPr/>
        </p:nvSpPr>
        <p:spPr>
          <a:xfrm>
            <a:off x="566928" y="6172200"/>
            <a:ext cx="4754880" cy="219456"/>
          </a:xfrm>
          <a:prstGeom prst="rect">
            <a:avLst/>
          </a:prstGeom>
          <a:noFill/>
          <a:ln/>
        </p:spPr>
        <p:txBody>
          <a:bodyPr wrap="square" lIns="0" tIns="0" rIns="0" bIns="0" rtlCol="0" anchor="ctr">
            <a:normAutofit/>
          </a:bodyPr>
          <a:lstStyle/>
          <a:p>
            <a:pPr algn="ctr" indent="0" marL="0">
              <a:buNone/>
            </a:pPr>
            <a:r>
              <a:rPr lang="en-US" sz="900" i="1" dirty="0">
                <a:solidFill>
                  <a:srgbClr val="65736B"/>
                </a:solidFill>
                <a:latin typeface="Aptos" pitchFamily="34" charset="0"/>
                <a:ea typeface="Aptos" pitchFamily="34" charset="-122"/>
                <a:cs typeface="Aptos" pitchFamily="34" charset="-120"/>
              </a:rPr>
              <a:t>Figure 4.2: Complete Home Dashboard</a:t>
            </a:r>
            <a:endParaRPr lang="en-US" sz="900" dirty="0"/>
          </a:p>
        </p:txBody>
      </p:sp>
      <p:sp>
        <p:nvSpPr>
          <p:cNvPr id="11" name="Shape 7"/>
          <p:cNvSpPr/>
          <p:nvPr/>
        </p:nvSpPr>
        <p:spPr>
          <a:xfrm>
            <a:off x="5669280" y="1737360"/>
            <a:ext cx="2606040"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12" name="Shape 8"/>
          <p:cNvSpPr/>
          <p:nvPr/>
        </p:nvSpPr>
        <p:spPr>
          <a:xfrm>
            <a:off x="5669280" y="1737360"/>
            <a:ext cx="54864" cy="777240"/>
          </a:xfrm>
          <a:prstGeom prst="rect">
            <a:avLst/>
          </a:prstGeom>
          <a:solidFill>
            <a:srgbClr val="123524"/>
          </a:solidFill>
          <a:ln w="12700">
            <a:solidFill>
              <a:srgbClr val="123524"/>
            </a:solidFill>
            <a:prstDash val="solid"/>
          </a:ln>
        </p:spPr>
      </p:sp>
      <p:sp>
        <p:nvSpPr>
          <p:cNvPr id="13" name="Text 9"/>
          <p:cNvSpPr/>
          <p:nvPr/>
        </p:nvSpPr>
        <p:spPr>
          <a:xfrm>
            <a:off x="5833872" y="1856232"/>
            <a:ext cx="2331720"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TRADITIONAL GROUPS</a:t>
            </a:r>
            <a:endParaRPr lang="en-US" sz="780" dirty="0"/>
          </a:p>
        </p:txBody>
      </p:sp>
      <p:sp>
        <p:nvSpPr>
          <p:cNvPr id="14" name="Text 10"/>
          <p:cNvSpPr/>
          <p:nvPr/>
        </p:nvSpPr>
        <p:spPr>
          <a:xfrm>
            <a:off x="5833872" y="2057400"/>
            <a:ext cx="2331720"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1,557</a:t>
            </a:r>
            <a:endParaRPr lang="en-US" sz="1800" dirty="0"/>
          </a:p>
        </p:txBody>
      </p:sp>
      <p:sp>
        <p:nvSpPr>
          <p:cNvPr id="15" name="Shape 11"/>
          <p:cNvSpPr/>
          <p:nvPr/>
        </p:nvSpPr>
        <p:spPr>
          <a:xfrm>
            <a:off x="8503920" y="1737360"/>
            <a:ext cx="2606040"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16" name="Shape 12"/>
          <p:cNvSpPr/>
          <p:nvPr/>
        </p:nvSpPr>
        <p:spPr>
          <a:xfrm>
            <a:off x="8503920" y="1737360"/>
            <a:ext cx="54864" cy="777240"/>
          </a:xfrm>
          <a:prstGeom prst="rect">
            <a:avLst/>
          </a:prstGeom>
          <a:solidFill>
            <a:srgbClr val="123524"/>
          </a:solidFill>
          <a:ln w="12700">
            <a:solidFill>
              <a:srgbClr val="123524"/>
            </a:solidFill>
            <a:prstDash val="solid"/>
          </a:ln>
        </p:spPr>
      </p:sp>
      <p:sp>
        <p:nvSpPr>
          <p:cNvPr id="17" name="Text 13"/>
          <p:cNvSpPr/>
          <p:nvPr/>
        </p:nvSpPr>
        <p:spPr>
          <a:xfrm>
            <a:off x="8668512" y="1856232"/>
            <a:ext cx="2331720"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COUNTRIES</a:t>
            </a:r>
            <a:endParaRPr lang="en-US" sz="780" dirty="0"/>
          </a:p>
        </p:txBody>
      </p:sp>
      <p:sp>
        <p:nvSpPr>
          <p:cNvPr id="18" name="Text 14"/>
          <p:cNvSpPr/>
          <p:nvPr/>
        </p:nvSpPr>
        <p:spPr>
          <a:xfrm>
            <a:off x="8668512" y="2057400"/>
            <a:ext cx="2331720"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130</a:t>
            </a:r>
            <a:endParaRPr lang="en-US" sz="1800" dirty="0"/>
          </a:p>
        </p:txBody>
      </p:sp>
      <p:sp>
        <p:nvSpPr>
          <p:cNvPr id="19" name="Shape 15"/>
          <p:cNvSpPr/>
          <p:nvPr/>
        </p:nvSpPr>
        <p:spPr>
          <a:xfrm>
            <a:off x="5669280" y="2761488"/>
            <a:ext cx="2606040"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20" name="Shape 16"/>
          <p:cNvSpPr/>
          <p:nvPr/>
        </p:nvSpPr>
        <p:spPr>
          <a:xfrm>
            <a:off x="5669280" y="2761488"/>
            <a:ext cx="54864" cy="777240"/>
          </a:xfrm>
          <a:prstGeom prst="rect">
            <a:avLst/>
          </a:prstGeom>
          <a:solidFill>
            <a:srgbClr val="123524"/>
          </a:solidFill>
          <a:ln w="12700">
            <a:solidFill>
              <a:srgbClr val="123524"/>
            </a:solidFill>
            <a:prstDash val="solid"/>
          </a:ln>
        </p:spPr>
      </p:sp>
      <p:sp>
        <p:nvSpPr>
          <p:cNvPr id="21" name="Text 17"/>
          <p:cNvSpPr/>
          <p:nvPr/>
        </p:nvSpPr>
        <p:spPr>
          <a:xfrm>
            <a:off x="5833872" y="2880360"/>
            <a:ext cx="2331720"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WITH A TPI</a:t>
            </a:r>
            <a:endParaRPr lang="en-US" sz="780" dirty="0"/>
          </a:p>
        </p:txBody>
      </p:sp>
      <p:sp>
        <p:nvSpPr>
          <p:cNvPr id="22" name="Text 18"/>
          <p:cNvSpPr/>
          <p:nvPr/>
        </p:nvSpPr>
        <p:spPr>
          <a:xfrm>
            <a:off x="5833872" y="3081528"/>
            <a:ext cx="2331720"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1,351</a:t>
            </a:r>
            <a:endParaRPr lang="en-US" sz="1800" dirty="0"/>
          </a:p>
        </p:txBody>
      </p:sp>
      <p:sp>
        <p:nvSpPr>
          <p:cNvPr id="23" name="Shape 19"/>
          <p:cNvSpPr/>
          <p:nvPr/>
        </p:nvSpPr>
        <p:spPr>
          <a:xfrm>
            <a:off x="8503920" y="2761488"/>
            <a:ext cx="2606040"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24" name="Shape 20"/>
          <p:cNvSpPr/>
          <p:nvPr/>
        </p:nvSpPr>
        <p:spPr>
          <a:xfrm>
            <a:off x="8503920" y="2761488"/>
            <a:ext cx="54864" cy="777240"/>
          </a:xfrm>
          <a:prstGeom prst="rect">
            <a:avLst/>
          </a:prstGeom>
          <a:solidFill>
            <a:srgbClr val="C8A96A"/>
          </a:solidFill>
          <a:ln w="12700">
            <a:solidFill>
              <a:srgbClr val="C8A96A"/>
            </a:solidFill>
            <a:prstDash val="solid"/>
          </a:ln>
        </p:spPr>
      </p:sp>
      <p:sp>
        <p:nvSpPr>
          <p:cNvPr id="25" name="Text 21"/>
          <p:cNvSpPr/>
          <p:nvPr/>
        </p:nvSpPr>
        <p:spPr>
          <a:xfrm>
            <a:off x="8668512" y="2880360"/>
            <a:ext cx="2331720"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FORMALLY RECOGNIZED</a:t>
            </a:r>
            <a:endParaRPr lang="en-US" sz="780" dirty="0"/>
          </a:p>
        </p:txBody>
      </p:sp>
      <p:sp>
        <p:nvSpPr>
          <p:cNvPr id="26" name="Text 22"/>
          <p:cNvSpPr/>
          <p:nvPr/>
        </p:nvSpPr>
        <p:spPr>
          <a:xfrm>
            <a:off x="8668512" y="3081528"/>
            <a:ext cx="2331720"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744</a:t>
            </a:r>
            <a:endParaRPr lang="en-US" sz="1800" dirty="0"/>
          </a:p>
        </p:txBody>
      </p:sp>
      <p:sp>
        <p:nvSpPr>
          <p:cNvPr id="27" name="Shape 23"/>
          <p:cNvSpPr/>
          <p:nvPr/>
        </p:nvSpPr>
        <p:spPr>
          <a:xfrm>
            <a:off x="5669280" y="3886200"/>
            <a:ext cx="5532120" cy="1645920"/>
          </a:xfrm>
          <a:prstGeom prst="roundRect">
            <a:avLst>
              <a:gd name="adj" fmla="val 5556"/>
            </a:avLst>
          </a:prstGeom>
          <a:solidFill>
            <a:srgbClr val="EAF1EC"/>
          </a:solidFill>
          <a:ln w="8890">
            <a:solidFill>
              <a:srgbClr val="C6D8CD"/>
            </a:solidFill>
            <a:prstDash val="solid"/>
          </a:ln>
          <a:effectLst>
            <a:outerShdw sx="100000" sy="100000" kx="0" ky="0" algn="bl" rotWithShape="0" blurRad="19050" dist="50800" dir="2700000">
              <a:srgbClr val="AAB7AF">
                <a:alpha val="13000"/>
              </a:srgbClr>
            </a:outerShdw>
          </a:effectLst>
        </p:spPr>
      </p:sp>
      <p:sp>
        <p:nvSpPr>
          <p:cNvPr id="28" name="Text 24"/>
          <p:cNvSpPr/>
          <p:nvPr/>
        </p:nvSpPr>
        <p:spPr>
          <a:xfrm>
            <a:off x="5925312" y="4133088"/>
            <a:ext cx="1828800" cy="256032"/>
          </a:xfrm>
          <a:prstGeom prst="rect">
            <a:avLst/>
          </a:prstGeom>
          <a:noFill/>
          <a:ln/>
        </p:spPr>
        <p:txBody>
          <a:bodyPr wrap="square" lIns="0" tIns="0" rIns="0" bIns="0" rtlCol="0" anchor="ctr"/>
          <a:lstStyle/>
          <a:p>
            <a:pPr indent="0" marL="0">
              <a:buNone/>
            </a:pPr>
            <a:r>
              <a:rPr lang="en-US" sz="1700" b="1" dirty="0">
                <a:solidFill>
                  <a:srgbClr val="123524"/>
                </a:solidFill>
                <a:latin typeface="Georgia" pitchFamily="34" charset="0"/>
                <a:ea typeface="Georgia" pitchFamily="34" charset="-122"/>
                <a:cs typeface="Georgia" pitchFamily="34" charset="-120"/>
              </a:rPr>
              <a:t>Interpretation</a:t>
            </a:r>
            <a:endParaRPr lang="en-US" sz="1700" dirty="0"/>
          </a:p>
        </p:txBody>
      </p:sp>
      <p:sp>
        <p:nvSpPr>
          <p:cNvPr id="29" name="Text 25"/>
          <p:cNvSpPr/>
          <p:nvPr/>
        </p:nvSpPr>
        <p:spPr>
          <a:xfrm>
            <a:off x="5897880" y="4480560"/>
            <a:ext cx="4983480" cy="896112"/>
          </a:xfrm>
          <a:prstGeom prst="rect">
            <a:avLst/>
          </a:prstGeom>
          <a:noFill/>
          <a:ln/>
        </p:spPr>
        <p:txBody>
          <a:bodyPr wrap="square" lIns="25400" tIns="25400" rIns="25400" bIns="25400" rtlCol="0" anchor="ctr">
            <a:normAutofit/>
          </a:bodyPr>
          <a:lstStyle/>
          <a:p>
            <a:pPr marL="177800" indent="-177800">
              <a:buSzPct val="100000"/>
              <a:buChar char="•"/>
            </a:pPr>
            <a:r>
              <a:rPr lang="en-US" sz="1200" dirty="0">
                <a:solidFill>
                  <a:srgbClr val="14251D"/>
                </a:solidFill>
                <a:latin typeface="Aptos" pitchFamily="34" charset="0"/>
                <a:ea typeface="Aptos" pitchFamily="34" charset="-122"/>
                <a:cs typeface="Aptos" pitchFamily="34" charset="-120"/>
              </a:rPr>
              <a:t>The system exposes broad geographic coverage.</a:t>
            </a:r>
            <a:endParaRPr lang="en-US" sz="1200" dirty="0"/>
          </a:p>
          <a:p>
            <a:pPr marL="177800" indent="-177800">
              <a:buSzPct val="100000"/>
              <a:buChar char="•"/>
            </a:pPr>
            <a:r>
              <a:rPr lang="en-US" sz="1200" dirty="0">
                <a:solidFill>
                  <a:srgbClr val="14251D"/>
                </a:solidFill>
                <a:latin typeface="Aptos" pitchFamily="34" charset="0"/>
                <a:ea typeface="Aptos" pitchFamily="34" charset="-122"/>
                <a:cs typeface="Aptos" pitchFamily="34" charset="-120"/>
              </a:rPr>
              <a:t>Homepage counts are consistent with the analytical API.</a:t>
            </a:r>
            <a:endParaRPr lang="en-US" sz="1200" dirty="0"/>
          </a:p>
          <a:p>
            <a:pPr marL="177800" indent="-177800">
              <a:buSzPct val="100000"/>
              <a:buChar char="•"/>
            </a:pPr>
            <a:r>
              <a:rPr lang="en-US" sz="1200" dirty="0">
                <a:solidFill>
                  <a:srgbClr val="14251D"/>
                </a:solidFill>
                <a:latin typeface="Aptos" pitchFamily="34" charset="0"/>
                <a:ea typeface="Aptos" pitchFamily="34" charset="-122"/>
                <a:cs typeface="Aptos" pitchFamily="34" charset="-120"/>
              </a:rPr>
              <a:t>Navigation directs users from summary evidence to record-level detail.</a:t>
            </a:r>
            <a:endParaRPr lang="en-US" sz="1200" dirty="0"/>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4.4 • GROUPS PAGE</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Server-side exploration of individual records</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Search and filters return only the requested page of matching database rows.</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sp>
        <p:nvSpPr>
          <p:cNvPr id="8" name="Shape 5"/>
          <p:cNvSpPr/>
          <p:nvPr/>
        </p:nvSpPr>
        <p:spPr>
          <a:xfrm>
            <a:off x="512064" y="1591056"/>
            <a:ext cx="7388352" cy="4507992"/>
          </a:xfrm>
          <a:prstGeom prst="roundRect">
            <a:avLst>
              <a:gd name="adj" fmla="val 2028"/>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pic>
        <p:nvPicPr>
          <p:cNvPr id="9" name="Image 0" descr="C:\Users\mossa\OneDrive\Documents\مشروع التخرج\docs\chapter4-screenshots\05-groups-filter-results.png">    </p:cNvPr>
          <p:cNvPicPr>
            <a:picLocks noChangeAspect="1"/>
          </p:cNvPicPr>
          <p:nvPr/>
        </p:nvPicPr>
        <p:blipFill>
          <a:blip r:embed="rId1"/>
          <a:stretch>
            <a:fillRect/>
          </a:stretch>
        </p:blipFill>
        <p:spPr>
          <a:xfrm>
            <a:off x="548640" y="1726320"/>
            <a:ext cx="7315200" cy="4237463"/>
          </a:xfrm>
          <a:prstGeom prst="rect">
            <a:avLst/>
          </a:prstGeom>
        </p:spPr>
      </p:pic>
      <p:sp>
        <p:nvSpPr>
          <p:cNvPr id="10" name="Text 6"/>
          <p:cNvSpPr/>
          <p:nvPr/>
        </p:nvSpPr>
        <p:spPr>
          <a:xfrm>
            <a:off x="548640" y="6117336"/>
            <a:ext cx="7315200" cy="219456"/>
          </a:xfrm>
          <a:prstGeom prst="rect">
            <a:avLst/>
          </a:prstGeom>
          <a:noFill/>
          <a:ln/>
        </p:spPr>
        <p:txBody>
          <a:bodyPr wrap="square" lIns="0" tIns="0" rIns="0" bIns="0" rtlCol="0" anchor="ctr">
            <a:normAutofit/>
          </a:bodyPr>
          <a:lstStyle/>
          <a:p>
            <a:pPr algn="ctr" indent="0" marL="0">
              <a:buNone/>
            </a:pPr>
            <a:r>
              <a:rPr lang="en-US" sz="900" i="1" dirty="0">
                <a:solidFill>
                  <a:srgbClr val="65736B"/>
                </a:solidFill>
                <a:latin typeface="Aptos" pitchFamily="34" charset="0"/>
                <a:ea typeface="Aptos" pitchFamily="34" charset="-122"/>
                <a:cs typeface="Aptos" pitchFamily="34" charset="-120"/>
              </a:rPr>
              <a:t>Figure 4.3: Group Records and Filtering Interface</a:t>
            </a:r>
            <a:endParaRPr lang="en-US" sz="900" dirty="0"/>
          </a:p>
        </p:txBody>
      </p:sp>
      <p:sp>
        <p:nvSpPr>
          <p:cNvPr id="11" name="Shape 7"/>
          <p:cNvSpPr/>
          <p:nvPr/>
        </p:nvSpPr>
        <p:spPr>
          <a:xfrm>
            <a:off x="8156448" y="1737360"/>
            <a:ext cx="3429000" cy="4114800"/>
          </a:xfrm>
          <a:prstGeom prst="roundRect">
            <a:avLst>
              <a:gd name="adj" fmla="val 2667"/>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12" name="Text 8"/>
          <p:cNvSpPr/>
          <p:nvPr/>
        </p:nvSpPr>
        <p:spPr>
          <a:xfrm>
            <a:off x="8430768" y="1984248"/>
            <a:ext cx="2834640" cy="274320"/>
          </a:xfrm>
          <a:prstGeom prst="rect">
            <a:avLst/>
          </a:prstGeom>
          <a:noFill/>
          <a:ln/>
        </p:spPr>
        <p:txBody>
          <a:bodyPr wrap="square" lIns="0" tIns="0" rIns="0" bIns="0" rtlCol="0" anchor="ctr"/>
          <a:lstStyle/>
          <a:p>
            <a:pPr indent="0" marL="0">
              <a:buNone/>
            </a:pPr>
            <a:r>
              <a:rPr lang="en-US" sz="1800" b="1" dirty="0">
                <a:solidFill>
                  <a:srgbClr val="123524"/>
                </a:solidFill>
                <a:latin typeface="Georgia" pitchFamily="34" charset="0"/>
                <a:ea typeface="Georgia" pitchFamily="34" charset="-122"/>
                <a:cs typeface="Georgia" pitchFamily="34" charset="-120"/>
              </a:rPr>
              <a:t>Verified interaction</a:t>
            </a:r>
            <a:endParaRPr lang="en-US" sz="1800" dirty="0"/>
          </a:p>
        </p:txBody>
      </p:sp>
      <p:sp>
        <p:nvSpPr>
          <p:cNvPr id="13" name="Text 9"/>
          <p:cNvSpPr/>
          <p:nvPr/>
        </p:nvSpPr>
        <p:spPr>
          <a:xfrm>
            <a:off x="8394192" y="2468880"/>
            <a:ext cx="2788920" cy="2148840"/>
          </a:xfrm>
          <a:prstGeom prst="rect">
            <a:avLst/>
          </a:prstGeom>
          <a:noFill/>
          <a:ln/>
        </p:spPr>
        <p:txBody>
          <a:bodyPr wrap="square" lIns="25400" tIns="25400" rIns="25400" bIns="25400" rtlCol="0" anchor="ctr">
            <a:normAutofit/>
          </a:bodyPr>
          <a:lstStyle/>
          <a:p>
            <a:pPr marL="177800" indent="-177800">
              <a:buSzPct val="100000"/>
              <a:buChar char="•"/>
            </a:pPr>
            <a:r>
              <a:rPr lang="en-US" sz="1300" dirty="0">
                <a:solidFill>
                  <a:srgbClr val="14251D"/>
                </a:solidFill>
                <a:latin typeface="Aptos" pitchFamily="34" charset="0"/>
                <a:ea typeface="Aptos" pitchFamily="34" charset="-122"/>
                <a:cs typeface="Aptos" pitchFamily="34" charset="-120"/>
              </a:rPr>
              <a:t>Search term: Arab</a:t>
            </a:r>
            <a:endParaRPr lang="en-US" sz="1300" dirty="0"/>
          </a:p>
          <a:p>
            <a:pPr marL="177800" indent="-177800">
              <a:buSzPct val="100000"/>
              <a:buChar char="•"/>
            </a:pPr>
            <a:r>
              <a:rPr lang="en-US" sz="1300" dirty="0">
                <a:solidFill>
                  <a:srgbClr val="14251D"/>
                </a:solidFill>
                <a:latin typeface="Aptos" pitchFamily="34" charset="0"/>
                <a:ea typeface="Aptos" pitchFamily="34" charset="-122"/>
                <a:cs typeface="Aptos" pitchFamily="34" charset="-120"/>
              </a:rPr>
              <a:t>Continent: Africa</a:t>
            </a:r>
            <a:endParaRPr lang="en-US" sz="1300" dirty="0"/>
          </a:p>
          <a:p>
            <a:pPr marL="177800" indent="-177800">
              <a:buSzPct val="100000"/>
              <a:buChar char="•"/>
            </a:pPr>
            <a:r>
              <a:rPr lang="en-US" sz="1300" dirty="0">
                <a:solidFill>
                  <a:srgbClr val="14251D"/>
                </a:solidFill>
                <a:latin typeface="Aptos" pitchFamily="34" charset="0"/>
                <a:ea typeface="Aptos" pitchFamily="34" charset="-122"/>
                <a:cs typeface="Aptos" pitchFamily="34" charset="-120"/>
              </a:rPr>
              <a:t>6 matching live records</a:t>
            </a:r>
            <a:endParaRPr lang="en-US" sz="1300" dirty="0"/>
          </a:p>
          <a:p>
            <a:pPr marL="177800" indent="-177800">
              <a:buSzPct val="100000"/>
              <a:buChar char="•"/>
            </a:pPr>
            <a:r>
              <a:rPr lang="en-US" sz="1300" dirty="0">
                <a:solidFill>
                  <a:srgbClr val="14251D"/>
                </a:solidFill>
                <a:latin typeface="Aptos" pitchFamily="34" charset="0"/>
                <a:ea typeface="Aptos" pitchFamily="34" charset="-122"/>
                <a:cs typeface="Aptos" pitchFamily="34" charset="-120"/>
              </a:rPr>
              <a:t>100-record page limit</a:t>
            </a:r>
            <a:endParaRPr lang="en-US" sz="1300" dirty="0"/>
          </a:p>
          <a:p>
            <a:pPr marL="177800" indent="-177800">
              <a:buSzPct val="100000"/>
              <a:buChar char="•"/>
            </a:pPr>
            <a:r>
              <a:rPr lang="en-US" sz="1300" dirty="0">
                <a:solidFill>
                  <a:srgbClr val="14251D"/>
                </a:solidFill>
                <a:latin typeface="Aptos" pitchFamily="34" charset="0"/>
                <a:ea typeface="Aptos" pitchFamily="34" charset="-122"/>
                <a:cs typeface="Aptos" pitchFamily="34" charset="-120"/>
              </a:rPr>
              <a:t>URL state preserved for sharing</a:t>
            </a:r>
            <a:endParaRPr lang="en-US" sz="1300" dirty="0"/>
          </a:p>
        </p:txBody>
      </p:sp>
      <p:sp>
        <p:nvSpPr>
          <p:cNvPr id="14" name="Shape 10"/>
          <p:cNvSpPr/>
          <p:nvPr/>
        </p:nvSpPr>
        <p:spPr>
          <a:xfrm>
            <a:off x="8211312" y="5230368"/>
            <a:ext cx="3200400" cy="438912"/>
          </a:xfrm>
          <a:prstGeom prst="roundRect">
            <a:avLst/>
          </a:prstGeom>
          <a:solidFill>
            <a:srgbClr val="F6EEDC"/>
          </a:solidFill>
          <a:ln w="10160">
            <a:solidFill>
              <a:srgbClr val="C8A96A"/>
            </a:solidFill>
            <a:prstDash val="solid"/>
          </a:ln>
        </p:spPr>
      </p:sp>
      <p:sp>
        <p:nvSpPr>
          <p:cNvPr id="15" name="Text 11"/>
          <p:cNvSpPr/>
          <p:nvPr/>
        </p:nvSpPr>
        <p:spPr>
          <a:xfrm>
            <a:off x="8366760" y="5330952"/>
            <a:ext cx="2889504" cy="201168"/>
          </a:xfrm>
          <a:prstGeom prst="rect">
            <a:avLst/>
          </a:prstGeom>
          <a:noFill/>
          <a:ln/>
        </p:spPr>
        <p:txBody>
          <a:bodyPr wrap="square" lIns="0" tIns="0" rIns="0" bIns="0" rtlCol="0" anchor="ctr">
            <a:normAutofit/>
          </a:bodyPr>
          <a:lstStyle/>
          <a:p>
            <a:pPr indent="0" marL="0">
              <a:buNone/>
            </a:pPr>
            <a:r>
              <a:rPr lang="en-US" sz="1050" b="1" dirty="0">
                <a:solidFill>
                  <a:srgbClr val="14251D"/>
                </a:solidFill>
                <a:latin typeface="Aptos" pitchFamily="34" charset="0"/>
                <a:ea typeface="Aptos" pitchFamily="34" charset="-122"/>
                <a:cs typeface="Aptos" pitchFamily="34" charset="-120"/>
              </a:rPr>
              <a:t>Result: responsive filtering with one API request for the active page—not a preload of all 1,557 records.</a:t>
            </a:r>
            <a:endParaRPr lang="en-US" sz="1050" dirty="0"/>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4.4 • GROUPS PAGE</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From filtered rows to a structured group profile</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Detailed information is opened without leaving the explorer.</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sp>
        <p:nvSpPr>
          <p:cNvPr id="8" name="Shape 5"/>
          <p:cNvSpPr/>
          <p:nvPr/>
        </p:nvSpPr>
        <p:spPr>
          <a:xfrm>
            <a:off x="512064" y="1536192"/>
            <a:ext cx="7114032" cy="4690872"/>
          </a:xfrm>
          <a:prstGeom prst="roundRect">
            <a:avLst>
              <a:gd name="adj" fmla="val 1949"/>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pic>
        <p:nvPicPr>
          <p:cNvPr id="9" name="Image 0" descr="C:\Users\mossa\OneDrive\Documents\مشروع التخرج\docs\chapter4-screenshots\06-group-detail.png">    </p:cNvPr>
          <p:cNvPicPr>
            <a:picLocks noChangeAspect="1"/>
          </p:cNvPicPr>
          <p:nvPr/>
        </p:nvPicPr>
        <p:blipFill>
          <a:blip r:embed="rId1"/>
          <a:stretch>
            <a:fillRect/>
          </a:stretch>
        </p:blipFill>
        <p:spPr>
          <a:xfrm>
            <a:off x="745721" y="1572768"/>
            <a:ext cx="6646718" cy="4617720"/>
          </a:xfrm>
          <a:prstGeom prst="rect">
            <a:avLst/>
          </a:prstGeom>
        </p:spPr>
      </p:pic>
      <p:sp>
        <p:nvSpPr>
          <p:cNvPr id="10" name="Text 6"/>
          <p:cNvSpPr/>
          <p:nvPr/>
        </p:nvSpPr>
        <p:spPr>
          <a:xfrm>
            <a:off x="548640" y="6245352"/>
            <a:ext cx="7040880" cy="219456"/>
          </a:xfrm>
          <a:prstGeom prst="rect">
            <a:avLst/>
          </a:prstGeom>
          <a:noFill/>
          <a:ln/>
        </p:spPr>
        <p:txBody>
          <a:bodyPr wrap="square" lIns="0" tIns="0" rIns="0" bIns="0" rtlCol="0" anchor="ctr">
            <a:normAutofit/>
          </a:bodyPr>
          <a:lstStyle/>
          <a:p>
            <a:pPr algn="ctr" indent="0" marL="0">
              <a:buNone/>
            </a:pPr>
            <a:r>
              <a:rPr lang="en-US" sz="900" i="1" dirty="0">
                <a:solidFill>
                  <a:srgbClr val="65736B"/>
                </a:solidFill>
                <a:latin typeface="Aptos" pitchFamily="34" charset="0"/>
                <a:ea typeface="Aptos" pitchFamily="34" charset="-122"/>
                <a:cs typeface="Aptos" pitchFamily="34" charset="-120"/>
              </a:rPr>
              <a:t>Figure 4.4: Detailed Traditional Group Record</a:t>
            </a:r>
            <a:endParaRPr lang="en-US" sz="900" dirty="0"/>
          </a:p>
        </p:txBody>
      </p:sp>
      <p:sp>
        <p:nvSpPr>
          <p:cNvPr id="11" name="Shape 7"/>
          <p:cNvSpPr/>
          <p:nvPr/>
        </p:nvSpPr>
        <p:spPr>
          <a:xfrm>
            <a:off x="7955280" y="1664208"/>
            <a:ext cx="3611880" cy="4389120"/>
          </a:xfrm>
          <a:prstGeom prst="roundRect">
            <a:avLst>
              <a:gd name="adj" fmla="val 2532"/>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12" name="Text 8"/>
          <p:cNvSpPr/>
          <p:nvPr/>
        </p:nvSpPr>
        <p:spPr>
          <a:xfrm>
            <a:off x="8247888" y="1938528"/>
            <a:ext cx="3017520" cy="274320"/>
          </a:xfrm>
          <a:prstGeom prst="rect">
            <a:avLst/>
          </a:prstGeom>
          <a:noFill/>
          <a:ln/>
        </p:spPr>
        <p:txBody>
          <a:bodyPr wrap="square" lIns="0" tIns="0" rIns="0" bIns="0" rtlCol="0" anchor="ctr"/>
          <a:lstStyle/>
          <a:p>
            <a:pPr indent="0" marL="0">
              <a:buNone/>
            </a:pPr>
            <a:r>
              <a:rPr lang="en-US" sz="1800" b="1" dirty="0">
                <a:solidFill>
                  <a:srgbClr val="123524"/>
                </a:solidFill>
                <a:latin typeface="Georgia" pitchFamily="34" charset="0"/>
                <a:ea typeface="Georgia" pitchFamily="34" charset="-122"/>
                <a:cs typeface="Georgia" pitchFamily="34" charset="-120"/>
              </a:rPr>
              <a:t>Record interpretation</a:t>
            </a:r>
            <a:endParaRPr lang="en-US" sz="1800" dirty="0"/>
          </a:p>
        </p:txBody>
      </p:sp>
      <p:sp>
        <p:nvSpPr>
          <p:cNvPr id="13" name="Text 9"/>
          <p:cNvSpPr/>
          <p:nvPr/>
        </p:nvSpPr>
        <p:spPr>
          <a:xfrm>
            <a:off x="8229600" y="2395728"/>
            <a:ext cx="2926080" cy="2148840"/>
          </a:xfrm>
          <a:prstGeom prst="rect">
            <a:avLst/>
          </a:prstGeom>
          <a:noFill/>
          <a:ln/>
        </p:spPr>
        <p:txBody>
          <a:bodyPr wrap="square" lIns="25400" tIns="25400" rIns="25400" bIns="25400" rtlCol="0" anchor="ctr">
            <a:normAutofit/>
          </a:bodyPr>
          <a:lstStyle/>
          <a:p>
            <a:pPr marL="177800" indent="-177800">
              <a:buSzPct val="100000"/>
              <a:buChar char="•"/>
            </a:pPr>
            <a:r>
              <a:rPr lang="en-US" sz="1300" dirty="0">
                <a:solidFill>
                  <a:srgbClr val="14251D"/>
                </a:solidFill>
                <a:latin typeface="Aptos" pitchFamily="34" charset="0"/>
                <a:ea typeface="Aptos" pitchFamily="34" charset="-122"/>
                <a:cs typeface="Aptos" pitchFamily="34" charset="-120"/>
              </a:rPr>
              <a:t>Binary values are rendered as Yes / No.</a:t>
            </a:r>
            <a:endParaRPr lang="en-US" sz="1300" dirty="0"/>
          </a:p>
          <a:p>
            <a:pPr marL="177800" indent="-177800">
              <a:buSzPct val="100000"/>
              <a:buChar char="•"/>
            </a:pPr>
            <a:r>
              <a:rPr lang="en-US" sz="1300" dirty="0">
                <a:solidFill>
                  <a:srgbClr val="14251D"/>
                </a:solidFill>
                <a:latin typeface="Aptos" pitchFamily="34" charset="0"/>
                <a:ea typeface="Aptos" pitchFamily="34" charset="-122"/>
                <a:cs typeface="Aptos" pitchFamily="34" charset="-120"/>
              </a:rPr>
              <a:t>Nulls are rendered as Not Available.</a:t>
            </a:r>
            <a:endParaRPr lang="en-US" sz="1300" dirty="0"/>
          </a:p>
          <a:p>
            <a:pPr marL="177800" indent="-177800">
              <a:buSzPct val="100000"/>
              <a:buChar char="•"/>
            </a:pPr>
            <a:r>
              <a:rPr lang="en-US" sz="1300" dirty="0">
                <a:solidFill>
                  <a:srgbClr val="14251D"/>
                </a:solidFill>
                <a:latin typeface="Aptos" pitchFamily="34" charset="0"/>
                <a:ea typeface="Aptos" pitchFamily="34" charset="-122"/>
                <a:cs typeface="Aptos" pitchFamily="34" charset="-120"/>
              </a:rPr>
              <a:t>English source names remain readable in RTL pages.</a:t>
            </a:r>
            <a:endParaRPr lang="en-US" sz="1300" dirty="0"/>
          </a:p>
          <a:p>
            <a:pPr marL="177800" indent="-177800">
              <a:buSzPct val="100000"/>
              <a:buChar char="•"/>
            </a:pPr>
            <a:r>
              <a:rPr lang="en-US" sz="1300" dirty="0">
                <a:solidFill>
                  <a:srgbClr val="14251D"/>
                </a:solidFill>
                <a:latin typeface="Aptos" pitchFamily="34" charset="0"/>
                <a:ea typeface="Aptos" pitchFamily="34" charset="-122"/>
                <a:cs typeface="Aptos" pitchFamily="34" charset="-120"/>
              </a:rPr>
              <a:t>The same dialog is retained after pagination and filtering.</a:t>
            </a:r>
            <a:endParaRPr lang="en-US" sz="1300" dirty="0"/>
          </a:p>
        </p:txBody>
      </p:sp>
      <p:sp>
        <p:nvSpPr>
          <p:cNvPr id="14" name="Text 10"/>
          <p:cNvSpPr/>
          <p:nvPr/>
        </p:nvSpPr>
        <p:spPr>
          <a:xfrm>
            <a:off x="8247888" y="4754880"/>
            <a:ext cx="2103120" cy="201168"/>
          </a:xfrm>
          <a:prstGeom prst="rect">
            <a:avLst/>
          </a:prstGeom>
          <a:noFill/>
          <a:ln/>
        </p:spPr>
        <p:txBody>
          <a:bodyPr wrap="square" lIns="0" tIns="0" rIns="0" bIns="0" rtlCol="0" anchor="ctr"/>
          <a:lstStyle/>
          <a:p>
            <a:pPr indent="0" marL="0">
              <a:buNone/>
            </a:pPr>
            <a:r>
              <a:rPr lang="en-US" sz="1000" b="1" spc="70" kern="0" dirty="0">
                <a:solidFill>
                  <a:srgbClr val="C8A96A"/>
                </a:solidFill>
                <a:latin typeface="Aptos" pitchFamily="34" charset="0"/>
                <a:ea typeface="Aptos" pitchFamily="34" charset="-122"/>
                <a:cs typeface="Aptos" pitchFamily="34" charset="-120"/>
              </a:rPr>
              <a:t>What this proves</a:t>
            </a:r>
            <a:endParaRPr lang="en-US" sz="1000" dirty="0"/>
          </a:p>
        </p:txBody>
      </p:sp>
      <p:sp>
        <p:nvSpPr>
          <p:cNvPr id="15" name="Text 11"/>
          <p:cNvSpPr/>
          <p:nvPr/>
        </p:nvSpPr>
        <p:spPr>
          <a:xfrm>
            <a:off x="8247888" y="5084064"/>
            <a:ext cx="2788920" cy="594360"/>
          </a:xfrm>
          <a:prstGeom prst="rect">
            <a:avLst/>
          </a:prstGeom>
          <a:noFill/>
          <a:ln/>
        </p:spPr>
        <p:txBody>
          <a:bodyPr wrap="square" lIns="0" tIns="0" rIns="0" bIns="0" rtlCol="0" anchor="ctr">
            <a:normAutofit/>
          </a:bodyPr>
          <a:lstStyle/>
          <a:p>
            <a:pPr indent="0" marL="0">
              <a:buNone/>
            </a:pPr>
            <a:r>
              <a:rPr lang="en-US" sz="1200" b="1" dirty="0">
                <a:solidFill>
                  <a:srgbClr val="14251D"/>
                </a:solidFill>
                <a:latin typeface="Aptos" pitchFamily="34" charset="0"/>
                <a:ea typeface="Aptos" pitchFamily="34" charset="-122"/>
                <a:cs typeface="Aptos" pitchFamily="34" charset="-120"/>
              </a:rPr>
              <a:t>The platform supports both overview analysis and auditable record-level inspection.</a:t>
            </a:r>
            <a:endParaRPr lang="en-US" sz="1200" dirty="0"/>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4.5 • INTERACTIVE MAP</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Geographic distribution is directly explorable</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One live marker represents each backend continent category.</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sp>
        <p:nvSpPr>
          <p:cNvPr id="8" name="Shape 5"/>
          <p:cNvSpPr/>
          <p:nvPr/>
        </p:nvSpPr>
        <p:spPr>
          <a:xfrm>
            <a:off x="603504" y="1563624"/>
            <a:ext cx="7571232" cy="4507992"/>
          </a:xfrm>
          <a:prstGeom prst="roundRect">
            <a:avLst>
              <a:gd name="adj" fmla="val 2028"/>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pic>
        <p:nvPicPr>
          <p:cNvPr id="9" name="Image 0" descr="C:\Users\mossa\OneDrive\Documents\مشروع التخرج\docs\chapter4-screenshots\03-interactive-map-full.png">    </p:cNvPr>
          <p:cNvPicPr>
            <a:picLocks noChangeAspect="1"/>
          </p:cNvPicPr>
          <p:nvPr/>
        </p:nvPicPr>
        <p:blipFill>
          <a:blip r:embed="rId1"/>
          <a:stretch>
            <a:fillRect/>
          </a:stretch>
        </p:blipFill>
        <p:spPr>
          <a:xfrm>
            <a:off x="640080" y="2190678"/>
            <a:ext cx="7498080" cy="3253884"/>
          </a:xfrm>
          <a:prstGeom prst="rect">
            <a:avLst/>
          </a:prstGeom>
        </p:spPr>
      </p:pic>
      <p:sp>
        <p:nvSpPr>
          <p:cNvPr id="10" name="Text 6"/>
          <p:cNvSpPr/>
          <p:nvPr/>
        </p:nvSpPr>
        <p:spPr>
          <a:xfrm>
            <a:off x="640080" y="6089904"/>
            <a:ext cx="7498080" cy="219456"/>
          </a:xfrm>
          <a:prstGeom prst="rect">
            <a:avLst/>
          </a:prstGeom>
          <a:noFill/>
          <a:ln/>
        </p:spPr>
        <p:txBody>
          <a:bodyPr wrap="square" lIns="0" tIns="0" rIns="0" bIns="0" rtlCol="0" anchor="ctr">
            <a:normAutofit/>
          </a:bodyPr>
          <a:lstStyle/>
          <a:p>
            <a:pPr algn="ctr" indent="0" marL="0">
              <a:buNone/>
            </a:pPr>
            <a:r>
              <a:rPr lang="en-US" sz="900" i="1" dirty="0">
                <a:solidFill>
                  <a:srgbClr val="65736B"/>
                </a:solidFill>
                <a:latin typeface="Aptos" pitchFamily="34" charset="0"/>
                <a:ea typeface="Aptos" pitchFamily="34" charset="-122"/>
                <a:cs typeface="Aptos" pitchFamily="34" charset="-120"/>
              </a:rPr>
              <a:t>Figure 4.5: Interactive Geographic Map</a:t>
            </a:r>
            <a:endParaRPr lang="en-US" sz="900" dirty="0"/>
          </a:p>
        </p:txBody>
      </p:sp>
      <p:sp>
        <p:nvSpPr>
          <p:cNvPr id="11" name="Shape 7"/>
          <p:cNvSpPr/>
          <p:nvPr/>
        </p:nvSpPr>
        <p:spPr>
          <a:xfrm>
            <a:off x="8394192" y="1691640"/>
            <a:ext cx="3127248" cy="4114800"/>
          </a:xfrm>
          <a:prstGeom prst="roundRect">
            <a:avLst>
              <a:gd name="adj" fmla="val 2924"/>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12" name="Text 8"/>
          <p:cNvSpPr/>
          <p:nvPr/>
        </p:nvSpPr>
        <p:spPr>
          <a:xfrm>
            <a:off x="8668512" y="1965960"/>
            <a:ext cx="2560320" cy="274320"/>
          </a:xfrm>
          <a:prstGeom prst="rect">
            <a:avLst/>
          </a:prstGeom>
          <a:noFill/>
          <a:ln/>
        </p:spPr>
        <p:txBody>
          <a:bodyPr wrap="square" lIns="0" tIns="0" rIns="0" bIns="0" rtlCol="0" anchor="ctr"/>
          <a:lstStyle/>
          <a:p>
            <a:pPr indent="0" marL="0">
              <a:buNone/>
            </a:pPr>
            <a:r>
              <a:rPr lang="en-US" sz="1800" b="1" dirty="0">
                <a:solidFill>
                  <a:srgbClr val="123524"/>
                </a:solidFill>
                <a:latin typeface="Georgia" pitchFamily="34" charset="0"/>
                <a:ea typeface="Georgia" pitchFamily="34" charset="-122"/>
                <a:cs typeface="Georgia" pitchFamily="34" charset="-120"/>
              </a:rPr>
              <a:t>Live marker totals</a:t>
            </a:r>
            <a:endParaRPr lang="en-US" sz="1800" dirty="0"/>
          </a:p>
        </p:txBody>
      </p:sp>
      <p:sp>
        <p:nvSpPr>
          <p:cNvPr id="13" name="Shape 9"/>
          <p:cNvSpPr/>
          <p:nvPr/>
        </p:nvSpPr>
        <p:spPr>
          <a:xfrm>
            <a:off x="8686800" y="2505456"/>
            <a:ext cx="310896" cy="310896"/>
          </a:xfrm>
          <a:prstGeom prst="ellipse">
            <a:avLst/>
          </a:prstGeom>
          <a:solidFill>
            <a:srgbClr val="123524"/>
          </a:solidFill>
          <a:ln w="12700">
            <a:solidFill>
              <a:srgbClr val="FFFFFF"/>
            </a:solidFill>
            <a:prstDash val="solid"/>
          </a:ln>
        </p:spPr>
      </p:sp>
      <p:sp>
        <p:nvSpPr>
          <p:cNvPr id="14" name="Text 10"/>
          <p:cNvSpPr/>
          <p:nvPr/>
        </p:nvSpPr>
        <p:spPr>
          <a:xfrm>
            <a:off x="9125712" y="2487168"/>
            <a:ext cx="1417320" cy="201168"/>
          </a:xfrm>
          <a:prstGeom prst="rect">
            <a:avLst/>
          </a:prstGeom>
          <a:noFill/>
          <a:ln/>
        </p:spPr>
        <p:txBody>
          <a:bodyPr wrap="square" lIns="0" tIns="0" rIns="0" bIns="0" rtlCol="0" anchor="ctr"/>
          <a:lstStyle/>
          <a:p>
            <a:pPr indent="0" marL="0">
              <a:buNone/>
            </a:pPr>
            <a:r>
              <a:rPr lang="en-US" sz="1150" b="1" dirty="0">
                <a:solidFill>
                  <a:srgbClr val="14251D"/>
                </a:solidFill>
                <a:latin typeface="Aptos" pitchFamily="34" charset="0"/>
                <a:ea typeface="Aptos" pitchFamily="34" charset="-122"/>
                <a:cs typeface="Aptos" pitchFamily="34" charset="-120"/>
              </a:rPr>
              <a:t>Africa</a:t>
            </a:r>
            <a:endParaRPr lang="en-US" sz="1150" dirty="0"/>
          </a:p>
        </p:txBody>
      </p:sp>
      <p:sp>
        <p:nvSpPr>
          <p:cNvPr id="15" name="Text 11"/>
          <p:cNvSpPr/>
          <p:nvPr/>
        </p:nvSpPr>
        <p:spPr>
          <a:xfrm>
            <a:off x="10561320" y="2487168"/>
            <a:ext cx="502920" cy="201168"/>
          </a:xfrm>
          <a:prstGeom prst="rect">
            <a:avLst/>
          </a:prstGeom>
          <a:noFill/>
          <a:ln/>
        </p:spPr>
        <p:txBody>
          <a:bodyPr wrap="square" lIns="0" tIns="0" rIns="0" bIns="0" rtlCol="0" anchor="ctr"/>
          <a:lstStyle/>
          <a:p>
            <a:pPr algn="r" indent="0" marL="0">
              <a:buNone/>
            </a:pPr>
            <a:r>
              <a:rPr lang="en-US" sz="1150" b="1" dirty="0">
                <a:solidFill>
                  <a:srgbClr val="123524"/>
                </a:solidFill>
                <a:latin typeface="Aptos" pitchFamily="34" charset="0"/>
                <a:ea typeface="Aptos" pitchFamily="34" charset="-122"/>
                <a:cs typeface="Aptos" pitchFamily="34" charset="-120"/>
              </a:rPr>
              <a:t>726</a:t>
            </a:r>
            <a:endParaRPr lang="en-US" sz="1150" dirty="0"/>
          </a:p>
        </p:txBody>
      </p:sp>
      <p:sp>
        <p:nvSpPr>
          <p:cNvPr id="16" name="Shape 12"/>
          <p:cNvSpPr/>
          <p:nvPr/>
        </p:nvSpPr>
        <p:spPr>
          <a:xfrm>
            <a:off x="8686800" y="3044952"/>
            <a:ext cx="310896" cy="310896"/>
          </a:xfrm>
          <a:prstGeom prst="ellipse">
            <a:avLst/>
          </a:prstGeom>
          <a:solidFill>
            <a:srgbClr val="C8A96A"/>
          </a:solidFill>
          <a:ln w="12700">
            <a:solidFill>
              <a:srgbClr val="FFFFFF"/>
            </a:solidFill>
            <a:prstDash val="solid"/>
          </a:ln>
        </p:spPr>
      </p:sp>
      <p:sp>
        <p:nvSpPr>
          <p:cNvPr id="17" name="Text 13"/>
          <p:cNvSpPr/>
          <p:nvPr/>
        </p:nvSpPr>
        <p:spPr>
          <a:xfrm>
            <a:off x="9125712" y="3026664"/>
            <a:ext cx="1417320" cy="201168"/>
          </a:xfrm>
          <a:prstGeom prst="rect">
            <a:avLst/>
          </a:prstGeom>
          <a:noFill/>
          <a:ln/>
        </p:spPr>
        <p:txBody>
          <a:bodyPr wrap="square" lIns="0" tIns="0" rIns="0" bIns="0" rtlCol="0" anchor="ctr"/>
          <a:lstStyle/>
          <a:p>
            <a:pPr indent="0" marL="0">
              <a:buNone/>
            </a:pPr>
            <a:r>
              <a:rPr lang="en-US" sz="1150" b="1" dirty="0">
                <a:solidFill>
                  <a:srgbClr val="14251D"/>
                </a:solidFill>
                <a:latin typeface="Aptos" pitchFamily="34" charset="0"/>
                <a:ea typeface="Aptos" pitchFamily="34" charset="-122"/>
                <a:cs typeface="Aptos" pitchFamily="34" charset="-120"/>
              </a:rPr>
              <a:t>Asia</a:t>
            </a:r>
            <a:endParaRPr lang="en-US" sz="1150" dirty="0"/>
          </a:p>
        </p:txBody>
      </p:sp>
      <p:sp>
        <p:nvSpPr>
          <p:cNvPr id="18" name="Text 14"/>
          <p:cNvSpPr/>
          <p:nvPr/>
        </p:nvSpPr>
        <p:spPr>
          <a:xfrm>
            <a:off x="10561320" y="3026664"/>
            <a:ext cx="502920" cy="201168"/>
          </a:xfrm>
          <a:prstGeom prst="rect">
            <a:avLst/>
          </a:prstGeom>
          <a:noFill/>
          <a:ln/>
        </p:spPr>
        <p:txBody>
          <a:bodyPr wrap="square" lIns="0" tIns="0" rIns="0" bIns="0" rtlCol="0" anchor="ctr"/>
          <a:lstStyle/>
          <a:p>
            <a:pPr algn="r" indent="0" marL="0">
              <a:buNone/>
            </a:pPr>
            <a:r>
              <a:rPr lang="en-US" sz="1150" b="1" dirty="0">
                <a:solidFill>
                  <a:srgbClr val="123524"/>
                </a:solidFill>
                <a:latin typeface="Aptos" pitchFamily="34" charset="0"/>
                <a:ea typeface="Aptos" pitchFamily="34" charset="-122"/>
                <a:cs typeface="Aptos" pitchFamily="34" charset="-120"/>
              </a:rPr>
              <a:t>438</a:t>
            </a:r>
            <a:endParaRPr lang="en-US" sz="1150" dirty="0"/>
          </a:p>
        </p:txBody>
      </p:sp>
      <p:sp>
        <p:nvSpPr>
          <p:cNvPr id="19" name="Shape 15"/>
          <p:cNvSpPr/>
          <p:nvPr/>
        </p:nvSpPr>
        <p:spPr>
          <a:xfrm>
            <a:off x="8686800" y="3584448"/>
            <a:ext cx="310896" cy="310896"/>
          </a:xfrm>
          <a:prstGeom prst="ellipse">
            <a:avLst/>
          </a:prstGeom>
          <a:solidFill>
            <a:srgbClr val="C8A96A"/>
          </a:solidFill>
          <a:ln w="12700">
            <a:solidFill>
              <a:srgbClr val="FFFFFF"/>
            </a:solidFill>
            <a:prstDash val="solid"/>
          </a:ln>
        </p:spPr>
      </p:sp>
      <p:sp>
        <p:nvSpPr>
          <p:cNvPr id="20" name="Text 16"/>
          <p:cNvSpPr/>
          <p:nvPr/>
        </p:nvSpPr>
        <p:spPr>
          <a:xfrm>
            <a:off x="9125712" y="3566160"/>
            <a:ext cx="1417320" cy="201168"/>
          </a:xfrm>
          <a:prstGeom prst="rect">
            <a:avLst/>
          </a:prstGeom>
          <a:noFill/>
          <a:ln/>
        </p:spPr>
        <p:txBody>
          <a:bodyPr wrap="square" lIns="0" tIns="0" rIns="0" bIns="0" rtlCol="0" anchor="ctr"/>
          <a:lstStyle/>
          <a:p>
            <a:pPr indent="0" marL="0">
              <a:buNone/>
            </a:pPr>
            <a:r>
              <a:rPr lang="en-US" sz="1150" b="1" dirty="0">
                <a:solidFill>
                  <a:srgbClr val="14251D"/>
                </a:solidFill>
                <a:latin typeface="Aptos" pitchFamily="34" charset="0"/>
                <a:ea typeface="Aptos" pitchFamily="34" charset="-122"/>
                <a:cs typeface="Aptos" pitchFamily="34" charset="-120"/>
              </a:rPr>
              <a:t>Americas</a:t>
            </a:r>
            <a:endParaRPr lang="en-US" sz="1150" dirty="0"/>
          </a:p>
        </p:txBody>
      </p:sp>
      <p:sp>
        <p:nvSpPr>
          <p:cNvPr id="21" name="Text 17"/>
          <p:cNvSpPr/>
          <p:nvPr/>
        </p:nvSpPr>
        <p:spPr>
          <a:xfrm>
            <a:off x="10561320" y="3566160"/>
            <a:ext cx="502920" cy="201168"/>
          </a:xfrm>
          <a:prstGeom prst="rect">
            <a:avLst/>
          </a:prstGeom>
          <a:noFill/>
          <a:ln/>
        </p:spPr>
        <p:txBody>
          <a:bodyPr wrap="square" lIns="0" tIns="0" rIns="0" bIns="0" rtlCol="0" anchor="ctr"/>
          <a:lstStyle/>
          <a:p>
            <a:pPr algn="r" indent="0" marL="0">
              <a:buNone/>
            </a:pPr>
            <a:r>
              <a:rPr lang="en-US" sz="1150" b="1" dirty="0">
                <a:solidFill>
                  <a:srgbClr val="123524"/>
                </a:solidFill>
                <a:latin typeface="Aptos" pitchFamily="34" charset="0"/>
                <a:ea typeface="Aptos" pitchFamily="34" charset="-122"/>
                <a:cs typeface="Aptos" pitchFamily="34" charset="-120"/>
              </a:rPr>
              <a:t>302</a:t>
            </a:r>
            <a:endParaRPr lang="en-US" sz="1150" dirty="0"/>
          </a:p>
        </p:txBody>
      </p:sp>
      <p:sp>
        <p:nvSpPr>
          <p:cNvPr id="22" name="Shape 18"/>
          <p:cNvSpPr/>
          <p:nvPr/>
        </p:nvSpPr>
        <p:spPr>
          <a:xfrm>
            <a:off x="8686800" y="4123944"/>
            <a:ext cx="310896" cy="310896"/>
          </a:xfrm>
          <a:prstGeom prst="ellipse">
            <a:avLst/>
          </a:prstGeom>
          <a:solidFill>
            <a:srgbClr val="C8A96A"/>
          </a:solidFill>
          <a:ln w="12700">
            <a:solidFill>
              <a:srgbClr val="FFFFFF"/>
            </a:solidFill>
            <a:prstDash val="solid"/>
          </a:ln>
        </p:spPr>
      </p:sp>
      <p:sp>
        <p:nvSpPr>
          <p:cNvPr id="23" name="Text 19"/>
          <p:cNvSpPr/>
          <p:nvPr/>
        </p:nvSpPr>
        <p:spPr>
          <a:xfrm>
            <a:off x="9125712" y="4105656"/>
            <a:ext cx="1417320" cy="201168"/>
          </a:xfrm>
          <a:prstGeom prst="rect">
            <a:avLst/>
          </a:prstGeom>
          <a:noFill/>
          <a:ln/>
        </p:spPr>
        <p:txBody>
          <a:bodyPr wrap="square" lIns="0" tIns="0" rIns="0" bIns="0" rtlCol="0" anchor="ctr"/>
          <a:lstStyle/>
          <a:p>
            <a:pPr indent="0" marL="0">
              <a:buNone/>
            </a:pPr>
            <a:r>
              <a:rPr lang="en-US" sz="1150" b="1" dirty="0">
                <a:solidFill>
                  <a:srgbClr val="14251D"/>
                </a:solidFill>
                <a:latin typeface="Aptos" pitchFamily="34" charset="0"/>
                <a:ea typeface="Aptos" pitchFamily="34" charset="-122"/>
                <a:cs typeface="Aptos" pitchFamily="34" charset="-120"/>
              </a:rPr>
              <a:t>Europe</a:t>
            </a:r>
            <a:endParaRPr lang="en-US" sz="1150" dirty="0"/>
          </a:p>
        </p:txBody>
      </p:sp>
      <p:sp>
        <p:nvSpPr>
          <p:cNvPr id="24" name="Text 20"/>
          <p:cNvSpPr/>
          <p:nvPr/>
        </p:nvSpPr>
        <p:spPr>
          <a:xfrm>
            <a:off x="10561320" y="4105656"/>
            <a:ext cx="502920" cy="201168"/>
          </a:xfrm>
          <a:prstGeom prst="rect">
            <a:avLst/>
          </a:prstGeom>
          <a:noFill/>
          <a:ln/>
        </p:spPr>
        <p:txBody>
          <a:bodyPr wrap="square" lIns="0" tIns="0" rIns="0" bIns="0" rtlCol="0" anchor="ctr"/>
          <a:lstStyle/>
          <a:p>
            <a:pPr algn="r" indent="0" marL="0">
              <a:buNone/>
            </a:pPr>
            <a:r>
              <a:rPr lang="en-US" sz="1150" b="1" dirty="0">
                <a:solidFill>
                  <a:srgbClr val="123524"/>
                </a:solidFill>
                <a:latin typeface="Aptos" pitchFamily="34" charset="0"/>
                <a:ea typeface="Aptos" pitchFamily="34" charset="-122"/>
                <a:cs typeface="Aptos" pitchFamily="34" charset="-120"/>
              </a:rPr>
              <a:t>57</a:t>
            </a:r>
            <a:endParaRPr lang="en-US" sz="1150" dirty="0"/>
          </a:p>
        </p:txBody>
      </p:sp>
      <p:sp>
        <p:nvSpPr>
          <p:cNvPr id="25" name="Shape 21"/>
          <p:cNvSpPr/>
          <p:nvPr/>
        </p:nvSpPr>
        <p:spPr>
          <a:xfrm>
            <a:off x="8686800" y="4663440"/>
            <a:ext cx="310896" cy="310896"/>
          </a:xfrm>
          <a:prstGeom prst="ellipse">
            <a:avLst/>
          </a:prstGeom>
          <a:solidFill>
            <a:srgbClr val="C8A96A"/>
          </a:solidFill>
          <a:ln w="12700">
            <a:solidFill>
              <a:srgbClr val="FFFFFF"/>
            </a:solidFill>
            <a:prstDash val="solid"/>
          </a:ln>
        </p:spPr>
      </p:sp>
      <p:sp>
        <p:nvSpPr>
          <p:cNvPr id="26" name="Text 22"/>
          <p:cNvSpPr/>
          <p:nvPr/>
        </p:nvSpPr>
        <p:spPr>
          <a:xfrm>
            <a:off x="9125712" y="4645152"/>
            <a:ext cx="1417320" cy="201168"/>
          </a:xfrm>
          <a:prstGeom prst="rect">
            <a:avLst/>
          </a:prstGeom>
          <a:noFill/>
          <a:ln/>
        </p:spPr>
        <p:txBody>
          <a:bodyPr wrap="square" lIns="0" tIns="0" rIns="0" bIns="0" rtlCol="0" anchor="ctr"/>
          <a:lstStyle/>
          <a:p>
            <a:pPr indent="0" marL="0">
              <a:buNone/>
            </a:pPr>
            <a:r>
              <a:rPr lang="en-US" sz="1150" b="1" dirty="0">
                <a:solidFill>
                  <a:srgbClr val="14251D"/>
                </a:solidFill>
                <a:latin typeface="Aptos" pitchFamily="34" charset="0"/>
                <a:ea typeface="Aptos" pitchFamily="34" charset="-122"/>
                <a:cs typeface="Aptos" pitchFamily="34" charset="-120"/>
              </a:rPr>
              <a:t>Oceania</a:t>
            </a:r>
            <a:endParaRPr lang="en-US" sz="1150" dirty="0"/>
          </a:p>
        </p:txBody>
      </p:sp>
      <p:sp>
        <p:nvSpPr>
          <p:cNvPr id="27" name="Text 23"/>
          <p:cNvSpPr/>
          <p:nvPr/>
        </p:nvSpPr>
        <p:spPr>
          <a:xfrm>
            <a:off x="10561320" y="4645152"/>
            <a:ext cx="502920" cy="201168"/>
          </a:xfrm>
          <a:prstGeom prst="rect">
            <a:avLst/>
          </a:prstGeom>
          <a:noFill/>
          <a:ln/>
        </p:spPr>
        <p:txBody>
          <a:bodyPr wrap="square" lIns="0" tIns="0" rIns="0" bIns="0" rtlCol="0" anchor="ctr"/>
          <a:lstStyle/>
          <a:p>
            <a:pPr algn="r" indent="0" marL="0">
              <a:buNone/>
            </a:pPr>
            <a:r>
              <a:rPr lang="en-US" sz="1150" b="1" dirty="0">
                <a:solidFill>
                  <a:srgbClr val="123524"/>
                </a:solidFill>
                <a:latin typeface="Aptos" pitchFamily="34" charset="0"/>
                <a:ea typeface="Aptos" pitchFamily="34" charset="-122"/>
                <a:cs typeface="Aptos" pitchFamily="34" charset="-120"/>
              </a:rPr>
              <a:t>34</a:t>
            </a:r>
            <a:endParaRPr lang="en-US" sz="1150" dirty="0"/>
          </a:p>
        </p:txBody>
      </p:sp>
      <p:sp>
        <p:nvSpPr>
          <p:cNvPr id="28" name="Shape 24"/>
          <p:cNvSpPr/>
          <p:nvPr/>
        </p:nvSpPr>
        <p:spPr>
          <a:xfrm>
            <a:off x="8641080" y="5349240"/>
            <a:ext cx="2606040" cy="438912"/>
          </a:xfrm>
          <a:prstGeom prst="roundRect">
            <a:avLst/>
          </a:prstGeom>
          <a:solidFill>
            <a:srgbClr val="F6EEDC"/>
          </a:solidFill>
          <a:ln w="10160">
            <a:solidFill>
              <a:srgbClr val="C8A96A"/>
            </a:solidFill>
            <a:prstDash val="solid"/>
          </a:ln>
        </p:spPr>
      </p:sp>
      <p:sp>
        <p:nvSpPr>
          <p:cNvPr id="29" name="Text 25"/>
          <p:cNvSpPr/>
          <p:nvPr/>
        </p:nvSpPr>
        <p:spPr>
          <a:xfrm>
            <a:off x="8796528" y="5449824"/>
            <a:ext cx="2295144" cy="201168"/>
          </a:xfrm>
          <a:prstGeom prst="rect">
            <a:avLst/>
          </a:prstGeom>
          <a:noFill/>
          <a:ln/>
        </p:spPr>
        <p:txBody>
          <a:bodyPr wrap="square" lIns="0" tIns="0" rIns="0" bIns="0" rtlCol="0" anchor="ctr">
            <a:normAutofit/>
          </a:bodyPr>
          <a:lstStyle/>
          <a:p>
            <a:pPr indent="0" marL="0">
              <a:buNone/>
            </a:pPr>
            <a:r>
              <a:rPr lang="en-US" sz="1050" b="1" dirty="0">
                <a:solidFill>
                  <a:srgbClr val="14251D"/>
                </a:solidFill>
                <a:latin typeface="Aptos" pitchFamily="34" charset="0"/>
                <a:ea typeface="Aptos" pitchFamily="34" charset="-122"/>
                <a:cs typeface="Aptos" pitchFamily="34" charset="-120"/>
              </a:rPr>
              <a:t>Marker totals sum to 1,557 groups.</a:t>
            </a:r>
            <a:endParaRPr lang="en-US" sz="1050" dirty="0"/>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4.5 • INTERACTIVE MAP</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A marker click becomes a reproducible filter</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The map transfers context through the URL and the Groups page applies it after data loads.</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sp>
        <p:nvSpPr>
          <p:cNvPr id="8" name="Shape 5"/>
          <p:cNvSpPr/>
          <p:nvPr/>
        </p:nvSpPr>
        <p:spPr>
          <a:xfrm>
            <a:off x="557784" y="1563624"/>
            <a:ext cx="7571232" cy="4553712"/>
          </a:xfrm>
          <a:prstGeom prst="roundRect">
            <a:avLst>
              <a:gd name="adj" fmla="val 2008"/>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pic>
        <p:nvPicPr>
          <p:cNvPr id="9" name="Image 0" descr="C:\Users\mossa\OneDrive\Documents\مشروع التخرج\docs\chapter4-screenshots\07-map-africa-filter-result.png">    </p:cNvPr>
          <p:cNvPicPr>
            <a:picLocks noChangeAspect="1"/>
          </p:cNvPicPr>
          <p:nvPr/>
        </p:nvPicPr>
        <p:blipFill>
          <a:blip r:embed="rId1"/>
          <a:stretch>
            <a:fillRect/>
          </a:stretch>
        </p:blipFill>
        <p:spPr>
          <a:xfrm>
            <a:off x="1118755" y="1600200"/>
            <a:ext cx="6449291" cy="4480560"/>
          </a:xfrm>
          <a:prstGeom prst="rect">
            <a:avLst/>
          </a:prstGeom>
        </p:spPr>
      </p:pic>
      <p:sp>
        <p:nvSpPr>
          <p:cNvPr id="10" name="Text 6"/>
          <p:cNvSpPr/>
          <p:nvPr/>
        </p:nvSpPr>
        <p:spPr>
          <a:xfrm>
            <a:off x="594360" y="6135624"/>
            <a:ext cx="7498080" cy="219456"/>
          </a:xfrm>
          <a:prstGeom prst="rect">
            <a:avLst/>
          </a:prstGeom>
          <a:noFill/>
          <a:ln/>
        </p:spPr>
        <p:txBody>
          <a:bodyPr wrap="square" lIns="0" tIns="0" rIns="0" bIns="0" rtlCol="0" anchor="ctr">
            <a:normAutofit/>
          </a:bodyPr>
          <a:lstStyle/>
          <a:p>
            <a:pPr algn="ctr" indent="0" marL="0">
              <a:buNone/>
            </a:pPr>
            <a:r>
              <a:rPr lang="en-US" sz="900" i="1" dirty="0">
                <a:solidFill>
                  <a:srgbClr val="65736B"/>
                </a:solidFill>
                <a:latin typeface="Aptos" pitchFamily="34" charset="0"/>
                <a:ea typeface="Aptos" pitchFamily="34" charset="-122"/>
                <a:cs typeface="Aptos" pitchFamily="34" charset="-120"/>
              </a:rPr>
              <a:t>Figure 4.6: Map Marker Navigation to Africa-Filtered Records</a:t>
            </a:r>
            <a:endParaRPr lang="en-US" sz="900" dirty="0"/>
          </a:p>
        </p:txBody>
      </p:sp>
      <p:sp>
        <p:nvSpPr>
          <p:cNvPr id="11" name="Shape 7"/>
          <p:cNvSpPr/>
          <p:nvPr/>
        </p:nvSpPr>
        <p:spPr>
          <a:xfrm>
            <a:off x="8366760" y="1783080"/>
            <a:ext cx="3108960" cy="713232"/>
          </a:xfrm>
          <a:prstGeom prst="roundRect">
            <a:avLst>
              <a:gd name="adj" fmla="val 12821"/>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12" name="Text 8"/>
          <p:cNvSpPr/>
          <p:nvPr/>
        </p:nvSpPr>
        <p:spPr>
          <a:xfrm>
            <a:off x="8540496" y="1965960"/>
            <a:ext cx="320040" cy="237744"/>
          </a:xfrm>
          <a:prstGeom prst="rect">
            <a:avLst/>
          </a:prstGeom>
          <a:noFill/>
          <a:ln/>
        </p:spPr>
        <p:txBody>
          <a:bodyPr wrap="square" lIns="0" tIns="0" rIns="0" bIns="0" rtlCol="0" anchor="ctr"/>
          <a:lstStyle/>
          <a:p>
            <a:pPr indent="0" marL="0">
              <a:buNone/>
            </a:pPr>
            <a:r>
              <a:rPr lang="en-US" sz="1800" b="1" dirty="0">
                <a:solidFill>
                  <a:srgbClr val="C8A96A"/>
                </a:solidFill>
                <a:latin typeface="Georgia" pitchFamily="34" charset="0"/>
                <a:ea typeface="Georgia" pitchFamily="34" charset="-122"/>
                <a:cs typeface="Georgia" pitchFamily="34" charset="-120"/>
              </a:rPr>
              <a:t>1</a:t>
            </a:r>
            <a:endParaRPr lang="en-US" sz="1800" dirty="0"/>
          </a:p>
        </p:txBody>
      </p:sp>
      <p:sp>
        <p:nvSpPr>
          <p:cNvPr id="13" name="Text 9"/>
          <p:cNvSpPr/>
          <p:nvPr/>
        </p:nvSpPr>
        <p:spPr>
          <a:xfrm>
            <a:off x="9006840" y="1901952"/>
            <a:ext cx="914400" cy="164592"/>
          </a:xfrm>
          <a:prstGeom prst="rect">
            <a:avLst/>
          </a:prstGeom>
          <a:noFill/>
          <a:ln/>
        </p:spPr>
        <p:txBody>
          <a:bodyPr wrap="square" lIns="0" tIns="0" rIns="0" bIns="0" rtlCol="0" anchor="ctr"/>
          <a:lstStyle/>
          <a:p>
            <a:pPr indent="0" marL="0">
              <a:buNone/>
            </a:pPr>
            <a:r>
              <a:rPr lang="en-US" sz="900" b="1" dirty="0">
                <a:solidFill>
                  <a:srgbClr val="123524"/>
                </a:solidFill>
                <a:latin typeface="Aptos" pitchFamily="34" charset="0"/>
                <a:ea typeface="Aptos" pitchFamily="34" charset="-122"/>
                <a:cs typeface="Aptos" pitchFamily="34" charset="-120"/>
              </a:rPr>
              <a:t>Select</a:t>
            </a:r>
            <a:endParaRPr lang="en-US" sz="900" dirty="0"/>
          </a:p>
        </p:txBody>
      </p:sp>
      <p:sp>
        <p:nvSpPr>
          <p:cNvPr id="14" name="Text 10"/>
          <p:cNvSpPr/>
          <p:nvPr/>
        </p:nvSpPr>
        <p:spPr>
          <a:xfrm>
            <a:off x="9006840" y="2130552"/>
            <a:ext cx="2148840" cy="164592"/>
          </a:xfrm>
          <a:prstGeom prst="rect">
            <a:avLst/>
          </a:prstGeom>
          <a:noFill/>
          <a:ln/>
        </p:spPr>
        <p:txBody>
          <a:bodyPr wrap="square" lIns="0" tIns="0" rIns="0" bIns="0" rtlCol="0" anchor="ctr">
            <a:normAutofit/>
          </a:bodyPr>
          <a:lstStyle/>
          <a:p>
            <a:pPr indent="0" marL="0">
              <a:buNone/>
            </a:pPr>
            <a:r>
              <a:rPr lang="en-US" sz="1150" dirty="0">
                <a:solidFill>
                  <a:srgbClr val="14251D"/>
                </a:solidFill>
                <a:latin typeface="Aptos" pitchFamily="34" charset="0"/>
                <a:ea typeface="Aptos" pitchFamily="34" charset="-122"/>
                <a:cs typeface="Aptos" pitchFamily="34" charset="-120"/>
              </a:rPr>
              <a:t>Africa marker</a:t>
            </a:r>
            <a:endParaRPr lang="en-US" sz="1150" dirty="0"/>
          </a:p>
        </p:txBody>
      </p:sp>
      <p:sp>
        <p:nvSpPr>
          <p:cNvPr id="15" name="Shape 11"/>
          <p:cNvSpPr/>
          <p:nvPr/>
        </p:nvSpPr>
        <p:spPr>
          <a:xfrm>
            <a:off x="8366760" y="2715768"/>
            <a:ext cx="3108960" cy="713232"/>
          </a:xfrm>
          <a:prstGeom prst="roundRect">
            <a:avLst>
              <a:gd name="adj" fmla="val 12821"/>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16" name="Text 12"/>
          <p:cNvSpPr/>
          <p:nvPr/>
        </p:nvSpPr>
        <p:spPr>
          <a:xfrm>
            <a:off x="8540496" y="2898648"/>
            <a:ext cx="320040" cy="237744"/>
          </a:xfrm>
          <a:prstGeom prst="rect">
            <a:avLst/>
          </a:prstGeom>
          <a:noFill/>
          <a:ln/>
        </p:spPr>
        <p:txBody>
          <a:bodyPr wrap="square" lIns="0" tIns="0" rIns="0" bIns="0" rtlCol="0" anchor="ctr"/>
          <a:lstStyle/>
          <a:p>
            <a:pPr indent="0" marL="0">
              <a:buNone/>
            </a:pPr>
            <a:r>
              <a:rPr lang="en-US" sz="1800" b="1" dirty="0">
                <a:solidFill>
                  <a:srgbClr val="C8A96A"/>
                </a:solidFill>
                <a:latin typeface="Georgia" pitchFamily="34" charset="0"/>
                <a:ea typeface="Georgia" pitchFamily="34" charset="-122"/>
                <a:cs typeface="Georgia" pitchFamily="34" charset="-120"/>
              </a:rPr>
              <a:t>2</a:t>
            </a:r>
            <a:endParaRPr lang="en-US" sz="1800" dirty="0"/>
          </a:p>
        </p:txBody>
      </p:sp>
      <p:sp>
        <p:nvSpPr>
          <p:cNvPr id="17" name="Text 13"/>
          <p:cNvSpPr/>
          <p:nvPr/>
        </p:nvSpPr>
        <p:spPr>
          <a:xfrm>
            <a:off x="9006840" y="2834640"/>
            <a:ext cx="914400" cy="164592"/>
          </a:xfrm>
          <a:prstGeom prst="rect">
            <a:avLst/>
          </a:prstGeom>
          <a:noFill/>
          <a:ln/>
        </p:spPr>
        <p:txBody>
          <a:bodyPr wrap="square" lIns="0" tIns="0" rIns="0" bIns="0" rtlCol="0" anchor="ctr"/>
          <a:lstStyle/>
          <a:p>
            <a:pPr indent="0" marL="0">
              <a:buNone/>
            </a:pPr>
            <a:r>
              <a:rPr lang="en-US" sz="900" b="1" dirty="0">
                <a:solidFill>
                  <a:srgbClr val="123524"/>
                </a:solidFill>
                <a:latin typeface="Aptos" pitchFamily="34" charset="0"/>
                <a:ea typeface="Aptos" pitchFamily="34" charset="-122"/>
                <a:cs typeface="Aptos" pitchFamily="34" charset="-120"/>
              </a:rPr>
              <a:t>Navigate</a:t>
            </a:r>
            <a:endParaRPr lang="en-US" sz="900" dirty="0"/>
          </a:p>
        </p:txBody>
      </p:sp>
      <p:sp>
        <p:nvSpPr>
          <p:cNvPr id="18" name="Text 14"/>
          <p:cNvSpPr/>
          <p:nvPr/>
        </p:nvSpPr>
        <p:spPr>
          <a:xfrm>
            <a:off x="9006840" y="3063240"/>
            <a:ext cx="2148840" cy="164592"/>
          </a:xfrm>
          <a:prstGeom prst="rect">
            <a:avLst/>
          </a:prstGeom>
          <a:noFill/>
          <a:ln/>
        </p:spPr>
        <p:txBody>
          <a:bodyPr wrap="square" lIns="0" tIns="0" rIns="0" bIns="0" rtlCol="0" anchor="ctr">
            <a:normAutofit/>
          </a:bodyPr>
          <a:lstStyle/>
          <a:p>
            <a:pPr indent="0" marL="0">
              <a:buNone/>
            </a:pPr>
            <a:r>
              <a:rPr lang="en-US" sz="1150" dirty="0">
                <a:solidFill>
                  <a:srgbClr val="14251D"/>
                </a:solidFill>
                <a:latin typeface="Aptos" pitchFamily="34" charset="0"/>
                <a:ea typeface="Aptos" pitchFamily="34" charset="-122"/>
                <a:cs typeface="Aptos" pitchFamily="34" charset="-120"/>
              </a:rPr>
              <a:t>?continent=Africa</a:t>
            </a:r>
            <a:endParaRPr lang="en-US" sz="1150" dirty="0"/>
          </a:p>
        </p:txBody>
      </p:sp>
      <p:sp>
        <p:nvSpPr>
          <p:cNvPr id="19" name="Shape 15"/>
          <p:cNvSpPr/>
          <p:nvPr/>
        </p:nvSpPr>
        <p:spPr>
          <a:xfrm>
            <a:off x="8366760" y="3648456"/>
            <a:ext cx="3108960" cy="713232"/>
          </a:xfrm>
          <a:prstGeom prst="roundRect">
            <a:avLst>
              <a:gd name="adj" fmla="val 12821"/>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20" name="Text 16"/>
          <p:cNvSpPr/>
          <p:nvPr/>
        </p:nvSpPr>
        <p:spPr>
          <a:xfrm>
            <a:off x="8540496" y="3831336"/>
            <a:ext cx="320040" cy="237744"/>
          </a:xfrm>
          <a:prstGeom prst="rect">
            <a:avLst/>
          </a:prstGeom>
          <a:noFill/>
          <a:ln/>
        </p:spPr>
        <p:txBody>
          <a:bodyPr wrap="square" lIns="0" tIns="0" rIns="0" bIns="0" rtlCol="0" anchor="ctr"/>
          <a:lstStyle/>
          <a:p>
            <a:pPr indent="0" marL="0">
              <a:buNone/>
            </a:pPr>
            <a:r>
              <a:rPr lang="en-US" sz="1800" b="1" dirty="0">
                <a:solidFill>
                  <a:srgbClr val="C8A96A"/>
                </a:solidFill>
                <a:latin typeface="Georgia" pitchFamily="34" charset="0"/>
                <a:ea typeface="Georgia" pitchFamily="34" charset="-122"/>
                <a:cs typeface="Georgia" pitchFamily="34" charset="-120"/>
              </a:rPr>
              <a:t>3</a:t>
            </a:r>
            <a:endParaRPr lang="en-US" sz="1800" dirty="0"/>
          </a:p>
        </p:txBody>
      </p:sp>
      <p:sp>
        <p:nvSpPr>
          <p:cNvPr id="21" name="Text 17"/>
          <p:cNvSpPr/>
          <p:nvPr/>
        </p:nvSpPr>
        <p:spPr>
          <a:xfrm>
            <a:off x="9006840" y="3767328"/>
            <a:ext cx="914400" cy="164592"/>
          </a:xfrm>
          <a:prstGeom prst="rect">
            <a:avLst/>
          </a:prstGeom>
          <a:noFill/>
          <a:ln/>
        </p:spPr>
        <p:txBody>
          <a:bodyPr wrap="square" lIns="0" tIns="0" rIns="0" bIns="0" rtlCol="0" anchor="ctr"/>
          <a:lstStyle/>
          <a:p>
            <a:pPr indent="0" marL="0">
              <a:buNone/>
            </a:pPr>
            <a:r>
              <a:rPr lang="en-US" sz="900" b="1" dirty="0">
                <a:solidFill>
                  <a:srgbClr val="123524"/>
                </a:solidFill>
                <a:latin typeface="Aptos" pitchFamily="34" charset="0"/>
                <a:ea typeface="Aptos" pitchFamily="34" charset="-122"/>
                <a:cs typeface="Aptos" pitchFamily="34" charset="-120"/>
              </a:rPr>
              <a:t>Load</a:t>
            </a:r>
            <a:endParaRPr lang="en-US" sz="900" dirty="0"/>
          </a:p>
        </p:txBody>
      </p:sp>
      <p:sp>
        <p:nvSpPr>
          <p:cNvPr id="22" name="Text 18"/>
          <p:cNvSpPr/>
          <p:nvPr/>
        </p:nvSpPr>
        <p:spPr>
          <a:xfrm>
            <a:off x="9006840" y="3995928"/>
            <a:ext cx="2148840" cy="164592"/>
          </a:xfrm>
          <a:prstGeom prst="rect">
            <a:avLst/>
          </a:prstGeom>
          <a:noFill/>
          <a:ln/>
        </p:spPr>
        <p:txBody>
          <a:bodyPr wrap="square" lIns="0" tIns="0" rIns="0" bIns="0" rtlCol="0" anchor="ctr">
            <a:normAutofit/>
          </a:bodyPr>
          <a:lstStyle/>
          <a:p>
            <a:pPr indent="0" marL="0">
              <a:buNone/>
            </a:pPr>
            <a:r>
              <a:rPr lang="en-US" sz="1150" dirty="0">
                <a:solidFill>
                  <a:srgbClr val="14251D"/>
                </a:solidFill>
                <a:latin typeface="Aptos" pitchFamily="34" charset="0"/>
                <a:ea typeface="Aptos" pitchFamily="34" charset="-122"/>
                <a:cs typeface="Aptos" pitchFamily="34" charset="-120"/>
              </a:rPr>
              <a:t>First filtered page</a:t>
            </a:r>
            <a:endParaRPr lang="en-US" sz="1150" dirty="0"/>
          </a:p>
        </p:txBody>
      </p:sp>
      <p:sp>
        <p:nvSpPr>
          <p:cNvPr id="23" name="Shape 19"/>
          <p:cNvSpPr/>
          <p:nvPr/>
        </p:nvSpPr>
        <p:spPr>
          <a:xfrm>
            <a:off x="8366760" y="4581144"/>
            <a:ext cx="3108960" cy="713232"/>
          </a:xfrm>
          <a:prstGeom prst="roundRect">
            <a:avLst>
              <a:gd name="adj" fmla="val 12821"/>
            </a:avLst>
          </a:prstGeom>
          <a:solidFill>
            <a:srgbClr val="E7F2EB"/>
          </a:solidFill>
          <a:ln w="8890">
            <a:solidFill>
              <a:srgbClr val="5B9B78"/>
            </a:solidFill>
            <a:prstDash val="solid"/>
          </a:ln>
          <a:effectLst>
            <a:outerShdw sx="100000" sy="100000" kx="0" ky="0" algn="bl" rotWithShape="0" blurRad="19050" dist="50800" dir="2700000">
              <a:srgbClr val="AAB7AF">
                <a:alpha val="13000"/>
              </a:srgbClr>
            </a:outerShdw>
          </a:effectLst>
        </p:spPr>
      </p:sp>
      <p:sp>
        <p:nvSpPr>
          <p:cNvPr id="24" name="Text 20"/>
          <p:cNvSpPr/>
          <p:nvPr/>
        </p:nvSpPr>
        <p:spPr>
          <a:xfrm>
            <a:off x="8540496" y="4764024"/>
            <a:ext cx="320040" cy="237744"/>
          </a:xfrm>
          <a:prstGeom prst="rect">
            <a:avLst/>
          </a:prstGeom>
          <a:noFill/>
          <a:ln/>
        </p:spPr>
        <p:txBody>
          <a:bodyPr wrap="square" lIns="0" tIns="0" rIns="0" bIns="0" rtlCol="0" anchor="ctr"/>
          <a:lstStyle/>
          <a:p>
            <a:pPr indent="0" marL="0">
              <a:buNone/>
            </a:pPr>
            <a:r>
              <a:rPr lang="en-US" sz="1800" b="1" dirty="0">
                <a:solidFill>
                  <a:srgbClr val="C8A96A"/>
                </a:solidFill>
                <a:latin typeface="Georgia" pitchFamily="34" charset="0"/>
                <a:ea typeface="Georgia" pitchFamily="34" charset="-122"/>
                <a:cs typeface="Georgia" pitchFamily="34" charset="-120"/>
              </a:rPr>
              <a:t>4</a:t>
            </a:r>
            <a:endParaRPr lang="en-US" sz="1800" dirty="0"/>
          </a:p>
        </p:txBody>
      </p:sp>
      <p:sp>
        <p:nvSpPr>
          <p:cNvPr id="25" name="Text 21"/>
          <p:cNvSpPr/>
          <p:nvPr/>
        </p:nvSpPr>
        <p:spPr>
          <a:xfrm>
            <a:off x="9006840" y="4700016"/>
            <a:ext cx="914400" cy="164592"/>
          </a:xfrm>
          <a:prstGeom prst="rect">
            <a:avLst/>
          </a:prstGeom>
          <a:noFill/>
          <a:ln/>
        </p:spPr>
        <p:txBody>
          <a:bodyPr wrap="square" lIns="0" tIns="0" rIns="0" bIns="0" rtlCol="0" anchor="ctr"/>
          <a:lstStyle/>
          <a:p>
            <a:pPr indent="0" marL="0">
              <a:buNone/>
            </a:pPr>
            <a:r>
              <a:rPr lang="en-US" sz="900" b="1" dirty="0">
                <a:solidFill>
                  <a:srgbClr val="123524"/>
                </a:solidFill>
                <a:latin typeface="Aptos" pitchFamily="34" charset="0"/>
                <a:ea typeface="Aptos" pitchFamily="34" charset="-122"/>
                <a:cs typeface="Aptos" pitchFamily="34" charset="-120"/>
              </a:rPr>
              <a:t>Verify</a:t>
            </a:r>
            <a:endParaRPr lang="en-US" sz="900" dirty="0"/>
          </a:p>
        </p:txBody>
      </p:sp>
      <p:sp>
        <p:nvSpPr>
          <p:cNvPr id="26" name="Text 22"/>
          <p:cNvSpPr/>
          <p:nvPr/>
        </p:nvSpPr>
        <p:spPr>
          <a:xfrm>
            <a:off x="9006840" y="4928616"/>
            <a:ext cx="2148840" cy="164592"/>
          </a:xfrm>
          <a:prstGeom prst="rect">
            <a:avLst/>
          </a:prstGeom>
          <a:noFill/>
          <a:ln/>
        </p:spPr>
        <p:txBody>
          <a:bodyPr wrap="square" lIns="0" tIns="0" rIns="0" bIns="0" rtlCol="0" anchor="ctr">
            <a:normAutofit/>
          </a:bodyPr>
          <a:lstStyle/>
          <a:p>
            <a:pPr indent="0" marL="0">
              <a:buNone/>
            </a:pPr>
            <a:r>
              <a:rPr lang="en-US" sz="1150" b="1" dirty="0">
                <a:solidFill>
                  <a:srgbClr val="14251D"/>
                </a:solidFill>
                <a:latin typeface="Aptos" pitchFamily="34" charset="0"/>
                <a:ea typeface="Aptos" pitchFamily="34" charset="-122"/>
                <a:cs typeface="Aptos" pitchFamily="34" charset="-120"/>
              </a:rPr>
              <a:t>726 records</a:t>
            </a:r>
            <a:endParaRPr lang="en-US" sz="1150" dirty="0"/>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4.6 • STATISTICS PAGE</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Descriptive statistics reveal the dataset structure</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Seven charts update from one scoped statistics request.</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sp>
        <p:nvSpPr>
          <p:cNvPr id="8" name="Shape 5"/>
          <p:cNvSpPr/>
          <p:nvPr/>
        </p:nvSpPr>
        <p:spPr>
          <a:xfrm>
            <a:off x="512064" y="1536192"/>
            <a:ext cx="7754112" cy="4599432"/>
          </a:xfrm>
          <a:prstGeom prst="roundRect">
            <a:avLst>
              <a:gd name="adj" fmla="val 1988"/>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pic>
        <p:nvPicPr>
          <p:cNvPr id="9" name="Image 0" descr="C:\Users\mossa\OneDrive\Documents\مشروع التخرج\docs\chapter4-screenshots\09-statistics-overview.png">    </p:cNvPr>
          <p:cNvPicPr>
            <a:picLocks noChangeAspect="1"/>
          </p:cNvPicPr>
          <p:nvPr/>
        </p:nvPicPr>
        <p:blipFill>
          <a:blip r:embed="rId1"/>
          <a:stretch>
            <a:fillRect/>
          </a:stretch>
        </p:blipFill>
        <p:spPr>
          <a:xfrm>
            <a:off x="1131570" y="1572768"/>
            <a:ext cx="6515100" cy="4526280"/>
          </a:xfrm>
          <a:prstGeom prst="rect">
            <a:avLst/>
          </a:prstGeom>
        </p:spPr>
      </p:pic>
      <p:sp>
        <p:nvSpPr>
          <p:cNvPr id="10" name="Text 6"/>
          <p:cNvSpPr/>
          <p:nvPr/>
        </p:nvSpPr>
        <p:spPr>
          <a:xfrm>
            <a:off x="548640" y="6153912"/>
            <a:ext cx="7680960" cy="219456"/>
          </a:xfrm>
          <a:prstGeom prst="rect">
            <a:avLst/>
          </a:prstGeom>
          <a:noFill/>
          <a:ln/>
        </p:spPr>
        <p:txBody>
          <a:bodyPr wrap="square" lIns="0" tIns="0" rIns="0" bIns="0" rtlCol="0" anchor="ctr">
            <a:normAutofit/>
          </a:bodyPr>
          <a:lstStyle/>
          <a:p>
            <a:pPr algn="ctr" indent="0" marL="0">
              <a:buNone/>
            </a:pPr>
            <a:r>
              <a:rPr lang="en-US" sz="900" i="1" dirty="0">
                <a:solidFill>
                  <a:srgbClr val="65736B"/>
                </a:solidFill>
                <a:latin typeface="Aptos" pitchFamily="34" charset="0"/>
                <a:ea typeface="Aptos" pitchFamily="34" charset="-122"/>
                <a:cs typeface="Aptos" pitchFamily="34" charset="-120"/>
              </a:rPr>
              <a:t>Figure 4.7: Descriptive Statistics Dashboard</a:t>
            </a:r>
            <a:endParaRPr lang="en-US" sz="900" dirty="0"/>
          </a:p>
        </p:txBody>
      </p:sp>
      <p:sp>
        <p:nvSpPr>
          <p:cNvPr id="11" name="Shape 7"/>
          <p:cNvSpPr/>
          <p:nvPr/>
        </p:nvSpPr>
        <p:spPr>
          <a:xfrm>
            <a:off x="8503920" y="1700784"/>
            <a:ext cx="3017520" cy="4160520"/>
          </a:xfrm>
          <a:prstGeom prst="roundRect">
            <a:avLst>
              <a:gd name="adj" fmla="val 3030"/>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12" name="Text 8"/>
          <p:cNvSpPr/>
          <p:nvPr/>
        </p:nvSpPr>
        <p:spPr>
          <a:xfrm>
            <a:off x="8759952" y="1965960"/>
            <a:ext cx="2468880" cy="274320"/>
          </a:xfrm>
          <a:prstGeom prst="rect">
            <a:avLst/>
          </a:prstGeom>
          <a:noFill/>
          <a:ln/>
        </p:spPr>
        <p:txBody>
          <a:bodyPr wrap="square" lIns="0" tIns="0" rIns="0" bIns="0" rtlCol="0" anchor="ctr"/>
          <a:lstStyle/>
          <a:p>
            <a:pPr indent="0" marL="0">
              <a:buNone/>
            </a:pPr>
            <a:r>
              <a:rPr lang="en-US" sz="1800" b="1" dirty="0">
                <a:solidFill>
                  <a:srgbClr val="123524"/>
                </a:solidFill>
                <a:latin typeface="Georgia" pitchFamily="34" charset="0"/>
                <a:ea typeface="Georgia" pitchFamily="34" charset="-122"/>
                <a:cs typeface="Georgia" pitchFamily="34" charset="-120"/>
              </a:rPr>
              <a:t>All-data scope</a:t>
            </a:r>
            <a:endParaRPr lang="en-US" sz="1800" dirty="0"/>
          </a:p>
        </p:txBody>
      </p:sp>
      <p:sp>
        <p:nvSpPr>
          <p:cNvPr id="13" name="Text 9"/>
          <p:cNvSpPr/>
          <p:nvPr/>
        </p:nvSpPr>
        <p:spPr>
          <a:xfrm>
            <a:off x="8732520" y="2395728"/>
            <a:ext cx="2423160" cy="2697480"/>
          </a:xfrm>
          <a:prstGeom prst="rect">
            <a:avLst/>
          </a:prstGeom>
          <a:noFill/>
          <a:ln/>
        </p:spPr>
        <p:txBody>
          <a:bodyPr wrap="square" lIns="25400" tIns="25400" rIns="25400" bIns="25400" rtlCol="0" anchor="ctr">
            <a:normAutofit/>
          </a:bodyPr>
          <a:lstStyle/>
          <a:p>
            <a:pPr marL="177800" indent="-177800">
              <a:buSzPct val="100000"/>
              <a:buChar char="•"/>
            </a:pPr>
            <a:r>
              <a:rPr lang="en-US" sz="1250" dirty="0">
                <a:solidFill>
                  <a:srgbClr val="14251D"/>
                </a:solidFill>
                <a:latin typeface="Aptos" pitchFamily="34" charset="0"/>
                <a:ea typeface="Aptos" pitchFamily="34" charset="-122"/>
                <a:cs typeface="Aptos" pitchFamily="34" charset="-120"/>
              </a:rPr>
              <a:t>Leadership types</a:t>
            </a:r>
            <a:endParaRPr lang="en-US" sz="1250" dirty="0"/>
          </a:p>
          <a:p>
            <a:pPr marL="177800" indent="-177800">
              <a:buSzPct val="100000"/>
              <a:buChar char="•"/>
            </a:pPr>
            <a:r>
              <a:rPr lang="en-US" sz="1250" dirty="0">
                <a:solidFill>
                  <a:srgbClr val="14251D"/>
                </a:solidFill>
                <a:latin typeface="Aptos" pitchFamily="34" charset="0"/>
                <a:ea typeface="Aptos" pitchFamily="34" charset="-122"/>
                <a:cs typeface="Aptos" pitchFamily="34" charset="-120"/>
              </a:rPr>
              <a:t>Selection methods</a:t>
            </a:r>
            <a:endParaRPr lang="en-US" sz="1250" dirty="0"/>
          </a:p>
          <a:p>
            <a:pPr marL="177800" indent="-177800">
              <a:buSzPct val="100000"/>
              <a:buChar char="•"/>
            </a:pPr>
            <a:r>
              <a:rPr lang="en-US" sz="1250" dirty="0">
                <a:solidFill>
                  <a:srgbClr val="14251D"/>
                </a:solidFill>
                <a:latin typeface="Aptos" pitchFamily="34" charset="0"/>
                <a:ea typeface="Aptos" pitchFamily="34" charset="-122"/>
                <a:cs typeface="Aptos" pitchFamily="34" charset="-120"/>
              </a:rPr>
              <a:t>Governance functions</a:t>
            </a:r>
            <a:endParaRPr lang="en-US" sz="1250" dirty="0"/>
          </a:p>
          <a:p>
            <a:pPr marL="177800" indent="-177800">
              <a:buSzPct val="100000"/>
              <a:buChar char="•"/>
            </a:pPr>
            <a:r>
              <a:rPr lang="en-US" sz="1250" dirty="0">
                <a:solidFill>
                  <a:srgbClr val="14251D"/>
                </a:solidFill>
                <a:latin typeface="Aptos" pitchFamily="34" charset="0"/>
                <a:ea typeface="Aptos" pitchFamily="34" charset="-122"/>
                <a:cs typeface="Aptos" pitchFamily="34" charset="-120"/>
              </a:rPr>
              <a:t>Recognition status</a:t>
            </a:r>
            <a:endParaRPr lang="en-US" sz="1250" dirty="0"/>
          </a:p>
          <a:p>
            <a:pPr marL="177800" indent="-177800">
              <a:buSzPct val="100000"/>
              <a:buChar char="•"/>
            </a:pPr>
            <a:r>
              <a:rPr lang="en-US" sz="1250" dirty="0">
                <a:solidFill>
                  <a:srgbClr val="14251D"/>
                </a:solidFill>
                <a:latin typeface="Aptos" pitchFamily="34" charset="0"/>
                <a:ea typeface="Aptos" pitchFamily="34" charset="-122"/>
                <a:cs typeface="Aptos" pitchFamily="34" charset="-120"/>
              </a:rPr>
              <a:t>Continent distribution</a:t>
            </a:r>
            <a:endParaRPr lang="en-US" sz="1250" dirty="0"/>
          </a:p>
          <a:p>
            <a:pPr marL="177800" indent="-177800">
              <a:buSzPct val="100000"/>
              <a:buChar char="•"/>
            </a:pPr>
            <a:r>
              <a:rPr lang="en-US" sz="1250" dirty="0">
                <a:solidFill>
                  <a:srgbClr val="14251D"/>
                </a:solidFill>
                <a:latin typeface="Aptos" pitchFamily="34" charset="0"/>
                <a:ea typeface="Aptos" pitchFamily="34" charset="-122"/>
                <a:cs typeface="Aptos" pitchFamily="34" charset="-120"/>
              </a:rPr>
              <a:t>Largest groups</a:t>
            </a:r>
            <a:endParaRPr lang="en-US" sz="1250" dirty="0"/>
          </a:p>
          <a:p>
            <a:pPr marL="177800" indent="-177800">
              <a:buSzPct val="100000"/>
              <a:buChar char="•"/>
            </a:pPr>
            <a:r>
              <a:rPr lang="en-US" sz="1250" dirty="0">
                <a:solidFill>
                  <a:srgbClr val="14251D"/>
                </a:solidFill>
                <a:latin typeface="Aptos" pitchFamily="34" charset="0"/>
                <a:ea typeface="Aptos" pitchFamily="34" charset="-122"/>
                <a:cs typeface="Aptos" pitchFamily="34" charset="-120"/>
              </a:rPr>
              <a:t>Top 10 countries</a:t>
            </a:r>
            <a:endParaRPr lang="en-US" sz="1250" dirty="0"/>
          </a:p>
        </p:txBody>
      </p:sp>
      <p:sp>
        <p:nvSpPr>
          <p:cNvPr id="14" name="Shape 10"/>
          <p:cNvSpPr/>
          <p:nvPr/>
        </p:nvSpPr>
        <p:spPr>
          <a:xfrm>
            <a:off x="8668512" y="5166360"/>
            <a:ext cx="2514600" cy="438912"/>
          </a:xfrm>
          <a:prstGeom prst="roundRect">
            <a:avLst/>
          </a:prstGeom>
          <a:solidFill>
            <a:srgbClr val="F6EEDC"/>
          </a:solidFill>
          <a:ln w="10160">
            <a:solidFill>
              <a:srgbClr val="C8A96A"/>
            </a:solidFill>
            <a:prstDash val="solid"/>
          </a:ln>
        </p:spPr>
      </p:sp>
      <p:sp>
        <p:nvSpPr>
          <p:cNvPr id="15" name="Text 11"/>
          <p:cNvSpPr/>
          <p:nvPr/>
        </p:nvSpPr>
        <p:spPr>
          <a:xfrm>
            <a:off x="8823960" y="5266944"/>
            <a:ext cx="2203704" cy="201168"/>
          </a:xfrm>
          <a:prstGeom prst="rect">
            <a:avLst/>
          </a:prstGeom>
          <a:noFill/>
          <a:ln/>
        </p:spPr>
        <p:txBody>
          <a:bodyPr wrap="square" lIns="0" tIns="0" rIns="0" bIns="0" rtlCol="0" anchor="ctr">
            <a:normAutofit/>
          </a:bodyPr>
          <a:lstStyle/>
          <a:p>
            <a:pPr indent="0" marL="0">
              <a:buNone/>
            </a:pPr>
            <a:r>
              <a:rPr lang="en-US" sz="1050" b="1" dirty="0">
                <a:solidFill>
                  <a:srgbClr val="14251D"/>
                </a:solidFill>
                <a:latin typeface="Aptos" pitchFamily="34" charset="0"/>
                <a:ea typeface="Aptos" pitchFamily="34" charset="-122"/>
                <a:cs typeface="Aptos" pitchFamily="34" charset="-120"/>
              </a:rPr>
              <a:t>The dashboard reads aggregated values—not raw rows—reducing browser memory and network load.</a:t>
            </a:r>
            <a:endParaRPr lang="en-US" sz="1050" dirty="0"/>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4.6 • STATISTICS PAGE</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Geographic scope changes the entire dashboard</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A single continent filter refreshes metrics and charts without rebuilding the interface.</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sp>
        <p:nvSpPr>
          <p:cNvPr id="8" name="Shape 5"/>
          <p:cNvSpPr/>
          <p:nvPr/>
        </p:nvSpPr>
        <p:spPr>
          <a:xfrm>
            <a:off x="530352" y="1536192"/>
            <a:ext cx="8074152" cy="4599432"/>
          </a:xfrm>
          <a:prstGeom prst="roundRect">
            <a:avLst>
              <a:gd name="adj" fmla="val 1988"/>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pic>
        <p:nvPicPr>
          <p:cNvPr id="9" name="Image 0" descr="C:\Users\mossa\OneDrive\Documents\مشروع التخرج\docs\chapter4-screenshots\11-statistics-africa-filter.png">    </p:cNvPr>
          <p:cNvPicPr>
            <a:picLocks noChangeAspect="1"/>
          </p:cNvPicPr>
          <p:nvPr/>
        </p:nvPicPr>
        <p:blipFill>
          <a:blip r:embed="rId1"/>
          <a:stretch>
            <a:fillRect/>
          </a:stretch>
        </p:blipFill>
        <p:spPr>
          <a:xfrm>
            <a:off x="2269998" y="1572768"/>
            <a:ext cx="4594860" cy="4526280"/>
          </a:xfrm>
          <a:prstGeom prst="rect">
            <a:avLst/>
          </a:prstGeom>
        </p:spPr>
      </p:pic>
      <p:sp>
        <p:nvSpPr>
          <p:cNvPr id="10" name="Text 6"/>
          <p:cNvSpPr/>
          <p:nvPr/>
        </p:nvSpPr>
        <p:spPr>
          <a:xfrm>
            <a:off x="566928" y="6153912"/>
            <a:ext cx="8001000" cy="219456"/>
          </a:xfrm>
          <a:prstGeom prst="rect">
            <a:avLst/>
          </a:prstGeom>
          <a:noFill/>
          <a:ln/>
        </p:spPr>
        <p:txBody>
          <a:bodyPr wrap="square" lIns="0" tIns="0" rIns="0" bIns="0" rtlCol="0" anchor="ctr">
            <a:normAutofit/>
          </a:bodyPr>
          <a:lstStyle/>
          <a:p>
            <a:pPr algn="ctr" indent="0" marL="0">
              <a:buNone/>
            </a:pPr>
            <a:r>
              <a:rPr lang="en-US" sz="900" i="1" dirty="0">
                <a:solidFill>
                  <a:srgbClr val="65736B"/>
                </a:solidFill>
                <a:latin typeface="Aptos" pitchFamily="34" charset="0"/>
                <a:ea typeface="Aptos" pitchFamily="34" charset="-122"/>
                <a:cs typeface="Aptos" pitchFamily="34" charset="-120"/>
              </a:rPr>
              <a:t>Figure 4.8: Africa-Scoped Statistics Dashboard</a:t>
            </a:r>
            <a:endParaRPr lang="en-US" sz="900" dirty="0"/>
          </a:p>
        </p:txBody>
      </p:sp>
      <p:sp>
        <p:nvSpPr>
          <p:cNvPr id="11" name="Shape 7"/>
          <p:cNvSpPr/>
          <p:nvPr/>
        </p:nvSpPr>
        <p:spPr>
          <a:xfrm>
            <a:off x="8887968" y="1783080"/>
            <a:ext cx="2331720"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12" name="Shape 8"/>
          <p:cNvSpPr/>
          <p:nvPr/>
        </p:nvSpPr>
        <p:spPr>
          <a:xfrm>
            <a:off x="8887968" y="1783080"/>
            <a:ext cx="54864" cy="777240"/>
          </a:xfrm>
          <a:prstGeom prst="rect">
            <a:avLst/>
          </a:prstGeom>
          <a:solidFill>
            <a:srgbClr val="123524"/>
          </a:solidFill>
          <a:ln w="12700">
            <a:solidFill>
              <a:srgbClr val="123524"/>
            </a:solidFill>
            <a:prstDash val="solid"/>
          </a:ln>
        </p:spPr>
      </p:sp>
      <p:sp>
        <p:nvSpPr>
          <p:cNvPr id="13" name="Text 9"/>
          <p:cNvSpPr/>
          <p:nvPr/>
        </p:nvSpPr>
        <p:spPr>
          <a:xfrm>
            <a:off x="9052560" y="1901952"/>
            <a:ext cx="2057400"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GROUPS</a:t>
            </a:r>
            <a:endParaRPr lang="en-US" sz="780" dirty="0"/>
          </a:p>
        </p:txBody>
      </p:sp>
      <p:sp>
        <p:nvSpPr>
          <p:cNvPr id="14" name="Text 10"/>
          <p:cNvSpPr/>
          <p:nvPr/>
        </p:nvSpPr>
        <p:spPr>
          <a:xfrm>
            <a:off x="9052560" y="2103120"/>
            <a:ext cx="2057400"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726</a:t>
            </a:r>
            <a:endParaRPr lang="en-US" sz="1800" dirty="0"/>
          </a:p>
        </p:txBody>
      </p:sp>
      <p:sp>
        <p:nvSpPr>
          <p:cNvPr id="15" name="Shape 11"/>
          <p:cNvSpPr/>
          <p:nvPr/>
        </p:nvSpPr>
        <p:spPr>
          <a:xfrm>
            <a:off x="8887968" y="2743200"/>
            <a:ext cx="2331720"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16" name="Shape 12"/>
          <p:cNvSpPr/>
          <p:nvPr/>
        </p:nvSpPr>
        <p:spPr>
          <a:xfrm>
            <a:off x="8887968" y="2743200"/>
            <a:ext cx="54864" cy="777240"/>
          </a:xfrm>
          <a:prstGeom prst="rect">
            <a:avLst/>
          </a:prstGeom>
          <a:solidFill>
            <a:srgbClr val="C8A96A"/>
          </a:solidFill>
          <a:ln w="12700">
            <a:solidFill>
              <a:srgbClr val="C8A96A"/>
            </a:solidFill>
            <a:prstDash val="solid"/>
          </a:ln>
        </p:spPr>
      </p:sp>
      <p:sp>
        <p:nvSpPr>
          <p:cNvPr id="17" name="Text 13"/>
          <p:cNvSpPr/>
          <p:nvPr/>
        </p:nvSpPr>
        <p:spPr>
          <a:xfrm>
            <a:off x="9052560" y="2862072"/>
            <a:ext cx="2057400"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COUNTRIES</a:t>
            </a:r>
            <a:endParaRPr lang="en-US" sz="780" dirty="0"/>
          </a:p>
        </p:txBody>
      </p:sp>
      <p:sp>
        <p:nvSpPr>
          <p:cNvPr id="18" name="Text 14"/>
          <p:cNvSpPr/>
          <p:nvPr/>
        </p:nvSpPr>
        <p:spPr>
          <a:xfrm>
            <a:off x="9052560" y="3063240"/>
            <a:ext cx="2057400"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50</a:t>
            </a:r>
            <a:endParaRPr lang="en-US" sz="1800" dirty="0"/>
          </a:p>
        </p:txBody>
      </p:sp>
      <p:sp>
        <p:nvSpPr>
          <p:cNvPr id="19" name="Shape 15"/>
          <p:cNvSpPr/>
          <p:nvPr/>
        </p:nvSpPr>
        <p:spPr>
          <a:xfrm>
            <a:off x="8887968" y="3703320"/>
            <a:ext cx="2331720"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20" name="Shape 16"/>
          <p:cNvSpPr/>
          <p:nvPr/>
        </p:nvSpPr>
        <p:spPr>
          <a:xfrm>
            <a:off x="8887968" y="3703320"/>
            <a:ext cx="54864" cy="777240"/>
          </a:xfrm>
          <a:prstGeom prst="rect">
            <a:avLst/>
          </a:prstGeom>
          <a:solidFill>
            <a:srgbClr val="123524"/>
          </a:solidFill>
          <a:ln w="12700">
            <a:solidFill>
              <a:srgbClr val="123524"/>
            </a:solidFill>
            <a:prstDash val="solid"/>
          </a:ln>
        </p:spPr>
      </p:sp>
      <p:sp>
        <p:nvSpPr>
          <p:cNvPr id="21" name="Text 17"/>
          <p:cNvSpPr/>
          <p:nvPr/>
        </p:nvSpPr>
        <p:spPr>
          <a:xfrm>
            <a:off x="9052560" y="3822192"/>
            <a:ext cx="2057400"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WITH TPI</a:t>
            </a:r>
            <a:endParaRPr lang="en-US" sz="780" dirty="0"/>
          </a:p>
        </p:txBody>
      </p:sp>
      <p:sp>
        <p:nvSpPr>
          <p:cNvPr id="22" name="Text 18"/>
          <p:cNvSpPr/>
          <p:nvPr/>
        </p:nvSpPr>
        <p:spPr>
          <a:xfrm>
            <a:off x="9052560" y="4023360"/>
            <a:ext cx="2057400"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685</a:t>
            </a:r>
            <a:endParaRPr lang="en-US" sz="1800" dirty="0"/>
          </a:p>
        </p:txBody>
      </p:sp>
      <p:sp>
        <p:nvSpPr>
          <p:cNvPr id="23" name="Shape 19"/>
          <p:cNvSpPr/>
          <p:nvPr/>
        </p:nvSpPr>
        <p:spPr>
          <a:xfrm>
            <a:off x="8887968" y="4663440"/>
            <a:ext cx="2331720"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24" name="Shape 20"/>
          <p:cNvSpPr/>
          <p:nvPr/>
        </p:nvSpPr>
        <p:spPr>
          <a:xfrm>
            <a:off x="8887968" y="4663440"/>
            <a:ext cx="54864" cy="777240"/>
          </a:xfrm>
          <a:prstGeom prst="rect">
            <a:avLst/>
          </a:prstGeom>
          <a:solidFill>
            <a:srgbClr val="C8A96A"/>
          </a:solidFill>
          <a:ln w="12700">
            <a:solidFill>
              <a:srgbClr val="C8A96A"/>
            </a:solidFill>
            <a:prstDash val="solid"/>
          </a:ln>
        </p:spPr>
      </p:sp>
      <p:sp>
        <p:nvSpPr>
          <p:cNvPr id="25" name="Text 21"/>
          <p:cNvSpPr/>
          <p:nvPr/>
        </p:nvSpPr>
        <p:spPr>
          <a:xfrm>
            <a:off x="9052560" y="4782312"/>
            <a:ext cx="2057400"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RECOGNIZED</a:t>
            </a:r>
            <a:endParaRPr lang="en-US" sz="780" dirty="0"/>
          </a:p>
        </p:txBody>
      </p:sp>
      <p:sp>
        <p:nvSpPr>
          <p:cNvPr id="26" name="Text 22"/>
          <p:cNvSpPr/>
          <p:nvPr/>
        </p:nvSpPr>
        <p:spPr>
          <a:xfrm>
            <a:off x="9052560" y="4983480"/>
            <a:ext cx="2057400"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445</a:t>
            </a:r>
            <a:endParaRPr lang="en-US" sz="1800" dirty="0"/>
          </a:p>
        </p:txBody>
      </p:sp>
      <p:sp>
        <p:nvSpPr>
          <p:cNvPr id="27" name="Shape 23"/>
          <p:cNvSpPr/>
          <p:nvPr/>
        </p:nvSpPr>
        <p:spPr>
          <a:xfrm>
            <a:off x="8796528" y="5650992"/>
            <a:ext cx="2514600" cy="438912"/>
          </a:xfrm>
          <a:prstGeom prst="roundRect">
            <a:avLst/>
          </a:prstGeom>
          <a:solidFill>
            <a:srgbClr val="E7F2EB"/>
          </a:solidFill>
          <a:ln w="10160">
            <a:solidFill>
              <a:srgbClr val="5B9B78"/>
            </a:solidFill>
            <a:prstDash val="solid"/>
          </a:ln>
        </p:spPr>
      </p:sp>
      <p:sp>
        <p:nvSpPr>
          <p:cNvPr id="28" name="Text 24"/>
          <p:cNvSpPr/>
          <p:nvPr/>
        </p:nvSpPr>
        <p:spPr>
          <a:xfrm>
            <a:off x="8951976" y="5751576"/>
            <a:ext cx="2203704" cy="201168"/>
          </a:xfrm>
          <a:prstGeom prst="rect">
            <a:avLst/>
          </a:prstGeom>
          <a:noFill/>
          <a:ln/>
        </p:spPr>
        <p:txBody>
          <a:bodyPr wrap="square" lIns="0" tIns="0" rIns="0" bIns="0" rtlCol="0" anchor="ctr">
            <a:normAutofit/>
          </a:bodyPr>
          <a:lstStyle/>
          <a:p>
            <a:pPr indent="0" marL="0">
              <a:buNone/>
            </a:pPr>
            <a:r>
              <a:rPr lang="en-US" sz="1050" b="1" dirty="0">
                <a:solidFill>
                  <a:srgbClr val="14251D"/>
                </a:solidFill>
                <a:latin typeface="Aptos" pitchFamily="34" charset="0"/>
                <a:ea typeface="Aptos" pitchFamily="34" charset="-122"/>
                <a:cs typeface="Aptos" pitchFamily="34" charset="-120"/>
              </a:rPr>
              <a:t>The selected scope is visible, reproducible, and reflected in every chart title.</a:t>
            </a:r>
            <a:endParaRPr lang="en-US" sz="1050" dirty="0"/>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4.7 • GEOGRAPHIC COMPARISON</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Africa and Asia compared from database aggregates</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The comparison endpoint returns two complete, normalized geographic profiles.</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sp>
        <p:nvSpPr>
          <p:cNvPr id="8" name="Shape 5"/>
          <p:cNvSpPr/>
          <p:nvPr/>
        </p:nvSpPr>
        <p:spPr>
          <a:xfrm>
            <a:off x="530352" y="1536192"/>
            <a:ext cx="7982712" cy="4599432"/>
          </a:xfrm>
          <a:prstGeom prst="roundRect">
            <a:avLst>
              <a:gd name="adj" fmla="val 1988"/>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pic>
        <p:nvPicPr>
          <p:cNvPr id="9" name="Image 0" descr="C:\Users\mossa\OneDrive\Documents\مشروع التخرج\docs\chapter4-screenshots\13-comparison-controls-profiles.png">    </p:cNvPr>
          <p:cNvPicPr>
            <a:picLocks noChangeAspect="1"/>
          </p:cNvPicPr>
          <p:nvPr/>
        </p:nvPicPr>
        <p:blipFill>
          <a:blip r:embed="rId1"/>
          <a:stretch>
            <a:fillRect/>
          </a:stretch>
        </p:blipFill>
        <p:spPr>
          <a:xfrm>
            <a:off x="1264158" y="1572768"/>
            <a:ext cx="6515100" cy="4526280"/>
          </a:xfrm>
          <a:prstGeom prst="rect">
            <a:avLst/>
          </a:prstGeom>
        </p:spPr>
      </p:pic>
      <p:sp>
        <p:nvSpPr>
          <p:cNvPr id="10" name="Text 6"/>
          <p:cNvSpPr/>
          <p:nvPr/>
        </p:nvSpPr>
        <p:spPr>
          <a:xfrm>
            <a:off x="566928" y="6153912"/>
            <a:ext cx="7909560" cy="219456"/>
          </a:xfrm>
          <a:prstGeom prst="rect">
            <a:avLst/>
          </a:prstGeom>
          <a:noFill/>
          <a:ln/>
        </p:spPr>
        <p:txBody>
          <a:bodyPr wrap="square" lIns="0" tIns="0" rIns="0" bIns="0" rtlCol="0" anchor="ctr">
            <a:normAutofit/>
          </a:bodyPr>
          <a:lstStyle/>
          <a:p>
            <a:pPr algn="ctr" indent="0" marL="0">
              <a:buNone/>
            </a:pPr>
            <a:r>
              <a:rPr lang="en-US" sz="900" i="1" dirty="0">
                <a:solidFill>
                  <a:srgbClr val="65736B"/>
                </a:solidFill>
                <a:latin typeface="Aptos" pitchFamily="34" charset="0"/>
                <a:ea typeface="Aptos" pitchFamily="34" charset="-122"/>
                <a:cs typeface="Aptos" pitchFamily="34" charset="-120"/>
              </a:rPr>
              <a:t>Figure 4.9: Geographic Comparison Interface</a:t>
            </a:r>
            <a:endParaRPr lang="en-US" sz="900" dirty="0"/>
          </a:p>
        </p:txBody>
      </p:sp>
      <p:sp>
        <p:nvSpPr>
          <p:cNvPr id="11" name="Shape 7"/>
          <p:cNvSpPr/>
          <p:nvPr/>
        </p:nvSpPr>
        <p:spPr>
          <a:xfrm>
            <a:off x="8732520" y="1691640"/>
            <a:ext cx="2468880" cy="4251960"/>
          </a:xfrm>
          <a:prstGeom prst="roundRect">
            <a:avLst>
              <a:gd name="adj" fmla="val 3704"/>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12" name="Text 8"/>
          <p:cNvSpPr/>
          <p:nvPr/>
        </p:nvSpPr>
        <p:spPr>
          <a:xfrm>
            <a:off x="8988552" y="1938528"/>
            <a:ext cx="2011680" cy="274320"/>
          </a:xfrm>
          <a:prstGeom prst="rect">
            <a:avLst/>
          </a:prstGeom>
          <a:noFill/>
          <a:ln/>
        </p:spPr>
        <p:txBody>
          <a:bodyPr wrap="square" lIns="0" tIns="0" rIns="0" bIns="0" rtlCol="0" anchor="ctr"/>
          <a:lstStyle/>
          <a:p>
            <a:pPr indent="0" marL="0">
              <a:buNone/>
            </a:pPr>
            <a:r>
              <a:rPr lang="en-US" sz="1700" b="1" dirty="0">
                <a:solidFill>
                  <a:srgbClr val="123524"/>
                </a:solidFill>
                <a:latin typeface="Georgia" pitchFamily="34" charset="0"/>
                <a:ea typeface="Georgia" pitchFamily="34" charset="-122"/>
                <a:cs typeface="Georgia" pitchFamily="34" charset="-120"/>
              </a:rPr>
              <a:t>Verified profile</a:t>
            </a:r>
            <a:endParaRPr lang="en-US" sz="1700" dirty="0"/>
          </a:p>
        </p:txBody>
      </p:sp>
      <p:sp>
        <p:nvSpPr>
          <p:cNvPr id="13" name="Text 9"/>
          <p:cNvSpPr/>
          <p:nvPr/>
        </p:nvSpPr>
        <p:spPr>
          <a:xfrm>
            <a:off x="8942832" y="2468880"/>
            <a:ext cx="822960" cy="182880"/>
          </a:xfrm>
          <a:prstGeom prst="rect">
            <a:avLst/>
          </a:prstGeom>
          <a:noFill/>
          <a:ln/>
        </p:spPr>
        <p:txBody>
          <a:bodyPr wrap="square" lIns="0" tIns="0" rIns="0" bIns="0" rtlCol="0" anchor="ctr"/>
          <a:lstStyle/>
          <a:p>
            <a:pPr indent="0" marL="0">
              <a:buNone/>
            </a:pPr>
            <a:r>
              <a:rPr lang="en-US" sz="950" dirty="0">
                <a:solidFill>
                  <a:srgbClr val="65736B"/>
                </a:solidFill>
              </a:rPr>
              <a:t>Groups</a:t>
            </a:r>
            <a:endParaRPr lang="en-US" sz="950" dirty="0"/>
          </a:p>
        </p:txBody>
      </p:sp>
      <p:sp>
        <p:nvSpPr>
          <p:cNvPr id="14" name="Text 10"/>
          <p:cNvSpPr/>
          <p:nvPr/>
        </p:nvSpPr>
        <p:spPr>
          <a:xfrm>
            <a:off x="9756648" y="2468880"/>
            <a:ext cx="548640" cy="182880"/>
          </a:xfrm>
          <a:prstGeom prst="rect">
            <a:avLst/>
          </a:prstGeom>
          <a:noFill/>
          <a:ln/>
        </p:spPr>
        <p:txBody>
          <a:bodyPr wrap="square" lIns="0" tIns="0" rIns="0" bIns="0" rtlCol="0" anchor="ctr"/>
          <a:lstStyle/>
          <a:p>
            <a:pPr algn="r" indent="0" marL="0">
              <a:buNone/>
            </a:pPr>
            <a:r>
              <a:rPr lang="en-US" sz="1100" b="1" dirty="0">
                <a:solidFill>
                  <a:srgbClr val="123524"/>
                </a:solidFill>
              </a:rPr>
              <a:t>726</a:t>
            </a:r>
            <a:endParaRPr lang="en-US" sz="1100" dirty="0"/>
          </a:p>
        </p:txBody>
      </p:sp>
      <p:sp>
        <p:nvSpPr>
          <p:cNvPr id="15" name="Text 11"/>
          <p:cNvSpPr/>
          <p:nvPr/>
        </p:nvSpPr>
        <p:spPr>
          <a:xfrm>
            <a:off x="10405872" y="2468880"/>
            <a:ext cx="548640" cy="182880"/>
          </a:xfrm>
          <a:prstGeom prst="rect">
            <a:avLst/>
          </a:prstGeom>
          <a:noFill/>
          <a:ln/>
        </p:spPr>
        <p:txBody>
          <a:bodyPr wrap="square" lIns="0" tIns="0" rIns="0" bIns="0" rtlCol="0" anchor="ctr"/>
          <a:lstStyle/>
          <a:p>
            <a:pPr algn="r" indent="0" marL="0">
              <a:buNone/>
            </a:pPr>
            <a:r>
              <a:rPr lang="en-US" sz="1100" b="1" dirty="0">
                <a:solidFill>
                  <a:srgbClr val="C8A96A"/>
                </a:solidFill>
              </a:rPr>
              <a:t>438</a:t>
            </a:r>
            <a:endParaRPr lang="en-US" sz="1100" dirty="0"/>
          </a:p>
        </p:txBody>
      </p:sp>
      <p:sp>
        <p:nvSpPr>
          <p:cNvPr id="16" name="Text 12"/>
          <p:cNvSpPr/>
          <p:nvPr/>
        </p:nvSpPr>
        <p:spPr>
          <a:xfrm>
            <a:off x="8942832" y="2990088"/>
            <a:ext cx="822960" cy="182880"/>
          </a:xfrm>
          <a:prstGeom prst="rect">
            <a:avLst/>
          </a:prstGeom>
          <a:noFill/>
          <a:ln/>
        </p:spPr>
        <p:txBody>
          <a:bodyPr wrap="square" lIns="0" tIns="0" rIns="0" bIns="0" rtlCol="0" anchor="ctr"/>
          <a:lstStyle/>
          <a:p>
            <a:pPr indent="0" marL="0">
              <a:buNone/>
            </a:pPr>
            <a:r>
              <a:rPr lang="en-US" sz="950" dirty="0">
                <a:solidFill>
                  <a:srgbClr val="65736B"/>
                </a:solidFill>
              </a:rPr>
              <a:t>Countries</a:t>
            </a:r>
            <a:endParaRPr lang="en-US" sz="950" dirty="0"/>
          </a:p>
        </p:txBody>
      </p:sp>
      <p:sp>
        <p:nvSpPr>
          <p:cNvPr id="17" name="Text 13"/>
          <p:cNvSpPr/>
          <p:nvPr/>
        </p:nvSpPr>
        <p:spPr>
          <a:xfrm>
            <a:off x="9756648" y="2990088"/>
            <a:ext cx="548640" cy="182880"/>
          </a:xfrm>
          <a:prstGeom prst="rect">
            <a:avLst/>
          </a:prstGeom>
          <a:noFill/>
          <a:ln/>
        </p:spPr>
        <p:txBody>
          <a:bodyPr wrap="square" lIns="0" tIns="0" rIns="0" bIns="0" rtlCol="0" anchor="ctr"/>
          <a:lstStyle/>
          <a:p>
            <a:pPr algn="r" indent="0" marL="0">
              <a:buNone/>
            </a:pPr>
            <a:r>
              <a:rPr lang="en-US" sz="1100" b="1" dirty="0">
                <a:solidFill>
                  <a:srgbClr val="123524"/>
                </a:solidFill>
              </a:rPr>
              <a:t>50</a:t>
            </a:r>
            <a:endParaRPr lang="en-US" sz="1100" dirty="0"/>
          </a:p>
        </p:txBody>
      </p:sp>
      <p:sp>
        <p:nvSpPr>
          <p:cNvPr id="18" name="Text 14"/>
          <p:cNvSpPr/>
          <p:nvPr/>
        </p:nvSpPr>
        <p:spPr>
          <a:xfrm>
            <a:off x="10405872" y="2990088"/>
            <a:ext cx="548640" cy="182880"/>
          </a:xfrm>
          <a:prstGeom prst="rect">
            <a:avLst/>
          </a:prstGeom>
          <a:noFill/>
          <a:ln/>
        </p:spPr>
        <p:txBody>
          <a:bodyPr wrap="square" lIns="0" tIns="0" rIns="0" bIns="0" rtlCol="0" anchor="ctr"/>
          <a:lstStyle/>
          <a:p>
            <a:pPr algn="r" indent="0" marL="0">
              <a:buNone/>
            </a:pPr>
            <a:r>
              <a:rPr lang="en-US" sz="1100" b="1" dirty="0">
                <a:solidFill>
                  <a:srgbClr val="C8A96A"/>
                </a:solidFill>
              </a:rPr>
              <a:t>34</a:t>
            </a:r>
            <a:endParaRPr lang="en-US" sz="1100" dirty="0"/>
          </a:p>
        </p:txBody>
      </p:sp>
      <p:sp>
        <p:nvSpPr>
          <p:cNvPr id="19" name="Text 15"/>
          <p:cNvSpPr/>
          <p:nvPr/>
        </p:nvSpPr>
        <p:spPr>
          <a:xfrm>
            <a:off x="8942832" y="3511296"/>
            <a:ext cx="822960" cy="182880"/>
          </a:xfrm>
          <a:prstGeom prst="rect">
            <a:avLst/>
          </a:prstGeom>
          <a:noFill/>
          <a:ln/>
        </p:spPr>
        <p:txBody>
          <a:bodyPr wrap="square" lIns="0" tIns="0" rIns="0" bIns="0" rtlCol="0" anchor="ctr"/>
          <a:lstStyle/>
          <a:p>
            <a:pPr indent="0" marL="0">
              <a:buNone/>
            </a:pPr>
            <a:r>
              <a:rPr lang="en-US" sz="950" dirty="0">
                <a:solidFill>
                  <a:srgbClr val="65736B"/>
                </a:solidFill>
              </a:rPr>
              <a:t>Recognized</a:t>
            </a:r>
            <a:endParaRPr lang="en-US" sz="950" dirty="0"/>
          </a:p>
        </p:txBody>
      </p:sp>
      <p:sp>
        <p:nvSpPr>
          <p:cNvPr id="20" name="Text 16"/>
          <p:cNvSpPr/>
          <p:nvPr/>
        </p:nvSpPr>
        <p:spPr>
          <a:xfrm>
            <a:off x="9756648" y="3511296"/>
            <a:ext cx="548640" cy="182880"/>
          </a:xfrm>
          <a:prstGeom prst="rect">
            <a:avLst/>
          </a:prstGeom>
          <a:noFill/>
          <a:ln/>
        </p:spPr>
        <p:txBody>
          <a:bodyPr wrap="square" lIns="0" tIns="0" rIns="0" bIns="0" rtlCol="0" anchor="ctr"/>
          <a:lstStyle/>
          <a:p>
            <a:pPr algn="r" indent="0" marL="0">
              <a:buNone/>
            </a:pPr>
            <a:r>
              <a:rPr lang="en-US" sz="1100" b="1" dirty="0">
                <a:solidFill>
                  <a:srgbClr val="123524"/>
                </a:solidFill>
              </a:rPr>
              <a:t>445</a:t>
            </a:r>
            <a:endParaRPr lang="en-US" sz="1100" dirty="0"/>
          </a:p>
        </p:txBody>
      </p:sp>
      <p:sp>
        <p:nvSpPr>
          <p:cNvPr id="21" name="Text 17"/>
          <p:cNvSpPr/>
          <p:nvPr/>
        </p:nvSpPr>
        <p:spPr>
          <a:xfrm>
            <a:off x="10405872" y="3511296"/>
            <a:ext cx="548640" cy="182880"/>
          </a:xfrm>
          <a:prstGeom prst="rect">
            <a:avLst/>
          </a:prstGeom>
          <a:noFill/>
          <a:ln/>
        </p:spPr>
        <p:txBody>
          <a:bodyPr wrap="square" lIns="0" tIns="0" rIns="0" bIns="0" rtlCol="0" anchor="ctr"/>
          <a:lstStyle/>
          <a:p>
            <a:pPr algn="r" indent="0" marL="0">
              <a:buNone/>
            </a:pPr>
            <a:r>
              <a:rPr lang="en-US" sz="1100" b="1" dirty="0">
                <a:solidFill>
                  <a:srgbClr val="C8A96A"/>
                </a:solidFill>
              </a:rPr>
              <a:t>138</a:t>
            </a:r>
            <a:endParaRPr lang="en-US" sz="1100" dirty="0"/>
          </a:p>
        </p:txBody>
      </p:sp>
      <p:sp>
        <p:nvSpPr>
          <p:cNvPr id="22" name="Text 18"/>
          <p:cNvSpPr/>
          <p:nvPr/>
        </p:nvSpPr>
        <p:spPr>
          <a:xfrm>
            <a:off x="8942832" y="4032504"/>
            <a:ext cx="822960" cy="182880"/>
          </a:xfrm>
          <a:prstGeom prst="rect">
            <a:avLst/>
          </a:prstGeom>
          <a:noFill/>
          <a:ln/>
        </p:spPr>
        <p:txBody>
          <a:bodyPr wrap="square" lIns="0" tIns="0" rIns="0" bIns="0" rtlCol="0" anchor="ctr"/>
          <a:lstStyle/>
          <a:p>
            <a:pPr indent="0" marL="0">
              <a:buNone/>
            </a:pPr>
            <a:r>
              <a:rPr lang="en-US" sz="950" dirty="0">
                <a:solidFill>
                  <a:srgbClr val="65736B"/>
                </a:solidFill>
              </a:rPr>
              <a:t>Kings</a:t>
            </a:r>
            <a:endParaRPr lang="en-US" sz="950" dirty="0"/>
          </a:p>
        </p:txBody>
      </p:sp>
      <p:sp>
        <p:nvSpPr>
          <p:cNvPr id="23" name="Text 19"/>
          <p:cNvSpPr/>
          <p:nvPr/>
        </p:nvSpPr>
        <p:spPr>
          <a:xfrm>
            <a:off x="9756648" y="4032504"/>
            <a:ext cx="548640" cy="182880"/>
          </a:xfrm>
          <a:prstGeom prst="rect">
            <a:avLst/>
          </a:prstGeom>
          <a:noFill/>
          <a:ln/>
        </p:spPr>
        <p:txBody>
          <a:bodyPr wrap="square" lIns="0" tIns="0" rIns="0" bIns="0" rtlCol="0" anchor="ctr"/>
          <a:lstStyle/>
          <a:p>
            <a:pPr algn="r" indent="0" marL="0">
              <a:buNone/>
            </a:pPr>
            <a:r>
              <a:rPr lang="en-US" sz="1100" b="1" dirty="0">
                <a:solidFill>
                  <a:srgbClr val="123524"/>
                </a:solidFill>
              </a:rPr>
              <a:t>282</a:t>
            </a:r>
            <a:endParaRPr lang="en-US" sz="1100" dirty="0"/>
          </a:p>
        </p:txBody>
      </p:sp>
      <p:sp>
        <p:nvSpPr>
          <p:cNvPr id="24" name="Text 20"/>
          <p:cNvSpPr/>
          <p:nvPr/>
        </p:nvSpPr>
        <p:spPr>
          <a:xfrm>
            <a:off x="10405872" y="4032504"/>
            <a:ext cx="548640" cy="182880"/>
          </a:xfrm>
          <a:prstGeom prst="rect">
            <a:avLst/>
          </a:prstGeom>
          <a:noFill/>
          <a:ln/>
        </p:spPr>
        <p:txBody>
          <a:bodyPr wrap="square" lIns="0" tIns="0" rIns="0" bIns="0" rtlCol="0" anchor="ctr"/>
          <a:lstStyle/>
          <a:p>
            <a:pPr algn="r" indent="0" marL="0">
              <a:buNone/>
            </a:pPr>
            <a:r>
              <a:rPr lang="en-US" sz="1100" b="1" dirty="0">
                <a:solidFill>
                  <a:srgbClr val="C8A96A"/>
                </a:solidFill>
              </a:rPr>
              <a:t>34</a:t>
            </a:r>
            <a:endParaRPr lang="en-US" sz="1100" dirty="0"/>
          </a:p>
        </p:txBody>
      </p:sp>
      <p:sp>
        <p:nvSpPr>
          <p:cNvPr id="25" name="Text 21"/>
          <p:cNvSpPr/>
          <p:nvPr/>
        </p:nvSpPr>
        <p:spPr>
          <a:xfrm>
            <a:off x="8942832" y="4553712"/>
            <a:ext cx="822960" cy="182880"/>
          </a:xfrm>
          <a:prstGeom prst="rect">
            <a:avLst/>
          </a:prstGeom>
          <a:noFill/>
          <a:ln/>
        </p:spPr>
        <p:txBody>
          <a:bodyPr wrap="square" lIns="0" tIns="0" rIns="0" bIns="0" rtlCol="0" anchor="ctr"/>
          <a:lstStyle/>
          <a:p>
            <a:pPr indent="0" marL="0">
              <a:buNone/>
            </a:pPr>
            <a:r>
              <a:rPr lang="en-US" sz="950" dirty="0">
                <a:solidFill>
                  <a:srgbClr val="65736B"/>
                </a:solidFill>
              </a:rPr>
              <a:t>Chiefs</a:t>
            </a:r>
            <a:endParaRPr lang="en-US" sz="950" dirty="0"/>
          </a:p>
        </p:txBody>
      </p:sp>
      <p:sp>
        <p:nvSpPr>
          <p:cNvPr id="26" name="Text 22"/>
          <p:cNvSpPr/>
          <p:nvPr/>
        </p:nvSpPr>
        <p:spPr>
          <a:xfrm>
            <a:off x="9756648" y="4553712"/>
            <a:ext cx="548640" cy="182880"/>
          </a:xfrm>
          <a:prstGeom prst="rect">
            <a:avLst/>
          </a:prstGeom>
          <a:noFill/>
          <a:ln/>
        </p:spPr>
        <p:txBody>
          <a:bodyPr wrap="square" lIns="0" tIns="0" rIns="0" bIns="0" rtlCol="0" anchor="ctr"/>
          <a:lstStyle/>
          <a:p>
            <a:pPr algn="r" indent="0" marL="0">
              <a:buNone/>
            </a:pPr>
            <a:r>
              <a:rPr lang="en-US" sz="1100" b="1" dirty="0">
                <a:solidFill>
                  <a:srgbClr val="123524"/>
                </a:solidFill>
              </a:rPr>
              <a:t>358</a:t>
            </a:r>
            <a:endParaRPr lang="en-US" sz="1100" dirty="0"/>
          </a:p>
        </p:txBody>
      </p:sp>
      <p:sp>
        <p:nvSpPr>
          <p:cNvPr id="27" name="Text 23"/>
          <p:cNvSpPr/>
          <p:nvPr/>
        </p:nvSpPr>
        <p:spPr>
          <a:xfrm>
            <a:off x="10405872" y="4553712"/>
            <a:ext cx="548640" cy="182880"/>
          </a:xfrm>
          <a:prstGeom prst="rect">
            <a:avLst/>
          </a:prstGeom>
          <a:noFill/>
          <a:ln/>
        </p:spPr>
        <p:txBody>
          <a:bodyPr wrap="square" lIns="0" tIns="0" rIns="0" bIns="0" rtlCol="0" anchor="ctr"/>
          <a:lstStyle/>
          <a:p>
            <a:pPr algn="r" indent="0" marL="0">
              <a:buNone/>
            </a:pPr>
            <a:r>
              <a:rPr lang="en-US" sz="1100" b="1" dirty="0">
                <a:solidFill>
                  <a:srgbClr val="C8A96A"/>
                </a:solidFill>
              </a:rPr>
              <a:t>92</a:t>
            </a:r>
            <a:endParaRPr lang="en-US" sz="1100" dirty="0"/>
          </a:p>
        </p:txBody>
      </p:sp>
      <p:sp>
        <p:nvSpPr>
          <p:cNvPr id="28" name="Text 24"/>
          <p:cNvSpPr/>
          <p:nvPr/>
        </p:nvSpPr>
        <p:spPr>
          <a:xfrm>
            <a:off x="9610344" y="5166360"/>
            <a:ext cx="731520" cy="164592"/>
          </a:xfrm>
          <a:prstGeom prst="rect">
            <a:avLst/>
          </a:prstGeom>
          <a:noFill/>
          <a:ln/>
        </p:spPr>
        <p:txBody>
          <a:bodyPr wrap="square" lIns="0" tIns="0" rIns="0" bIns="0" rtlCol="0" anchor="ctr"/>
          <a:lstStyle/>
          <a:p>
            <a:pPr algn="r" indent="0" marL="0">
              <a:buNone/>
            </a:pPr>
            <a:r>
              <a:rPr lang="en-US" sz="800" b="1" dirty="0">
                <a:solidFill>
                  <a:srgbClr val="123524"/>
                </a:solidFill>
              </a:rPr>
              <a:t>AFRICA</a:t>
            </a:r>
            <a:endParaRPr lang="en-US" sz="800" dirty="0"/>
          </a:p>
        </p:txBody>
      </p:sp>
      <p:sp>
        <p:nvSpPr>
          <p:cNvPr id="29" name="Text 25"/>
          <p:cNvSpPr/>
          <p:nvPr/>
        </p:nvSpPr>
        <p:spPr>
          <a:xfrm>
            <a:off x="10387584" y="5166360"/>
            <a:ext cx="566928" cy="164592"/>
          </a:xfrm>
          <a:prstGeom prst="rect">
            <a:avLst/>
          </a:prstGeom>
          <a:noFill/>
          <a:ln/>
        </p:spPr>
        <p:txBody>
          <a:bodyPr wrap="square" lIns="0" tIns="0" rIns="0" bIns="0" rtlCol="0" anchor="ctr"/>
          <a:lstStyle/>
          <a:p>
            <a:pPr algn="r" indent="0" marL="0">
              <a:buNone/>
            </a:pPr>
            <a:r>
              <a:rPr lang="en-US" sz="800" b="1" dirty="0">
                <a:solidFill>
                  <a:srgbClr val="C8A96A"/>
                </a:solidFill>
              </a:rPr>
              <a:t>ASIA</a:t>
            </a:r>
            <a:endParaRPr lang="en-US" sz="800" dirty="0"/>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4.7 • GEOGRAPHIC COMPARISON</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Aligned charts make differences visible</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Leadership, recognition, governance functions, and normalized indicators share one visual grammar.</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sp>
        <p:nvSpPr>
          <p:cNvPr id="8" name="Shape 5"/>
          <p:cNvSpPr/>
          <p:nvPr/>
        </p:nvSpPr>
        <p:spPr>
          <a:xfrm>
            <a:off x="603504" y="1536192"/>
            <a:ext cx="7845552" cy="4626864"/>
          </a:xfrm>
          <a:prstGeom prst="roundRect">
            <a:avLst>
              <a:gd name="adj" fmla="val 1976"/>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pic>
        <p:nvPicPr>
          <p:cNvPr id="9" name="Image 0" descr="C:\Users\mossa\OneDrive\Documents\مشروع التخرج\docs\chapter4-screenshots\14-comparison-charts.png">    </p:cNvPr>
          <p:cNvPicPr>
            <a:picLocks noChangeAspect="1"/>
          </p:cNvPicPr>
          <p:nvPr/>
        </p:nvPicPr>
        <p:blipFill>
          <a:blip r:embed="rId1"/>
          <a:stretch>
            <a:fillRect/>
          </a:stretch>
        </p:blipFill>
        <p:spPr>
          <a:xfrm>
            <a:off x="1186891" y="1572768"/>
            <a:ext cx="6678778" cy="4553712"/>
          </a:xfrm>
          <a:prstGeom prst="rect">
            <a:avLst/>
          </a:prstGeom>
        </p:spPr>
      </p:pic>
      <p:sp>
        <p:nvSpPr>
          <p:cNvPr id="10" name="Text 6"/>
          <p:cNvSpPr/>
          <p:nvPr/>
        </p:nvSpPr>
        <p:spPr>
          <a:xfrm>
            <a:off x="640080" y="6181344"/>
            <a:ext cx="7772400" cy="219456"/>
          </a:xfrm>
          <a:prstGeom prst="rect">
            <a:avLst/>
          </a:prstGeom>
          <a:noFill/>
          <a:ln/>
        </p:spPr>
        <p:txBody>
          <a:bodyPr wrap="square" lIns="0" tIns="0" rIns="0" bIns="0" rtlCol="0" anchor="ctr">
            <a:normAutofit/>
          </a:bodyPr>
          <a:lstStyle/>
          <a:p>
            <a:pPr algn="ctr" indent="0" marL="0">
              <a:buNone/>
            </a:pPr>
            <a:r>
              <a:rPr lang="en-US" sz="900" i="1" dirty="0">
                <a:solidFill>
                  <a:srgbClr val="65736B"/>
                </a:solidFill>
                <a:latin typeface="Aptos" pitchFamily="34" charset="0"/>
                <a:ea typeface="Aptos" pitchFamily="34" charset="-122"/>
                <a:cs typeface="Aptos" pitchFamily="34" charset="-120"/>
              </a:rPr>
              <a:t>Figure 4.10: Comparison Charts for Africa and Asia</a:t>
            </a:r>
            <a:endParaRPr lang="en-US" sz="900" dirty="0"/>
          </a:p>
        </p:txBody>
      </p:sp>
      <p:sp>
        <p:nvSpPr>
          <p:cNvPr id="11" name="Shape 7"/>
          <p:cNvSpPr/>
          <p:nvPr/>
        </p:nvSpPr>
        <p:spPr>
          <a:xfrm>
            <a:off x="8686800" y="1719072"/>
            <a:ext cx="2743200" cy="4206240"/>
          </a:xfrm>
          <a:prstGeom prst="roundRect">
            <a:avLst>
              <a:gd name="adj" fmla="val 3333"/>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12" name="Text 8"/>
          <p:cNvSpPr/>
          <p:nvPr/>
        </p:nvSpPr>
        <p:spPr>
          <a:xfrm>
            <a:off x="8942832" y="1975104"/>
            <a:ext cx="2194560" cy="256032"/>
          </a:xfrm>
          <a:prstGeom prst="rect">
            <a:avLst/>
          </a:prstGeom>
          <a:noFill/>
          <a:ln/>
        </p:spPr>
        <p:txBody>
          <a:bodyPr wrap="square" lIns="0" tIns="0" rIns="0" bIns="0" rtlCol="0" anchor="ctr"/>
          <a:lstStyle/>
          <a:p>
            <a:pPr indent="0" marL="0">
              <a:buNone/>
            </a:pPr>
            <a:r>
              <a:rPr lang="en-US" sz="1800" b="1" dirty="0">
                <a:solidFill>
                  <a:srgbClr val="123524"/>
                </a:solidFill>
                <a:latin typeface="Georgia" pitchFamily="34" charset="0"/>
                <a:ea typeface="Georgia" pitchFamily="34" charset="-122"/>
                <a:cs typeface="Georgia" pitchFamily="34" charset="-120"/>
              </a:rPr>
              <a:t>How to read</a:t>
            </a:r>
            <a:endParaRPr lang="en-US" sz="1800" dirty="0"/>
          </a:p>
        </p:txBody>
      </p:sp>
      <p:sp>
        <p:nvSpPr>
          <p:cNvPr id="13" name="Text 9"/>
          <p:cNvSpPr/>
          <p:nvPr/>
        </p:nvSpPr>
        <p:spPr>
          <a:xfrm>
            <a:off x="8915400" y="2450592"/>
            <a:ext cx="2148840" cy="2697480"/>
          </a:xfrm>
          <a:prstGeom prst="rect">
            <a:avLst/>
          </a:prstGeom>
          <a:noFill/>
          <a:ln/>
        </p:spPr>
        <p:txBody>
          <a:bodyPr wrap="square" lIns="25400" tIns="25400" rIns="25400" bIns="25400" rtlCol="0" anchor="ctr">
            <a:normAutofit/>
          </a:bodyPr>
          <a:lstStyle/>
          <a:p>
            <a:pPr marL="177800" indent="-177800">
              <a:buSzPct val="100000"/>
              <a:buChar char="•"/>
            </a:pPr>
            <a:r>
              <a:rPr lang="en-US" sz="1200" dirty="0">
                <a:solidFill>
                  <a:srgbClr val="14251D"/>
                </a:solidFill>
                <a:latin typeface="Aptos" pitchFamily="34" charset="0"/>
                <a:ea typeface="Aptos" pitchFamily="34" charset="-122"/>
                <a:cs typeface="Aptos" pitchFamily="34" charset="-120"/>
              </a:rPr>
              <a:t>Counts show absolute institutional presence.</a:t>
            </a:r>
            <a:endParaRPr lang="en-US" sz="1200" dirty="0"/>
          </a:p>
          <a:p>
            <a:pPr marL="177800" indent="-177800">
              <a:buSzPct val="100000"/>
              <a:buChar char="•"/>
            </a:pPr>
            <a:r>
              <a:rPr lang="en-US" sz="1200" dirty="0">
                <a:solidFill>
                  <a:srgbClr val="14251D"/>
                </a:solidFill>
                <a:latin typeface="Aptos" pitchFamily="34" charset="0"/>
                <a:ea typeface="Aptos" pitchFamily="34" charset="-122"/>
                <a:cs typeface="Aptos" pitchFamily="34" charset="-120"/>
              </a:rPr>
              <a:t>Recognition bars separate recognized, non-recognized, and missing values.</a:t>
            </a:r>
            <a:endParaRPr lang="en-US" sz="1200" dirty="0"/>
          </a:p>
          <a:p>
            <a:pPr marL="177800" indent="-177800">
              <a:buSzPct val="100000"/>
              <a:buChar char="•"/>
            </a:pPr>
            <a:r>
              <a:rPr lang="en-US" sz="1200" dirty="0">
                <a:solidFill>
                  <a:srgbClr val="14251D"/>
                </a:solidFill>
                <a:latin typeface="Aptos" pitchFamily="34" charset="0"/>
                <a:ea typeface="Aptos" pitchFamily="34" charset="-122"/>
                <a:cs typeface="Aptos" pitchFamily="34" charset="-120"/>
              </a:rPr>
              <a:t>Radar values are normalized to each entity's total groups.</a:t>
            </a:r>
            <a:endParaRPr lang="en-US" sz="1200" dirty="0"/>
          </a:p>
          <a:p>
            <a:pPr marL="177800" indent="-177800">
              <a:buSzPct val="100000"/>
              <a:buChar char="•"/>
            </a:pPr>
            <a:r>
              <a:rPr lang="en-US" sz="1200" dirty="0">
                <a:solidFill>
                  <a:srgbClr val="14251D"/>
                </a:solidFill>
                <a:latin typeface="Aptos" pitchFamily="34" charset="0"/>
                <a:ea typeface="Aptos" pitchFamily="34" charset="-122"/>
                <a:cs typeface="Aptos" pitchFamily="34" charset="-120"/>
              </a:rPr>
              <a:t>Comparison describes patterns; it does not explain their historical causes.</a:t>
            </a:r>
            <a:endParaRPr lang="en-US" sz="1200" dirty="0"/>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4.8 • STATISTICAL ANALYSIS MODULE</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The module moves beyond description</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Implemented analyses test relationships, differences, and effect sizes using complete cases.</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sp>
        <p:nvSpPr>
          <p:cNvPr id="8" name="Shape 5"/>
          <p:cNvSpPr/>
          <p:nvPr/>
        </p:nvSpPr>
        <p:spPr>
          <a:xfrm>
            <a:off x="530352" y="1545336"/>
            <a:ext cx="4416552" cy="4599432"/>
          </a:xfrm>
          <a:prstGeom prst="roundRect">
            <a:avLst>
              <a:gd name="adj" fmla="val 2070"/>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pic>
        <p:nvPicPr>
          <p:cNvPr id="9" name="Image 0" descr="C:\Users\mossa\OneDrive\Documents\مشروع التخرج\docs\chapter4-screenshots\15-statistical-analysis-full.png">    </p:cNvPr>
          <p:cNvPicPr>
            <a:picLocks noChangeAspect="1"/>
          </p:cNvPicPr>
          <p:nvPr/>
        </p:nvPicPr>
        <p:blipFill>
          <a:blip r:embed="rId1"/>
          <a:stretch>
            <a:fillRect/>
          </a:stretch>
        </p:blipFill>
        <p:spPr>
          <a:xfrm>
            <a:off x="2603096" y="1581912"/>
            <a:ext cx="271063" cy="4526280"/>
          </a:xfrm>
          <a:prstGeom prst="rect">
            <a:avLst/>
          </a:prstGeom>
        </p:spPr>
      </p:pic>
      <p:sp>
        <p:nvSpPr>
          <p:cNvPr id="10" name="Text 6"/>
          <p:cNvSpPr/>
          <p:nvPr/>
        </p:nvSpPr>
        <p:spPr>
          <a:xfrm>
            <a:off x="566928" y="6163056"/>
            <a:ext cx="4343400" cy="219456"/>
          </a:xfrm>
          <a:prstGeom prst="rect">
            <a:avLst/>
          </a:prstGeom>
          <a:noFill/>
          <a:ln/>
        </p:spPr>
        <p:txBody>
          <a:bodyPr wrap="square" lIns="0" tIns="0" rIns="0" bIns="0" rtlCol="0" anchor="ctr">
            <a:normAutofit/>
          </a:bodyPr>
          <a:lstStyle/>
          <a:p>
            <a:pPr algn="ctr" indent="0" marL="0">
              <a:buNone/>
            </a:pPr>
            <a:r>
              <a:rPr lang="en-US" sz="900" i="1" dirty="0">
                <a:solidFill>
                  <a:srgbClr val="65736B"/>
                </a:solidFill>
                <a:latin typeface="Aptos" pitchFamily="34" charset="0"/>
                <a:ea typeface="Aptos" pitchFamily="34" charset="-122"/>
                <a:cs typeface="Aptos" pitchFamily="34" charset="-120"/>
              </a:rPr>
              <a:t>Figure 4.11: Complete Statistical Analysis Interface</a:t>
            </a:r>
            <a:endParaRPr lang="en-US" sz="900" dirty="0"/>
          </a:p>
        </p:txBody>
      </p:sp>
      <p:sp>
        <p:nvSpPr>
          <p:cNvPr id="11" name="Shape 7"/>
          <p:cNvSpPr/>
          <p:nvPr/>
        </p:nvSpPr>
        <p:spPr>
          <a:xfrm>
            <a:off x="5230368" y="1691640"/>
            <a:ext cx="6080760" cy="4206240"/>
          </a:xfrm>
          <a:prstGeom prst="roundRect">
            <a:avLst>
              <a:gd name="adj" fmla="val 2174"/>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12" name="Text 8"/>
          <p:cNvSpPr/>
          <p:nvPr/>
        </p:nvSpPr>
        <p:spPr>
          <a:xfrm>
            <a:off x="5532120" y="1956816"/>
            <a:ext cx="2743200" cy="292608"/>
          </a:xfrm>
          <a:prstGeom prst="rect">
            <a:avLst/>
          </a:prstGeom>
          <a:noFill/>
          <a:ln/>
        </p:spPr>
        <p:txBody>
          <a:bodyPr wrap="square" lIns="0" tIns="0" rIns="0" bIns="0" rtlCol="0" anchor="ctr"/>
          <a:lstStyle/>
          <a:p>
            <a:pPr indent="0" marL="0">
              <a:buNone/>
            </a:pPr>
            <a:r>
              <a:rPr lang="en-US" sz="1900" b="1" dirty="0">
                <a:solidFill>
                  <a:srgbClr val="123524"/>
                </a:solidFill>
                <a:latin typeface="Georgia" pitchFamily="34" charset="0"/>
                <a:ea typeface="Georgia" pitchFamily="34" charset="-122"/>
                <a:cs typeface="Georgia" pitchFamily="34" charset="-120"/>
              </a:rPr>
              <a:t>Analytical pipeline</a:t>
            </a:r>
            <a:endParaRPr lang="en-US" sz="1900" dirty="0"/>
          </a:p>
        </p:txBody>
      </p:sp>
      <p:sp>
        <p:nvSpPr>
          <p:cNvPr id="13" name="Shape 9"/>
          <p:cNvSpPr/>
          <p:nvPr/>
        </p:nvSpPr>
        <p:spPr>
          <a:xfrm>
            <a:off x="5532120" y="2468880"/>
            <a:ext cx="320040" cy="320040"/>
          </a:xfrm>
          <a:prstGeom prst="ellipse">
            <a:avLst/>
          </a:prstGeom>
          <a:solidFill>
            <a:srgbClr val="123524"/>
          </a:solidFill>
          <a:ln w="12700">
            <a:solidFill>
              <a:srgbClr val="FFFFFF"/>
            </a:solidFill>
            <a:prstDash val="solid"/>
          </a:ln>
        </p:spPr>
      </p:sp>
      <p:sp>
        <p:nvSpPr>
          <p:cNvPr id="14" name="Text 10"/>
          <p:cNvSpPr/>
          <p:nvPr/>
        </p:nvSpPr>
        <p:spPr>
          <a:xfrm>
            <a:off x="5550408" y="2532888"/>
            <a:ext cx="283464" cy="109728"/>
          </a:xfrm>
          <a:prstGeom prst="rect">
            <a:avLst/>
          </a:prstGeom>
          <a:noFill/>
          <a:ln/>
        </p:spPr>
        <p:txBody>
          <a:bodyPr wrap="square" lIns="0" tIns="0" rIns="0" bIns="0" rtlCol="0" anchor="ctr"/>
          <a:lstStyle/>
          <a:p>
            <a:pPr algn="ctr" indent="0" marL="0">
              <a:buNone/>
            </a:pPr>
            <a:r>
              <a:rPr lang="en-US" sz="850" b="1" dirty="0">
                <a:solidFill>
                  <a:srgbClr val="FFFFFF"/>
                </a:solidFill>
              </a:rPr>
              <a:t>1</a:t>
            </a:r>
            <a:endParaRPr lang="en-US" sz="850" dirty="0"/>
          </a:p>
        </p:txBody>
      </p:sp>
      <p:sp>
        <p:nvSpPr>
          <p:cNvPr id="15" name="Text 11"/>
          <p:cNvSpPr/>
          <p:nvPr/>
        </p:nvSpPr>
        <p:spPr>
          <a:xfrm>
            <a:off x="5989320" y="2478024"/>
            <a:ext cx="960120" cy="164592"/>
          </a:xfrm>
          <a:prstGeom prst="rect">
            <a:avLst/>
          </a:prstGeom>
          <a:noFill/>
          <a:ln/>
        </p:spPr>
        <p:txBody>
          <a:bodyPr wrap="square" lIns="0" tIns="0" rIns="0" bIns="0" rtlCol="0" anchor="ctr"/>
          <a:lstStyle/>
          <a:p>
            <a:pPr indent="0" marL="0">
              <a:buNone/>
            </a:pPr>
            <a:r>
              <a:rPr lang="en-US" sz="1000" b="1" dirty="0">
                <a:solidFill>
                  <a:srgbClr val="123524"/>
                </a:solidFill>
              </a:rPr>
              <a:t>Prepare</a:t>
            </a:r>
            <a:endParaRPr lang="en-US" sz="1000" dirty="0"/>
          </a:p>
        </p:txBody>
      </p:sp>
      <p:sp>
        <p:nvSpPr>
          <p:cNvPr id="16" name="Text 12"/>
          <p:cNvSpPr/>
          <p:nvPr/>
        </p:nvSpPr>
        <p:spPr>
          <a:xfrm>
            <a:off x="6967728" y="2478024"/>
            <a:ext cx="3749040" cy="182880"/>
          </a:xfrm>
          <a:prstGeom prst="rect">
            <a:avLst/>
          </a:prstGeom>
          <a:noFill/>
          <a:ln/>
        </p:spPr>
        <p:txBody>
          <a:bodyPr wrap="square" lIns="0" tIns="0" rIns="0" bIns="0" rtlCol="0" anchor="ctr">
            <a:normAutofit/>
          </a:bodyPr>
          <a:lstStyle/>
          <a:p>
            <a:pPr indent="0" marL="0">
              <a:buNone/>
            </a:pPr>
            <a:r>
              <a:rPr lang="en-US" sz="1120" dirty="0">
                <a:solidFill>
                  <a:srgbClr val="14251D"/>
                </a:solidFill>
              </a:rPr>
              <a:t>Exclude missing/invalid values</a:t>
            </a:r>
            <a:endParaRPr lang="en-US" sz="1120" dirty="0"/>
          </a:p>
        </p:txBody>
      </p:sp>
      <p:sp>
        <p:nvSpPr>
          <p:cNvPr id="17" name="Shape 13"/>
          <p:cNvSpPr/>
          <p:nvPr/>
        </p:nvSpPr>
        <p:spPr>
          <a:xfrm>
            <a:off x="5532120" y="3035808"/>
            <a:ext cx="320040" cy="320040"/>
          </a:xfrm>
          <a:prstGeom prst="ellipse">
            <a:avLst/>
          </a:prstGeom>
          <a:solidFill>
            <a:srgbClr val="123524"/>
          </a:solidFill>
          <a:ln w="12700">
            <a:solidFill>
              <a:srgbClr val="FFFFFF"/>
            </a:solidFill>
            <a:prstDash val="solid"/>
          </a:ln>
        </p:spPr>
      </p:sp>
      <p:sp>
        <p:nvSpPr>
          <p:cNvPr id="18" name="Text 14"/>
          <p:cNvSpPr/>
          <p:nvPr/>
        </p:nvSpPr>
        <p:spPr>
          <a:xfrm>
            <a:off x="5550408" y="3099816"/>
            <a:ext cx="283464" cy="109728"/>
          </a:xfrm>
          <a:prstGeom prst="rect">
            <a:avLst/>
          </a:prstGeom>
          <a:noFill/>
          <a:ln/>
        </p:spPr>
        <p:txBody>
          <a:bodyPr wrap="square" lIns="0" tIns="0" rIns="0" bIns="0" rtlCol="0" anchor="ctr"/>
          <a:lstStyle/>
          <a:p>
            <a:pPr algn="ctr" indent="0" marL="0">
              <a:buNone/>
            </a:pPr>
            <a:r>
              <a:rPr lang="en-US" sz="850" b="1" dirty="0">
                <a:solidFill>
                  <a:srgbClr val="FFFFFF"/>
                </a:solidFill>
              </a:rPr>
              <a:t>2</a:t>
            </a:r>
            <a:endParaRPr lang="en-US" sz="850" dirty="0"/>
          </a:p>
        </p:txBody>
      </p:sp>
      <p:sp>
        <p:nvSpPr>
          <p:cNvPr id="19" name="Text 15"/>
          <p:cNvSpPr/>
          <p:nvPr/>
        </p:nvSpPr>
        <p:spPr>
          <a:xfrm>
            <a:off x="5989320" y="3044952"/>
            <a:ext cx="960120" cy="164592"/>
          </a:xfrm>
          <a:prstGeom prst="rect">
            <a:avLst/>
          </a:prstGeom>
          <a:noFill/>
          <a:ln/>
        </p:spPr>
        <p:txBody>
          <a:bodyPr wrap="square" lIns="0" tIns="0" rIns="0" bIns="0" rtlCol="0" anchor="ctr"/>
          <a:lstStyle/>
          <a:p>
            <a:pPr indent="0" marL="0">
              <a:buNone/>
            </a:pPr>
            <a:r>
              <a:rPr lang="en-US" sz="1000" b="1" dirty="0">
                <a:solidFill>
                  <a:srgbClr val="123524"/>
                </a:solidFill>
              </a:rPr>
              <a:t>Select</a:t>
            </a:r>
            <a:endParaRPr lang="en-US" sz="1000" dirty="0"/>
          </a:p>
        </p:txBody>
      </p:sp>
      <p:sp>
        <p:nvSpPr>
          <p:cNvPr id="20" name="Text 16"/>
          <p:cNvSpPr/>
          <p:nvPr/>
        </p:nvSpPr>
        <p:spPr>
          <a:xfrm>
            <a:off x="6967728" y="3044952"/>
            <a:ext cx="3749040" cy="182880"/>
          </a:xfrm>
          <a:prstGeom prst="rect">
            <a:avLst/>
          </a:prstGeom>
          <a:noFill/>
          <a:ln/>
        </p:spPr>
        <p:txBody>
          <a:bodyPr wrap="square" lIns="0" tIns="0" rIns="0" bIns="0" rtlCol="0" anchor="ctr">
            <a:normAutofit/>
          </a:bodyPr>
          <a:lstStyle/>
          <a:p>
            <a:pPr indent="0" marL="0">
              <a:buNone/>
            </a:pPr>
            <a:r>
              <a:rPr lang="en-US" sz="1120" dirty="0">
                <a:solidFill>
                  <a:srgbClr val="14251D"/>
                </a:solidFill>
              </a:rPr>
              <a:t>Method follows variable types</a:t>
            </a:r>
            <a:endParaRPr lang="en-US" sz="1120" dirty="0"/>
          </a:p>
        </p:txBody>
      </p:sp>
      <p:sp>
        <p:nvSpPr>
          <p:cNvPr id="21" name="Shape 17"/>
          <p:cNvSpPr/>
          <p:nvPr/>
        </p:nvSpPr>
        <p:spPr>
          <a:xfrm>
            <a:off x="5532120" y="3602736"/>
            <a:ext cx="320040" cy="320040"/>
          </a:xfrm>
          <a:prstGeom prst="ellipse">
            <a:avLst/>
          </a:prstGeom>
          <a:solidFill>
            <a:srgbClr val="123524"/>
          </a:solidFill>
          <a:ln w="12700">
            <a:solidFill>
              <a:srgbClr val="FFFFFF"/>
            </a:solidFill>
            <a:prstDash val="solid"/>
          </a:ln>
        </p:spPr>
      </p:sp>
      <p:sp>
        <p:nvSpPr>
          <p:cNvPr id="22" name="Text 18"/>
          <p:cNvSpPr/>
          <p:nvPr/>
        </p:nvSpPr>
        <p:spPr>
          <a:xfrm>
            <a:off x="5550408" y="3666744"/>
            <a:ext cx="283464" cy="109728"/>
          </a:xfrm>
          <a:prstGeom prst="rect">
            <a:avLst/>
          </a:prstGeom>
          <a:noFill/>
          <a:ln/>
        </p:spPr>
        <p:txBody>
          <a:bodyPr wrap="square" lIns="0" tIns="0" rIns="0" bIns="0" rtlCol="0" anchor="ctr"/>
          <a:lstStyle/>
          <a:p>
            <a:pPr algn="ctr" indent="0" marL="0">
              <a:buNone/>
            </a:pPr>
            <a:r>
              <a:rPr lang="en-US" sz="850" b="1" dirty="0">
                <a:solidFill>
                  <a:srgbClr val="FFFFFF"/>
                </a:solidFill>
              </a:rPr>
              <a:t>3</a:t>
            </a:r>
            <a:endParaRPr lang="en-US" sz="850" dirty="0"/>
          </a:p>
        </p:txBody>
      </p:sp>
      <p:sp>
        <p:nvSpPr>
          <p:cNvPr id="23" name="Text 19"/>
          <p:cNvSpPr/>
          <p:nvPr/>
        </p:nvSpPr>
        <p:spPr>
          <a:xfrm>
            <a:off x="5989320" y="3611880"/>
            <a:ext cx="960120" cy="164592"/>
          </a:xfrm>
          <a:prstGeom prst="rect">
            <a:avLst/>
          </a:prstGeom>
          <a:noFill/>
          <a:ln/>
        </p:spPr>
        <p:txBody>
          <a:bodyPr wrap="square" lIns="0" tIns="0" rIns="0" bIns="0" rtlCol="0" anchor="ctr"/>
          <a:lstStyle/>
          <a:p>
            <a:pPr indent="0" marL="0">
              <a:buNone/>
            </a:pPr>
            <a:r>
              <a:rPr lang="en-US" sz="1000" b="1" dirty="0">
                <a:solidFill>
                  <a:srgbClr val="123524"/>
                </a:solidFill>
              </a:rPr>
              <a:t>Calculate</a:t>
            </a:r>
            <a:endParaRPr lang="en-US" sz="1000" dirty="0"/>
          </a:p>
        </p:txBody>
      </p:sp>
      <p:sp>
        <p:nvSpPr>
          <p:cNvPr id="24" name="Text 20"/>
          <p:cNvSpPr/>
          <p:nvPr/>
        </p:nvSpPr>
        <p:spPr>
          <a:xfrm>
            <a:off x="6967728" y="3611880"/>
            <a:ext cx="3749040" cy="182880"/>
          </a:xfrm>
          <a:prstGeom prst="rect">
            <a:avLst/>
          </a:prstGeom>
          <a:noFill/>
          <a:ln/>
        </p:spPr>
        <p:txBody>
          <a:bodyPr wrap="square" lIns="0" tIns="0" rIns="0" bIns="0" rtlCol="0" anchor="ctr">
            <a:normAutofit/>
          </a:bodyPr>
          <a:lstStyle/>
          <a:p>
            <a:pPr indent="0" marL="0">
              <a:buNone/>
            </a:pPr>
            <a:r>
              <a:rPr lang="en-US" sz="1120" dirty="0">
                <a:solidFill>
                  <a:srgbClr val="14251D"/>
                </a:solidFill>
              </a:rPr>
              <a:t>SciPy statistics and effect sizes</a:t>
            </a:r>
            <a:endParaRPr lang="en-US" sz="1120" dirty="0"/>
          </a:p>
        </p:txBody>
      </p:sp>
      <p:sp>
        <p:nvSpPr>
          <p:cNvPr id="25" name="Shape 21"/>
          <p:cNvSpPr/>
          <p:nvPr/>
        </p:nvSpPr>
        <p:spPr>
          <a:xfrm>
            <a:off x="5532120" y="4169664"/>
            <a:ext cx="320040" cy="320040"/>
          </a:xfrm>
          <a:prstGeom prst="ellipse">
            <a:avLst/>
          </a:prstGeom>
          <a:solidFill>
            <a:srgbClr val="123524"/>
          </a:solidFill>
          <a:ln w="12700">
            <a:solidFill>
              <a:srgbClr val="FFFFFF"/>
            </a:solidFill>
            <a:prstDash val="solid"/>
          </a:ln>
        </p:spPr>
      </p:sp>
      <p:sp>
        <p:nvSpPr>
          <p:cNvPr id="26" name="Text 22"/>
          <p:cNvSpPr/>
          <p:nvPr/>
        </p:nvSpPr>
        <p:spPr>
          <a:xfrm>
            <a:off x="5550408" y="4233672"/>
            <a:ext cx="283464" cy="109728"/>
          </a:xfrm>
          <a:prstGeom prst="rect">
            <a:avLst/>
          </a:prstGeom>
          <a:noFill/>
          <a:ln/>
        </p:spPr>
        <p:txBody>
          <a:bodyPr wrap="square" lIns="0" tIns="0" rIns="0" bIns="0" rtlCol="0" anchor="ctr"/>
          <a:lstStyle/>
          <a:p>
            <a:pPr algn="ctr" indent="0" marL="0">
              <a:buNone/>
            </a:pPr>
            <a:r>
              <a:rPr lang="en-US" sz="850" b="1" dirty="0">
                <a:solidFill>
                  <a:srgbClr val="FFFFFF"/>
                </a:solidFill>
              </a:rPr>
              <a:t>4</a:t>
            </a:r>
            <a:endParaRPr lang="en-US" sz="850" dirty="0"/>
          </a:p>
        </p:txBody>
      </p:sp>
      <p:sp>
        <p:nvSpPr>
          <p:cNvPr id="27" name="Text 23"/>
          <p:cNvSpPr/>
          <p:nvPr/>
        </p:nvSpPr>
        <p:spPr>
          <a:xfrm>
            <a:off x="5989320" y="4178808"/>
            <a:ext cx="960120" cy="164592"/>
          </a:xfrm>
          <a:prstGeom prst="rect">
            <a:avLst/>
          </a:prstGeom>
          <a:noFill/>
          <a:ln/>
        </p:spPr>
        <p:txBody>
          <a:bodyPr wrap="square" lIns="0" tIns="0" rIns="0" bIns="0" rtlCol="0" anchor="ctr"/>
          <a:lstStyle/>
          <a:p>
            <a:pPr indent="0" marL="0">
              <a:buNone/>
            </a:pPr>
            <a:r>
              <a:rPr lang="en-US" sz="1000" b="1" dirty="0">
                <a:solidFill>
                  <a:srgbClr val="123524"/>
                </a:solidFill>
              </a:rPr>
              <a:t>Visualize</a:t>
            </a:r>
            <a:endParaRPr lang="en-US" sz="1000" dirty="0"/>
          </a:p>
        </p:txBody>
      </p:sp>
      <p:sp>
        <p:nvSpPr>
          <p:cNvPr id="28" name="Text 24"/>
          <p:cNvSpPr/>
          <p:nvPr/>
        </p:nvSpPr>
        <p:spPr>
          <a:xfrm>
            <a:off x="6967728" y="4178808"/>
            <a:ext cx="3749040" cy="182880"/>
          </a:xfrm>
          <a:prstGeom prst="rect">
            <a:avLst/>
          </a:prstGeom>
          <a:noFill/>
          <a:ln/>
        </p:spPr>
        <p:txBody>
          <a:bodyPr wrap="square" lIns="0" tIns="0" rIns="0" bIns="0" rtlCol="0" anchor="ctr">
            <a:normAutofit/>
          </a:bodyPr>
          <a:lstStyle/>
          <a:p>
            <a:pPr indent="0" marL="0">
              <a:buNone/>
            </a:pPr>
            <a:r>
              <a:rPr lang="en-US" sz="1120" dirty="0">
                <a:solidFill>
                  <a:srgbClr val="14251D"/>
                </a:solidFill>
              </a:rPr>
              <a:t>Tables, charts, and heatmaps</a:t>
            </a:r>
            <a:endParaRPr lang="en-US" sz="1120" dirty="0"/>
          </a:p>
        </p:txBody>
      </p:sp>
      <p:sp>
        <p:nvSpPr>
          <p:cNvPr id="29" name="Shape 25"/>
          <p:cNvSpPr/>
          <p:nvPr/>
        </p:nvSpPr>
        <p:spPr>
          <a:xfrm>
            <a:off x="5532120" y="4736592"/>
            <a:ext cx="320040" cy="320040"/>
          </a:xfrm>
          <a:prstGeom prst="ellipse">
            <a:avLst/>
          </a:prstGeom>
          <a:solidFill>
            <a:srgbClr val="C8A96A"/>
          </a:solidFill>
          <a:ln w="12700">
            <a:solidFill>
              <a:srgbClr val="FFFFFF"/>
            </a:solidFill>
            <a:prstDash val="solid"/>
          </a:ln>
        </p:spPr>
      </p:sp>
      <p:sp>
        <p:nvSpPr>
          <p:cNvPr id="30" name="Text 26"/>
          <p:cNvSpPr/>
          <p:nvPr/>
        </p:nvSpPr>
        <p:spPr>
          <a:xfrm>
            <a:off x="5550408" y="4800600"/>
            <a:ext cx="283464" cy="109728"/>
          </a:xfrm>
          <a:prstGeom prst="rect">
            <a:avLst/>
          </a:prstGeom>
          <a:noFill/>
          <a:ln/>
        </p:spPr>
        <p:txBody>
          <a:bodyPr wrap="square" lIns="0" tIns="0" rIns="0" bIns="0" rtlCol="0" anchor="ctr"/>
          <a:lstStyle/>
          <a:p>
            <a:pPr algn="ctr" indent="0" marL="0">
              <a:buNone/>
            </a:pPr>
            <a:r>
              <a:rPr lang="en-US" sz="850" b="1" dirty="0">
                <a:solidFill>
                  <a:srgbClr val="FFFFFF"/>
                </a:solidFill>
              </a:rPr>
              <a:t>5</a:t>
            </a:r>
            <a:endParaRPr lang="en-US" sz="850" dirty="0"/>
          </a:p>
        </p:txBody>
      </p:sp>
      <p:sp>
        <p:nvSpPr>
          <p:cNvPr id="31" name="Text 27"/>
          <p:cNvSpPr/>
          <p:nvPr/>
        </p:nvSpPr>
        <p:spPr>
          <a:xfrm>
            <a:off x="5989320" y="4745736"/>
            <a:ext cx="960120" cy="164592"/>
          </a:xfrm>
          <a:prstGeom prst="rect">
            <a:avLst/>
          </a:prstGeom>
          <a:noFill/>
          <a:ln/>
        </p:spPr>
        <p:txBody>
          <a:bodyPr wrap="square" lIns="0" tIns="0" rIns="0" bIns="0" rtlCol="0" anchor="ctr"/>
          <a:lstStyle/>
          <a:p>
            <a:pPr indent="0" marL="0">
              <a:buNone/>
            </a:pPr>
            <a:r>
              <a:rPr lang="en-US" sz="1000" b="1" dirty="0">
                <a:solidFill>
                  <a:srgbClr val="123524"/>
                </a:solidFill>
              </a:rPr>
              <a:t>Interpret</a:t>
            </a:r>
            <a:endParaRPr lang="en-US" sz="1000" dirty="0"/>
          </a:p>
        </p:txBody>
      </p:sp>
      <p:sp>
        <p:nvSpPr>
          <p:cNvPr id="32" name="Text 28"/>
          <p:cNvSpPr/>
          <p:nvPr/>
        </p:nvSpPr>
        <p:spPr>
          <a:xfrm>
            <a:off x="6967728" y="4745736"/>
            <a:ext cx="3749040" cy="182880"/>
          </a:xfrm>
          <a:prstGeom prst="rect">
            <a:avLst/>
          </a:prstGeom>
          <a:noFill/>
          <a:ln/>
        </p:spPr>
        <p:txBody>
          <a:bodyPr wrap="square" lIns="0" tIns="0" rIns="0" bIns="0" rtlCol="0" anchor="ctr">
            <a:normAutofit/>
          </a:bodyPr>
          <a:lstStyle/>
          <a:p>
            <a:pPr indent="0" marL="0">
              <a:buNone/>
            </a:pPr>
            <a:r>
              <a:rPr lang="en-US" sz="1120" dirty="0">
                <a:solidFill>
                  <a:srgbClr val="14251D"/>
                </a:solidFill>
              </a:rPr>
              <a:t>Association/difference—not causation</a:t>
            </a:r>
            <a:endParaRPr lang="en-US" sz="1120" dirty="0"/>
          </a:p>
        </p:txBody>
      </p:sp>
      <p:sp>
        <p:nvSpPr>
          <p:cNvPr id="33" name="Shape 29"/>
          <p:cNvSpPr/>
          <p:nvPr/>
        </p:nvSpPr>
        <p:spPr>
          <a:xfrm>
            <a:off x="5504688" y="5468112"/>
            <a:ext cx="5440680" cy="438912"/>
          </a:xfrm>
          <a:prstGeom prst="roundRect">
            <a:avLst/>
          </a:prstGeom>
          <a:solidFill>
            <a:srgbClr val="F6EEDC"/>
          </a:solidFill>
          <a:ln w="10160">
            <a:solidFill>
              <a:srgbClr val="C8A96A"/>
            </a:solidFill>
            <a:prstDash val="solid"/>
          </a:ln>
        </p:spPr>
      </p:sp>
      <p:sp>
        <p:nvSpPr>
          <p:cNvPr id="34" name="Text 30"/>
          <p:cNvSpPr/>
          <p:nvPr/>
        </p:nvSpPr>
        <p:spPr>
          <a:xfrm>
            <a:off x="5660136" y="5568696"/>
            <a:ext cx="5129784" cy="201168"/>
          </a:xfrm>
          <a:prstGeom prst="rect">
            <a:avLst/>
          </a:prstGeom>
          <a:noFill/>
          <a:ln/>
        </p:spPr>
        <p:txBody>
          <a:bodyPr wrap="square" lIns="0" tIns="0" rIns="0" bIns="0" rtlCol="0" anchor="ctr">
            <a:normAutofit/>
          </a:bodyPr>
          <a:lstStyle/>
          <a:p>
            <a:pPr indent="0" marL="0">
              <a:buNone/>
            </a:pPr>
            <a:r>
              <a:rPr lang="en-US" sz="1050" b="1" dirty="0">
                <a:solidFill>
                  <a:srgbClr val="14251D"/>
                </a:solidFill>
                <a:latin typeface="Aptos" pitchFamily="34" charset="0"/>
                <a:ea typeface="Aptos" pitchFamily="34" charset="-122"/>
                <a:cs typeface="Aptos" pitchFamily="34" charset="-120"/>
              </a:rPr>
              <a:t>Every displayed value was compared with the current API response before presentation generation.</a:t>
            </a:r>
            <a:endParaRPr lang="en-US" sz="1050" dirty="0"/>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4.8 • STATISTICAL ANALYSIS MODULE</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How to read the inferential results</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Statistical significance and practical strength answer different questions.</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sp>
        <p:nvSpPr>
          <p:cNvPr id="8" name="Shape 5"/>
          <p:cNvSpPr/>
          <p:nvPr/>
        </p:nvSpPr>
        <p:spPr>
          <a:xfrm>
            <a:off x="566928" y="1664208"/>
            <a:ext cx="5349240" cy="1572768"/>
          </a:xfrm>
          <a:prstGeom prst="roundRect">
            <a:avLst>
              <a:gd name="adj" fmla="val 5814"/>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9" name="Text 6"/>
          <p:cNvSpPr/>
          <p:nvPr/>
        </p:nvSpPr>
        <p:spPr>
          <a:xfrm>
            <a:off x="804672" y="1883664"/>
            <a:ext cx="1920240" cy="201168"/>
          </a:xfrm>
          <a:prstGeom prst="rect">
            <a:avLst/>
          </a:prstGeom>
          <a:noFill/>
          <a:ln/>
        </p:spPr>
        <p:txBody>
          <a:bodyPr wrap="square" lIns="0" tIns="0" rIns="0" bIns="0" rtlCol="0" anchor="ctr"/>
          <a:lstStyle/>
          <a:p>
            <a:pPr indent="0" marL="0">
              <a:buNone/>
            </a:pPr>
            <a:r>
              <a:rPr lang="en-US" sz="1000" b="1" spc="70" kern="0" dirty="0">
                <a:solidFill>
                  <a:srgbClr val="C8A96A"/>
                </a:solidFill>
              </a:rPr>
              <a:t>CHI-SQUARE</a:t>
            </a:r>
            <a:endParaRPr lang="en-US" sz="1000" dirty="0"/>
          </a:p>
        </p:txBody>
      </p:sp>
      <p:sp>
        <p:nvSpPr>
          <p:cNvPr id="10" name="Text 7"/>
          <p:cNvSpPr/>
          <p:nvPr/>
        </p:nvSpPr>
        <p:spPr>
          <a:xfrm>
            <a:off x="804672" y="2231136"/>
            <a:ext cx="4800600" cy="320040"/>
          </a:xfrm>
          <a:prstGeom prst="rect">
            <a:avLst/>
          </a:prstGeom>
          <a:noFill/>
          <a:ln/>
        </p:spPr>
        <p:txBody>
          <a:bodyPr wrap="square" lIns="0" tIns="0" rIns="0" bIns="0" rtlCol="0" anchor="ctr">
            <a:normAutofit/>
          </a:bodyPr>
          <a:lstStyle/>
          <a:p>
            <a:pPr indent="0" marL="0">
              <a:buNone/>
            </a:pPr>
            <a:r>
              <a:rPr lang="en-US" sz="1500" b="1" dirty="0">
                <a:solidFill>
                  <a:srgbClr val="14251D"/>
                </a:solidFill>
                <a:latin typeface="Georgia" pitchFamily="34" charset="0"/>
                <a:ea typeface="Georgia" pitchFamily="34" charset="-122"/>
                <a:cs typeface="Georgia" pitchFamily="34" charset="-120"/>
              </a:rPr>
              <a:t>Compares observed and expected categorical counts.</a:t>
            </a:r>
            <a:endParaRPr lang="en-US" sz="1500" dirty="0"/>
          </a:p>
        </p:txBody>
      </p:sp>
      <p:sp>
        <p:nvSpPr>
          <p:cNvPr id="11" name="Text 8"/>
          <p:cNvSpPr/>
          <p:nvPr/>
        </p:nvSpPr>
        <p:spPr>
          <a:xfrm>
            <a:off x="804672" y="2706624"/>
            <a:ext cx="4800600" cy="274320"/>
          </a:xfrm>
          <a:prstGeom prst="rect">
            <a:avLst/>
          </a:prstGeom>
          <a:noFill/>
          <a:ln/>
        </p:spPr>
        <p:txBody>
          <a:bodyPr wrap="square" lIns="0" tIns="0" rIns="0" bIns="0" rtlCol="0" anchor="ctr">
            <a:normAutofit/>
          </a:bodyPr>
          <a:lstStyle/>
          <a:p>
            <a:pPr indent="0" marL="0">
              <a:buNone/>
            </a:pPr>
            <a:r>
              <a:rPr lang="en-US" sz="1050" dirty="0">
                <a:solidFill>
                  <a:srgbClr val="65736B"/>
                </a:solidFill>
              </a:rPr>
              <a:t>χ² increases as the tables diverge.</a:t>
            </a:r>
            <a:endParaRPr lang="en-US" sz="1050" dirty="0"/>
          </a:p>
        </p:txBody>
      </p:sp>
      <p:sp>
        <p:nvSpPr>
          <p:cNvPr id="12" name="Shape 9"/>
          <p:cNvSpPr/>
          <p:nvPr/>
        </p:nvSpPr>
        <p:spPr>
          <a:xfrm>
            <a:off x="6217920" y="1664208"/>
            <a:ext cx="5349240" cy="1572768"/>
          </a:xfrm>
          <a:prstGeom prst="roundRect">
            <a:avLst>
              <a:gd name="adj" fmla="val 5814"/>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13" name="Text 10"/>
          <p:cNvSpPr/>
          <p:nvPr/>
        </p:nvSpPr>
        <p:spPr>
          <a:xfrm>
            <a:off x="6455664" y="1883664"/>
            <a:ext cx="1920240" cy="201168"/>
          </a:xfrm>
          <a:prstGeom prst="rect">
            <a:avLst/>
          </a:prstGeom>
          <a:noFill/>
          <a:ln/>
        </p:spPr>
        <p:txBody>
          <a:bodyPr wrap="square" lIns="0" tIns="0" rIns="0" bIns="0" rtlCol="0" anchor="ctr"/>
          <a:lstStyle/>
          <a:p>
            <a:pPr indent="0" marL="0">
              <a:buNone/>
            </a:pPr>
            <a:r>
              <a:rPr lang="en-US" sz="1000" b="1" spc="70" kern="0" dirty="0">
                <a:solidFill>
                  <a:srgbClr val="C8A96A"/>
                </a:solidFill>
              </a:rPr>
              <a:t>p-VALUE</a:t>
            </a:r>
            <a:endParaRPr lang="en-US" sz="1000" dirty="0"/>
          </a:p>
        </p:txBody>
      </p:sp>
      <p:sp>
        <p:nvSpPr>
          <p:cNvPr id="14" name="Text 11"/>
          <p:cNvSpPr/>
          <p:nvPr/>
        </p:nvSpPr>
        <p:spPr>
          <a:xfrm>
            <a:off x="6455664" y="2231136"/>
            <a:ext cx="4800600" cy="320040"/>
          </a:xfrm>
          <a:prstGeom prst="rect">
            <a:avLst/>
          </a:prstGeom>
          <a:noFill/>
          <a:ln/>
        </p:spPr>
        <p:txBody>
          <a:bodyPr wrap="square" lIns="0" tIns="0" rIns="0" bIns="0" rtlCol="0" anchor="ctr">
            <a:normAutofit/>
          </a:bodyPr>
          <a:lstStyle/>
          <a:p>
            <a:pPr indent="0" marL="0">
              <a:buNone/>
            </a:pPr>
            <a:r>
              <a:rPr lang="en-US" sz="1500" b="1" dirty="0">
                <a:solidFill>
                  <a:srgbClr val="14251D"/>
                </a:solidFill>
                <a:latin typeface="Georgia" pitchFamily="34" charset="0"/>
                <a:ea typeface="Georgia" pitchFamily="34" charset="-122"/>
                <a:cs typeface="Georgia" pitchFamily="34" charset="-120"/>
              </a:rPr>
              <a:t>Probability of an equal-or-more-extreme result under H₀.</a:t>
            </a:r>
            <a:endParaRPr lang="en-US" sz="1500" dirty="0"/>
          </a:p>
        </p:txBody>
      </p:sp>
      <p:sp>
        <p:nvSpPr>
          <p:cNvPr id="15" name="Text 12"/>
          <p:cNvSpPr/>
          <p:nvPr/>
        </p:nvSpPr>
        <p:spPr>
          <a:xfrm>
            <a:off x="6455664" y="2706624"/>
            <a:ext cx="4800600" cy="274320"/>
          </a:xfrm>
          <a:prstGeom prst="rect">
            <a:avLst/>
          </a:prstGeom>
          <a:noFill/>
          <a:ln/>
        </p:spPr>
        <p:txBody>
          <a:bodyPr wrap="square" lIns="0" tIns="0" rIns="0" bIns="0" rtlCol="0" anchor="ctr">
            <a:normAutofit/>
          </a:bodyPr>
          <a:lstStyle/>
          <a:p>
            <a:pPr indent="0" marL="0">
              <a:buNone/>
            </a:pPr>
            <a:r>
              <a:rPr lang="en-US" sz="1050" dirty="0">
                <a:solidFill>
                  <a:srgbClr val="65736B"/>
                </a:solidFill>
              </a:rPr>
              <a:t>p &lt; .05 is treated as statistically significant.</a:t>
            </a:r>
            <a:endParaRPr lang="en-US" sz="1050" dirty="0"/>
          </a:p>
        </p:txBody>
      </p:sp>
      <p:sp>
        <p:nvSpPr>
          <p:cNvPr id="16" name="Shape 13"/>
          <p:cNvSpPr/>
          <p:nvPr/>
        </p:nvSpPr>
        <p:spPr>
          <a:xfrm>
            <a:off x="566928" y="3538728"/>
            <a:ext cx="5349240" cy="1572768"/>
          </a:xfrm>
          <a:prstGeom prst="roundRect">
            <a:avLst>
              <a:gd name="adj" fmla="val 5814"/>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17" name="Text 14"/>
          <p:cNvSpPr/>
          <p:nvPr/>
        </p:nvSpPr>
        <p:spPr>
          <a:xfrm>
            <a:off x="804672" y="3758184"/>
            <a:ext cx="1920240" cy="201168"/>
          </a:xfrm>
          <a:prstGeom prst="rect">
            <a:avLst/>
          </a:prstGeom>
          <a:noFill/>
          <a:ln/>
        </p:spPr>
        <p:txBody>
          <a:bodyPr wrap="square" lIns="0" tIns="0" rIns="0" bIns="0" rtlCol="0" anchor="ctr"/>
          <a:lstStyle/>
          <a:p>
            <a:pPr indent="0" marL="0">
              <a:buNone/>
            </a:pPr>
            <a:r>
              <a:rPr lang="en-US" sz="1000" b="1" spc="70" kern="0" dirty="0">
                <a:solidFill>
                  <a:srgbClr val="C8A96A"/>
                </a:solidFill>
              </a:rPr>
              <a:t>CRAMER'S V</a:t>
            </a:r>
            <a:endParaRPr lang="en-US" sz="1000" dirty="0"/>
          </a:p>
        </p:txBody>
      </p:sp>
      <p:sp>
        <p:nvSpPr>
          <p:cNvPr id="18" name="Text 15"/>
          <p:cNvSpPr/>
          <p:nvPr/>
        </p:nvSpPr>
        <p:spPr>
          <a:xfrm>
            <a:off x="804672" y="4105656"/>
            <a:ext cx="4800600" cy="320040"/>
          </a:xfrm>
          <a:prstGeom prst="rect">
            <a:avLst/>
          </a:prstGeom>
          <a:noFill/>
          <a:ln/>
        </p:spPr>
        <p:txBody>
          <a:bodyPr wrap="square" lIns="0" tIns="0" rIns="0" bIns="0" rtlCol="0" anchor="ctr">
            <a:normAutofit/>
          </a:bodyPr>
          <a:lstStyle/>
          <a:p>
            <a:pPr indent="0" marL="0">
              <a:buNone/>
            </a:pPr>
            <a:r>
              <a:rPr lang="en-US" sz="1500" b="1" dirty="0">
                <a:solidFill>
                  <a:srgbClr val="14251D"/>
                </a:solidFill>
                <a:latin typeface="Georgia" pitchFamily="34" charset="0"/>
                <a:ea typeface="Georgia" pitchFamily="34" charset="-122"/>
                <a:cs typeface="Georgia" pitchFamily="34" charset="-120"/>
              </a:rPr>
              <a:t>Effect size for Chi-Square association.</a:t>
            </a:r>
            <a:endParaRPr lang="en-US" sz="1500" dirty="0"/>
          </a:p>
        </p:txBody>
      </p:sp>
      <p:sp>
        <p:nvSpPr>
          <p:cNvPr id="19" name="Text 16"/>
          <p:cNvSpPr/>
          <p:nvPr/>
        </p:nvSpPr>
        <p:spPr>
          <a:xfrm>
            <a:off x="804672" y="4581144"/>
            <a:ext cx="4800600" cy="274320"/>
          </a:xfrm>
          <a:prstGeom prst="rect">
            <a:avLst/>
          </a:prstGeom>
          <a:noFill/>
          <a:ln/>
        </p:spPr>
        <p:txBody>
          <a:bodyPr wrap="square" lIns="0" tIns="0" rIns="0" bIns="0" rtlCol="0" anchor="ctr">
            <a:normAutofit/>
          </a:bodyPr>
          <a:lstStyle/>
          <a:p>
            <a:pPr indent="0" marL="0">
              <a:buNone/>
            </a:pPr>
            <a:r>
              <a:rPr lang="en-US" sz="1050" dirty="0">
                <a:solidFill>
                  <a:srgbClr val="65736B"/>
                </a:solidFill>
              </a:rPr>
              <a:t>Near 0 = weak; larger values = stronger.</a:t>
            </a:r>
            <a:endParaRPr lang="en-US" sz="1050" dirty="0"/>
          </a:p>
        </p:txBody>
      </p:sp>
      <p:sp>
        <p:nvSpPr>
          <p:cNvPr id="20" name="Shape 17"/>
          <p:cNvSpPr/>
          <p:nvPr/>
        </p:nvSpPr>
        <p:spPr>
          <a:xfrm>
            <a:off x="6217920" y="3538728"/>
            <a:ext cx="5349240" cy="1572768"/>
          </a:xfrm>
          <a:prstGeom prst="roundRect">
            <a:avLst>
              <a:gd name="adj" fmla="val 5814"/>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21" name="Text 18"/>
          <p:cNvSpPr/>
          <p:nvPr/>
        </p:nvSpPr>
        <p:spPr>
          <a:xfrm>
            <a:off x="6455664" y="3758184"/>
            <a:ext cx="1920240" cy="201168"/>
          </a:xfrm>
          <a:prstGeom prst="rect">
            <a:avLst/>
          </a:prstGeom>
          <a:noFill/>
          <a:ln/>
        </p:spPr>
        <p:txBody>
          <a:bodyPr wrap="square" lIns="0" tIns="0" rIns="0" bIns="0" rtlCol="0" anchor="ctr"/>
          <a:lstStyle/>
          <a:p>
            <a:pPr indent="0" marL="0">
              <a:buNone/>
            </a:pPr>
            <a:r>
              <a:rPr lang="en-US" sz="1000" b="1" spc="70" kern="0" dirty="0">
                <a:solidFill>
                  <a:srgbClr val="C8A96A"/>
                </a:solidFill>
              </a:rPr>
              <a:t>MANN–WHITNEY U</a:t>
            </a:r>
            <a:endParaRPr lang="en-US" sz="1000" dirty="0"/>
          </a:p>
        </p:txBody>
      </p:sp>
      <p:sp>
        <p:nvSpPr>
          <p:cNvPr id="22" name="Text 19"/>
          <p:cNvSpPr/>
          <p:nvPr/>
        </p:nvSpPr>
        <p:spPr>
          <a:xfrm>
            <a:off x="6455664" y="4105656"/>
            <a:ext cx="4800600" cy="320040"/>
          </a:xfrm>
          <a:prstGeom prst="rect">
            <a:avLst/>
          </a:prstGeom>
          <a:noFill/>
          <a:ln/>
        </p:spPr>
        <p:txBody>
          <a:bodyPr wrap="square" lIns="0" tIns="0" rIns="0" bIns="0" rtlCol="0" anchor="ctr">
            <a:normAutofit/>
          </a:bodyPr>
          <a:lstStyle/>
          <a:p>
            <a:pPr indent="0" marL="0">
              <a:buNone/>
            </a:pPr>
            <a:r>
              <a:rPr lang="en-US" sz="1500" b="1" dirty="0">
                <a:solidFill>
                  <a:srgbClr val="14251D"/>
                </a:solidFill>
                <a:latin typeface="Georgia" pitchFamily="34" charset="0"/>
                <a:ea typeface="Georgia" pitchFamily="34" charset="-122"/>
                <a:cs typeface="Georgia" pitchFamily="34" charset="-120"/>
              </a:rPr>
              <a:t>Compares ranked values between two groups.</a:t>
            </a:r>
            <a:endParaRPr lang="en-US" sz="1500" dirty="0"/>
          </a:p>
        </p:txBody>
      </p:sp>
      <p:sp>
        <p:nvSpPr>
          <p:cNvPr id="23" name="Text 20"/>
          <p:cNvSpPr/>
          <p:nvPr/>
        </p:nvSpPr>
        <p:spPr>
          <a:xfrm>
            <a:off x="6455664" y="4581144"/>
            <a:ext cx="4800600" cy="274320"/>
          </a:xfrm>
          <a:prstGeom prst="rect">
            <a:avLst/>
          </a:prstGeom>
          <a:noFill/>
          <a:ln/>
        </p:spPr>
        <p:txBody>
          <a:bodyPr wrap="square" lIns="0" tIns="0" rIns="0" bIns="0" rtlCol="0" anchor="ctr">
            <a:normAutofit/>
          </a:bodyPr>
          <a:lstStyle/>
          <a:p>
            <a:pPr indent="0" marL="0">
              <a:buNone/>
            </a:pPr>
            <a:r>
              <a:rPr lang="en-US" sz="1050" dirty="0">
                <a:solidFill>
                  <a:srgbClr val="65736B"/>
                </a:solidFill>
              </a:rPr>
              <a:t>Used when population distributions are non-normal.</a:t>
            </a:r>
            <a:endParaRPr lang="en-US" sz="1050" dirty="0"/>
          </a:p>
        </p:txBody>
      </p:sp>
      <p:sp>
        <p:nvSpPr>
          <p:cNvPr id="24" name="Shape 21"/>
          <p:cNvSpPr/>
          <p:nvPr/>
        </p:nvSpPr>
        <p:spPr>
          <a:xfrm>
            <a:off x="658368" y="5696712"/>
            <a:ext cx="10881360" cy="438912"/>
          </a:xfrm>
          <a:prstGeom prst="roundRect">
            <a:avLst/>
          </a:prstGeom>
          <a:solidFill>
            <a:srgbClr val="E7F2EB"/>
          </a:solidFill>
          <a:ln w="10160">
            <a:solidFill>
              <a:srgbClr val="5B9B78"/>
            </a:solidFill>
            <a:prstDash val="solid"/>
          </a:ln>
        </p:spPr>
      </p:sp>
      <p:sp>
        <p:nvSpPr>
          <p:cNvPr id="25" name="Text 22"/>
          <p:cNvSpPr/>
          <p:nvPr/>
        </p:nvSpPr>
        <p:spPr>
          <a:xfrm>
            <a:off x="813816" y="5797296"/>
            <a:ext cx="10570464" cy="201168"/>
          </a:xfrm>
          <a:prstGeom prst="rect">
            <a:avLst/>
          </a:prstGeom>
          <a:noFill/>
          <a:ln/>
        </p:spPr>
        <p:txBody>
          <a:bodyPr wrap="square" lIns="0" tIns="0" rIns="0" bIns="0" rtlCol="0" anchor="ctr">
            <a:normAutofit/>
          </a:bodyPr>
          <a:lstStyle/>
          <a:p>
            <a:pPr indent="0" marL="0">
              <a:buNone/>
            </a:pPr>
            <a:r>
              <a:rPr lang="en-US" sz="1050" b="1" dirty="0">
                <a:solidFill>
                  <a:srgbClr val="14251D"/>
                </a:solidFill>
                <a:latin typeface="Aptos" pitchFamily="34" charset="0"/>
                <a:ea typeface="Aptos" pitchFamily="34" charset="-122"/>
                <a:cs typeface="Aptos" pitchFamily="34" charset="-120"/>
              </a:rPr>
              <a:t>A significant result does not prove causation. It reports an association or distributional difference in this observational dataset.</a:t>
            </a:r>
            <a:endParaRPr lang="en-US" sz="1050" dirty="0"/>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4.8 • ANALYSIS 1</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Leadership type × formal recognition</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Research question: Is leadership type associated with formal state recognition?</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sp>
        <p:nvSpPr>
          <p:cNvPr id="8" name="Shape 5"/>
          <p:cNvSpPr/>
          <p:nvPr/>
        </p:nvSpPr>
        <p:spPr>
          <a:xfrm>
            <a:off x="466344" y="1499616"/>
            <a:ext cx="6793992" cy="4480560"/>
          </a:xfrm>
          <a:prstGeom prst="roundRect">
            <a:avLst>
              <a:gd name="adj" fmla="val 2041"/>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pic>
        <p:nvPicPr>
          <p:cNvPr id="9" name="Image 0" descr="C:\Users\mossa\OneDrive\Documents\مشروع التخرج\docs\chapter4-screenshots\16-analysis-1-leadership-recognition.png">    </p:cNvPr>
          <p:cNvPicPr>
            <a:picLocks noChangeAspect="1"/>
          </p:cNvPicPr>
          <p:nvPr/>
        </p:nvPicPr>
        <p:blipFill>
          <a:blip r:embed="rId1"/>
          <a:stretch>
            <a:fillRect/>
          </a:stretch>
        </p:blipFill>
        <p:spPr>
          <a:xfrm>
            <a:off x="691342" y="1536192"/>
            <a:ext cx="6343996" cy="4407408"/>
          </a:xfrm>
          <a:prstGeom prst="rect">
            <a:avLst/>
          </a:prstGeom>
        </p:spPr>
      </p:pic>
      <p:sp>
        <p:nvSpPr>
          <p:cNvPr id="10" name="Text 6"/>
          <p:cNvSpPr/>
          <p:nvPr/>
        </p:nvSpPr>
        <p:spPr>
          <a:xfrm>
            <a:off x="502920" y="5998464"/>
            <a:ext cx="6720840" cy="219456"/>
          </a:xfrm>
          <a:prstGeom prst="rect">
            <a:avLst/>
          </a:prstGeom>
          <a:noFill/>
          <a:ln/>
        </p:spPr>
        <p:txBody>
          <a:bodyPr wrap="square" lIns="0" tIns="0" rIns="0" bIns="0" rtlCol="0" anchor="ctr">
            <a:normAutofit/>
          </a:bodyPr>
          <a:lstStyle/>
          <a:p>
            <a:pPr algn="ctr" indent="0" marL="0">
              <a:buNone/>
            </a:pPr>
            <a:r>
              <a:rPr lang="en-US" sz="900" i="1" dirty="0">
                <a:solidFill>
                  <a:srgbClr val="65736B"/>
                </a:solidFill>
                <a:latin typeface="Aptos" pitchFamily="34" charset="0"/>
                <a:ea typeface="Aptos" pitchFamily="34" charset="-122"/>
                <a:cs typeface="Aptos" pitchFamily="34" charset="-120"/>
              </a:rPr>
              <a:t>Figure 4.12: Leadership Type and Formal Recognition Result</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479792" y="1783080"/>
          <a:ext cx="4160520" cy="1572768"/>
        </p:xfrm>
        <a:graphic>
          <a:graphicData uri="http://schemas.openxmlformats.org/drawingml/2006/table">
            <a:tbl>
              <a:tblPr/>
              <a:tblGrid>
                <a:gridCol w="1051560"/>
                <a:gridCol w="658368"/>
                <a:gridCol w="384048"/>
                <a:gridCol w="658368"/>
                <a:gridCol w="530352"/>
                <a:gridCol w="877824"/>
              </a:tblGrid>
              <a:tr h="274320">
                <a:tc>
                  <a:txBody>
                    <a:bodyPr/>
                    <a:lstStyle/>
                    <a:p>
                      <a:pPr indent="0" marL="0">
                        <a:buNone/>
                      </a:pPr>
                      <a:r>
                        <a:rPr lang="en-US" sz="900" dirty="0">
                          <a:solidFill>
                            <a:srgbClr val="14251D"/>
                          </a:solidFill>
                          <a:latin typeface="Aptos" pitchFamily="34" charset="0"/>
                          <a:ea typeface="Aptos" pitchFamily="34" charset="-122"/>
                          <a:cs typeface="Aptos" pitchFamily="34" charset="-120"/>
                        </a:rPr>
                        <a:t>Leadership</a:t>
                      </a:r>
                      <a:endParaRPr lang="en-US" sz="90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900" dirty="0">
                          <a:solidFill>
                            <a:srgbClr val="14251D"/>
                          </a:solidFill>
                          <a:latin typeface="Aptos" pitchFamily="34" charset="0"/>
                          <a:ea typeface="Aptos" pitchFamily="34" charset="-122"/>
                          <a:cs typeface="Aptos" pitchFamily="34" charset="-120"/>
                        </a:rPr>
                        <a:t>χ²</a:t>
                      </a:r>
                      <a:endParaRPr lang="en-US" sz="90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900" dirty="0">
                          <a:solidFill>
                            <a:srgbClr val="14251D"/>
                          </a:solidFill>
                          <a:latin typeface="Aptos" pitchFamily="34" charset="0"/>
                          <a:ea typeface="Aptos" pitchFamily="34" charset="-122"/>
                          <a:cs typeface="Aptos" pitchFamily="34" charset="-120"/>
                        </a:rPr>
                        <a:t>df</a:t>
                      </a:r>
                      <a:endParaRPr lang="en-US" sz="90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900" dirty="0">
                          <a:solidFill>
                            <a:srgbClr val="14251D"/>
                          </a:solidFill>
                          <a:latin typeface="Aptos" pitchFamily="34" charset="0"/>
                          <a:ea typeface="Aptos" pitchFamily="34" charset="-122"/>
                          <a:cs typeface="Aptos" pitchFamily="34" charset="-120"/>
                        </a:rPr>
                        <a:t>p</a:t>
                      </a:r>
                      <a:endParaRPr lang="en-US" sz="90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900" dirty="0">
                          <a:solidFill>
                            <a:srgbClr val="14251D"/>
                          </a:solidFill>
                          <a:latin typeface="Aptos" pitchFamily="34" charset="0"/>
                          <a:ea typeface="Aptos" pitchFamily="34" charset="-122"/>
                          <a:cs typeface="Aptos" pitchFamily="34" charset="-120"/>
                        </a:rPr>
                        <a:t>V</a:t>
                      </a:r>
                      <a:endParaRPr lang="en-US" sz="90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900" dirty="0">
                          <a:solidFill>
                            <a:srgbClr val="14251D"/>
                          </a:solidFill>
                          <a:latin typeface="Aptos" pitchFamily="34" charset="0"/>
                          <a:ea typeface="Aptos" pitchFamily="34" charset="-122"/>
                          <a:cs typeface="Aptos" pitchFamily="34" charset="-120"/>
                        </a:rPr>
                        <a:t>Strength</a:t>
                      </a:r>
                      <a:endParaRPr lang="en-US" sz="90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r h="274320">
                <a:tc>
                  <a:txBody>
                    <a:bodyPr/>
                    <a:lstStyle/>
                    <a:p>
                      <a:pPr indent="0" marL="0">
                        <a:buNone/>
                      </a:pPr>
                      <a:r>
                        <a:rPr lang="en-US" sz="900" dirty="0">
                          <a:solidFill>
                            <a:srgbClr val="14251D"/>
                          </a:solidFill>
                          <a:latin typeface="Aptos" pitchFamily="34" charset="0"/>
                          <a:ea typeface="Aptos" pitchFamily="34" charset="-122"/>
                          <a:cs typeface="Aptos" pitchFamily="34" charset="-120"/>
                        </a:rPr>
                        <a:t>King</a:t>
                      </a:r>
                      <a:endParaRPr lang="en-US" sz="90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900" dirty="0">
                          <a:solidFill>
                            <a:srgbClr val="14251D"/>
                          </a:solidFill>
                          <a:latin typeface="Aptos" pitchFamily="34" charset="0"/>
                          <a:ea typeface="Aptos" pitchFamily="34" charset="-122"/>
                          <a:cs typeface="Aptos" pitchFamily="34" charset="-120"/>
                        </a:rPr>
                        <a:t>74.664</a:t>
                      </a:r>
                      <a:endParaRPr lang="en-US" sz="90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900" dirty="0">
                          <a:solidFill>
                            <a:srgbClr val="14251D"/>
                          </a:solidFill>
                          <a:latin typeface="Aptos" pitchFamily="34" charset="0"/>
                          <a:ea typeface="Aptos" pitchFamily="34" charset="-122"/>
                          <a:cs typeface="Aptos" pitchFamily="34" charset="-120"/>
                        </a:rPr>
                        <a:t>1</a:t>
                      </a:r>
                      <a:endParaRPr lang="en-US" sz="90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900" dirty="0">
                          <a:solidFill>
                            <a:srgbClr val="14251D"/>
                          </a:solidFill>
                          <a:latin typeface="Aptos" pitchFamily="34" charset="0"/>
                          <a:ea typeface="Aptos" pitchFamily="34" charset="-122"/>
                          <a:cs typeface="Aptos" pitchFamily="34" charset="-120"/>
                        </a:rPr>
                        <a:t>&lt; .001</a:t>
                      </a:r>
                      <a:endParaRPr lang="en-US" sz="90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900" dirty="0">
                          <a:solidFill>
                            <a:srgbClr val="14251D"/>
                          </a:solidFill>
                          <a:latin typeface="Aptos" pitchFamily="34" charset="0"/>
                          <a:ea typeface="Aptos" pitchFamily="34" charset="-122"/>
                          <a:cs typeface="Aptos" pitchFamily="34" charset="-120"/>
                        </a:rPr>
                        <a:t>0.269</a:t>
                      </a:r>
                      <a:endParaRPr lang="en-US" sz="90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900" dirty="0">
                          <a:solidFill>
                            <a:srgbClr val="14251D"/>
                          </a:solidFill>
                          <a:latin typeface="Aptos" pitchFamily="34" charset="0"/>
                          <a:ea typeface="Aptos" pitchFamily="34" charset="-122"/>
                          <a:cs typeface="Aptos" pitchFamily="34" charset="-120"/>
                        </a:rPr>
                        <a:t>weak</a:t>
                      </a:r>
                      <a:endParaRPr lang="en-US" sz="90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r h="274320">
                <a:tc>
                  <a:txBody>
                    <a:bodyPr/>
                    <a:lstStyle/>
                    <a:p>
                      <a:pPr indent="0" marL="0">
                        <a:buNone/>
                      </a:pPr>
                      <a:r>
                        <a:rPr lang="en-US" sz="900" dirty="0">
                          <a:solidFill>
                            <a:srgbClr val="14251D"/>
                          </a:solidFill>
                          <a:latin typeface="Aptos" pitchFamily="34" charset="0"/>
                          <a:ea typeface="Aptos" pitchFamily="34" charset="-122"/>
                          <a:cs typeface="Aptos" pitchFamily="34" charset="-120"/>
                        </a:rPr>
                        <a:t>Chief</a:t>
                      </a:r>
                      <a:endParaRPr lang="en-US" sz="90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900" dirty="0">
                          <a:solidFill>
                            <a:srgbClr val="14251D"/>
                          </a:solidFill>
                          <a:latin typeface="Aptos" pitchFamily="34" charset="0"/>
                          <a:ea typeface="Aptos" pitchFamily="34" charset="-122"/>
                          <a:cs typeface="Aptos" pitchFamily="34" charset="-120"/>
                        </a:rPr>
                        <a:t>53.382</a:t>
                      </a:r>
                      <a:endParaRPr lang="en-US" sz="90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900" dirty="0">
                          <a:solidFill>
                            <a:srgbClr val="14251D"/>
                          </a:solidFill>
                          <a:latin typeface="Aptos" pitchFamily="34" charset="0"/>
                          <a:ea typeface="Aptos" pitchFamily="34" charset="-122"/>
                          <a:cs typeface="Aptos" pitchFamily="34" charset="-120"/>
                        </a:rPr>
                        <a:t>1</a:t>
                      </a:r>
                      <a:endParaRPr lang="en-US" sz="90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900" dirty="0">
                          <a:solidFill>
                            <a:srgbClr val="14251D"/>
                          </a:solidFill>
                          <a:latin typeface="Aptos" pitchFamily="34" charset="0"/>
                          <a:ea typeface="Aptos" pitchFamily="34" charset="-122"/>
                          <a:cs typeface="Aptos" pitchFamily="34" charset="-120"/>
                        </a:rPr>
                        <a:t>&lt; .001</a:t>
                      </a:r>
                      <a:endParaRPr lang="en-US" sz="90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900" dirty="0">
                          <a:solidFill>
                            <a:srgbClr val="14251D"/>
                          </a:solidFill>
                          <a:latin typeface="Aptos" pitchFamily="34" charset="0"/>
                          <a:ea typeface="Aptos" pitchFamily="34" charset="-122"/>
                          <a:cs typeface="Aptos" pitchFamily="34" charset="-120"/>
                        </a:rPr>
                        <a:t>0.227</a:t>
                      </a:r>
                      <a:endParaRPr lang="en-US" sz="90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900" dirty="0">
                          <a:solidFill>
                            <a:srgbClr val="14251D"/>
                          </a:solidFill>
                          <a:latin typeface="Aptos" pitchFamily="34" charset="0"/>
                          <a:ea typeface="Aptos" pitchFamily="34" charset="-122"/>
                          <a:cs typeface="Aptos" pitchFamily="34" charset="-120"/>
                        </a:rPr>
                        <a:t>weak</a:t>
                      </a:r>
                      <a:endParaRPr lang="en-US" sz="90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r h="274320">
                <a:tc>
                  <a:txBody>
                    <a:bodyPr/>
                    <a:lstStyle/>
                    <a:p>
                      <a:pPr indent="0" marL="0">
                        <a:buNone/>
                      </a:pPr>
                      <a:r>
                        <a:rPr lang="en-US" sz="900" dirty="0">
                          <a:solidFill>
                            <a:srgbClr val="14251D"/>
                          </a:solidFill>
                          <a:latin typeface="Aptos" pitchFamily="34" charset="0"/>
                          <a:ea typeface="Aptos" pitchFamily="34" charset="-122"/>
                          <a:cs typeface="Aptos" pitchFamily="34" charset="-120"/>
                        </a:rPr>
                        <a:t>Headman</a:t>
                      </a:r>
                      <a:endParaRPr lang="en-US" sz="90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900" dirty="0">
                          <a:solidFill>
                            <a:srgbClr val="14251D"/>
                          </a:solidFill>
                          <a:latin typeface="Aptos" pitchFamily="34" charset="0"/>
                          <a:ea typeface="Aptos" pitchFamily="34" charset="-122"/>
                          <a:cs typeface="Aptos" pitchFamily="34" charset="-120"/>
                        </a:rPr>
                        <a:t>5.043</a:t>
                      </a:r>
                      <a:endParaRPr lang="en-US" sz="90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900" dirty="0">
                          <a:solidFill>
                            <a:srgbClr val="14251D"/>
                          </a:solidFill>
                          <a:latin typeface="Aptos" pitchFamily="34" charset="0"/>
                          <a:ea typeface="Aptos" pitchFamily="34" charset="-122"/>
                          <a:cs typeface="Aptos" pitchFamily="34" charset="-120"/>
                        </a:rPr>
                        <a:t>1</a:t>
                      </a:r>
                      <a:endParaRPr lang="en-US" sz="90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900" dirty="0">
                          <a:solidFill>
                            <a:srgbClr val="14251D"/>
                          </a:solidFill>
                          <a:latin typeface="Aptos" pitchFamily="34" charset="0"/>
                          <a:ea typeface="Aptos" pitchFamily="34" charset="-122"/>
                          <a:cs typeface="Aptos" pitchFamily="34" charset="-120"/>
                        </a:rPr>
                        <a:t>= 0.025</a:t>
                      </a:r>
                      <a:endParaRPr lang="en-US" sz="90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900" dirty="0">
                          <a:solidFill>
                            <a:srgbClr val="14251D"/>
                          </a:solidFill>
                          <a:latin typeface="Aptos" pitchFamily="34" charset="0"/>
                          <a:ea typeface="Aptos" pitchFamily="34" charset="-122"/>
                          <a:cs typeface="Aptos" pitchFamily="34" charset="-120"/>
                        </a:rPr>
                        <a:t>0.070</a:t>
                      </a:r>
                      <a:endParaRPr lang="en-US" sz="90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900" dirty="0">
                          <a:solidFill>
                            <a:srgbClr val="14251D"/>
                          </a:solidFill>
                          <a:latin typeface="Aptos" pitchFamily="34" charset="0"/>
                          <a:ea typeface="Aptos" pitchFamily="34" charset="-122"/>
                          <a:cs typeface="Aptos" pitchFamily="34" charset="-120"/>
                        </a:rPr>
                        <a:t>weak</a:t>
                      </a:r>
                      <a:endParaRPr lang="en-US" sz="90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bl>
          </a:graphicData>
        </a:graphic>
      </p:graphicFrame>
      <p:sp>
        <p:nvSpPr>
          <p:cNvPr id="12" name="Shape 7"/>
          <p:cNvSpPr/>
          <p:nvPr/>
        </p:nvSpPr>
        <p:spPr>
          <a:xfrm>
            <a:off x="7479792" y="3584448"/>
            <a:ext cx="4160520" cy="1920240"/>
          </a:xfrm>
          <a:prstGeom prst="roundRect">
            <a:avLst>
              <a:gd name="adj" fmla="val 4762"/>
            </a:avLst>
          </a:prstGeom>
          <a:solidFill>
            <a:srgbClr val="EAF1EC"/>
          </a:solidFill>
          <a:ln w="8890">
            <a:solidFill>
              <a:srgbClr val="C6D8CD"/>
            </a:solidFill>
            <a:prstDash val="solid"/>
          </a:ln>
          <a:effectLst>
            <a:outerShdw sx="100000" sy="100000" kx="0" ky="0" algn="bl" rotWithShape="0" blurRad="19050" dist="50800" dir="2700000">
              <a:srgbClr val="AAB7AF">
                <a:alpha val="13000"/>
              </a:srgbClr>
            </a:outerShdw>
          </a:effectLst>
        </p:spPr>
      </p:sp>
      <p:sp>
        <p:nvSpPr>
          <p:cNvPr id="13" name="Text 8"/>
          <p:cNvSpPr/>
          <p:nvPr/>
        </p:nvSpPr>
        <p:spPr>
          <a:xfrm>
            <a:off x="7754112" y="3840480"/>
            <a:ext cx="1828800" cy="228600"/>
          </a:xfrm>
          <a:prstGeom prst="rect">
            <a:avLst/>
          </a:prstGeom>
          <a:noFill/>
          <a:ln/>
        </p:spPr>
        <p:txBody>
          <a:bodyPr wrap="square" lIns="0" tIns="0" rIns="0" bIns="0" rtlCol="0" anchor="ctr"/>
          <a:lstStyle/>
          <a:p>
            <a:pPr indent="0" marL="0">
              <a:buNone/>
            </a:pPr>
            <a:r>
              <a:rPr lang="en-US" sz="1700" b="1" dirty="0">
                <a:solidFill>
                  <a:srgbClr val="123524"/>
                </a:solidFill>
                <a:latin typeface="Georgia" pitchFamily="34" charset="0"/>
                <a:ea typeface="Georgia" pitchFamily="34" charset="-122"/>
                <a:cs typeface="Georgia" pitchFamily="34" charset="-120"/>
              </a:rPr>
              <a:t>Interpretation</a:t>
            </a:r>
            <a:endParaRPr lang="en-US" sz="1700" dirty="0"/>
          </a:p>
        </p:txBody>
      </p:sp>
      <p:sp>
        <p:nvSpPr>
          <p:cNvPr id="14" name="Text 9"/>
          <p:cNvSpPr/>
          <p:nvPr/>
        </p:nvSpPr>
        <p:spPr>
          <a:xfrm>
            <a:off x="7726680" y="4251960"/>
            <a:ext cx="3520440" cy="841248"/>
          </a:xfrm>
          <a:prstGeom prst="rect">
            <a:avLst/>
          </a:prstGeom>
          <a:noFill/>
          <a:ln/>
        </p:spPr>
        <p:txBody>
          <a:bodyPr wrap="square" lIns="0" tIns="0" rIns="0" bIns="0" rtlCol="0" anchor="ctr">
            <a:normAutofit/>
          </a:bodyPr>
          <a:lstStyle/>
          <a:p>
            <a:pPr indent="0" marL="0">
              <a:buNone/>
            </a:pPr>
            <a:r>
              <a:rPr lang="en-US" sz="1200" dirty="0">
                <a:solidFill>
                  <a:srgbClr val="14251D"/>
                </a:solidFill>
              </a:rPr>
              <a:t>All three leadership indicators are associated with recognition. The King and Chief effects are weak; the Headman effect is very weak. These results do not show that a leadership title causes recognition.</a:t>
            </a:r>
            <a:endParaRPr lang="en-US" sz="1200" dirty="0"/>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4.8 • ANALYSIS 2</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Leadership type × governance functions</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Nine Chi-Square tests examine Land, Security, and Healing responsibilities.</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sp>
        <p:nvSpPr>
          <p:cNvPr id="8" name="Shape 5"/>
          <p:cNvSpPr/>
          <p:nvPr/>
        </p:nvSpPr>
        <p:spPr>
          <a:xfrm>
            <a:off x="466344" y="1517904"/>
            <a:ext cx="5788152" cy="4507992"/>
          </a:xfrm>
          <a:prstGeom prst="roundRect">
            <a:avLst>
              <a:gd name="adj" fmla="val 2028"/>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pic>
        <p:nvPicPr>
          <p:cNvPr id="9" name="Image 0" descr="C:\Users\mossa\OneDrive\Documents\مشروع التخرج\docs\chapter4-screenshots\17-analysis-2-leadership-functions.png">    </p:cNvPr>
          <p:cNvPicPr>
            <a:picLocks noChangeAspect="1"/>
          </p:cNvPicPr>
          <p:nvPr/>
        </p:nvPicPr>
        <p:blipFill>
          <a:blip r:embed="rId1"/>
          <a:stretch>
            <a:fillRect/>
          </a:stretch>
        </p:blipFill>
        <p:spPr>
          <a:xfrm>
            <a:off x="502920" y="1786689"/>
            <a:ext cx="5715000" cy="3970421"/>
          </a:xfrm>
          <a:prstGeom prst="rect">
            <a:avLst/>
          </a:prstGeom>
        </p:spPr>
      </p:pic>
      <p:sp>
        <p:nvSpPr>
          <p:cNvPr id="10" name="Text 6"/>
          <p:cNvSpPr/>
          <p:nvPr/>
        </p:nvSpPr>
        <p:spPr>
          <a:xfrm>
            <a:off x="502920" y="6044184"/>
            <a:ext cx="5715000" cy="219456"/>
          </a:xfrm>
          <a:prstGeom prst="rect">
            <a:avLst/>
          </a:prstGeom>
          <a:noFill/>
          <a:ln/>
        </p:spPr>
        <p:txBody>
          <a:bodyPr wrap="square" lIns="0" tIns="0" rIns="0" bIns="0" rtlCol="0" anchor="ctr">
            <a:normAutofit/>
          </a:bodyPr>
          <a:lstStyle/>
          <a:p>
            <a:pPr algn="ctr" indent="0" marL="0">
              <a:buNone/>
            </a:pPr>
            <a:r>
              <a:rPr lang="en-US" sz="900" i="1" dirty="0">
                <a:solidFill>
                  <a:srgbClr val="65736B"/>
                </a:solidFill>
                <a:latin typeface="Aptos" pitchFamily="34" charset="0"/>
                <a:ea typeface="Aptos" pitchFamily="34" charset="-122"/>
                <a:cs typeface="Aptos" pitchFamily="34" charset="-120"/>
              </a:rPr>
              <a:t>Figure 4.13: Leadership and Governance Functions Interface</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46520" y="1609344"/>
          <a:ext cx="5166360" cy="4187952"/>
        </p:xfrm>
        <a:graphic>
          <a:graphicData uri="http://schemas.openxmlformats.org/drawingml/2006/table">
            <a:tbl>
              <a:tblPr/>
              <a:tblGrid>
                <a:gridCol w="2057400"/>
                <a:gridCol w="685800"/>
                <a:gridCol w="713232"/>
                <a:gridCol w="640080"/>
                <a:gridCol w="713232"/>
              </a:tblGrid>
              <a:tr h="274320">
                <a:tc>
                  <a:txBody>
                    <a:bodyPr/>
                    <a:lstStyle/>
                    <a:p>
                      <a:pPr indent="0" marL="0">
                        <a:buNone/>
                      </a:pPr>
                      <a:r>
                        <a:rPr lang="en-US" sz="810" dirty="0">
                          <a:solidFill>
                            <a:srgbClr val="14251D"/>
                          </a:solidFill>
                          <a:latin typeface="Aptos" pitchFamily="34" charset="0"/>
                          <a:ea typeface="Aptos" pitchFamily="34" charset="-122"/>
                          <a:cs typeface="Aptos" pitchFamily="34" charset="-120"/>
                        </a:rPr>
                        <a:t>Relationship</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χ²</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p</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V</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N</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r h="274320">
                <a:tc>
                  <a:txBody>
                    <a:bodyPr/>
                    <a:lstStyle/>
                    <a:p>
                      <a:pPr indent="0" marL="0">
                        <a:buNone/>
                      </a:pPr>
                      <a:r>
                        <a:rPr lang="en-US" sz="810" dirty="0">
                          <a:solidFill>
                            <a:srgbClr val="14251D"/>
                          </a:solidFill>
                          <a:latin typeface="Aptos" pitchFamily="34" charset="0"/>
                          <a:ea typeface="Aptos" pitchFamily="34" charset="-122"/>
                          <a:cs typeface="Aptos" pitchFamily="34" charset="-120"/>
                        </a:rPr>
                        <a:t>King–Land</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44.047</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&lt; .001</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0.197</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1,139</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r h="274320">
                <a:tc>
                  <a:txBody>
                    <a:bodyPr/>
                    <a:lstStyle/>
                    <a:p>
                      <a:pPr indent="0" marL="0">
                        <a:buNone/>
                      </a:pPr>
                      <a:r>
                        <a:rPr lang="en-US" sz="810" dirty="0">
                          <a:solidFill>
                            <a:srgbClr val="14251D"/>
                          </a:solidFill>
                          <a:latin typeface="Aptos" pitchFamily="34" charset="0"/>
                          <a:ea typeface="Aptos" pitchFamily="34" charset="-122"/>
                          <a:cs typeface="Aptos" pitchFamily="34" charset="-120"/>
                        </a:rPr>
                        <a:t>King–Security</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22.205</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&lt; .001</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0.140</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1,139</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r h="274320">
                <a:tc>
                  <a:txBody>
                    <a:bodyPr/>
                    <a:lstStyle/>
                    <a:p>
                      <a:pPr indent="0" marL="0">
                        <a:buNone/>
                      </a:pPr>
                      <a:r>
                        <a:rPr lang="en-US" sz="810" dirty="0">
                          <a:solidFill>
                            <a:srgbClr val="14251D"/>
                          </a:solidFill>
                          <a:latin typeface="Aptos" pitchFamily="34" charset="0"/>
                          <a:ea typeface="Aptos" pitchFamily="34" charset="-122"/>
                          <a:cs typeface="Aptos" pitchFamily="34" charset="-120"/>
                        </a:rPr>
                        <a:t>King–Healing</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N/A</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N/A</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N/A</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306</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r h="274320">
                <a:tc>
                  <a:txBody>
                    <a:bodyPr/>
                    <a:lstStyle/>
                    <a:p>
                      <a:pPr indent="0" marL="0">
                        <a:buNone/>
                      </a:pPr>
                      <a:r>
                        <a:rPr lang="en-US" sz="810" dirty="0">
                          <a:solidFill>
                            <a:srgbClr val="14251D"/>
                          </a:solidFill>
                          <a:latin typeface="Aptos" pitchFamily="34" charset="0"/>
                          <a:ea typeface="Aptos" pitchFamily="34" charset="-122"/>
                          <a:cs typeface="Aptos" pitchFamily="34" charset="-120"/>
                        </a:rPr>
                        <a:t>Chief–Land</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64.975</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&lt; .001</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0.239</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1,139</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r h="274320">
                <a:tc>
                  <a:txBody>
                    <a:bodyPr/>
                    <a:lstStyle/>
                    <a:p>
                      <a:pPr indent="0" marL="0">
                        <a:buNone/>
                      </a:pPr>
                      <a:r>
                        <a:rPr lang="en-US" sz="810" dirty="0">
                          <a:solidFill>
                            <a:srgbClr val="14251D"/>
                          </a:solidFill>
                          <a:latin typeface="Aptos" pitchFamily="34" charset="0"/>
                          <a:ea typeface="Aptos" pitchFamily="34" charset="-122"/>
                          <a:cs typeface="Aptos" pitchFamily="34" charset="-120"/>
                        </a:rPr>
                        <a:t>Chief–Security</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49.478</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&lt; .001</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0.208</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1,139</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r h="274320">
                <a:tc>
                  <a:txBody>
                    <a:bodyPr/>
                    <a:lstStyle/>
                    <a:p>
                      <a:pPr indent="0" marL="0">
                        <a:buNone/>
                      </a:pPr>
                      <a:r>
                        <a:rPr lang="en-US" sz="810" dirty="0">
                          <a:solidFill>
                            <a:srgbClr val="14251D"/>
                          </a:solidFill>
                          <a:latin typeface="Aptos" pitchFamily="34" charset="0"/>
                          <a:ea typeface="Aptos" pitchFamily="34" charset="-122"/>
                          <a:cs typeface="Aptos" pitchFamily="34" charset="-120"/>
                        </a:rPr>
                        <a:t>Chief–Healing</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4.436</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 0.035</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0.120</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306</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r h="274320">
                <a:tc>
                  <a:txBody>
                    <a:bodyPr/>
                    <a:lstStyle/>
                    <a:p>
                      <a:pPr indent="0" marL="0">
                        <a:buNone/>
                      </a:pPr>
                      <a:r>
                        <a:rPr lang="en-US" sz="810" dirty="0">
                          <a:solidFill>
                            <a:srgbClr val="14251D"/>
                          </a:solidFill>
                          <a:latin typeface="Aptos" pitchFamily="34" charset="0"/>
                          <a:ea typeface="Aptos" pitchFamily="34" charset="-122"/>
                          <a:cs typeface="Aptos" pitchFamily="34" charset="-120"/>
                        </a:rPr>
                        <a:t>Headman–Land</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10.048</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 0.002</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0.094</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1,139</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r h="274320">
                <a:tc>
                  <a:txBody>
                    <a:bodyPr/>
                    <a:lstStyle/>
                    <a:p>
                      <a:pPr indent="0" marL="0">
                        <a:buNone/>
                      </a:pPr>
                      <a:r>
                        <a:rPr lang="en-US" sz="810" dirty="0">
                          <a:solidFill>
                            <a:srgbClr val="14251D"/>
                          </a:solidFill>
                          <a:latin typeface="Aptos" pitchFamily="34" charset="0"/>
                          <a:ea typeface="Aptos" pitchFamily="34" charset="-122"/>
                          <a:cs typeface="Aptos" pitchFamily="34" charset="-120"/>
                        </a:rPr>
                        <a:t>Headman–Security</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14.234</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&lt; .001</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0.112</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1,139</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r h="274320">
                <a:tc>
                  <a:txBody>
                    <a:bodyPr/>
                    <a:lstStyle/>
                    <a:p>
                      <a:pPr indent="0" marL="0">
                        <a:buNone/>
                      </a:pPr>
                      <a:r>
                        <a:rPr lang="en-US" sz="810" dirty="0">
                          <a:solidFill>
                            <a:srgbClr val="14251D"/>
                          </a:solidFill>
                          <a:latin typeface="Aptos" pitchFamily="34" charset="0"/>
                          <a:ea typeface="Aptos" pitchFamily="34" charset="-122"/>
                          <a:cs typeface="Aptos" pitchFamily="34" charset="-120"/>
                        </a:rPr>
                        <a:t>Headman–Healing</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0.018</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 0.894</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0.008</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306</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bl>
          </a:graphicData>
        </a:graphic>
      </p:graphicFrame>
      <p:sp>
        <p:nvSpPr>
          <p:cNvPr id="12" name="Shape 7"/>
          <p:cNvSpPr/>
          <p:nvPr/>
        </p:nvSpPr>
        <p:spPr>
          <a:xfrm>
            <a:off x="6565392" y="5870448"/>
            <a:ext cx="4919472" cy="438912"/>
          </a:xfrm>
          <a:prstGeom prst="roundRect">
            <a:avLst/>
          </a:prstGeom>
          <a:solidFill>
            <a:srgbClr val="F6EEDC"/>
          </a:solidFill>
          <a:ln w="10160">
            <a:solidFill>
              <a:srgbClr val="C8A96A"/>
            </a:solidFill>
            <a:prstDash val="solid"/>
          </a:ln>
        </p:spPr>
      </p:sp>
      <p:sp>
        <p:nvSpPr>
          <p:cNvPr id="13" name="Text 8"/>
          <p:cNvSpPr/>
          <p:nvPr/>
        </p:nvSpPr>
        <p:spPr>
          <a:xfrm>
            <a:off x="6720840" y="5971032"/>
            <a:ext cx="4608576" cy="201168"/>
          </a:xfrm>
          <a:prstGeom prst="rect">
            <a:avLst/>
          </a:prstGeom>
          <a:noFill/>
          <a:ln/>
        </p:spPr>
        <p:txBody>
          <a:bodyPr wrap="square" lIns="0" tIns="0" rIns="0" bIns="0" rtlCol="0" anchor="ctr">
            <a:normAutofit/>
          </a:bodyPr>
          <a:lstStyle/>
          <a:p>
            <a:pPr indent="0" marL="0">
              <a:buNone/>
            </a:pPr>
            <a:r>
              <a:rPr lang="en-US" sz="1050" b="1" dirty="0">
                <a:solidFill>
                  <a:srgbClr val="14251D"/>
                </a:solidFill>
                <a:latin typeface="Aptos" pitchFamily="34" charset="0"/>
                <a:ea typeface="Aptos" pitchFamily="34" charset="-122"/>
                <a:cs typeface="Aptos" pitchFamily="34" charset="-120"/>
              </a:rPr>
              <a:t>Strongest observed relationship: Chief × Land Administration, V = .239 (weak).</a:t>
            </a:r>
            <a:endParaRPr lang="en-US" sz="1050" dirty="0"/>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4.8 • ANALYSIS 3</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Group population size × formal recognition</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Non-normal population distributions required a Mann–Whitney U test.</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sp>
        <p:nvSpPr>
          <p:cNvPr id="8" name="Shape 5"/>
          <p:cNvSpPr/>
          <p:nvPr/>
        </p:nvSpPr>
        <p:spPr>
          <a:xfrm>
            <a:off x="466344" y="1499616"/>
            <a:ext cx="6702552" cy="4535424"/>
          </a:xfrm>
          <a:prstGeom prst="roundRect">
            <a:avLst>
              <a:gd name="adj" fmla="val 2016"/>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pic>
        <p:nvPicPr>
          <p:cNvPr id="9" name="Image 0" descr="C:\Users\mossa\OneDrive\Documents\مشروع التخرج\docs\chapter4-screenshots\19-analysis-3-result.png">    </p:cNvPr>
          <p:cNvPicPr>
            <a:picLocks noChangeAspect="1"/>
          </p:cNvPicPr>
          <p:nvPr/>
        </p:nvPicPr>
        <p:blipFill>
          <a:blip r:embed="rId1"/>
          <a:stretch>
            <a:fillRect/>
          </a:stretch>
        </p:blipFill>
        <p:spPr>
          <a:xfrm>
            <a:off x="606136" y="1536192"/>
            <a:ext cx="6422967" cy="4462272"/>
          </a:xfrm>
          <a:prstGeom prst="rect">
            <a:avLst/>
          </a:prstGeom>
        </p:spPr>
      </p:pic>
      <p:sp>
        <p:nvSpPr>
          <p:cNvPr id="10" name="Text 6"/>
          <p:cNvSpPr/>
          <p:nvPr/>
        </p:nvSpPr>
        <p:spPr>
          <a:xfrm>
            <a:off x="502920" y="6053328"/>
            <a:ext cx="6629400" cy="219456"/>
          </a:xfrm>
          <a:prstGeom prst="rect">
            <a:avLst/>
          </a:prstGeom>
          <a:noFill/>
          <a:ln/>
        </p:spPr>
        <p:txBody>
          <a:bodyPr wrap="square" lIns="0" tIns="0" rIns="0" bIns="0" rtlCol="0" anchor="ctr">
            <a:normAutofit/>
          </a:bodyPr>
          <a:lstStyle/>
          <a:p>
            <a:pPr algn="ctr" indent="0" marL="0">
              <a:buNone/>
            </a:pPr>
            <a:r>
              <a:rPr lang="en-US" sz="900" i="1" dirty="0">
                <a:solidFill>
                  <a:srgbClr val="65736B"/>
                </a:solidFill>
                <a:latin typeface="Aptos" pitchFamily="34" charset="0"/>
                <a:ea typeface="Aptos" pitchFamily="34" charset="-122"/>
                <a:cs typeface="Aptos" pitchFamily="34" charset="-120"/>
              </a:rPr>
              <a:t>Figure 4.14: Population Size and Formal Recognition Result</a:t>
            </a:r>
            <a:endParaRPr lang="en-US" sz="900" dirty="0"/>
          </a:p>
        </p:txBody>
      </p:sp>
      <p:sp>
        <p:nvSpPr>
          <p:cNvPr id="11" name="Shape 7"/>
          <p:cNvSpPr/>
          <p:nvPr/>
        </p:nvSpPr>
        <p:spPr>
          <a:xfrm>
            <a:off x="7406640" y="1700784"/>
            <a:ext cx="1920240"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12" name="Shape 8"/>
          <p:cNvSpPr/>
          <p:nvPr/>
        </p:nvSpPr>
        <p:spPr>
          <a:xfrm>
            <a:off x="7406640" y="1700784"/>
            <a:ext cx="54864" cy="777240"/>
          </a:xfrm>
          <a:prstGeom prst="rect">
            <a:avLst/>
          </a:prstGeom>
          <a:solidFill>
            <a:srgbClr val="123524"/>
          </a:solidFill>
          <a:ln w="12700">
            <a:solidFill>
              <a:srgbClr val="123524"/>
            </a:solidFill>
            <a:prstDash val="solid"/>
          </a:ln>
        </p:spPr>
      </p:sp>
      <p:sp>
        <p:nvSpPr>
          <p:cNvPr id="13" name="Text 9"/>
          <p:cNvSpPr/>
          <p:nvPr/>
        </p:nvSpPr>
        <p:spPr>
          <a:xfrm>
            <a:off x="7571232" y="1819656"/>
            <a:ext cx="1645920"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TEST</a:t>
            </a:r>
            <a:endParaRPr lang="en-US" sz="780" dirty="0"/>
          </a:p>
        </p:txBody>
      </p:sp>
      <p:sp>
        <p:nvSpPr>
          <p:cNvPr id="14" name="Text 10"/>
          <p:cNvSpPr/>
          <p:nvPr/>
        </p:nvSpPr>
        <p:spPr>
          <a:xfrm>
            <a:off x="7571232" y="2020824"/>
            <a:ext cx="1645920"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Mann–Whitney U</a:t>
            </a:r>
            <a:endParaRPr lang="en-US" sz="1800" dirty="0"/>
          </a:p>
        </p:txBody>
      </p:sp>
      <p:sp>
        <p:nvSpPr>
          <p:cNvPr id="15" name="Shape 11"/>
          <p:cNvSpPr/>
          <p:nvPr/>
        </p:nvSpPr>
        <p:spPr>
          <a:xfrm>
            <a:off x="9555480" y="1700784"/>
            <a:ext cx="1920240"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16" name="Shape 12"/>
          <p:cNvSpPr/>
          <p:nvPr/>
        </p:nvSpPr>
        <p:spPr>
          <a:xfrm>
            <a:off x="9555480" y="1700784"/>
            <a:ext cx="54864" cy="777240"/>
          </a:xfrm>
          <a:prstGeom prst="rect">
            <a:avLst/>
          </a:prstGeom>
          <a:solidFill>
            <a:srgbClr val="C8A96A"/>
          </a:solidFill>
          <a:ln w="12700">
            <a:solidFill>
              <a:srgbClr val="C8A96A"/>
            </a:solidFill>
            <a:prstDash val="solid"/>
          </a:ln>
        </p:spPr>
      </p:sp>
      <p:sp>
        <p:nvSpPr>
          <p:cNvPr id="17" name="Text 13"/>
          <p:cNvSpPr/>
          <p:nvPr/>
        </p:nvSpPr>
        <p:spPr>
          <a:xfrm>
            <a:off x="9720072" y="1819656"/>
            <a:ext cx="1645920"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SAMPLE</a:t>
            </a:r>
            <a:endParaRPr lang="en-US" sz="780" dirty="0"/>
          </a:p>
        </p:txBody>
      </p:sp>
      <p:sp>
        <p:nvSpPr>
          <p:cNvPr id="18" name="Text 14"/>
          <p:cNvSpPr/>
          <p:nvPr/>
        </p:nvSpPr>
        <p:spPr>
          <a:xfrm>
            <a:off x="9720072" y="2020824"/>
            <a:ext cx="1645920"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907</a:t>
            </a:r>
            <a:endParaRPr lang="en-US" sz="1800" dirty="0"/>
          </a:p>
        </p:txBody>
      </p:sp>
      <p:sp>
        <p:nvSpPr>
          <p:cNvPr id="19" name="Shape 15"/>
          <p:cNvSpPr/>
          <p:nvPr/>
        </p:nvSpPr>
        <p:spPr>
          <a:xfrm>
            <a:off x="7406640" y="2724912"/>
            <a:ext cx="1920240"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20" name="Shape 16"/>
          <p:cNvSpPr/>
          <p:nvPr/>
        </p:nvSpPr>
        <p:spPr>
          <a:xfrm>
            <a:off x="7406640" y="2724912"/>
            <a:ext cx="54864" cy="777240"/>
          </a:xfrm>
          <a:prstGeom prst="rect">
            <a:avLst/>
          </a:prstGeom>
          <a:solidFill>
            <a:srgbClr val="123524"/>
          </a:solidFill>
          <a:ln w="12700">
            <a:solidFill>
              <a:srgbClr val="123524"/>
            </a:solidFill>
            <a:prstDash val="solid"/>
          </a:ln>
        </p:spPr>
      </p:sp>
      <p:sp>
        <p:nvSpPr>
          <p:cNvPr id="21" name="Text 17"/>
          <p:cNvSpPr/>
          <p:nvPr/>
        </p:nvSpPr>
        <p:spPr>
          <a:xfrm>
            <a:off x="7571232" y="2843784"/>
            <a:ext cx="1645920"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U STATISTIC</a:t>
            </a:r>
            <a:endParaRPr lang="en-US" sz="780" dirty="0"/>
          </a:p>
        </p:txBody>
      </p:sp>
      <p:sp>
        <p:nvSpPr>
          <p:cNvPr id="22" name="Text 18"/>
          <p:cNvSpPr/>
          <p:nvPr/>
        </p:nvSpPr>
        <p:spPr>
          <a:xfrm>
            <a:off x="7571232" y="3044952"/>
            <a:ext cx="1645920"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97,855.5</a:t>
            </a:r>
            <a:endParaRPr lang="en-US" sz="1800" dirty="0"/>
          </a:p>
        </p:txBody>
      </p:sp>
      <p:sp>
        <p:nvSpPr>
          <p:cNvPr id="23" name="Shape 19"/>
          <p:cNvSpPr/>
          <p:nvPr/>
        </p:nvSpPr>
        <p:spPr>
          <a:xfrm>
            <a:off x="9555480" y="2724912"/>
            <a:ext cx="1920240"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24" name="Shape 20"/>
          <p:cNvSpPr/>
          <p:nvPr/>
        </p:nvSpPr>
        <p:spPr>
          <a:xfrm>
            <a:off x="9555480" y="2724912"/>
            <a:ext cx="54864" cy="777240"/>
          </a:xfrm>
          <a:prstGeom prst="rect">
            <a:avLst/>
          </a:prstGeom>
          <a:solidFill>
            <a:srgbClr val="C8A96A"/>
          </a:solidFill>
          <a:ln w="12700">
            <a:solidFill>
              <a:srgbClr val="C8A96A"/>
            </a:solidFill>
            <a:prstDash val="solid"/>
          </a:ln>
        </p:spPr>
      </p:sp>
      <p:sp>
        <p:nvSpPr>
          <p:cNvPr id="25" name="Text 21"/>
          <p:cNvSpPr/>
          <p:nvPr/>
        </p:nvSpPr>
        <p:spPr>
          <a:xfrm>
            <a:off x="9720072" y="2843784"/>
            <a:ext cx="1645920"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P-VALUE</a:t>
            </a:r>
            <a:endParaRPr lang="en-US" sz="780" dirty="0"/>
          </a:p>
        </p:txBody>
      </p:sp>
      <p:sp>
        <p:nvSpPr>
          <p:cNvPr id="26" name="Text 22"/>
          <p:cNvSpPr/>
          <p:nvPr/>
        </p:nvSpPr>
        <p:spPr>
          <a:xfrm>
            <a:off x="9720072" y="3044952"/>
            <a:ext cx="1645920"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&lt; .001</a:t>
            </a:r>
            <a:endParaRPr lang="en-US" sz="1800" dirty="0"/>
          </a:p>
        </p:txBody>
      </p:sp>
      <p:sp>
        <p:nvSpPr>
          <p:cNvPr id="27" name="Shape 23"/>
          <p:cNvSpPr/>
          <p:nvPr/>
        </p:nvSpPr>
        <p:spPr>
          <a:xfrm>
            <a:off x="7406640" y="3749040"/>
            <a:ext cx="1920240"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28" name="Shape 24"/>
          <p:cNvSpPr/>
          <p:nvPr/>
        </p:nvSpPr>
        <p:spPr>
          <a:xfrm>
            <a:off x="7406640" y="3749040"/>
            <a:ext cx="54864" cy="777240"/>
          </a:xfrm>
          <a:prstGeom prst="rect">
            <a:avLst/>
          </a:prstGeom>
          <a:solidFill>
            <a:srgbClr val="123524"/>
          </a:solidFill>
          <a:ln w="12700">
            <a:solidFill>
              <a:srgbClr val="123524"/>
            </a:solidFill>
            <a:prstDash val="solid"/>
          </a:ln>
        </p:spPr>
      </p:sp>
      <p:sp>
        <p:nvSpPr>
          <p:cNvPr id="29" name="Text 25"/>
          <p:cNvSpPr/>
          <p:nvPr/>
        </p:nvSpPr>
        <p:spPr>
          <a:xfrm>
            <a:off x="7571232" y="3867912"/>
            <a:ext cx="1645920"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EFFECT</a:t>
            </a:r>
            <a:endParaRPr lang="en-US" sz="780" dirty="0"/>
          </a:p>
        </p:txBody>
      </p:sp>
      <p:sp>
        <p:nvSpPr>
          <p:cNvPr id="30" name="Text 26"/>
          <p:cNvSpPr/>
          <p:nvPr/>
        </p:nvSpPr>
        <p:spPr>
          <a:xfrm>
            <a:off x="7571232" y="4069080"/>
            <a:ext cx="1645920"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0.120</a:t>
            </a:r>
            <a:endParaRPr lang="en-US" sz="1800" dirty="0"/>
          </a:p>
        </p:txBody>
      </p:sp>
      <p:sp>
        <p:nvSpPr>
          <p:cNvPr id="31" name="Shape 27"/>
          <p:cNvSpPr/>
          <p:nvPr/>
        </p:nvSpPr>
        <p:spPr>
          <a:xfrm>
            <a:off x="9555480" y="3749040"/>
            <a:ext cx="1920240"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32" name="Shape 28"/>
          <p:cNvSpPr/>
          <p:nvPr/>
        </p:nvSpPr>
        <p:spPr>
          <a:xfrm>
            <a:off x="9555480" y="3749040"/>
            <a:ext cx="54864" cy="777240"/>
          </a:xfrm>
          <a:prstGeom prst="rect">
            <a:avLst/>
          </a:prstGeom>
          <a:solidFill>
            <a:srgbClr val="C8A96A"/>
          </a:solidFill>
          <a:ln w="12700">
            <a:solidFill>
              <a:srgbClr val="C8A96A"/>
            </a:solidFill>
            <a:prstDash val="solid"/>
          </a:ln>
        </p:spPr>
      </p:sp>
      <p:sp>
        <p:nvSpPr>
          <p:cNvPr id="33" name="Text 29"/>
          <p:cNvSpPr/>
          <p:nvPr/>
        </p:nvSpPr>
        <p:spPr>
          <a:xfrm>
            <a:off x="9720072" y="3867912"/>
            <a:ext cx="1645920"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STRENGTH</a:t>
            </a:r>
            <a:endParaRPr lang="en-US" sz="780" dirty="0"/>
          </a:p>
        </p:txBody>
      </p:sp>
      <p:sp>
        <p:nvSpPr>
          <p:cNvPr id="34" name="Text 30"/>
          <p:cNvSpPr/>
          <p:nvPr/>
        </p:nvSpPr>
        <p:spPr>
          <a:xfrm>
            <a:off x="9720072" y="4069080"/>
            <a:ext cx="1645920"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small</a:t>
            </a:r>
            <a:endParaRPr lang="en-US" sz="1800" dirty="0"/>
          </a:p>
        </p:txBody>
      </p:sp>
      <p:sp>
        <p:nvSpPr>
          <p:cNvPr id="35" name="Shape 31"/>
          <p:cNvSpPr/>
          <p:nvPr/>
        </p:nvSpPr>
        <p:spPr>
          <a:xfrm>
            <a:off x="7406640" y="4800600"/>
            <a:ext cx="4069080" cy="1005840"/>
          </a:xfrm>
          <a:prstGeom prst="roundRect">
            <a:avLst>
              <a:gd name="adj" fmla="val 9091"/>
            </a:avLst>
          </a:prstGeom>
          <a:solidFill>
            <a:srgbClr val="EAF1EC"/>
          </a:solidFill>
          <a:ln w="8890">
            <a:solidFill>
              <a:srgbClr val="C6D8CD"/>
            </a:solidFill>
            <a:prstDash val="solid"/>
          </a:ln>
          <a:effectLst>
            <a:outerShdw sx="100000" sy="100000" kx="0" ky="0" algn="bl" rotWithShape="0" blurRad="19050" dist="50800" dir="2700000">
              <a:srgbClr val="AAB7AF">
                <a:alpha val="13000"/>
              </a:srgbClr>
            </a:outerShdw>
          </a:effectLst>
        </p:spPr>
      </p:sp>
      <p:sp>
        <p:nvSpPr>
          <p:cNvPr id="36" name="Text 32"/>
          <p:cNvSpPr/>
          <p:nvPr/>
        </p:nvSpPr>
        <p:spPr>
          <a:xfrm>
            <a:off x="7635240" y="5001768"/>
            <a:ext cx="731520" cy="164592"/>
          </a:xfrm>
          <a:prstGeom prst="rect">
            <a:avLst/>
          </a:prstGeom>
          <a:noFill/>
          <a:ln/>
        </p:spPr>
        <p:txBody>
          <a:bodyPr wrap="square" lIns="0" tIns="0" rIns="0" bIns="0" rtlCol="0" anchor="ctr"/>
          <a:lstStyle/>
          <a:p>
            <a:pPr indent="0" marL="0">
              <a:buNone/>
            </a:pPr>
            <a:r>
              <a:rPr lang="en-US" sz="900" b="1" dirty="0">
                <a:solidFill>
                  <a:srgbClr val="123524"/>
                </a:solidFill>
              </a:rPr>
              <a:t>Finding</a:t>
            </a:r>
            <a:endParaRPr lang="en-US" sz="900" dirty="0"/>
          </a:p>
        </p:txBody>
      </p:sp>
      <p:sp>
        <p:nvSpPr>
          <p:cNvPr id="37" name="Text 33"/>
          <p:cNvSpPr/>
          <p:nvPr/>
        </p:nvSpPr>
        <p:spPr>
          <a:xfrm>
            <a:off x="7635240" y="5257800"/>
            <a:ext cx="3611880" cy="320040"/>
          </a:xfrm>
          <a:prstGeom prst="rect">
            <a:avLst/>
          </a:prstGeom>
          <a:noFill/>
          <a:ln/>
        </p:spPr>
        <p:txBody>
          <a:bodyPr wrap="square" lIns="0" tIns="0" rIns="0" bIns="0" rtlCol="0" anchor="ctr">
            <a:normAutofit/>
          </a:bodyPr>
          <a:lstStyle/>
          <a:p>
            <a:pPr indent="0" marL="0">
              <a:buNone/>
            </a:pPr>
            <a:r>
              <a:rPr lang="en-US" sz="1120" b="1" dirty="0">
                <a:solidFill>
                  <a:srgbClr val="14251D"/>
                </a:solidFill>
              </a:rPr>
              <a:t>Significant difference; recognized groups tend to rank higher in population, but the effect is small.</a:t>
            </a:r>
            <a:endParaRPr lang="en-US" sz="1120" dirty="0"/>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4.8 • ANALYSIS 4</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Group population size × governance functions</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Three Mann–Whitney tests compare function-present and function-absent groups.</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sp>
        <p:nvSpPr>
          <p:cNvPr id="8" name="Shape 5"/>
          <p:cNvSpPr/>
          <p:nvPr/>
        </p:nvSpPr>
        <p:spPr>
          <a:xfrm>
            <a:off x="466344" y="1517904"/>
            <a:ext cx="6016752" cy="4498848"/>
          </a:xfrm>
          <a:prstGeom prst="roundRect">
            <a:avLst>
              <a:gd name="adj" fmla="val 2033"/>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pic>
        <p:nvPicPr>
          <p:cNvPr id="9" name="Image 0" descr="C:\Users\mossa\OneDrive\Documents\مشروع التخرج\docs\chapter4-screenshots\21-analysis-4-results.png">    </p:cNvPr>
          <p:cNvPicPr>
            <a:picLocks noChangeAspect="1"/>
          </p:cNvPicPr>
          <p:nvPr/>
        </p:nvPicPr>
        <p:blipFill>
          <a:blip r:embed="rId1"/>
          <a:stretch>
            <a:fillRect/>
          </a:stretch>
        </p:blipFill>
        <p:spPr>
          <a:xfrm>
            <a:off x="502920" y="1702709"/>
            <a:ext cx="5943600" cy="4129238"/>
          </a:xfrm>
          <a:prstGeom prst="rect">
            <a:avLst/>
          </a:prstGeom>
        </p:spPr>
      </p:pic>
      <p:sp>
        <p:nvSpPr>
          <p:cNvPr id="10" name="Text 6"/>
          <p:cNvSpPr/>
          <p:nvPr/>
        </p:nvSpPr>
        <p:spPr>
          <a:xfrm>
            <a:off x="502920" y="6035040"/>
            <a:ext cx="5943600" cy="219456"/>
          </a:xfrm>
          <a:prstGeom prst="rect">
            <a:avLst/>
          </a:prstGeom>
          <a:noFill/>
          <a:ln/>
        </p:spPr>
        <p:txBody>
          <a:bodyPr wrap="square" lIns="0" tIns="0" rIns="0" bIns="0" rtlCol="0" anchor="ctr">
            <a:normAutofit/>
          </a:bodyPr>
          <a:lstStyle/>
          <a:p>
            <a:pPr algn="ctr" indent="0" marL="0">
              <a:buNone/>
            </a:pPr>
            <a:r>
              <a:rPr lang="en-US" sz="900" i="1" dirty="0">
                <a:solidFill>
                  <a:srgbClr val="65736B"/>
                </a:solidFill>
                <a:latin typeface="Aptos" pitchFamily="34" charset="0"/>
                <a:ea typeface="Aptos" pitchFamily="34" charset="-122"/>
                <a:cs typeface="Aptos" pitchFamily="34" charset="-120"/>
              </a:rPr>
              <a:t>Figure 4.15: Population Size and Governance Functions Results</a:t>
            </a:r>
            <a:endParaRPr lang="en-US"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56832" y="1828800"/>
          <a:ext cx="4892040" cy="1682496"/>
        </p:xfrm>
        <a:graphic>
          <a:graphicData uri="http://schemas.openxmlformats.org/drawingml/2006/table">
            <a:tbl>
              <a:tblPr/>
              <a:tblGrid>
                <a:gridCol w="1097280"/>
                <a:gridCol w="822960"/>
                <a:gridCol w="777240"/>
                <a:gridCol w="640080"/>
                <a:gridCol w="640080"/>
                <a:gridCol w="914400"/>
              </a:tblGrid>
              <a:tr h="274320">
                <a:tc>
                  <a:txBody>
                    <a:bodyPr/>
                    <a:lstStyle/>
                    <a:p>
                      <a:pPr indent="0" marL="0">
                        <a:buNone/>
                      </a:pPr>
                      <a:r>
                        <a:rPr lang="en-US" sz="880" dirty="0">
                          <a:solidFill>
                            <a:srgbClr val="14251D"/>
                          </a:solidFill>
                          <a:latin typeface="Aptos" pitchFamily="34" charset="0"/>
                          <a:ea typeface="Aptos" pitchFamily="34" charset="-122"/>
                          <a:cs typeface="Aptos" pitchFamily="34" charset="-120"/>
                        </a:rPr>
                        <a:t>Function</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80" dirty="0">
                          <a:solidFill>
                            <a:srgbClr val="14251D"/>
                          </a:solidFill>
                          <a:latin typeface="Aptos" pitchFamily="34" charset="0"/>
                          <a:ea typeface="Aptos" pitchFamily="34" charset="-122"/>
                          <a:cs typeface="Aptos" pitchFamily="34" charset="-120"/>
                        </a:rPr>
                        <a:t>U</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80" dirty="0">
                          <a:solidFill>
                            <a:srgbClr val="14251D"/>
                          </a:solidFill>
                          <a:latin typeface="Aptos" pitchFamily="34" charset="0"/>
                          <a:ea typeface="Aptos" pitchFamily="34" charset="-122"/>
                          <a:cs typeface="Aptos" pitchFamily="34" charset="-120"/>
                        </a:rPr>
                        <a:t>p</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80" dirty="0">
                          <a:solidFill>
                            <a:srgbClr val="14251D"/>
                          </a:solidFill>
                          <a:latin typeface="Aptos" pitchFamily="34" charset="0"/>
                          <a:ea typeface="Aptos" pitchFamily="34" charset="-122"/>
                          <a:cs typeface="Aptos" pitchFamily="34" charset="-120"/>
                        </a:rPr>
                        <a:t>Effect</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80" dirty="0">
                          <a:solidFill>
                            <a:srgbClr val="14251D"/>
                          </a:solidFill>
                          <a:latin typeface="Aptos" pitchFamily="34" charset="0"/>
                          <a:ea typeface="Aptos" pitchFamily="34" charset="-122"/>
                          <a:cs typeface="Aptos" pitchFamily="34" charset="-120"/>
                        </a:rPr>
                        <a:t>N</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80" dirty="0">
                          <a:solidFill>
                            <a:srgbClr val="14251D"/>
                          </a:solidFill>
                          <a:latin typeface="Aptos" pitchFamily="34" charset="0"/>
                          <a:ea typeface="Aptos" pitchFamily="34" charset="-122"/>
                          <a:cs typeface="Aptos" pitchFamily="34" charset="-120"/>
                        </a:rPr>
                        <a:t>Finding</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r h="274320">
                <a:tc>
                  <a:txBody>
                    <a:bodyPr/>
                    <a:lstStyle/>
                    <a:p>
                      <a:pPr indent="0" marL="0">
                        <a:buNone/>
                      </a:pPr>
                      <a:r>
                        <a:rPr lang="en-US" sz="880" dirty="0">
                          <a:solidFill>
                            <a:srgbClr val="14251D"/>
                          </a:solidFill>
                          <a:latin typeface="Aptos" pitchFamily="34" charset="0"/>
                          <a:ea typeface="Aptos" pitchFamily="34" charset="-122"/>
                          <a:cs typeface="Aptos" pitchFamily="34" charset="-120"/>
                        </a:rPr>
                        <a:t>Land Administration</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80" dirty="0">
                          <a:solidFill>
                            <a:srgbClr val="14251D"/>
                          </a:solidFill>
                          <a:latin typeface="Aptos" pitchFamily="34" charset="0"/>
                          <a:ea typeface="Aptos" pitchFamily="34" charset="-122"/>
                          <a:cs typeface="Aptos" pitchFamily="34" charset="-120"/>
                        </a:rPr>
                        <a:t>110,623</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80" dirty="0">
                          <a:solidFill>
                            <a:srgbClr val="14251D"/>
                          </a:solidFill>
                          <a:latin typeface="Aptos" pitchFamily="34" charset="0"/>
                          <a:ea typeface="Aptos" pitchFamily="34" charset="-122"/>
                          <a:cs typeface="Aptos" pitchFamily="34" charset="-120"/>
                        </a:rPr>
                        <a:t>= 0.006</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80" dirty="0">
                          <a:solidFill>
                            <a:srgbClr val="14251D"/>
                          </a:solidFill>
                          <a:latin typeface="Aptos" pitchFamily="34" charset="0"/>
                          <a:ea typeface="Aptos" pitchFamily="34" charset="-122"/>
                          <a:cs typeface="Aptos" pitchFamily="34" charset="-120"/>
                        </a:rPr>
                        <a:t>0.088</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80" dirty="0">
                          <a:solidFill>
                            <a:srgbClr val="14251D"/>
                          </a:solidFill>
                          <a:latin typeface="Aptos" pitchFamily="34" charset="0"/>
                          <a:ea typeface="Aptos" pitchFamily="34" charset="-122"/>
                          <a:cs typeface="Aptos" pitchFamily="34" charset="-120"/>
                        </a:rPr>
                        <a:t>993</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80" dirty="0">
                          <a:solidFill>
                            <a:srgbClr val="14251D"/>
                          </a:solidFill>
                          <a:latin typeface="Aptos" pitchFamily="34" charset="0"/>
                          <a:ea typeface="Aptos" pitchFamily="34" charset="-122"/>
                          <a:cs typeface="Aptos" pitchFamily="34" charset="-120"/>
                        </a:rPr>
                        <a:t>Significant</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r h="274320">
                <a:tc>
                  <a:txBody>
                    <a:bodyPr/>
                    <a:lstStyle/>
                    <a:p>
                      <a:pPr indent="0" marL="0">
                        <a:buNone/>
                      </a:pPr>
                      <a:r>
                        <a:rPr lang="en-US" sz="880" dirty="0">
                          <a:solidFill>
                            <a:srgbClr val="14251D"/>
                          </a:solidFill>
                          <a:latin typeface="Aptos" pitchFamily="34" charset="0"/>
                          <a:ea typeface="Aptos" pitchFamily="34" charset="-122"/>
                          <a:cs typeface="Aptos" pitchFamily="34" charset="-120"/>
                        </a:rPr>
                        <a:t>Security</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80" dirty="0">
                          <a:solidFill>
                            <a:srgbClr val="14251D"/>
                          </a:solidFill>
                          <a:latin typeface="Aptos" pitchFamily="34" charset="0"/>
                          <a:ea typeface="Aptos" pitchFamily="34" charset="-122"/>
                          <a:cs typeface="Aptos" pitchFamily="34" charset="-120"/>
                        </a:rPr>
                        <a:t>128,801.5</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80" dirty="0">
                          <a:solidFill>
                            <a:srgbClr val="14251D"/>
                          </a:solidFill>
                          <a:latin typeface="Aptos" pitchFamily="34" charset="0"/>
                          <a:ea typeface="Aptos" pitchFamily="34" charset="-122"/>
                          <a:cs typeface="Aptos" pitchFamily="34" charset="-120"/>
                        </a:rPr>
                        <a:t>= 0.003</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80" dirty="0">
                          <a:solidFill>
                            <a:srgbClr val="14251D"/>
                          </a:solidFill>
                          <a:latin typeface="Aptos" pitchFamily="34" charset="0"/>
                          <a:ea typeface="Aptos" pitchFamily="34" charset="-122"/>
                          <a:cs typeface="Aptos" pitchFamily="34" charset="-120"/>
                        </a:rPr>
                        <a:t>0.096</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80" dirty="0">
                          <a:solidFill>
                            <a:srgbClr val="14251D"/>
                          </a:solidFill>
                          <a:latin typeface="Aptos" pitchFamily="34" charset="0"/>
                          <a:ea typeface="Aptos" pitchFamily="34" charset="-122"/>
                          <a:cs typeface="Aptos" pitchFamily="34" charset="-120"/>
                        </a:rPr>
                        <a:t>993</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80" dirty="0">
                          <a:solidFill>
                            <a:srgbClr val="14251D"/>
                          </a:solidFill>
                          <a:latin typeface="Aptos" pitchFamily="34" charset="0"/>
                          <a:ea typeface="Aptos" pitchFamily="34" charset="-122"/>
                          <a:cs typeface="Aptos" pitchFamily="34" charset="-120"/>
                        </a:rPr>
                        <a:t>Significant</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r h="274320">
                <a:tc>
                  <a:txBody>
                    <a:bodyPr/>
                    <a:lstStyle/>
                    <a:p>
                      <a:pPr indent="0" marL="0">
                        <a:buNone/>
                      </a:pPr>
                      <a:r>
                        <a:rPr lang="en-US" sz="880" dirty="0">
                          <a:solidFill>
                            <a:srgbClr val="14251D"/>
                          </a:solidFill>
                          <a:latin typeface="Aptos" pitchFamily="34" charset="0"/>
                          <a:ea typeface="Aptos" pitchFamily="34" charset="-122"/>
                          <a:cs typeface="Aptos" pitchFamily="34" charset="-120"/>
                        </a:rPr>
                        <a:t>Healing</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80" dirty="0">
                          <a:solidFill>
                            <a:srgbClr val="14251D"/>
                          </a:solidFill>
                          <a:latin typeface="Aptos" pitchFamily="34" charset="0"/>
                          <a:ea typeface="Aptos" pitchFamily="34" charset="-122"/>
                          <a:cs typeface="Aptos" pitchFamily="34" charset="-120"/>
                        </a:rPr>
                        <a:t>2,259.5</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80" dirty="0">
                          <a:solidFill>
                            <a:srgbClr val="14251D"/>
                          </a:solidFill>
                          <a:latin typeface="Aptos" pitchFamily="34" charset="0"/>
                          <a:ea typeface="Aptos" pitchFamily="34" charset="-122"/>
                          <a:cs typeface="Aptos" pitchFamily="34" charset="-120"/>
                        </a:rPr>
                        <a:t>= 0.882</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80" dirty="0">
                          <a:solidFill>
                            <a:srgbClr val="14251D"/>
                          </a:solidFill>
                          <a:latin typeface="Aptos" pitchFamily="34" charset="0"/>
                          <a:ea typeface="Aptos" pitchFamily="34" charset="-122"/>
                          <a:cs typeface="Aptos" pitchFamily="34" charset="-120"/>
                        </a:rPr>
                        <a:t>0.010</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80" dirty="0">
                          <a:solidFill>
                            <a:srgbClr val="14251D"/>
                          </a:solidFill>
                          <a:latin typeface="Aptos" pitchFamily="34" charset="0"/>
                          <a:ea typeface="Aptos" pitchFamily="34" charset="-122"/>
                          <a:cs typeface="Aptos" pitchFamily="34" charset="-120"/>
                        </a:rPr>
                        <a:t>252</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80" dirty="0">
                          <a:solidFill>
                            <a:srgbClr val="14251D"/>
                          </a:solidFill>
                          <a:latin typeface="Aptos" pitchFamily="34" charset="0"/>
                          <a:ea typeface="Aptos" pitchFamily="34" charset="-122"/>
                          <a:cs typeface="Aptos" pitchFamily="34" charset="-120"/>
                        </a:rPr>
                        <a:t>Not significant</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bl>
          </a:graphicData>
        </a:graphic>
      </p:graphicFrame>
      <p:sp>
        <p:nvSpPr>
          <p:cNvPr id="12" name="Shape 7"/>
          <p:cNvSpPr/>
          <p:nvPr/>
        </p:nvSpPr>
        <p:spPr>
          <a:xfrm>
            <a:off x="6656832" y="3767328"/>
            <a:ext cx="4892040" cy="1755648"/>
          </a:xfrm>
          <a:prstGeom prst="roundRect">
            <a:avLst>
              <a:gd name="adj" fmla="val 5208"/>
            </a:avLst>
          </a:prstGeom>
          <a:solidFill>
            <a:srgbClr val="F6EEDC"/>
          </a:solidFill>
          <a:ln w="8890">
            <a:solidFill>
              <a:srgbClr val="E0C88F"/>
            </a:solidFill>
            <a:prstDash val="solid"/>
          </a:ln>
          <a:effectLst>
            <a:outerShdw sx="100000" sy="100000" kx="0" ky="0" algn="bl" rotWithShape="0" blurRad="19050" dist="50800" dir="2700000">
              <a:srgbClr val="AAB7AF">
                <a:alpha val="13000"/>
              </a:srgbClr>
            </a:outerShdw>
          </a:effectLst>
        </p:spPr>
      </p:sp>
      <p:sp>
        <p:nvSpPr>
          <p:cNvPr id="13" name="Text 8"/>
          <p:cNvSpPr/>
          <p:nvPr/>
        </p:nvSpPr>
        <p:spPr>
          <a:xfrm>
            <a:off x="6912864" y="4005072"/>
            <a:ext cx="1828800" cy="228600"/>
          </a:xfrm>
          <a:prstGeom prst="rect">
            <a:avLst/>
          </a:prstGeom>
          <a:noFill/>
          <a:ln/>
        </p:spPr>
        <p:txBody>
          <a:bodyPr wrap="square" lIns="0" tIns="0" rIns="0" bIns="0" rtlCol="0" anchor="ctr"/>
          <a:lstStyle/>
          <a:p>
            <a:pPr indent="0" marL="0">
              <a:buNone/>
            </a:pPr>
            <a:r>
              <a:rPr lang="en-US" sz="1700" b="1" dirty="0">
                <a:solidFill>
                  <a:srgbClr val="123524"/>
                </a:solidFill>
                <a:latin typeface="Georgia" pitchFamily="34" charset="0"/>
                <a:ea typeface="Georgia" pitchFamily="34" charset="-122"/>
                <a:cs typeface="Georgia" pitchFamily="34" charset="-120"/>
              </a:rPr>
              <a:t>Interpretation</a:t>
            </a:r>
            <a:endParaRPr lang="en-US" sz="1700" dirty="0"/>
          </a:p>
        </p:txBody>
      </p:sp>
      <p:sp>
        <p:nvSpPr>
          <p:cNvPr id="14" name="Text 9"/>
          <p:cNvSpPr/>
          <p:nvPr/>
        </p:nvSpPr>
        <p:spPr>
          <a:xfrm>
            <a:off x="6885432" y="4361688"/>
            <a:ext cx="4251960" cy="868680"/>
          </a:xfrm>
          <a:prstGeom prst="rect">
            <a:avLst/>
          </a:prstGeom>
          <a:noFill/>
          <a:ln/>
        </p:spPr>
        <p:txBody>
          <a:bodyPr wrap="square" lIns="25400" tIns="25400" rIns="25400" bIns="25400" rtlCol="0" anchor="ctr">
            <a:normAutofit/>
          </a:bodyPr>
          <a:lstStyle/>
          <a:p>
            <a:pPr marL="177800" indent="-177800">
              <a:buSzPct val="100000"/>
              <a:buChar char="•"/>
            </a:pPr>
            <a:r>
              <a:rPr lang="en-US" sz="1120" dirty="0">
                <a:solidFill>
                  <a:srgbClr val="14251D"/>
                </a:solidFill>
                <a:latin typeface="Aptos" pitchFamily="34" charset="0"/>
                <a:ea typeface="Aptos" pitchFamily="34" charset="-122"/>
                <a:cs typeface="Aptos" pitchFamily="34" charset="-120"/>
              </a:rPr>
              <a:t>Land and Security: significant, negligible effects.</a:t>
            </a:r>
            <a:endParaRPr lang="en-US" sz="1120" dirty="0"/>
          </a:p>
          <a:p>
            <a:pPr marL="177800" indent="-177800">
              <a:buSzPct val="100000"/>
              <a:buChar char="•"/>
            </a:pPr>
            <a:r>
              <a:rPr lang="en-US" sz="1120" dirty="0">
                <a:solidFill>
                  <a:srgbClr val="14251D"/>
                </a:solidFill>
                <a:latin typeface="Aptos" pitchFamily="34" charset="0"/>
                <a:ea typeface="Aptos" pitchFamily="34" charset="-122"/>
                <a:cs typeface="Aptos" pitchFamily="34" charset="-120"/>
              </a:rPr>
              <a:t>Healing: no significant population-size difference.</a:t>
            </a:r>
            <a:endParaRPr lang="en-US" sz="1120" dirty="0"/>
          </a:p>
          <a:p>
            <a:pPr marL="177800" indent="-177800">
              <a:buSzPct val="100000"/>
              <a:buChar char="•"/>
            </a:pPr>
            <a:r>
              <a:rPr lang="en-US" sz="1120" dirty="0">
                <a:solidFill>
                  <a:srgbClr val="14251D"/>
                </a:solidFill>
                <a:latin typeface="Aptos" pitchFamily="34" charset="0"/>
                <a:ea typeface="Aptos" pitchFamily="34" charset="-122"/>
                <a:cs typeface="Aptos" pitchFamily="34" charset="-120"/>
              </a:rPr>
              <a:t>Statistical significance should not be confused with a large practical difference.</a:t>
            </a:r>
            <a:endParaRPr lang="en-US" sz="1120" dirty="0"/>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4.8 • ANALYSIS 5</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Continent × leadership distribution</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Chi-Square tests whether leadership structures vary geographically.</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sp>
        <p:nvSpPr>
          <p:cNvPr id="8" name="Shape 5"/>
          <p:cNvSpPr/>
          <p:nvPr/>
        </p:nvSpPr>
        <p:spPr>
          <a:xfrm>
            <a:off x="466344" y="1490472"/>
            <a:ext cx="6793992" cy="4535424"/>
          </a:xfrm>
          <a:prstGeom prst="roundRect">
            <a:avLst>
              <a:gd name="adj" fmla="val 2016"/>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pic>
        <p:nvPicPr>
          <p:cNvPr id="9" name="Image 0" descr="C:\Users\mossa\OneDrive\Documents\مشروع التخرج\docs\chapter4-screenshots\23-analysis-5-result.png">    </p:cNvPr>
          <p:cNvPicPr>
            <a:picLocks noChangeAspect="1"/>
          </p:cNvPicPr>
          <p:nvPr/>
        </p:nvPicPr>
        <p:blipFill>
          <a:blip r:embed="rId1"/>
          <a:stretch>
            <a:fillRect/>
          </a:stretch>
        </p:blipFill>
        <p:spPr>
          <a:xfrm>
            <a:off x="651856" y="1527048"/>
            <a:ext cx="6422967" cy="4462272"/>
          </a:xfrm>
          <a:prstGeom prst="rect">
            <a:avLst/>
          </a:prstGeom>
        </p:spPr>
      </p:pic>
      <p:sp>
        <p:nvSpPr>
          <p:cNvPr id="10" name="Text 6"/>
          <p:cNvSpPr/>
          <p:nvPr/>
        </p:nvSpPr>
        <p:spPr>
          <a:xfrm>
            <a:off x="502920" y="6044184"/>
            <a:ext cx="6720840" cy="219456"/>
          </a:xfrm>
          <a:prstGeom prst="rect">
            <a:avLst/>
          </a:prstGeom>
          <a:noFill/>
          <a:ln/>
        </p:spPr>
        <p:txBody>
          <a:bodyPr wrap="square" lIns="0" tIns="0" rIns="0" bIns="0" rtlCol="0" anchor="ctr">
            <a:normAutofit/>
          </a:bodyPr>
          <a:lstStyle/>
          <a:p>
            <a:pPr algn="ctr" indent="0" marL="0">
              <a:buNone/>
            </a:pPr>
            <a:r>
              <a:rPr lang="en-US" sz="900" i="1" dirty="0">
                <a:solidFill>
                  <a:srgbClr val="65736B"/>
                </a:solidFill>
                <a:latin typeface="Aptos" pitchFamily="34" charset="0"/>
                <a:ea typeface="Aptos" pitchFamily="34" charset="-122"/>
                <a:cs typeface="Aptos" pitchFamily="34" charset="-120"/>
              </a:rPr>
              <a:t>Figure 4.16: Continental Leadership Distribution Result</a:t>
            </a:r>
            <a:endParaRPr lang="en-US" sz="900" dirty="0"/>
          </a:p>
        </p:txBody>
      </p:sp>
      <p:sp>
        <p:nvSpPr>
          <p:cNvPr id="11" name="Shape 7"/>
          <p:cNvSpPr/>
          <p:nvPr/>
        </p:nvSpPr>
        <p:spPr>
          <a:xfrm>
            <a:off x="7498080" y="1700784"/>
            <a:ext cx="1920240"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12" name="Shape 8"/>
          <p:cNvSpPr/>
          <p:nvPr/>
        </p:nvSpPr>
        <p:spPr>
          <a:xfrm>
            <a:off x="7498080" y="1700784"/>
            <a:ext cx="54864" cy="777240"/>
          </a:xfrm>
          <a:prstGeom prst="rect">
            <a:avLst/>
          </a:prstGeom>
          <a:solidFill>
            <a:srgbClr val="123524"/>
          </a:solidFill>
          <a:ln w="12700">
            <a:solidFill>
              <a:srgbClr val="123524"/>
            </a:solidFill>
            <a:prstDash val="solid"/>
          </a:ln>
        </p:spPr>
      </p:sp>
      <p:sp>
        <p:nvSpPr>
          <p:cNvPr id="13" name="Text 9"/>
          <p:cNvSpPr/>
          <p:nvPr/>
        </p:nvSpPr>
        <p:spPr>
          <a:xfrm>
            <a:off x="7662672" y="1819656"/>
            <a:ext cx="1645920"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CHI-SQUARE</a:t>
            </a:r>
            <a:endParaRPr lang="en-US" sz="780" dirty="0"/>
          </a:p>
        </p:txBody>
      </p:sp>
      <p:sp>
        <p:nvSpPr>
          <p:cNvPr id="14" name="Text 10"/>
          <p:cNvSpPr/>
          <p:nvPr/>
        </p:nvSpPr>
        <p:spPr>
          <a:xfrm>
            <a:off x="7662672" y="2020824"/>
            <a:ext cx="1645920"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128.891</a:t>
            </a:r>
            <a:endParaRPr lang="en-US" sz="1800" dirty="0"/>
          </a:p>
        </p:txBody>
      </p:sp>
      <p:sp>
        <p:nvSpPr>
          <p:cNvPr id="15" name="Shape 11"/>
          <p:cNvSpPr/>
          <p:nvPr/>
        </p:nvSpPr>
        <p:spPr>
          <a:xfrm>
            <a:off x="9619488" y="1700784"/>
            <a:ext cx="1920240"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16" name="Shape 12"/>
          <p:cNvSpPr/>
          <p:nvPr/>
        </p:nvSpPr>
        <p:spPr>
          <a:xfrm>
            <a:off x="9619488" y="1700784"/>
            <a:ext cx="54864" cy="777240"/>
          </a:xfrm>
          <a:prstGeom prst="rect">
            <a:avLst/>
          </a:prstGeom>
          <a:solidFill>
            <a:srgbClr val="C8A96A"/>
          </a:solidFill>
          <a:ln w="12700">
            <a:solidFill>
              <a:srgbClr val="C8A96A"/>
            </a:solidFill>
            <a:prstDash val="solid"/>
          </a:ln>
        </p:spPr>
      </p:sp>
      <p:sp>
        <p:nvSpPr>
          <p:cNvPr id="17" name="Text 13"/>
          <p:cNvSpPr/>
          <p:nvPr/>
        </p:nvSpPr>
        <p:spPr>
          <a:xfrm>
            <a:off x="9784080" y="1819656"/>
            <a:ext cx="1645920"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DF</a:t>
            </a:r>
            <a:endParaRPr lang="en-US" sz="780" dirty="0"/>
          </a:p>
        </p:txBody>
      </p:sp>
      <p:sp>
        <p:nvSpPr>
          <p:cNvPr id="18" name="Text 14"/>
          <p:cNvSpPr/>
          <p:nvPr/>
        </p:nvSpPr>
        <p:spPr>
          <a:xfrm>
            <a:off x="9784080" y="2020824"/>
            <a:ext cx="1645920"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8</a:t>
            </a:r>
            <a:endParaRPr lang="en-US" sz="1800" dirty="0"/>
          </a:p>
        </p:txBody>
      </p:sp>
      <p:sp>
        <p:nvSpPr>
          <p:cNvPr id="19" name="Shape 15"/>
          <p:cNvSpPr/>
          <p:nvPr/>
        </p:nvSpPr>
        <p:spPr>
          <a:xfrm>
            <a:off x="7498080" y="2724912"/>
            <a:ext cx="1920240"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20" name="Shape 16"/>
          <p:cNvSpPr/>
          <p:nvPr/>
        </p:nvSpPr>
        <p:spPr>
          <a:xfrm>
            <a:off x="7498080" y="2724912"/>
            <a:ext cx="54864" cy="777240"/>
          </a:xfrm>
          <a:prstGeom prst="rect">
            <a:avLst/>
          </a:prstGeom>
          <a:solidFill>
            <a:srgbClr val="123524"/>
          </a:solidFill>
          <a:ln w="12700">
            <a:solidFill>
              <a:srgbClr val="123524"/>
            </a:solidFill>
            <a:prstDash val="solid"/>
          </a:ln>
        </p:spPr>
      </p:sp>
      <p:sp>
        <p:nvSpPr>
          <p:cNvPr id="21" name="Text 17"/>
          <p:cNvSpPr/>
          <p:nvPr/>
        </p:nvSpPr>
        <p:spPr>
          <a:xfrm>
            <a:off x="7662672" y="2843784"/>
            <a:ext cx="1645920"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P-VALUE</a:t>
            </a:r>
            <a:endParaRPr lang="en-US" sz="780" dirty="0"/>
          </a:p>
        </p:txBody>
      </p:sp>
      <p:sp>
        <p:nvSpPr>
          <p:cNvPr id="22" name="Text 18"/>
          <p:cNvSpPr/>
          <p:nvPr/>
        </p:nvSpPr>
        <p:spPr>
          <a:xfrm>
            <a:off x="7662672" y="3044952"/>
            <a:ext cx="1645920"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&lt; .001</a:t>
            </a:r>
            <a:endParaRPr lang="en-US" sz="1800" dirty="0"/>
          </a:p>
        </p:txBody>
      </p:sp>
      <p:sp>
        <p:nvSpPr>
          <p:cNvPr id="23" name="Shape 19"/>
          <p:cNvSpPr/>
          <p:nvPr/>
        </p:nvSpPr>
        <p:spPr>
          <a:xfrm>
            <a:off x="9619488" y="2724912"/>
            <a:ext cx="1920240"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24" name="Shape 20"/>
          <p:cNvSpPr/>
          <p:nvPr/>
        </p:nvSpPr>
        <p:spPr>
          <a:xfrm>
            <a:off x="9619488" y="2724912"/>
            <a:ext cx="54864" cy="777240"/>
          </a:xfrm>
          <a:prstGeom prst="rect">
            <a:avLst/>
          </a:prstGeom>
          <a:solidFill>
            <a:srgbClr val="C8A96A"/>
          </a:solidFill>
          <a:ln w="12700">
            <a:solidFill>
              <a:srgbClr val="C8A96A"/>
            </a:solidFill>
            <a:prstDash val="solid"/>
          </a:ln>
        </p:spPr>
      </p:sp>
      <p:sp>
        <p:nvSpPr>
          <p:cNvPr id="25" name="Text 21"/>
          <p:cNvSpPr/>
          <p:nvPr/>
        </p:nvSpPr>
        <p:spPr>
          <a:xfrm>
            <a:off x="9784080" y="2843784"/>
            <a:ext cx="1645920"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CRAMER'S V</a:t>
            </a:r>
            <a:endParaRPr lang="en-US" sz="780" dirty="0"/>
          </a:p>
        </p:txBody>
      </p:sp>
      <p:sp>
        <p:nvSpPr>
          <p:cNvPr id="26" name="Text 22"/>
          <p:cNvSpPr/>
          <p:nvPr/>
        </p:nvSpPr>
        <p:spPr>
          <a:xfrm>
            <a:off x="9784080" y="3044952"/>
            <a:ext cx="1645920"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0.208</a:t>
            </a:r>
            <a:endParaRPr lang="en-US" sz="1800" dirty="0"/>
          </a:p>
        </p:txBody>
      </p:sp>
      <p:sp>
        <p:nvSpPr>
          <p:cNvPr id="27" name="Shape 23"/>
          <p:cNvSpPr/>
          <p:nvPr/>
        </p:nvSpPr>
        <p:spPr>
          <a:xfrm>
            <a:off x="7498080" y="3749040"/>
            <a:ext cx="1920240"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28" name="Shape 24"/>
          <p:cNvSpPr/>
          <p:nvPr/>
        </p:nvSpPr>
        <p:spPr>
          <a:xfrm>
            <a:off x="7498080" y="3749040"/>
            <a:ext cx="54864" cy="777240"/>
          </a:xfrm>
          <a:prstGeom prst="rect">
            <a:avLst/>
          </a:prstGeom>
          <a:solidFill>
            <a:srgbClr val="123524"/>
          </a:solidFill>
          <a:ln w="12700">
            <a:solidFill>
              <a:srgbClr val="123524"/>
            </a:solidFill>
            <a:prstDash val="solid"/>
          </a:ln>
        </p:spPr>
      </p:sp>
      <p:sp>
        <p:nvSpPr>
          <p:cNvPr id="29" name="Text 25"/>
          <p:cNvSpPr/>
          <p:nvPr/>
        </p:nvSpPr>
        <p:spPr>
          <a:xfrm>
            <a:off x="7662672" y="3867912"/>
            <a:ext cx="1645920"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OCCURRENCES</a:t>
            </a:r>
            <a:endParaRPr lang="en-US" sz="780" dirty="0"/>
          </a:p>
        </p:txBody>
      </p:sp>
      <p:sp>
        <p:nvSpPr>
          <p:cNvPr id="30" name="Text 26"/>
          <p:cNvSpPr/>
          <p:nvPr/>
        </p:nvSpPr>
        <p:spPr>
          <a:xfrm>
            <a:off x="7662672" y="4069080"/>
            <a:ext cx="1645920"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1,494</a:t>
            </a:r>
            <a:endParaRPr lang="en-US" sz="1800" dirty="0"/>
          </a:p>
        </p:txBody>
      </p:sp>
      <p:sp>
        <p:nvSpPr>
          <p:cNvPr id="31" name="Shape 27"/>
          <p:cNvSpPr/>
          <p:nvPr/>
        </p:nvSpPr>
        <p:spPr>
          <a:xfrm>
            <a:off x="9619488" y="3749040"/>
            <a:ext cx="1920240"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32" name="Shape 28"/>
          <p:cNvSpPr/>
          <p:nvPr/>
        </p:nvSpPr>
        <p:spPr>
          <a:xfrm>
            <a:off x="9619488" y="3749040"/>
            <a:ext cx="54864" cy="777240"/>
          </a:xfrm>
          <a:prstGeom prst="rect">
            <a:avLst/>
          </a:prstGeom>
          <a:solidFill>
            <a:srgbClr val="C8A96A"/>
          </a:solidFill>
          <a:ln w="12700">
            <a:solidFill>
              <a:srgbClr val="C8A96A"/>
            </a:solidFill>
            <a:prstDash val="solid"/>
          </a:ln>
        </p:spPr>
      </p:sp>
      <p:sp>
        <p:nvSpPr>
          <p:cNvPr id="33" name="Text 29"/>
          <p:cNvSpPr/>
          <p:nvPr/>
        </p:nvSpPr>
        <p:spPr>
          <a:xfrm>
            <a:off x="9784080" y="3867912"/>
            <a:ext cx="1645920"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STRENGTH</a:t>
            </a:r>
            <a:endParaRPr lang="en-US" sz="780" dirty="0"/>
          </a:p>
        </p:txBody>
      </p:sp>
      <p:sp>
        <p:nvSpPr>
          <p:cNvPr id="34" name="Text 30"/>
          <p:cNvSpPr/>
          <p:nvPr/>
        </p:nvSpPr>
        <p:spPr>
          <a:xfrm>
            <a:off x="9784080" y="4069080"/>
            <a:ext cx="1645920"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weak</a:t>
            </a:r>
            <a:endParaRPr lang="en-US" sz="1800" dirty="0"/>
          </a:p>
        </p:txBody>
      </p:sp>
      <p:sp>
        <p:nvSpPr>
          <p:cNvPr id="35" name="Shape 31"/>
          <p:cNvSpPr/>
          <p:nvPr/>
        </p:nvSpPr>
        <p:spPr>
          <a:xfrm>
            <a:off x="7498080" y="4937760"/>
            <a:ext cx="4041648" cy="438912"/>
          </a:xfrm>
          <a:prstGeom prst="roundRect">
            <a:avLst/>
          </a:prstGeom>
          <a:solidFill>
            <a:srgbClr val="E7F2EB"/>
          </a:solidFill>
          <a:ln w="10160">
            <a:solidFill>
              <a:srgbClr val="5B9B78"/>
            </a:solidFill>
            <a:prstDash val="solid"/>
          </a:ln>
        </p:spPr>
      </p:sp>
      <p:sp>
        <p:nvSpPr>
          <p:cNvPr id="36" name="Text 32"/>
          <p:cNvSpPr/>
          <p:nvPr/>
        </p:nvSpPr>
        <p:spPr>
          <a:xfrm>
            <a:off x="7653528" y="5038344"/>
            <a:ext cx="3730752" cy="201168"/>
          </a:xfrm>
          <a:prstGeom prst="rect">
            <a:avLst/>
          </a:prstGeom>
          <a:noFill/>
          <a:ln/>
        </p:spPr>
        <p:txBody>
          <a:bodyPr wrap="square" lIns="0" tIns="0" rIns="0" bIns="0" rtlCol="0" anchor="ctr">
            <a:normAutofit/>
          </a:bodyPr>
          <a:lstStyle/>
          <a:p>
            <a:pPr indent="0" marL="0">
              <a:buNone/>
            </a:pPr>
            <a:r>
              <a:rPr lang="en-US" sz="1050" b="1" dirty="0">
                <a:solidFill>
                  <a:srgbClr val="14251D"/>
                </a:solidFill>
                <a:latin typeface="Aptos" pitchFamily="34" charset="0"/>
                <a:ea typeface="Aptos" pitchFamily="34" charset="-122"/>
                <a:cs typeface="Aptos" pitchFamily="34" charset="-120"/>
              </a:rPr>
              <a:t>Leadership structure differs by continent, but the association is weak; geography is not a causal explanation.</a:t>
            </a:r>
            <a:endParaRPr lang="en-US" sz="1050" dirty="0"/>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4.8 • ANALYSIS 6</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Continent × formal recognition</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Recognition status differs significantly across continents.</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sp>
        <p:nvSpPr>
          <p:cNvPr id="8" name="Shape 5"/>
          <p:cNvSpPr/>
          <p:nvPr/>
        </p:nvSpPr>
        <p:spPr>
          <a:xfrm>
            <a:off x="466344" y="1517904"/>
            <a:ext cx="6473952" cy="4480560"/>
          </a:xfrm>
          <a:prstGeom prst="roundRect">
            <a:avLst>
              <a:gd name="adj" fmla="val 2041"/>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pic>
        <p:nvPicPr>
          <p:cNvPr id="9" name="Image 0" descr="C:\Users\mossa\OneDrive\Documents\مشروع التخرج\docs\chapter4-screenshots\24-analysis-6-continent-recognition.png">    </p:cNvPr>
          <p:cNvPicPr>
            <a:picLocks noChangeAspect="1"/>
          </p:cNvPicPr>
          <p:nvPr/>
        </p:nvPicPr>
        <p:blipFill>
          <a:blip r:embed="rId1"/>
          <a:stretch>
            <a:fillRect/>
          </a:stretch>
        </p:blipFill>
        <p:spPr>
          <a:xfrm>
            <a:off x="531322" y="1554480"/>
            <a:ext cx="6343996" cy="4407408"/>
          </a:xfrm>
          <a:prstGeom prst="rect">
            <a:avLst/>
          </a:prstGeom>
        </p:spPr>
      </p:pic>
      <p:sp>
        <p:nvSpPr>
          <p:cNvPr id="10" name="Text 6"/>
          <p:cNvSpPr/>
          <p:nvPr/>
        </p:nvSpPr>
        <p:spPr>
          <a:xfrm>
            <a:off x="502920" y="6016752"/>
            <a:ext cx="6400800" cy="219456"/>
          </a:xfrm>
          <a:prstGeom prst="rect">
            <a:avLst/>
          </a:prstGeom>
          <a:noFill/>
          <a:ln/>
        </p:spPr>
        <p:txBody>
          <a:bodyPr wrap="square" lIns="0" tIns="0" rIns="0" bIns="0" rtlCol="0" anchor="ctr">
            <a:normAutofit/>
          </a:bodyPr>
          <a:lstStyle/>
          <a:p>
            <a:pPr algn="ctr" indent="0" marL="0">
              <a:buNone/>
            </a:pPr>
            <a:r>
              <a:rPr lang="en-US" sz="900" i="1" dirty="0">
                <a:solidFill>
                  <a:srgbClr val="65736B"/>
                </a:solidFill>
                <a:latin typeface="Aptos" pitchFamily="34" charset="0"/>
                <a:ea typeface="Aptos" pitchFamily="34" charset="-122"/>
                <a:cs typeface="Aptos" pitchFamily="34" charset="-120"/>
              </a:rPr>
              <a:t>Figure 4.17: Recognition Distribution by Continent</a:t>
            </a:r>
            <a:endParaRPr lang="en-US" sz="900" dirty="0"/>
          </a:p>
        </p:txBody>
      </p:sp>
      <p:sp>
        <p:nvSpPr>
          <p:cNvPr id="11" name="Shape 7"/>
          <p:cNvSpPr/>
          <p:nvPr/>
        </p:nvSpPr>
        <p:spPr>
          <a:xfrm>
            <a:off x="7178040" y="1664208"/>
            <a:ext cx="1993392"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12" name="Shape 8"/>
          <p:cNvSpPr/>
          <p:nvPr/>
        </p:nvSpPr>
        <p:spPr>
          <a:xfrm>
            <a:off x="7178040" y="1664208"/>
            <a:ext cx="54864" cy="777240"/>
          </a:xfrm>
          <a:prstGeom prst="rect">
            <a:avLst/>
          </a:prstGeom>
          <a:solidFill>
            <a:srgbClr val="123524"/>
          </a:solidFill>
          <a:ln w="12700">
            <a:solidFill>
              <a:srgbClr val="123524"/>
            </a:solidFill>
            <a:prstDash val="solid"/>
          </a:ln>
        </p:spPr>
      </p:sp>
      <p:sp>
        <p:nvSpPr>
          <p:cNvPr id="13" name="Text 9"/>
          <p:cNvSpPr/>
          <p:nvPr/>
        </p:nvSpPr>
        <p:spPr>
          <a:xfrm>
            <a:off x="7342632" y="1783080"/>
            <a:ext cx="1719072"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CHI-SQUARE</a:t>
            </a:r>
            <a:endParaRPr lang="en-US" sz="780" dirty="0"/>
          </a:p>
        </p:txBody>
      </p:sp>
      <p:sp>
        <p:nvSpPr>
          <p:cNvPr id="14" name="Text 10"/>
          <p:cNvSpPr/>
          <p:nvPr/>
        </p:nvSpPr>
        <p:spPr>
          <a:xfrm>
            <a:off x="7342632" y="1984248"/>
            <a:ext cx="1719072"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70.837</a:t>
            </a:r>
            <a:endParaRPr lang="en-US" sz="1800" dirty="0"/>
          </a:p>
        </p:txBody>
      </p:sp>
      <p:sp>
        <p:nvSpPr>
          <p:cNvPr id="15" name="Shape 11"/>
          <p:cNvSpPr/>
          <p:nvPr/>
        </p:nvSpPr>
        <p:spPr>
          <a:xfrm>
            <a:off x="9400032" y="1664208"/>
            <a:ext cx="1993392"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16" name="Shape 12"/>
          <p:cNvSpPr/>
          <p:nvPr/>
        </p:nvSpPr>
        <p:spPr>
          <a:xfrm>
            <a:off x="9400032" y="1664208"/>
            <a:ext cx="54864" cy="777240"/>
          </a:xfrm>
          <a:prstGeom prst="rect">
            <a:avLst/>
          </a:prstGeom>
          <a:solidFill>
            <a:srgbClr val="C8A96A"/>
          </a:solidFill>
          <a:ln w="12700">
            <a:solidFill>
              <a:srgbClr val="C8A96A"/>
            </a:solidFill>
            <a:prstDash val="solid"/>
          </a:ln>
        </p:spPr>
      </p:sp>
      <p:sp>
        <p:nvSpPr>
          <p:cNvPr id="17" name="Text 13"/>
          <p:cNvSpPr/>
          <p:nvPr/>
        </p:nvSpPr>
        <p:spPr>
          <a:xfrm>
            <a:off x="9564624" y="1783080"/>
            <a:ext cx="1719072"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DF</a:t>
            </a:r>
            <a:endParaRPr lang="en-US" sz="780" dirty="0"/>
          </a:p>
        </p:txBody>
      </p:sp>
      <p:sp>
        <p:nvSpPr>
          <p:cNvPr id="18" name="Text 14"/>
          <p:cNvSpPr/>
          <p:nvPr/>
        </p:nvSpPr>
        <p:spPr>
          <a:xfrm>
            <a:off x="9564624" y="1984248"/>
            <a:ext cx="1719072"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4</a:t>
            </a:r>
            <a:endParaRPr lang="en-US" sz="1800" dirty="0"/>
          </a:p>
        </p:txBody>
      </p:sp>
      <p:sp>
        <p:nvSpPr>
          <p:cNvPr id="19" name="Shape 15"/>
          <p:cNvSpPr/>
          <p:nvPr/>
        </p:nvSpPr>
        <p:spPr>
          <a:xfrm>
            <a:off x="7178040" y="2688336"/>
            <a:ext cx="1993392"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20" name="Shape 16"/>
          <p:cNvSpPr/>
          <p:nvPr/>
        </p:nvSpPr>
        <p:spPr>
          <a:xfrm>
            <a:off x="7178040" y="2688336"/>
            <a:ext cx="54864" cy="777240"/>
          </a:xfrm>
          <a:prstGeom prst="rect">
            <a:avLst/>
          </a:prstGeom>
          <a:solidFill>
            <a:srgbClr val="123524"/>
          </a:solidFill>
          <a:ln w="12700">
            <a:solidFill>
              <a:srgbClr val="123524"/>
            </a:solidFill>
            <a:prstDash val="solid"/>
          </a:ln>
        </p:spPr>
      </p:sp>
      <p:sp>
        <p:nvSpPr>
          <p:cNvPr id="21" name="Text 17"/>
          <p:cNvSpPr/>
          <p:nvPr/>
        </p:nvSpPr>
        <p:spPr>
          <a:xfrm>
            <a:off x="7342632" y="2807208"/>
            <a:ext cx="1719072"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P-VALUE</a:t>
            </a:r>
            <a:endParaRPr lang="en-US" sz="780" dirty="0"/>
          </a:p>
        </p:txBody>
      </p:sp>
      <p:sp>
        <p:nvSpPr>
          <p:cNvPr id="22" name="Text 18"/>
          <p:cNvSpPr/>
          <p:nvPr/>
        </p:nvSpPr>
        <p:spPr>
          <a:xfrm>
            <a:off x="7342632" y="3008376"/>
            <a:ext cx="1719072"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&lt; .001</a:t>
            </a:r>
            <a:endParaRPr lang="en-US" sz="1800" dirty="0"/>
          </a:p>
        </p:txBody>
      </p:sp>
      <p:sp>
        <p:nvSpPr>
          <p:cNvPr id="23" name="Shape 19"/>
          <p:cNvSpPr/>
          <p:nvPr/>
        </p:nvSpPr>
        <p:spPr>
          <a:xfrm>
            <a:off x="9400032" y="2688336"/>
            <a:ext cx="1993392"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24" name="Shape 20"/>
          <p:cNvSpPr/>
          <p:nvPr/>
        </p:nvSpPr>
        <p:spPr>
          <a:xfrm>
            <a:off x="9400032" y="2688336"/>
            <a:ext cx="54864" cy="777240"/>
          </a:xfrm>
          <a:prstGeom prst="rect">
            <a:avLst/>
          </a:prstGeom>
          <a:solidFill>
            <a:srgbClr val="C8A96A"/>
          </a:solidFill>
          <a:ln w="12700">
            <a:solidFill>
              <a:srgbClr val="C8A96A"/>
            </a:solidFill>
            <a:prstDash val="solid"/>
          </a:ln>
        </p:spPr>
      </p:sp>
      <p:sp>
        <p:nvSpPr>
          <p:cNvPr id="25" name="Text 21"/>
          <p:cNvSpPr/>
          <p:nvPr/>
        </p:nvSpPr>
        <p:spPr>
          <a:xfrm>
            <a:off x="9564624" y="2807208"/>
            <a:ext cx="1719072"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CRAMER'S V</a:t>
            </a:r>
            <a:endParaRPr lang="en-US" sz="780" dirty="0"/>
          </a:p>
        </p:txBody>
      </p:sp>
      <p:sp>
        <p:nvSpPr>
          <p:cNvPr id="26" name="Text 22"/>
          <p:cNvSpPr/>
          <p:nvPr/>
        </p:nvSpPr>
        <p:spPr>
          <a:xfrm>
            <a:off x="9564624" y="3008376"/>
            <a:ext cx="1719072"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0.262</a:t>
            </a:r>
            <a:endParaRPr lang="en-US" sz="1800" dirty="0"/>
          </a:p>
        </p:txBody>
      </p:sp>
      <p:sp>
        <p:nvSpPr>
          <p:cNvPr id="27" name="Shape 23"/>
          <p:cNvSpPr/>
          <p:nvPr/>
        </p:nvSpPr>
        <p:spPr>
          <a:xfrm>
            <a:off x="7178040" y="3712464"/>
            <a:ext cx="1993392"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28" name="Shape 24"/>
          <p:cNvSpPr/>
          <p:nvPr/>
        </p:nvSpPr>
        <p:spPr>
          <a:xfrm>
            <a:off x="7178040" y="3712464"/>
            <a:ext cx="54864" cy="777240"/>
          </a:xfrm>
          <a:prstGeom prst="rect">
            <a:avLst/>
          </a:prstGeom>
          <a:solidFill>
            <a:srgbClr val="123524"/>
          </a:solidFill>
          <a:ln w="12700">
            <a:solidFill>
              <a:srgbClr val="123524"/>
            </a:solidFill>
            <a:prstDash val="solid"/>
          </a:ln>
        </p:spPr>
      </p:sp>
      <p:sp>
        <p:nvSpPr>
          <p:cNvPr id="29" name="Text 25"/>
          <p:cNvSpPr/>
          <p:nvPr/>
        </p:nvSpPr>
        <p:spPr>
          <a:xfrm>
            <a:off x="7342632" y="3831336"/>
            <a:ext cx="1719072"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SAMPLE</a:t>
            </a:r>
            <a:endParaRPr lang="en-US" sz="780" dirty="0"/>
          </a:p>
        </p:txBody>
      </p:sp>
      <p:sp>
        <p:nvSpPr>
          <p:cNvPr id="30" name="Text 26"/>
          <p:cNvSpPr/>
          <p:nvPr/>
        </p:nvSpPr>
        <p:spPr>
          <a:xfrm>
            <a:off x="7342632" y="4032504"/>
            <a:ext cx="1719072"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1,033</a:t>
            </a:r>
            <a:endParaRPr lang="en-US" sz="1800" dirty="0"/>
          </a:p>
        </p:txBody>
      </p:sp>
      <p:sp>
        <p:nvSpPr>
          <p:cNvPr id="31" name="Shape 27"/>
          <p:cNvSpPr/>
          <p:nvPr/>
        </p:nvSpPr>
        <p:spPr>
          <a:xfrm>
            <a:off x="9400032" y="3712464"/>
            <a:ext cx="1993392"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32" name="Shape 28"/>
          <p:cNvSpPr/>
          <p:nvPr/>
        </p:nvSpPr>
        <p:spPr>
          <a:xfrm>
            <a:off x="9400032" y="3712464"/>
            <a:ext cx="54864" cy="777240"/>
          </a:xfrm>
          <a:prstGeom prst="rect">
            <a:avLst/>
          </a:prstGeom>
          <a:solidFill>
            <a:srgbClr val="C8A96A"/>
          </a:solidFill>
          <a:ln w="12700">
            <a:solidFill>
              <a:srgbClr val="C8A96A"/>
            </a:solidFill>
            <a:prstDash val="solid"/>
          </a:ln>
        </p:spPr>
      </p:sp>
      <p:sp>
        <p:nvSpPr>
          <p:cNvPr id="33" name="Text 29"/>
          <p:cNvSpPr/>
          <p:nvPr/>
        </p:nvSpPr>
        <p:spPr>
          <a:xfrm>
            <a:off x="9564624" y="3831336"/>
            <a:ext cx="1719072"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STRENGTH</a:t>
            </a:r>
            <a:endParaRPr lang="en-US" sz="780" dirty="0"/>
          </a:p>
        </p:txBody>
      </p:sp>
      <p:sp>
        <p:nvSpPr>
          <p:cNvPr id="34" name="Text 30"/>
          <p:cNvSpPr/>
          <p:nvPr/>
        </p:nvSpPr>
        <p:spPr>
          <a:xfrm>
            <a:off x="9564624" y="4032504"/>
            <a:ext cx="1719072"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weak</a:t>
            </a:r>
            <a:endParaRPr lang="en-US" sz="1800" dirty="0"/>
          </a:p>
        </p:txBody>
      </p:sp>
      <p:sp>
        <p:nvSpPr>
          <p:cNvPr id="35" name="Shape 31"/>
          <p:cNvSpPr/>
          <p:nvPr/>
        </p:nvSpPr>
        <p:spPr>
          <a:xfrm>
            <a:off x="7178040" y="4800600"/>
            <a:ext cx="4224528" cy="1024128"/>
          </a:xfrm>
          <a:prstGeom prst="roundRect">
            <a:avLst>
              <a:gd name="adj" fmla="val 8929"/>
            </a:avLst>
          </a:prstGeom>
          <a:solidFill>
            <a:srgbClr val="F6EEDC"/>
          </a:solidFill>
          <a:ln w="8890">
            <a:solidFill>
              <a:srgbClr val="E0C88F"/>
            </a:solidFill>
            <a:prstDash val="solid"/>
          </a:ln>
          <a:effectLst>
            <a:outerShdw sx="100000" sy="100000" kx="0" ky="0" algn="bl" rotWithShape="0" blurRad="19050" dist="50800" dir="2700000">
              <a:srgbClr val="AAB7AF">
                <a:alpha val="13000"/>
              </a:srgbClr>
            </a:outerShdw>
          </a:effectLst>
        </p:spPr>
      </p:sp>
      <p:sp>
        <p:nvSpPr>
          <p:cNvPr id="36" name="Text 32"/>
          <p:cNvSpPr/>
          <p:nvPr/>
        </p:nvSpPr>
        <p:spPr>
          <a:xfrm>
            <a:off x="7424928" y="5047488"/>
            <a:ext cx="3712464" cy="347472"/>
          </a:xfrm>
          <a:prstGeom prst="rect">
            <a:avLst/>
          </a:prstGeom>
          <a:noFill/>
          <a:ln/>
        </p:spPr>
        <p:txBody>
          <a:bodyPr wrap="square" lIns="0" tIns="0" rIns="0" bIns="0" rtlCol="0" anchor="ctr">
            <a:normAutofit/>
          </a:bodyPr>
          <a:lstStyle/>
          <a:p>
            <a:pPr algn="ctr" indent="0" marL="0">
              <a:buNone/>
            </a:pPr>
            <a:r>
              <a:rPr lang="en-US" sz="1200" b="1" dirty="0">
                <a:solidFill>
                  <a:srgbClr val="14251D"/>
                </a:solidFill>
              </a:rPr>
              <a:t>Rates among complete cases: Africa 82.7% • Asia 55.4%</a:t>
            </a:r>
            <a:endParaRPr lang="en-US" sz="1200" dirty="0"/>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4.8 • ANALYSIS 6</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Observed counts versus expected frequencies</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Expected values are calculated under the null hypothesis of independence.</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sp>
        <p:nvSpPr>
          <p:cNvPr id="8" name="Shape 5"/>
          <p:cNvSpPr/>
          <p:nvPr/>
        </p:nvSpPr>
        <p:spPr>
          <a:xfrm>
            <a:off x="493776" y="1490472"/>
            <a:ext cx="7799832" cy="4599432"/>
          </a:xfrm>
          <a:prstGeom prst="roundRect">
            <a:avLst>
              <a:gd name="adj" fmla="val 1988"/>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pic>
        <p:nvPicPr>
          <p:cNvPr id="9" name="Image 0" descr="C:\Users\mossa\OneDrive\Documents\مشروع التخرج\docs\chapter4-screenshots\25-analysis-6-observed-expected.png">    </p:cNvPr>
          <p:cNvPicPr>
            <a:picLocks noChangeAspect="1"/>
          </p:cNvPicPr>
          <p:nvPr/>
        </p:nvPicPr>
        <p:blipFill>
          <a:blip r:embed="rId1"/>
          <a:stretch>
            <a:fillRect/>
          </a:stretch>
        </p:blipFill>
        <p:spPr>
          <a:xfrm>
            <a:off x="1136142" y="1527048"/>
            <a:ext cx="6515100" cy="4526280"/>
          </a:xfrm>
          <a:prstGeom prst="rect">
            <a:avLst/>
          </a:prstGeom>
        </p:spPr>
      </p:pic>
      <p:sp>
        <p:nvSpPr>
          <p:cNvPr id="10" name="Text 6"/>
          <p:cNvSpPr/>
          <p:nvPr/>
        </p:nvSpPr>
        <p:spPr>
          <a:xfrm>
            <a:off x="530352" y="6108192"/>
            <a:ext cx="7726680" cy="219456"/>
          </a:xfrm>
          <a:prstGeom prst="rect">
            <a:avLst/>
          </a:prstGeom>
          <a:noFill/>
          <a:ln/>
        </p:spPr>
        <p:txBody>
          <a:bodyPr wrap="square" lIns="0" tIns="0" rIns="0" bIns="0" rtlCol="0" anchor="ctr">
            <a:normAutofit/>
          </a:bodyPr>
          <a:lstStyle/>
          <a:p>
            <a:pPr algn="ctr" indent="0" marL="0">
              <a:buNone/>
            </a:pPr>
            <a:r>
              <a:rPr lang="en-US" sz="900" i="1" dirty="0">
                <a:solidFill>
                  <a:srgbClr val="65736B"/>
                </a:solidFill>
                <a:latin typeface="Aptos" pitchFamily="34" charset="0"/>
                <a:ea typeface="Aptos" pitchFamily="34" charset="-122"/>
                <a:cs typeface="Aptos" pitchFamily="34" charset="-120"/>
              </a:rPr>
              <a:t>Figure 4.18: Observed and Expected Continent-Recognition Frequencies</a:t>
            </a:r>
            <a:endParaRPr lang="en-US" sz="900" dirty="0"/>
          </a:p>
        </p:txBody>
      </p:sp>
      <p:sp>
        <p:nvSpPr>
          <p:cNvPr id="11" name="Shape 7"/>
          <p:cNvSpPr/>
          <p:nvPr/>
        </p:nvSpPr>
        <p:spPr>
          <a:xfrm>
            <a:off x="8522208" y="1682496"/>
            <a:ext cx="2971800" cy="1828800"/>
          </a:xfrm>
          <a:prstGeom prst="roundRect">
            <a:avLst>
              <a:gd name="adj" fmla="val 5000"/>
            </a:avLst>
          </a:prstGeom>
          <a:solidFill>
            <a:srgbClr val="EAF1EC"/>
          </a:solidFill>
          <a:ln w="8890">
            <a:solidFill>
              <a:srgbClr val="C6D8CD"/>
            </a:solidFill>
            <a:prstDash val="solid"/>
          </a:ln>
          <a:effectLst>
            <a:outerShdw sx="100000" sy="100000" kx="0" ky="0" algn="bl" rotWithShape="0" blurRad="19050" dist="50800" dir="2700000">
              <a:srgbClr val="AAB7AF">
                <a:alpha val="13000"/>
              </a:srgbClr>
            </a:outerShdw>
          </a:effectLst>
        </p:spPr>
      </p:sp>
      <p:sp>
        <p:nvSpPr>
          <p:cNvPr id="12" name="Text 8"/>
          <p:cNvSpPr/>
          <p:nvPr/>
        </p:nvSpPr>
        <p:spPr>
          <a:xfrm>
            <a:off x="8796528" y="1947672"/>
            <a:ext cx="1097280" cy="164592"/>
          </a:xfrm>
          <a:prstGeom prst="rect">
            <a:avLst/>
          </a:prstGeom>
          <a:noFill/>
          <a:ln/>
        </p:spPr>
        <p:txBody>
          <a:bodyPr wrap="square" lIns="0" tIns="0" rIns="0" bIns="0" rtlCol="0" anchor="ctr"/>
          <a:lstStyle/>
          <a:p>
            <a:pPr indent="0" marL="0">
              <a:buNone/>
            </a:pPr>
            <a:r>
              <a:rPr lang="en-US" sz="900" b="1" spc="70" kern="0" dirty="0">
                <a:solidFill>
                  <a:srgbClr val="123524"/>
                </a:solidFill>
              </a:rPr>
              <a:t>OBSERVED</a:t>
            </a:r>
            <a:endParaRPr lang="en-US" sz="900" dirty="0"/>
          </a:p>
        </p:txBody>
      </p:sp>
      <p:sp>
        <p:nvSpPr>
          <p:cNvPr id="13" name="Text 9"/>
          <p:cNvSpPr/>
          <p:nvPr/>
        </p:nvSpPr>
        <p:spPr>
          <a:xfrm>
            <a:off x="8796528" y="2267712"/>
            <a:ext cx="2194560" cy="274320"/>
          </a:xfrm>
          <a:prstGeom prst="rect">
            <a:avLst/>
          </a:prstGeom>
          <a:noFill/>
          <a:ln/>
        </p:spPr>
        <p:txBody>
          <a:bodyPr wrap="square" lIns="0" tIns="0" rIns="0" bIns="0" rtlCol="0" anchor="ctr"/>
          <a:lstStyle/>
          <a:p>
            <a:pPr indent="0" marL="0">
              <a:buNone/>
            </a:pPr>
            <a:r>
              <a:rPr lang="en-US" sz="1700" b="1" dirty="0">
                <a:solidFill>
                  <a:srgbClr val="14251D"/>
                </a:solidFill>
                <a:latin typeface="Georgia" pitchFamily="34" charset="0"/>
                <a:ea typeface="Georgia" pitchFamily="34" charset="-122"/>
                <a:cs typeface="Georgia" pitchFamily="34" charset="-120"/>
              </a:rPr>
              <a:t>Actual database counts</a:t>
            </a:r>
            <a:endParaRPr lang="en-US" sz="1700" dirty="0"/>
          </a:p>
        </p:txBody>
      </p:sp>
      <p:sp>
        <p:nvSpPr>
          <p:cNvPr id="14" name="Text 10"/>
          <p:cNvSpPr/>
          <p:nvPr/>
        </p:nvSpPr>
        <p:spPr>
          <a:xfrm>
            <a:off x="8796528" y="2788920"/>
            <a:ext cx="2057400" cy="201168"/>
          </a:xfrm>
          <a:prstGeom prst="rect">
            <a:avLst/>
          </a:prstGeom>
          <a:noFill/>
          <a:ln/>
        </p:spPr>
        <p:txBody>
          <a:bodyPr wrap="square" lIns="0" tIns="0" rIns="0" bIns="0" rtlCol="0" anchor="ctr"/>
          <a:lstStyle/>
          <a:p>
            <a:pPr indent="0" marL="0">
              <a:buNone/>
            </a:pPr>
            <a:r>
              <a:rPr lang="en-US" sz="1150" dirty="0">
                <a:solidFill>
                  <a:srgbClr val="65736B"/>
                </a:solidFill>
              </a:rPr>
              <a:t>Whole numbers only</a:t>
            </a:r>
            <a:endParaRPr lang="en-US" sz="1150" dirty="0"/>
          </a:p>
        </p:txBody>
      </p:sp>
      <p:sp>
        <p:nvSpPr>
          <p:cNvPr id="15" name="Shape 11"/>
          <p:cNvSpPr/>
          <p:nvPr/>
        </p:nvSpPr>
        <p:spPr>
          <a:xfrm>
            <a:off x="8522208" y="3730752"/>
            <a:ext cx="2971800" cy="1828800"/>
          </a:xfrm>
          <a:prstGeom prst="roundRect">
            <a:avLst>
              <a:gd name="adj" fmla="val 5000"/>
            </a:avLst>
          </a:prstGeom>
          <a:solidFill>
            <a:srgbClr val="F6EEDC"/>
          </a:solidFill>
          <a:ln w="8890">
            <a:solidFill>
              <a:srgbClr val="E0C88F"/>
            </a:solidFill>
            <a:prstDash val="solid"/>
          </a:ln>
          <a:effectLst>
            <a:outerShdw sx="100000" sy="100000" kx="0" ky="0" algn="bl" rotWithShape="0" blurRad="19050" dist="50800" dir="2700000">
              <a:srgbClr val="AAB7AF">
                <a:alpha val="13000"/>
              </a:srgbClr>
            </a:outerShdw>
          </a:effectLst>
        </p:spPr>
      </p:sp>
      <p:sp>
        <p:nvSpPr>
          <p:cNvPr id="16" name="Text 12"/>
          <p:cNvSpPr/>
          <p:nvPr/>
        </p:nvSpPr>
        <p:spPr>
          <a:xfrm>
            <a:off x="8796528" y="3995928"/>
            <a:ext cx="1097280" cy="164592"/>
          </a:xfrm>
          <a:prstGeom prst="rect">
            <a:avLst/>
          </a:prstGeom>
          <a:noFill/>
          <a:ln/>
        </p:spPr>
        <p:txBody>
          <a:bodyPr wrap="square" lIns="0" tIns="0" rIns="0" bIns="0" rtlCol="0" anchor="ctr"/>
          <a:lstStyle/>
          <a:p>
            <a:pPr indent="0" marL="0">
              <a:buNone/>
            </a:pPr>
            <a:r>
              <a:rPr lang="en-US" sz="900" b="1" spc="70" kern="0" dirty="0">
                <a:solidFill>
                  <a:srgbClr val="C8A96A"/>
                </a:solidFill>
              </a:rPr>
              <a:t>EXPECTED</a:t>
            </a:r>
            <a:endParaRPr lang="en-US" sz="900" dirty="0"/>
          </a:p>
        </p:txBody>
      </p:sp>
      <p:sp>
        <p:nvSpPr>
          <p:cNvPr id="17" name="Text 13"/>
          <p:cNvSpPr/>
          <p:nvPr/>
        </p:nvSpPr>
        <p:spPr>
          <a:xfrm>
            <a:off x="8796528" y="4315968"/>
            <a:ext cx="2212848" cy="384048"/>
          </a:xfrm>
          <a:prstGeom prst="rect">
            <a:avLst/>
          </a:prstGeom>
          <a:noFill/>
          <a:ln/>
        </p:spPr>
        <p:txBody>
          <a:bodyPr wrap="square" lIns="0" tIns="0" rIns="0" bIns="0" rtlCol="0" anchor="ctr">
            <a:normAutofit/>
          </a:bodyPr>
          <a:lstStyle/>
          <a:p>
            <a:pPr indent="0" marL="0">
              <a:buNone/>
            </a:pPr>
            <a:r>
              <a:rPr lang="en-US" sz="1600" b="1" dirty="0">
                <a:solidFill>
                  <a:srgbClr val="14251D"/>
                </a:solidFill>
                <a:latin typeface="Georgia" pitchFamily="34" charset="0"/>
                <a:ea typeface="Georgia" pitchFamily="34" charset="-122"/>
                <a:cs typeface="Georgia" pitchFamily="34" charset="-120"/>
              </a:rPr>
              <a:t>Theoretical null-model values</a:t>
            </a:r>
            <a:endParaRPr lang="en-US" sz="1600" dirty="0"/>
          </a:p>
        </p:txBody>
      </p:sp>
      <p:sp>
        <p:nvSpPr>
          <p:cNvPr id="18" name="Text 14"/>
          <p:cNvSpPr/>
          <p:nvPr/>
        </p:nvSpPr>
        <p:spPr>
          <a:xfrm>
            <a:off x="8796528" y="4882896"/>
            <a:ext cx="2176272" cy="365760"/>
          </a:xfrm>
          <a:prstGeom prst="rect">
            <a:avLst/>
          </a:prstGeom>
          <a:noFill/>
          <a:ln/>
        </p:spPr>
        <p:txBody>
          <a:bodyPr wrap="square" lIns="0" tIns="0" rIns="0" bIns="0" rtlCol="0" anchor="ctr">
            <a:normAutofit/>
          </a:bodyPr>
          <a:lstStyle/>
          <a:p>
            <a:pPr indent="0" marL="0">
              <a:buNone/>
            </a:pPr>
            <a:r>
              <a:rPr lang="en-US" sz="1150" dirty="0">
                <a:solidFill>
                  <a:srgbClr val="65736B"/>
                </a:solidFill>
              </a:rPr>
              <a:t>Decimals are correct; they are not fractional real groups.</a:t>
            </a:r>
            <a:endParaRPr lang="en-US" sz="1150" dirty="0"/>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4.8 • ANALYSIS 7</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Region × formal recognition</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Regional variation has the largest geographic recognition effect in the module.</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sp>
        <p:nvSpPr>
          <p:cNvPr id="8" name="Shape 5"/>
          <p:cNvSpPr/>
          <p:nvPr/>
        </p:nvSpPr>
        <p:spPr>
          <a:xfrm>
            <a:off x="466344" y="1499616"/>
            <a:ext cx="6793992" cy="4553712"/>
          </a:xfrm>
          <a:prstGeom prst="roundRect">
            <a:avLst>
              <a:gd name="adj" fmla="val 2008"/>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pic>
        <p:nvPicPr>
          <p:cNvPr id="9" name="Image 0" descr="C:\Users\mossa\OneDrive\Documents\مشروع التخرج\docs\chapter4-screenshots\27-analysis-7-result.png">    </p:cNvPr>
          <p:cNvPicPr>
            <a:picLocks noChangeAspect="1"/>
          </p:cNvPicPr>
          <p:nvPr/>
        </p:nvPicPr>
        <p:blipFill>
          <a:blip r:embed="rId1"/>
          <a:stretch>
            <a:fillRect/>
          </a:stretch>
        </p:blipFill>
        <p:spPr>
          <a:xfrm>
            <a:off x="638695" y="1536192"/>
            <a:ext cx="6449291" cy="4480560"/>
          </a:xfrm>
          <a:prstGeom prst="rect">
            <a:avLst/>
          </a:prstGeom>
        </p:spPr>
      </p:pic>
      <p:sp>
        <p:nvSpPr>
          <p:cNvPr id="10" name="Text 6"/>
          <p:cNvSpPr/>
          <p:nvPr/>
        </p:nvSpPr>
        <p:spPr>
          <a:xfrm>
            <a:off x="502920" y="6071616"/>
            <a:ext cx="6720840" cy="219456"/>
          </a:xfrm>
          <a:prstGeom prst="rect">
            <a:avLst/>
          </a:prstGeom>
          <a:noFill/>
          <a:ln/>
        </p:spPr>
        <p:txBody>
          <a:bodyPr wrap="square" lIns="0" tIns="0" rIns="0" bIns="0" rtlCol="0" anchor="ctr">
            <a:normAutofit/>
          </a:bodyPr>
          <a:lstStyle/>
          <a:p>
            <a:pPr algn="ctr" indent="0" marL="0">
              <a:buNone/>
            </a:pPr>
            <a:r>
              <a:rPr lang="en-US" sz="900" i="1" dirty="0">
                <a:solidFill>
                  <a:srgbClr val="65736B"/>
                </a:solidFill>
                <a:latin typeface="Aptos" pitchFamily="34" charset="0"/>
                <a:ea typeface="Aptos" pitchFamily="34" charset="-122"/>
                <a:cs typeface="Aptos" pitchFamily="34" charset="-120"/>
              </a:rPr>
              <a:t>Figure 4.19: Regional Recognition Statistical Result</a:t>
            </a:r>
            <a:endParaRPr lang="en-US" sz="900" dirty="0"/>
          </a:p>
        </p:txBody>
      </p:sp>
      <p:sp>
        <p:nvSpPr>
          <p:cNvPr id="11" name="Shape 7"/>
          <p:cNvSpPr/>
          <p:nvPr/>
        </p:nvSpPr>
        <p:spPr>
          <a:xfrm>
            <a:off x="7498080" y="1682496"/>
            <a:ext cx="1920240"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12" name="Shape 8"/>
          <p:cNvSpPr/>
          <p:nvPr/>
        </p:nvSpPr>
        <p:spPr>
          <a:xfrm>
            <a:off x="7498080" y="1682496"/>
            <a:ext cx="54864" cy="777240"/>
          </a:xfrm>
          <a:prstGeom prst="rect">
            <a:avLst/>
          </a:prstGeom>
          <a:solidFill>
            <a:srgbClr val="123524"/>
          </a:solidFill>
          <a:ln w="12700">
            <a:solidFill>
              <a:srgbClr val="123524"/>
            </a:solidFill>
            <a:prstDash val="solid"/>
          </a:ln>
        </p:spPr>
      </p:sp>
      <p:sp>
        <p:nvSpPr>
          <p:cNvPr id="13" name="Text 9"/>
          <p:cNvSpPr/>
          <p:nvPr/>
        </p:nvSpPr>
        <p:spPr>
          <a:xfrm>
            <a:off x="7662672" y="1801368"/>
            <a:ext cx="1645920"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CHI-SQUARE</a:t>
            </a:r>
            <a:endParaRPr lang="en-US" sz="780" dirty="0"/>
          </a:p>
        </p:txBody>
      </p:sp>
      <p:sp>
        <p:nvSpPr>
          <p:cNvPr id="14" name="Text 10"/>
          <p:cNvSpPr/>
          <p:nvPr/>
        </p:nvSpPr>
        <p:spPr>
          <a:xfrm>
            <a:off x="7662672" y="2002536"/>
            <a:ext cx="1645920"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93.836</a:t>
            </a:r>
            <a:endParaRPr lang="en-US" sz="1800" dirty="0"/>
          </a:p>
        </p:txBody>
      </p:sp>
      <p:sp>
        <p:nvSpPr>
          <p:cNvPr id="15" name="Shape 11"/>
          <p:cNvSpPr/>
          <p:nvPr/>
        </p:nvSpPr>
        <p:spPr>
          <a:xfrm>
            <a:off x="9619488" y="1682496"/>
            <a:ext cx="1920240"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16" name="Shape 12"/>
          <p:cNvSpPr/>
          <p:nvPr/>
        </p:nvSpPr>
        <p:spPr>
          <a:xfrm>
            <a:off x="9619488" y="1682496"/>
            <a:ext cx="54864" cy="777240"/>
          </a:xfrm>
          <a:prstGeom prst="rect">
            <a:avLst/>
          </a:prstGeom>
          <a:solidFill>
            <a:srgbClr val="C8A96A"/>
          </a:solidFill>
          <a:ln w="12700">
            <a:solidFill>
              <a:srgbClr val="C8A96A"/>
            </a:solidFill>
            <a:prstDash val="solid"/>
          </a:ln>
        </p:spPr>
      </p:sp>
      <p:sp>
        <p:nvSpPr>
          <p:cNvPr id="17" name="Text 13"/>
          <p:cNvSpPr/>
          <p:nvPr/>
        </p:nvSpPr>
        <p:spPr>
          <a:xfrm>
            <a:off x="9784080" y="1801368"/>
            <a:ext cx="1645920"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DF</a:t>
            </a:r>
            <a:endParaRPr lang="en-US" sz="780" dirty="0"/>
          </a:p>
        </p:txBody>
      </p:sp>
      <p:sp>
        <p:nvSpPr>
          <p:cNvPr id="18" name="Text 14"/>
          <p:cNvSpPr/>
          <p:nvPr/>
        </p:nvSpPr>
        <p:spPr>
          <a:xfrm>
            <a:off x="9784080" y="2002536"/>
            <a:ext cx="1645920"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6</a:t>
            </a:r>
            <a:endParaRPr lang="en-US" sz="1800" dirty="0"/>
          </a:p>
        </p:txBody>
      </p:sp>
      <p:sp>
        <p:nvSpPr>
          <p:cNvPr id="19" name="Shape 15"/>
          <p:cNvSpPr/>
          <p:nvPr/>
        </p:nvSpPr>
        <p:spPr>
          <a:xfrm>
            <a:off x="7498080" y="2706624"/>
            <a:ext cx="1920240"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20" name="Shape 16"/>
          <p:cNvSpPr/>
          <p:nvPr/>
        </p:nvSpPr>
        <p:spPr>
          <a:xfrm>
            <a:off x="7498080" y="2706624"/>
            <a:ext cx="54864" cy="777240"/>
          </a:xfrm>
          <a:prstGeom prst="rect">
            <a:avLst/>
          </a:prstGeom>
          <a:solidFill>
            <a:srgbClr val="123524"/>
          </a:solidFill>
          <a:ln w="12700">
            <a:solidFill>
              <a:srgbClr val="123524"/>
            </a:solidFill>
            <a:prstDash val="solid"/>
          </a:ln>
        </p:spPr>
      </p:sp>
      <p:sp>
        <p:nvSpPr>
          <p:cNvPr id="21" name="Text 17"/>
          <p:cNvSpPr/>
          <p:nvPr/>
        </p:nvSpPr>
        <p:spPr>
          <a:xfrm>
            <a:off x="7662672" y="2825496"/>
            <a:ext cx="1645920"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P-VALUE</a:t>
            </a:r>
            <a:endParaRPr lang="en-US" sz="780" dirty="0"/>
          </a:p>
        </p:txBody>
      </p:sp>
      <p:sp>
        <p:nvSpPr>
          <p:cNvPr id="22" name="Text 18"/>
          <p:cNvSpPr/>
          <p:nvPr/>
        </p:nvSpPr>
        <p:spPr>
          <a:xfrm>
            <a:off x="7662672" y="3026664"/>
            <a:ext cx="1645920"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&lt; .001</a:t>
            </a:r>
            <a:endParaRPr lang="en-US" sz="1800" dirty="0"/>
          </a:p>
        </p:txBody>
      </p:sp>
      <p:sp>
        <p:nvSpPr>
          <p:cNvPr id="23" name="Shape 19"/>
          <p:cNvSpPr/>
          <p:nvPr/>
        </p:nvSpPr>
        <p:spPr>
          <a:xfrm>
            <a:off x="9619488" y="2706624"/>
            <a:ext cx="1920240"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24" name="Shape 20"/>
          <p:cNvSpPr/>
          <p:nvPr/>
        </p:nvSpPr>
        <p:spPr>
          <a:xfrm>
            <a:off x="9619488" y="2706624"/>
            <a:ext cx="54864" cy="777240"/>
          </a:xfrm>
          <a:prstGeom prst="rect">
            <a:avLst/>
          </a:prstGeom>
          <a:solidFill>
            <a:srgbClr val="C8A96A"/>
          </a:solidFill>
          <a:ln w="12700">
            <a:solidFill>
              <a:srgbClr val="C8A96A"/>
            </a:solidFill>
            <a:prstDash val="solid"/>
          </a:ln>
        </p:spPr>
      </p:sp>
      <p:sp>
        <p:nvSpPr>
          <p:cNvPr id="25" name="Text 21"/>
          <p:cNvSpPr/>
          <p:nvPr/>
        </p:nvSpPr>
        <p:spPr>
          <a:xfrm>
            <a:off x="9784080" y="2825496"/>
            <a:ext cx="1645920"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CRAMER'S V</a:t>
            </a:r>
            <a:endParaRPr lang="en-US" sz="780" dirty="0"/>
          </a:p>
        </p:txBody>
      </p:sp>
      <p:sp>
        <p:nvSpPr>
          <p:cNvPr id="26" name="Text 22"/>
          <p:cNvSpPr/>
          <p:nvPr/>
        </p:nvSpPr>
        <p:spPr>
          <a:xfrm>
            <a:off x="9784080" y="3026664"/>
            <a:ext cx="1645920"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0.301</a:t>
            </a:r>
            <a:endParaRPr lang="en-US" sz="1800" dirty="0"/>
          </a:p>
        </p:txBody>
      </p:sp>
      <p:sp>
        <p:nvSpPr>
          <p:cNvPr id="27" name="Shape 23"/>
          <p:cNvSpPr/>
          <p:nvPr/>
        </p:nvSpPr>
        <p:spPr>
          <a:xfrm>
            <a:off x="7498080" y="3730752"/>
            <a:ext cx="1920240"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28" name="Shape 24"/>
          <p:cNvSpPr/>
          <p:nvPr/>
        </p:nvSpPr>
        <p:spPr>
          <a:xfrm>
            <a:off x="7498080" y="3730752"/>
            <a:ext cx="54864" cy="777240"/>
          </a:xfrm>
          <a:prstGeom prst="rect">
            <a:avLst/>
          </a:prstGeom>
          <a:solidFill>
            <a:srgbClr val="123524"/>
          </a:solidFill>
          <a:ln w="12700">
            <a:solidFill>
              <a:srgbClr val="123524"/>
            </a:solidFill>
            <a:prstDash val="solid"/>
          </a:ln>
        </p:spPr>
      </p:sp>
      <p:sp>
        <p:nvSpPr>
          <p:cNvPr id="29" name="Text 25"/>
          <p:cNvSpPr/>
          <p:nvPr/>
        </p:nvSpPr>
        <p:spPr>
          <a:xfrm>
            <a:off x="7662672" y="3849624"/>
            <a:ext cx="1645920"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SAMPLE</a:t>
            </a:r>
            <a:endParaRPr lang="en-US" sz="780" dirty="0"/>
          </a:p>
        </p:txBody>
      </p:sp>
      <p:sp>
        <p:nvSpPr>
          <p:cNvPr id="30" name="Text 26"/>
          <p:cNvSpPr/>
          <p:nvPr/>
        </p:nvSpPr>
        <p:spPr>
          <a:xfrm>
            <a:off x="7662672" y="4050792"/>
            <a:ext cx="1645920"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1,033</a:t>
            </a:r>
            <a:endParaRPr lang="en-US" sz="1800" dirty="0"/>
          </a:p>
        </p:txBody>
      </p:sp>
      <p:sp>
        <p:nvSpPr>
          <p:cNvPr id="31" name="Shape 27"/>
          <p:cNvSpPr/>
          <p:nvPr/>
        </p:nvSpPr>
        <p:spPr>
          <a:xfrm>
            <a:off x="9619488" y="3730752"/>
            <a:ext cx="1920240"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32" name="Shape 28"/>
          <p:cNvSpPr/>
          <p:nvPr/>
        </p:nvSpPr>
        <p:spPr>
          <a:xfrm>
            <a:off x="9619488" y="3730752"/>
            <a:ext cx="54864" cy="777240"/>
          </a:xfrm>
          <a:prstGeom prst="rect">
            <a:avLst/>
          </a:prstGeom>
          <a:solidFill>
            <a:srgbClr val="C8A96A"/>
          </a:solidFill>
          <a:ln w="12700">
            <a:solidFill>
              <a:srgbClr val="C8A96A"/>
            </a:solidFill>
            <a:prstDash val="solid"/>
          </a:ln>
        </p:spPr>
      </p:sp>
      <p:sp>
        <p:nvSpPr>
          <p:cNvPr id="33" name="Text 29"/>
          <p:cNvSpPr/>
          <p:nvPr/>
        </p:nvSpPr>
        <p:spPr>
          <a:xfrm>
            <a:off x="9784080" y="3849624"/>
            <a:ext cx="1645920"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STRENGTH</a:t>
            </a:r>
            <a:endParaRPr lang="en-US" sz="780" dirty="0"/>
          </a:p>
        </p:txBody>
      </p:sp>
      <p:sp>
        <p:nvSpPr>
          <p:cNvPr id="34" name="Text 30"/>
          <p:cNvSpPr/>
          <p:nvPr/>
        </p:nvSpPr>
        <p:spPr>
          <a:xfrm>
            <a:off x="9784080" y="4050792"/>
            <a:ext cx="1645920"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moderate</a:t>
            </a:r>
            <a:endParaRPr lang="en-US" sz="1800" dirty="0"/>
          </a:p>
        </p:txBody>
      </p:sp>
      <p:sp>
        <p:nvSpPr>
          <p:cNvPr id="35" name="Shape 31"/>
          <p:cNvSpPr/>
          <p:nvPr/>
        </p:nvSpPr>
        <p:spPr>
          <a:xfrm>
            <a:off x="7498080" y="4828032"/>
            <a:ext cx="4041648" cy="987552"/>
          </a:xfrm>
          <a:prstGeom prst="roundRect">
            <a:avLst>
              <a:gd name="adj" fmla="val 9259"/>
            </a:avLst>
          </a:prstGeom>
          <a:solidFill>
            <a:srgbClr val="EAF1EC"/>
          </a:solidFill>
          <a:ln w="8890">
            <a:solidFill>
              <a:srgbClr val="C6D8CD"/>
            </a:solidFill>
            <a:prstDash val="solid"/>
          </a:ln>
          <a:effectLst>
            <a:outerShdw sx="100000" sy="100000" kx="0" ky="0" algn="bl" rotWithShape="0" blurRad="19050" dist="50800" dir="2700000">
              <a:srgbClr val="AAB7AF">
                <a:alpha val="13000"/>
              </a:srgbClr>
            </a:outerShdw>
          </a:effectLst>
        </p:spPr>
      </p:sp>
      <p:sp>
        <p:nvSpPr>
          <p:cNvPr id="36" name="Text 32"/>
          <p:cNvSpPr/>
          <p:nvPr/>
        </p:nvSpPr>
        <p:spPr>
          <a:xfrm>
            <a:off x="7735824" y="5020056"/>
            <a:ext cx="3566160" cy="457200"/>
          </a:xfrm>
          <a:prstGeom prst="rect">
            <a:avLst/>
          </a:prstGeom>
          <a:noFill/>
          <a:ln/>
        </p:spPr>
        <p:txBody>
          <a:bodyPr wrap="square" lIns="0" tIns="0" rIns="0" bIns="0" rtlCol="0" anchor="ctr">
            <a:normAutofit/>
          </a:bodyPr>
          <a:lstStyle/>
          <a:p>
            <a:pPr indent="0" marL="0">
              <a:buNone/>
            </a:pPr>
            <a:r>
              <a:rPr lang="en-US" sz="1100" b="1" dirty="0">
                <a:solidFill>
                  <a:srgbClr val="14251D"/>
                </a:solidFill>
              </a:rPr>
              <a:t>Highest: Middle East &amp; North Africa (91.3%)</a:t>
            </a:r>
            <a:endParaRPr lang="en-US" sz="1100" dirty="0"/>
          </a:p>
          <a:p>
            <a:pPr indent="0" marL="0">
              <a:buNone/>
            </a:pPr>
            <a:r>
              <a:rPr lang="en-US" sz="1100" b="1" dirty="0">
                <a:solidFill>
                  <a:srgbClr val="14251D"/>
                </a:solidFill>
              </a:rPr>
              <a:t>Lowest: South Asia (40.4%)</a:t>
            </a:r>
            <a:endParaRPr lang="en-US" sz="1100" dirty="0"/>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4.8 • DYNAMIC ANALYSIS ENGINE</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Researchers can select compatible variable pairs</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The engine automatically prepares complete cases and chooses the statistical method.</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sp>
        <p:nvSpPr>
          <p:cNvPr id="8" name="Shape 5"/>
          <p:cNvSpPr/>
          <p:nvPr/>
        </p:nvSpPr>
        <p:spPr>
          <a:xfrm>
            <a:off x="466344" y="1499616"/>
            <a:ext cx="7114032" cy="4553712"/>
          </a:xfrm>
          <a:prstGeom prst="roundRect">
            <a:avLst>
              <a:gd name="adj" fmla="val 2008"/>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pic>
        <p:nvPicPr>
          <p:cNvPr id="9" name="Image 0" descr="C:\Users\mossa\OneDrive\Documents\مشروع التخرج\docs\chapter4-screenshots\29-analysis-8-result.png">    </p:cNvPr>
          <p:cNvPicPr>
            <a:picLocks noChangeAspect="1"/>
          </p:cNvPicPr>
          <p:nvPr/>
        </p:nvPicPr>
        <p:blipFill>
          <a:blip r:embed="rId1"/>
          <a:stretch>
            <a:fillRect/>
          </a:stretch>
        </p:blipFill>
        <p:spPr>
          <a:xfrm>
            <a:off x="798715" y="1536192"/>
            <a:ext cx="6449291" cy="4480560"/>
          </a:xfrm>
          <a:prstGeom prst="rect">
            <a:avLst/>
          </a:prstGeom>
        </p:spPr>
      </p:pic>
      <p:sp>
        <p:nvSpPr>
          <p:cNvPr id="10" name="Text 6"/>
          <p:cNvSpPr/>
          <p:nvPr/>
        </p:nvSpPr>
        <p:spPr>
          <a:xfrm>
            <a:off x="502920" y="6071616"/>
            <a:ext cx="7040880" cy="219456"/>
          </a:xfrm>
          <a:prstGeom prst="rect">
            <a:avLst/>
          </a:prstGeom>
          <a:noFill/>
          <a:ln/>
        </p:spPr>
        <p:txBody>
          <a:bodyPr wrap="square" lIns="0" tIns="0" rIns="0" bIns="0" rtlCol="0" anchor="ctr">
            <a:normAutofit/>
          </a:bodyPr>
          <a:lstStyle/>
          <a:p>
            <a:pPr algn="ctr" indent="0" marL="0">
              <a:buNone/>
            </a:pPr>
            <a:r>
              <a:rPr lang="en-US" sz="900" i="1" dirty="0">
                <a:solidFill>
                  <a:srgbClr val="65736B"/>
                </a:solidFill>
                <a:latin typeface="Aptos" pitchFamily="34" charset="0"/>
                <a:ea typeface="Aptos" pitchFamily="34" charset="-122"/>
                <a:cs typeface="Aptos" pitchFamily="34" charset="-120"/>
              </a:rPr>
              <a:t>Figure 4.20: Dynamic Continent × Formal Recognition Analysis</a:t>
            </a:r>
            <a:endParaRPr lang="en-US" sz="900" dirty="0"/>
          </a:p>
        </p:txBody>
      </p:sp>
      <p:sp>
        <p:nvSpPr>
          <p:cNvPr id="11" name="Shape 7"/>
          <p:cNvSpPr/>
          <p:nvPr/>
        </p:nvSpPr>
        <p:spPr>
          <a:xfrm>
            <a:off x="7818120" y="1700784"/>
            <a:ext cx="3611880" cy="4096512"/>
          </a:xfrm>
          <a:prstGeom prst="roundRect">
            <a:avLst>
              <a:gd name="adj" fmla="val 2532"/>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12" name="Text 8"/>
          <p:cNvSpPr/>
          <p:nvPr/>
        </p:nvSpPr>
        <p:spPr>
          <a:xfrm>
            <a:off x="8119872" y="1975104"/>
            <a:ext cx="2926080" cy="274320"/>
          </a:xfrm>
          <a:prstGeom prst="rect">
            <a:avLst/>
          </a:prstGeom>
          <a:noFill/>
          <a:ln/>
        </p:spPr>
        <p:txBody>
          <a:bodyPr wrap="square" lIns="0" tIns="0" rIns="0" bIns="0" rtlCol="0" anchor="ctr"/>
          <a:lstStyle/>
          <a:p>
            <a:pPr indent="0" marL="0">
              <a:buNone/>
            </a:pPr>
            <a:r>
              <a:rPr lang="en-US" sz="1900" b="1" dirty="0">
                <a:solidFill>
                  <a:srgbClr val="123524"/>
                </a:solidFill>
                <a:latin typeface="Georgia" pitchFamily="34" charset="0"/>
                <a:ea typeface="Georgia" pitchFamily="34" charset="-122"/>
                <a:cs typeface="Georgia" pitchFamily="34" charset="-120"/>
              </a:rPr>
              <a:t>Verified sample run</a:t>
            </a:r>
            <a:endParaRPr lang="en-US" sz="1900" dirty="0"/>
          </a:p>
        </p:txBody>
      </p:sp>
      <p:sp>
        <p:nvSpPr>
          <p:cNvPr id="13" name="Text 9"/>
          <p:cNvSpPr/>
          <p:nvPr/>
        </p:nvSpPr>
        <p:spPr>
          <a:xfrm>
            <a:off x="8110728" y="2450592"/>
            <a:ext cx="2852928" cy="2331720"/>
          </a:xfrm>
          <a:prstGeom prst="rect">
            <a:avLst/>
          </a:prstGeom>
          <a:noFill/>
          <a:ln/>
        </p:spPr>
        <p:txBody>
          <a:bodyPr wrap="square" lIns="25400" tIns="25400" rIns="25400" bIns="25400" rtlCol="0" anchor="ctr">
            <a:normAutofit/>
          </a:bodyPr>
          <a:lstStyle/>
          <a:p>
            <a:pPr marL="177800" indent="-177800">
              <a:buSzPct val="100000"/>
              <a:buChar char="•"/>
            </a:pPr>
            <a:r>
              <a:rPr lang="en-US" sz="1250" dirty="0">
                <a:solidFill>
                  <a:srgbClr val="14251D"/>
                </a:solidFill>
                <a:latin typeface="Aptos" pitchFamily="34" charset="0"/>
                <a:ea typeface="Aptos" pitchFamily="34" charset="-122"/>
                <a:cs typeface="Aptos" pitchFamily="34" charset="-120"/>
              </a:rPr>
              <a:t>Variable X: Continent</a:t>
            </a:r>
            <a:endParaRPr lang="en-US" sz="1250" dirty="0"/>
          </a:p>
          <a:p>
            <a:pPr marL="177800" indent="-177800">
              <a:buSzPct val="100000"/>
              <a:buChar char="•"/>
            </a:pPr>
            <a:r>
              <a:rPr lang="en-US" sz="1250" dirty="0">
                <a:solidFill>
                  <a:srgbClr val="14251D"/>
                </a:solidFill>
                <a:latin typeface="Aptos" pitchFamily="34" charset="0"/>
                <a:ea typeface="Aptos" pitchFamily="34" charset="-122"/>
                <a:cs typeface="Aptos" pitchFamily="34" charset="-120"/>
              </a:rPr>
              <a:t>Variable Y: Formal Recognition</a:t>
            </a:r>
            <a:endParaRPr lang="en-US" sz="1250" dirty="0"/>
          </a:p>
          <a:p>
            <a:pPr marL="177800" indent="-177800">
              <a:buSzPct val="100000"/>
              <a:buChar char="•"/>
            </a:pPr>
            <a:r>
              <a:rPr lang="en-US" sz="1250" dirty="0">
                <a:solidFill>
                  <a:srgbClr val="14251D"/>
                </a:solidFill>
                <a:latin typeface="Aptos" pitchFamily="34" charset="0"/>
                <a:ea typeface="Aptos" pitchFamily="34" charset="-122"/>
                <a:cs typeface="Aptos" pitchFamily="34" charset="-120"/>
              </a:rPr>
              <a:t>Selected test: Chi-Square</a:t>
            </a:r>
            <a:endParaRPr lang="en-US" sz="1250" dirty="0"/>
          </a:p>
          <a:p>
            <a:pPr marL="177800" indent="-177800">
              <a:buSzPct val="100000"/>
              <a:buChar char="•"/>
            </a:pPr>
            <a:r>
              <a:rPr lang="en-US" sz="1250" dirty="0">
                <a:solidFill>
                  <a:srgbClr val="14251D"/>
                </a:solidFill>
                <a:latin typeface="Aptos" pitchFamily="34" charset="0"/>
                <a:ea typeface="Aptos" pitchFamily="34" charset="-122"/>
                <a:cs typeface="Aptos" pitchFamily="34" charset="-120"/>
              </a:rPr>
              <a:t>N = 1,033; 524 excluded</a:t>
            </a:r>
            <a:endParaRPr lang="en-US" sz="1250" dirty="0"/>
          </a:p>
          <a:p>
            <a:pPr marL="177800" indent="-177800">
              <a:buSzPct val="100000"/>
              <a:buChar char="•"/>
            </a:pPr>
            <a:r>
              <a:rPr lang="en-US" sz="1250" dirty="0">
                <a:solidFill>
                  <a:srgbClr val="14251D"/>
                </a:solidFill>
                <a:latin typeface="Aptos" pitchFamily="34" charset="0"/>
                <a:ea typeface="Aptos" pitchFamily="34" charset="-122"/>
                <a:cs typeface="Aptos" pitchFamily="34" charset="-120"/>
              </a:rPr>
              <a:t>χ²(4) = 70.837; p &lt; .001</a:t>
            </a:r>
            <a:endParaRPr lang="en-US" sz="1250" dirty="0"/>
          </a:p>
          <a:p>
            <a:pPr marL="177800" indent="-177800">
              <a:buSzPct val="100000"/>
              <a:buChar char="•"/>
            </a:pPr>
            <a:r>
              <a:rPr lang="en-US" sz="1250" dirty="0">
                <a:solidFill>
                  <a:srgbClr val="14251D"/>
                </a:solidFill>
                <a:latin typeface="Aptos" pitchFamily="34" charset="0"/>
                <a:ea typeface="Aptos" pitchFamily="34" charset="-122"/>
                <a:cs typeface="Aptos" pitchFamily="34" charset="-120"/>
              </a:rPr>
              <a:t>Cramer's V = .262 (weak)</a:t>
            </a:r>
            <a:endParaRPr lang="en-US" sz="1250" dirty="0"/>
          </a:p>
        </p:txBody>
      </p:sp>
      <p:sp>
        <p:nvSpPr>
          <p:cNvPr id="14" name="Shape 10"/>
          <p:cNvSpPr/>
          <p:nvPr/>
        </p:nvSpPr>
        <p:spPr>
          <a:xfrm>
            <a:off x="8019288" y="5138928"/>
            <a:ext cx="3200400" cy="438912"/>
          </a:xfrm>
          <a:prstGeom prst="roundRect">
            <a:avLst/>
          </a:prstGeom>
          <a:solidFill>
            <a:srgbClr val="F6EEDC"/>
          </a:solidFill>
          <a:ln w="10160">
            <a:solidFill>
              <a:srgbClr val="C8A96A"/>
            </a:solidFill>
            <a:prstDash val="solid"/>
          </a:ln>
        </p:spPr>
      </p:sp>
      <p:sp>
        <p:nvSpPr>
          <p:cNvPr id="15" name="Text 11"/>
          <p:cNvSpPr/>
          <p:nvPr/>
        </p:nvSpPr>
        <p:spPr>
          <a:xfrm>
            <a:off x="8174736" y="5239512"/>
            <a:ext cx="2889504" cy="201168"/>
          </a:xfrm>
          <a:prstGeom prst="rect">
            <a:avLst/>
          </a:prstGeom>
          <a:noFill/>
          <a:ln/>
        </p:spPr>
        <p:txBody>
          <a:bodyPr wrap="square" lIns="0" tIns="0" rIns="0" bIns="0" rtlCol="0" anchor="ctr">
            <a:normAutofit/>
          </a:bodyPr>
          <a:lstStyle/>
          <a:p>
            <a:pPr indent="0" marL="0">
              <a:buNone/>
            </a:pPr>
            <a:r>
              <a:rPr lang="en-US" sz="1050" b="1" dirty="0">
                <a:solidFill>
                  <a:srgbClr val="14251D"/>
                </a:solidFill>
                <a:latin typeface="Aptos" pitchFamily="34" charset="0"/>
                <a:ea typeface="Aptos" pitchFamily="34" charset="-122"/>
                <a:cs typeface="Aptos" pitchFamily="34" charset="-120"/>
              </a:rPr>
              <a:t>The engine complements predefined analyses; it does not change their methodology.</a:t>
            </a:r>
            <a:endParaRPr lang="en-US" sz="1050" dirty="0"/>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4.9 • STATISTICAL FINDINGS</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Verified findings at a glance</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Significance is reported together with effect size and the relevant complete-case sample.</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30352" y="1664208"/>
          <a:ext cx="11119104" cy="4160520"/>
        </p:xfrm>
        <a:graphic>
          <a:graphicData uri="http://schemas.openxmlformats.org/drawingml/2006/table">
            <a:tbl>
              <a:tblPr/>
              <a:tblGrid>
                <a:gridCol w="2011680"/>
                <a:gridCol w="1234440"/>
                <a:gridCol w="1005840"/>
                <a:gridCol w="713232"/>
                <a:gridCol w="1325880"/>
                <a:gridCol w="731520"/>
                <a:gridCol w="1143000"/>
              </a:tblGrid>
              <a:tr h="274320">
                <a:tc>
                  <a:txBody>
                    <a:bodyPr/>
                    <a:lstStyle/>
                    <a:p>
                      <a:pPr indent="0" marL="0">
                        <a:buNone/>
                      </a:pPr>
                      <a:r>
                        <a:rPr lang="en-US" sz="870" dirty="0">
                          <a:solidFill>
                            <a:srgbClr val="14251D"/>
                          </a:solidFill>
                          <a:latin typeface="Aptos" pitchFamily="34" charset="0"/>
                          <a:ea typeface="Aptos" pitchFamily="34" charset="-122"/>
                          <a:cs typeface="Aptos" pitchFamily="34" charset="-120"/>
                        </a:rPr>
                        <a:t>Analysis</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Test</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Statistic</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p</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Effect</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N</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Conclusion</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r h="274320">
                <a:tc>
                  <a:txBody>
                    <a:bodyPr/>
                    <a:lstStyle/>
                    <a:p>
                      <a:pPr indent="0" marL="0">
                        <a:buNone/>
                      </a:pPr>
                      <a:r>
                        <a:rPr lang="en-US" sz="870" dirty="0">
                          <a:solidFill>
                            <a:srgbClr val="14251D"/>
                          </a:solidFill>
                          <a:latin typeface="Aptos" pitchFamily="34" charset="0"/>
                          <a:ea typeface="Aptos" pitchFamily="34" charset="-122"/>
                          <a:cs typeface="Aptos" pitchFamily="34" charset="-120"/>
                        </a:rPr>
                        <a:t>King × Recognition</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Chi-Square</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74.664</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&lt; .001</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V=.269 weak</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1,033</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Significant</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r h="274320">
                <a:tc>
                  <a:txBody>
                    <a:bodyPr/>
                    <a:lstStyle/>
                    <a:p>
                      <a:pPr indent="0" marL="0">
                        <a:buNone/>
                      </a:pPr>
                      <a:r>
                        <a:rPr lang="en-US" sz="870" dirty="0">
                          <a:solidFill>
                            <a:srgbClr val="14251D"/>
                          </a:solidFill>
                          <a:latin typeface="Aptos" pitchFamily="34" charset="0"/>
                          <a:ea typeface="Aptos" pitchFamily="34" charset="-122"/>
                          <a:cs typeface="Aptos" pitchFamily="34" charset="-120"/>
                        </a:rPr>
                        <a:t>Chief × Land</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Chi-Square</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64.975</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&lt; .001</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V=.239 weak</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1,139</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Significant</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r h="274320">
                <a:tc>
                  <a:txBody>
                    <a:bodyPr/>
                    <a:lstStyle/>
                    <a:p>
                      <a:pPr indent="0" marL="0">
                        <a:buNone/>
                      </a:pPr>
                      <a:r>
                        <a:rPr lang="en-US" sz="870" dirty="0">
                          <a:solidFill>
                            <a:srgbClr val="14251D"/>
                          </a:solidFill>
                          <a:latin typeface="Aptos" pitchFamily="34" charset="0"/>
                          <a:ea typeface="Aptos" pitchFamily="34" charset="-122"/>
                          <a:cs typeface="Aptos" pitchFamily="34" charset="-120"/>
                        </a:rPr>
                        <a:t>Population × Recognition</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Mann–Whitney</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97,855.5</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&lt; .001</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r=.120 small</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907</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Significant</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r h="274320">
                <a:tc>
                  <a:txBody>
                    <a:bodyPr/>
                    <a:lstStyle/>
                    <a:p>
                      <a:pPr indent="0" marL="0">
                        <a:buNone/>
                      </a:pPr>
                      <a:r>
                        <a:rPr lang="en-US" sz="870" dirty="0">
                          <a:solidFill>
                            <a:srgbClr val="14251D"/>
                          </a:solidFill>
                          <a:latin typeface="Aptos" pitchFamily="34" charset="0"/>
                          <a:ea typeface="Aptos" pitchFamily="34" charset="-122"/>
                          <a:cs typeface="Aptos" pitchFamily="34" charset="-120"/>
                        </a:rPr>
                        <a:t>Population × Land</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Mann–Whitney</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110,623</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=.006</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r=.088 negligible</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993</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Significant</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r h="274320">
                <a:tc>
                  <a:txBody>
                    <a:bodyPr/>
                    <a:lstStyle/>
                    <a:p>
                      <a:pPr indent="0" marL="0">
                        <a:buNone/>
                      </a:pPr>
                      <a:r>
                        <a:rPr lang="en-US" sz="870" dirty="0">
                          <a:solidFill>
                            <a:srgbClr val="14251D"/>
                          </a:solidFill>
                          <a:latin typeface="Aptos" pitchFamily="34" charset="0"/>
                          <a:ea typeface="Aptos" pitchFamily="34" charset="-122"/>
                          <a:cs typeface="Aptos" pitchFamily="34" charset="-120"/>
                        </a:rPr>
                        <a:t>Continent × Leadership</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Chi-Square</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128.891</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&lt; .001</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V=.208 weak</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1,494*</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Significant</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r h="274320">
                <a:tc>
                  <a:txBody>
                    <a:bodyPr/>
                    <a:lstStyle/>
                    <a:p>
                      <a:pPr indent="0" marL="0">
                        <a:buNone/>
                      </a:pPr>
                      <a:r>
                        <a:rPr lang="en-US" sz="870" dirty="0">
                          <a:solidFill>
                            <a:srgbClr val="14251D"/>
                          </a:solidFill>
                          <a:latin typeface="Aptos" pitchFamily="34" charset="0"/>
                          <a:ea typeface="Aptos" pitchFamily="34" charset="-122"/>
                          <a:cs typeface="Aptos" pitchFamily="34" charset="-120"/>
                        </a:rPr>
                        <a:t>Continent × Recognition</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Chi-Square</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70.837</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&lt; .001</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V=.262 weak</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1,033</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Significant</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r h="274320">
                <a:tc>
                  <a:txBody>
                    <a:bodyPr/>
                    <a:lstStyle/>
                    <a:p>
                      <a:pPr indent="0" marL="0">
                        <a:buNone/>
                      </a:pPr>
                      <a:r>
                        <a:rPr lang="en-US" sz="870" dirty="0">
                          <a:solidFill>
                            <a:srgbClr val="14251D"/>
                          </a:solidFill>
                          <a:latin typeface="Aptos" pitchFamily="34" charset="0"/>
                          <a:ea typeface="Aptos" pitchFamily="34" charset="-122"/>
                          <a:cs typeface="Aptos" pitchFamily="34" charset="-120"/>
                        </a:rPr>
                        <a:t>Region × Recognition</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Chi-Square</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93.836</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&lt; .001</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V=.301 moderate</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1,033</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Significant</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bl>
          </a:graphicData>
        </a:graphic>
      </p:graphicFrame>
      <p:sp>
        <p:nvSpPr>
          <p:cNvPr id="9" name="Text 5"/>
          <p:cNvSpPr/>
          <p:nvPr/>
        </p:nvSpPr>
        <p:spPr>
          <a:xfrm>
            <a:off x="713232" y="5925312"/>
            <a:ext cx="10789920" cy="256032"/>
          </a:xfrm>
          <a:prstGeom prst="rect">
            <a:avLst/>
          </a:prstGeom>
          <a:noFill/>
          <a:ln/>
        </p:spPr>
        <p:txBody>
          <a:bodyPr wrap="square" lIns="0" tIns="0" rIns="0" bIns="0" rtlCol="0" anchor="ctr">
            <a:normAutofit/>
          </a:bodyPr>
          <a:lstStyle/>
          <a:p>
            <a:pPr indent="0" marL="0">
              <a:buNone/>
            </a:pPr>
            <a:r>
              <a:rPr lang="en-US" sz="930" i="1" dirty="0">
                <a:solidFill>
                  <a:srgbClr val="65736B"/>
                </a:solidFill>
              </a:rPr>
              <a:t>* Leadership indicators can overlap; N = 1,494 counts complete leadership occurrences, while the dataset contains 1,557 group rows.</a:t>
            </a:r>
            <a:endParaRPr lang="en-US" sz="930" dirty="0"/>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4.9 • STATISTICAL FINDINGS</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Effect size prevents overstatement</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A low p-value can coexist with a weak practical relationship.</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sp>
        <p:nvSpPr>
          <p:cNvPr id="8" name="Text 5"/>
          <p:cNvSpPr/>
          <p:nvPr/>
        </p:nvSpPr>
        <p:spPr>
          <a:xfrm>
            <a:off x="658368" y="1737360"/>
            <a:ext cx="1828800" cy="210312"/>
          </a:xfrm>
          <a:prstGeom prst="rect">
            <a:avLst/>
          </a:prstGeom>
          <a:noFill/>
          <a:ln/>
        </p:spPr>
        <p:txBody>
          <a:bodyPr wrap="square" lIns="0" tIns="0" rIns="0" bIns="0" rtlCol="0" anchor="ctr"/>
          <a:lstStyle/>
          <a:p>
            <a:pPr indent="0" marL="0">
              <a:buNone/>
            </a:pPr>
            <a:r>
              <a:rPr lang="en-US" sz="1000" b="1" spc="90" kern="0" dirty="0">
                <a:solidFill>
                  <a:srgbClr val="C8A96A"/>
                </a:solidFill>
              </a:rPr>
              <a:t>CRAMER'S V</a:t>
            </a:r>
            <a:endParaRPr lang="en-US" sz="1000" dirty="0"/>
          </a:p>
        </p:txBody>
      </p:sp>
      <p:sp>
        <p:nvSpPr>
          <p:cNvPr id="9" name="Shape 6"/>
          <p:cNvSpPr/>
          <p:nvPr/>
        </p:nvSpPr>
        <p:spPr>
          <a:xfrm>
            <a:off x="685800" y="2176272"/>
            <a:ext cx="2029968" cy="512064"/>
          </a:xfrm>
          <a:prstGeom prst="rect">
            <a:avLst/>
          </a:prstGeom>
          <a:solidFill>
            <a:srgbClr val="DDE5E0"/>
          </a:solidFill>
          <a:ln w="12700">
            <a:solidFill>
              <a:srgbClr val="FFFFFF"/>
            </a:solidFill>
            <a:prstDash val="solid"/>
          </a:ln>
        </p:spPr>
      </p:sp>
      <p:sp>
        <p:nvSpPr>
          <p:cNvPr id="10" name="Text 7"/>
          <p:cNvSpPr/>
          <p:nvPr/>
        </p:nvSpPr>
        <p:spPr>
          <a:xfrm>
            <a:off x="758952" y="2340864"/>
            <a:ext cx="1874520" cy="164592"/>
          </a:xfrm>
          <a:prstGeom prst="rect">
            <a:avLst/>
          </a:prstGeom>
          <a:noFill/>
          <a:ln/>
        </p:spPr>
        <p:txBody>
          <a:bodyPr wrap="square" lIns="0" tIns="0" rIns="0" bIns="0" rtlCol="0" anchor="ctr"/>
          <a:lstStyle/>
          <a:p>
            <a:pPr algn="ctr" indent="0" marL="0">
              <a:buNone/>
            </a:pPr>
            <a:r>
              <a:rPr lang="en-US" sz="1000" b="1" dirty="0">
                <a:solidFill>
                  <a:srgbClr val="14251D"/>
                </a:solidFill>
              </a:rPr>
              <a:t>Very weak</a:t>
            </a:r>
            <a:endParaRPr lang="en-US" sz="1000" dirty="0"/>
          </a:p>
        </p:txBody>
      </p:sp>
      <p:sp>
        <p:nvSpPr>
          <p:cNvPr id="11" name="Text 8"/>
          <p:cNvSpPr/>
          <p:nvPr/>
        </p:nvSpPr>
        <p:spPr>
          <a:xfrm>
            <a:off x="868680" y="2798064"/>
            <a:ext cx="1645920" cy="164592"/>
          </a:xfrm>
          <a:prstGeom prst="rect">
            <a:avLst/>
          </a:prstGeom>
          <a:noFill/>
          <a:ln/>
        </p:spPr>
        <p:txBody>
          <a:bodyPr wrap="square" lIns="0" tIns="0" rIns="0" bIns="0" rtlCol="0" anchor="ctr"/>
          <a:lstStyle/>
          <a:p>
            <a:pPr algn="ctr" indent="0" marL="0">
              <a:buNone/>
            </a:pPr>
            <a:r>
              <a:rPr lang="en-US" sz="900" dirty="0">
                <a:solidFill>
                  <a:srgbClr val="65736B"/>
                </a:solidFill>
              </a:rPr>
              <a:t>0.0–0.1</a:t>
            </a:r>
            <a:endParaRPr lang="en-US" sz="900" dirty="0"/>
          </a:p>
        </p:txBody>
      </p:sp>
      <p:sp>
        <p:nvSpPr>
          <p:cNvPr id="12" name="Shape 9"/>
          <p:cNvSpPr/>
          <p:nvPr/>
        </p:nvSpPr>
        <p:spPr>
          <a:xfrm>
            <a:off x="2862072" y="2176272"/>
            <a:ext cx="2029968" cy="512064"/>
          </a:xfrm>
          <a:prstGeom prst="rect">
            <a:avLst/>
          </a:prstGeom>
          <a:solidFill>
            <a:srgbClr val="AAC2B4"/>
          </a:solidFill>
          <a:ln w="12700">
            <a:solidFill>
              <a:srgbClr val="FFFFFF"/>
            </a:solidFill>
            <a:prstDash val="solid"/>
          </a:ln>
        </p:spPr>
      </p:sp>
      <p:sp>
        <p:nvSpPr>
          <p:cNvPr id="13" name="Text 10"/>
          <p:cNvSpPr/>
          <p:nvPr/>
        </p:nvSpPr>
        <p:spPr>
          <a:xfrm>
            <a:off x="2935224" y="2340864"/>
            <a:ext cx="1874520" cy="164592"/>
          </a:xfrm>
          <a:prstGeom prst="rect">
            <a:avLst/>
          </a:prstGeom>
          <a:noFill/>
          <a:ln/>
        </p:spPr>
        <p:txBody>
          <a:bodyPr wrap="square" lIns="0" tIns="0" rIns="0" bIns="0" rtlCol="0" anchor="ctr"/>
          <a:lstStyle/>
          <a:p>
            <a:pPr algn="ctr" indent="0" marL="0">
              <a:buNone/>
            </a:pPr>
            <a:r>
              <a:rPr lang="en-US" sz="1000" b="1" dirty="0">
                <a:solidFill>
                  <a:srgbClr val="14251D"/>
                </a:solidFill>
              </a:rPr>
              <a:t>Weak</a:t>
            </a:r>
            <a:endParaRPr lang="en-US" sz="1000" dirty="0"/>
          </a:p>
        </p:txBody>
      </p:sp>
      <p:sp>
        <p:nvSpPr>
          <p:cNvPr id="14" name="Text 11"/>
          <p:cNvSpPr/>
          <p:nvPr/>
        </p:nvSpPr>
        <p:spPr>
          <a:xfrm>
            <a:off x="3044952" y="2798064"/>
            <a:ext cx="1645920" cy="164592"/>
          </a:xfrm>
          <a:prstGeom prst="rect">
            <a:avLst/>
          </a:prstGeom>
          <a:noFill/>
          <a:ln/>
        </p:spPr>
        <p:txBody>
          <a:bodyPr wrap="square" lIns="0" tIns="0" rIns="0" bIns="0" rtlCol="0" anchor="ctr"/>
          <a:lstStyle/>
          <a:p>
            <a:pPr algn="ctr" indent="0" marL="0">
              <a:buNone/>
            </a:pPr>
            <a:r>
              <a:rPr lang="en-US" sz="900" dirty="0">
                <a:solidFill>
                  <a:srgbClr val="65736B"/>
                </a:solidFill>
              </a:rPr>
              <a:t>0.1–0.3</a:t>
            </a:r>
            <a:endParaRPr lang="en-US" sz="900" dirty="0"/>
          </a:p>
        </p:txBody>
      </p:sp>
      <p:sp>
        <p:nvSpPr>
          <p:cNvPr id="15" name="Shape 12"/>
          <p:cNvSpPr/>
          <p:nvPr/>
        </p:nvSpPr>
        <p:spPr>
          <a:xfrm>
            <a:off x="5038344" y="2176272"/>
            <a:ext cx="2029968" cy="512064"/>
          </a:xfrm>
          <a:prstGeom prst="rect">
            <a:avLst/>
          </a:prstGeom>
          <a:solidFill>
            <a:srgbClr val="6F9B82"/>
          </a:solidFill>
          <a:ln w="12700">
            <a:solidFill>
              <a:srgbClr val="FFFFFF"/>
            </a:solidFill>
            <a:prstDash val="solid"/>
          </a:ln>
        </p:spPr>
      </p:sp>
      <p:sp>
        <p:nvSpPr>
          <p:cNvPr id="16" name="Text 13"/>
          <p:cNvSpPr/>
          <p:nvPr/>
        </p:nvSpPr>
        <p:spPr>
          <a:xfrm>
            <a:off x="5111496" y="2340864"/>
            <a:ext cx="1874520" cy="164592"/>
          </a:xfrm>
          <a:prstGeom prst="rect">
            <a:avLst/>
          </a:prstGeom>
          <a:noFill/>
          <a:ln/>
        </p:spPr>
        <p:txBody>
          <a:bodyPr wrap="square" lIns="0" tIns="0" rIns="0" bIns="0" rtlCol="0" anchor="ctr"/>
          <a:lstStyle/>
          <a:p>
            <a:pPr algn="ctr" indent="0" marL="0">
              <a:buNone/>
            </a:pPr>
            <a:r>
              <a:rPr lang="en-US" sz="1000" b="1" dirty="0">
                <a:solidFill>
                  <a:srgbClr val="14251D"/>
                </a:solidFill>
              </a:rPr>
              <a:t>Moderate</a:t>
            </a:r>
            <a:endParaRPr lang="en-US" sz="1000" dirty="0"/>
          </a:p>
        </p:txBody>
      </p:sp>
      <p:sp>
        <p:nvSpPr>
          <p:cNvPr id="17" name="Text 14"/>
          <p:cNvSpPr/>
          <p:nvPr/>
        </p:nvSpPr>
        <p:spPr>
          <a:xfrm>
            <a:off x="5221224" y="2798064"/>
            <a:ext cx="1645920" cy="164592"/>
          </a:xfrm>
          <a:prstGeom prst="rect">
            <a:avLst/>
          </a:prstGeom>
          <a:noFill/>
          <a:ln/>
        </p:spPr>
        <p:txBody>
          <a:bodyPr wrap="square" lIns="0" tIns="0" rIns="0" bIns="0" rtlCol="0" anchor="ctr"/>
          <a:lstStyle/>
          <a:p>
            <a:pPr algn="ctr" indent="0" marL="0">
              <a:buNone/>
            </a:pPr>
            <a:r>
              <a:rPr lang="en-US" sz="900" dirty="0">
                <a:solidFill>
                  <a:srgbClr val="65736B"/>
                </a:solidFill>
              </a:rPr>
              <a:t>0.3–0.5</a:t>
            </a:r>
            <a:endParaRPr lang="en-US" sz="900" dirty="0"/>
          </a:p>
        </p:txBody>
      </p:sp>
      <p:sp>
        <p:nvSpPr>
          <p:cNvPr id="18" name="Shape 15"/>
          <p:cNvSpPr/>
          <p:nvPr/>
        </p:nvSpPr>
        <p:spPr>
          <a:xfrm>
            <a:off x="7214616" y="2176272"/>
            <a:ext cx="2029968" cy="512064"/>
          </a:xfrm>
          <a:prstGeom prst="rect">
            <a:avLst/>
          </a:prstGeom>
          <a:solidFill>
            <a:srgbClr val="397052"/>
          </a:solidFill>
          <a:ln w="12700">
            <a:solidFill>
              <a:srgbClr val="FFFFFF"/>
            </a:solidFill>
            <a:prstDash val="solid"/>
          </a:ln>
        </p:spPr>
      </p:sp>
      <p:sp>
        <p:nvSpPr>
          <p:cNvPr id="19" name="Text 16"/>
          <p:cNvSpPr/>
          <p:nvPr/>
        </p:nvSpPr>
        <p:spPr>
          <a:xfrm>
            <a:off x="7287768" y="2340864"/>
            <a:ext cx="1874520" cy="164592"/>
          </a:xfrm>
          <a:prstGeom prst="rect">
            <a:avLst/>
          </a:prstGeom>
          <a:noFill/>
          <a:ln/>
        </p:spPr>
        <p:txBody>
          <a:bodyPr wrap="square" lIns="0" tIns="0" rIns="0" bIns="0" rtlCol="0" anchor="ctr"/>
          <a:lstStyle/>
          <a:p>
            <a:pPr algn="ctr" indent="0" marL="0">
              <a:buNone/>
            </a:pPr>
            <a:r>
              <a:rPr lang="en-US" sz="1000" b="1" dirty="0">
                <a:solidFill>
                  <a:srgbClr val="FFFFFF"/>
                </a:solidFill>
              </a:rPr>
              <a:t>Strong</a:t>
            </a:r>
            <a:endParaRPr lang="en-US" sz="1000" dirty="0"/>
          </a:p>
        </p:txBody>
      </p:sp>
      <p:sp>
        <p:nvSpPr>
          <p:cNvPr id="20" name="Text 17"/>
          <p:cNvSpPr/>
          <p:nvPr/>
        </p:nvSpPr>
        <p:spPr>
          <a:xfrm>
            <a:off x="7397496" y="2798064"/>
            <a:ext cx="1645920" cy="164592"/>
          </a:xfrm>
          <a:prstGeom prst="rect">
            <a:avLst/>
          </a:prstGeom>
          <a:noFill/>
          <a:ln/>
        </p:spPr>
        <p:txBody>
          <a:bodyPr wrap="square" lIns="0" tIns="0" rIns="0" bIns="0" rtlCol="0" anchor="ctr"/>
          <a:lstStyle/>
          <a:p>
            <a:pPr algn="ctr" indent="0" marL="0">
              <a:buNone/>
            </a:pPr>
            <a:r>
              <a:rPr lang="en-US" sz="900" dirty="0">
                <a:solidFill>
                  <a:srgbClr val="65736B"/>
                </a:solidFill>
              </a:rPr>
              <a:t>0.5–0.7</a:t>
            </a:r>
            <a:endParaRPr lang="en-US" sz="900" dirty="0"/>
          </a:p>
        </p:txBody>
      </p:sp>
      <p:sp>
        <p:nvSpPr>
          <p:cNvPr id="21" name="Shape 18"/>
          <p:cNvSpPr/>
          <p:nvPr/>
        </p:nvSpPr>
        <p:spPr>
          <a:xfrm>
            <a:off x="9390888" y="2176272"/>
            <a:ext cx="2029968" cy="512064"/>
          </a:xfrm>
          <a:prstGeom prst="rect">
            <a:avLst/>
          </a:prstGeom>
          <a:solidFill>
            <a:srgbClr val="123524"/>
          </a:solidFill>
          <a:ln w="12700">
            <a:solidFill>
              <a:srgbClr val="FFFFFF"/>
            </a:solidFill>
            <a:prstDash val="solid"/>
          </a:ln>
        </p:spPr>
      </p:sp>
      <p:sp>
        <p:nvSpPr>
          <p:cNvPr id="22" name="Text 19"/>
          <p:cNvSpPr/>
          <p:nvPr/>
        </p:nvSpPr>
        <p:spPr>
          <a:xfrm>
            <a:off x="9464040" y="2340864"/>
            <a:ext cx="1874520" cy="164592"/>
          </a:xfrm>
          <a:prstGeom prst="rect">
            <a:avLst/>
          </a:prstGeom>
          <a:noFill/>
          <a:ln/>
        </p:spPr>
        <p:txBody>
          <a:bodyPr wrap="square" lIns="0" tIns="0" rIns="0" bIns="0" rtlCol="0" anchor="ctr"/>
          <a:lstStyle/>
          <a:p>
            <a:pPr algn="ctr" indent="0" marL="0">
              <a:buNone/>
            </a:pPr>
            <a:r>
              <a:rPr lang="en-US" sz="1000" b="1" dirty="0">
                <a:solidFill>
                  <a:srgbClr val="FFFFFF"/>
                </a:solidFill>
              </a:rPr>
              <a:t>Very strong</a:t>
            </a:r>
            <a:endParaRPr lang="en-US" sz="1000" dirty="0"/>
          </a:p>
        </p:txBody>
      </p:sp>
      <p:sp>
        <p:nvSpPr>
          <p:cNvPr id="23" name="Text 20"/>
          <p:cNvSpPr/>
          <p:nvPr/>
        </p:nvSpPr>
        <p:spPr>
          <a:xfrm>
            <a:off x="9573768" y="2798064"/>
            <a:ext cx="1645920" cy="164592"/>
          </a:xfrm>
          <a:prstGeom prst="rect">
            <a:avLst/>
          </a:prstGeom>
          <a:noFill/>
          <a:ln/>
        </p:spPr>
        <p:txBody>
          <a:bodyPr wrap="square" lIns="0" tIns="0" rIns="0" bIns="0" rtlCol="0" anchor="ctr"/>
          <a:lstStyle/>
          <a:p>
            <a:pPr algn="ctr" indent="0" marL="0">
              <a:buNone/>
            </a:pPr>
            <a:r>
              <a:rPr lang="en-US" sz="900" dirty="0">
                <a:solidFill>
                  <a:srgbClr val="65736B"/>
                </a:solidFill>
              </a:rPr>
              <a:t>0.7–1.0</a:t>
            </a:r>
            <a:endParaRPr lang="en-US" sz="900" dirty="0"/>
          </a:p>
        </p:txBody>
      </p:sp>
      <p:sp>
        <p:nvSpPr>
          <p:cNvPr id="24" name="Shape 21"/>
          <p:cNvSpPr/>
          <p:nvPr/>
        </p:nvSpPr>
        <p:spPr>
          <a:xfrm>
            <a:off x="3612886" y="3218688"/>
            <a:ext cx="0" cy="502920"/>
          </a:xfrm>
          <a:prstGeom prst="line">
            <a:avLst/>
          </a:prstGeom>
          <a:noFill/>
          <a:ln w="29210">
            <a:solidFill>
              <a:srgbClr val="0B2D20"/>
            </a:solidFill>
            <a:prstDash val="solid"/>
          </a:ln>
        </p:spPr>
      </p:sp>
      <p:sp>
        <p:nvSpPr>
          <p:cNvPr id="25" name="Text 22"/>
          <p:cNvSpPr/>
          <p:nvPr/>
        </p:nvSpPr>
        <p:spPr>
          <a:xfrm>
            <a:off x="2835646" y="3794760"/>
            <a:ext cx="1554480" cy="329184"/>
          </a:xfrm>
          <a:prstGeom prst="rect">
            <a:avLst/>
          </a:prstGeom>
          <a:noFill/>
          <a:ln/>
        </p:spPr>
        <p:txBody>
          <a:bodyPr wrap="square" lIns="0" tIns="0" rIns="0" bIns="0" rtlCol="0" anchor="ctr">
            <a:normAutofit/>
          </a:bodyPr>
          <a:lstStyle/>
          <a:p>
            <a:pPr algn="ctr" indent="0" marL="0">
              <a:buNone/>
            </a:pPr>
            <a:r>
              <a:rPr lang="en-US" sz="850" b="1" dirty="0">
                <a:solidFill>
                  <a:srgbClr val="14251D"/>
                </a:solidFill>
              </a:rPr>
              <a:t>King × recognition</a:t>
            </a:r>
            <a:endParaRPr lang="en-US" sz="850" dirty="0"/>
          </a:p>
          <a:p>
            <a:pPr algn="ctr" indent="0" marL="0">
              <a:buNone/>
            </a:pPr>
            <a:r>
              <a:rPr lang="en-US" sz="850" b="1" dirty="0">
                <a:solidFill>
                  <a:srgbClr val="14251D"/>
                </a:solidFill>
              </a:rPr>
              <a:t>0.269</a:t>
            </a:r>
            <a:endParaRPr lang="en-US" sz="850" dirty="0"/>
          </a:p>
        </p:txBody>
      </p:sp>
      <p:sp>
        <p:nvSpPr>
          <p:cNvPr id="26" name="Shape 23"/>
          <p:cNvSpPr/>
          <p:nvPr/>
        </p:nvSpPr>
        <p:spPr>
          <a:xfrm>
            <a:off x="2949123" y="3218688"/>
            <a:ext cx="0" cy="502920"/>
          </a:xfrm>
          <a:prstGeom prst="line">
            <a:avLst/>
          </a:prstGeom>
          <a:noFill/>
          <a:ln w="29210">
            <a:solidFill>
              <a:srgbClr val="0B2D20"/>
            </a:solidFill>
            <a:prstDash val="solid"/>
          </a:ln>
        </p:spPr>
      </p:sp>
      <p:sp>
        <p:nvSpPr>
          <p:cNvPr id="27" name="Text 24"/>
          <p:cNvSpPr/>
          <p:nvPr/>
        </p:nvSpPr>
        <p:spPr>
          <a:xfrm>
            <a:off x="2171883" y="4270248"/>
            <a:ext cx="1554480" cy="329184"/>
          </a:xfrm>
          <a:prstGeom prst="rect">
            <a:avLst/>
          </a:prstGeom>
          <a:noFill/>
          <a:ln/>
        </p:spPr>
        <p:txBody>
          <a:bodyPr wrap="square" lIns="0" tIns="0" rIns="0" bIns="0" rtlCol="0" anchor="ctr">
            <a:normAutofit/>
          </a:bodyPr>
          <a:lstStyle/>
          <a:p>
            <a:pPr algn="ctr" indent="0" marL="0">
              <a:buNone/>
            </a:pPr>
            <a:r>
              <a:rPr lang="en-US" sz="850" b="1" dirty="0">
                <a:solidFill>
                  <a:srgbClr val="14251D"/>
                </a:solidFill>
              </a:rPr>
              <a:t>Continent × leadership</a:t>
            </a:r>
            <a:endParaRPr lang="en-US" sz="850" dirty="0"/>
          </a:p>
          <a:p>
            <a:pPr algn="ctr" indent="0" marL="0">
              <a:buNone/>
            </a:pPr>
            <a:r>
              <a:rPr lang="en-US" sz="850" b="1" dirty="0">
                <a:solidFill>
                  <a:srgbClr val="14251D"/>
                </a:solidFill>
              </a:rPr>
              <a:t>0.208</a:t>
            </a:r>
            <a:endParaRPr lang="en-US" sz="850" dirty="0"/>
          </a:p>
        </p:txBody>
      </p:sp>
      <p:sp>
        <p:nvSpPr>
          <p:cNvPr id="28" name="Shape 25"/>
          <p:cNvSpPr/>
          <p:nvPr/>
        </p:nvSpPr>
        <p:spPr>
          <a:xfrm>
            <a:off x="3536716" y="3218688"/>
            <a:ext cx="0" cy="502920"/>
          </a:xfrm>
          <a:prstGeom prst="line">
            <a:avLst/>
          </a:prstGeom>
          <a:noFill/>
          <a:ln w="29210">
            <a:solidFill>
              <a:srgbClr val="0B2D20"/>
            </a:solidFill>
            <a:prstDash val="solid"/>
          </a:ln>
        </p:spPr>
      </p:sp>
      <p:sp>
        <p:nvSpPr>
          <p:cNvPr id="29" name="Text 26"/>
          <p:cNvSpPr/>
          <p:nvPr/>
        </p:nvSpPr>
        <p:spPr>
          <a:xfrm>
            <a:off x="2759476" y="3794760"/>
            <a:ext cx="1554480" cy="329184"/>
          </a:xfrm>
          <a:prstGeom prst="rect">
            <a:avLst/>
          </a:prstGeom>
          <a:noFill/>
          <a:ln/>
        </p:spPr>
        <p:txBody>
          <a:bodyPr wrap="square" lIns="0" tIns="0" rIns="0" bIns="0" rtlCol="0" anchor="ctr">
            <a:normAutofit/>
          </a:bodyPr>
          <a:lstStyle/>
          <a:p>
            <a:pPr algn="ctr" indent="0" marL="0">
              <a:buNone/>
            </a:pPr>
            <a:r>
              <a:rPr lang="en-US" sz="850" b="1" dirty="0">
                <a:solidFill>
                  <a:srgbClr val="14251D"/>
                </a:solidFill>
              </a:rPr>
              <a:t>Continent × recognition</a:t>
            </a:r>
            <a:endParaRPr lang="en-US" sz="850" dirty="0"/>
          </a:p>
          <a:p>
            <a:pPr algn="ctr" indent="0" marL="0">
              <a:buNone/>
            </a:pPr>
            <a:r>
              <a:rPr lang="en-US" sz="850" b="1" dirty="0">
                <a:solidFill>
                  <a:srgbClr val="14251D"/>
                </a:solidFill>
              </a:rPr>
              <a:t>0.262</a:t>
            </a:r>
            <a:endParaRPr lang="en-US" sz="850" dirty="0"/>
          </a:p>
        </p:txBody>
      </p:sp>
      <p:sp>
        <p:nvSpPr>
          <p:cNvPr id="30" name="Shape 27"/>
          <p:cNvSpPr/>
          <p:nvPr/>
        </p:nvSpPr>
        <p:spPr>
          <a:xfrm>
            <a:off x="3961089" y="3218688"/>
            <a:ext cx="0" cy="502920"/>
          </a:xfrm>
          <a:prstGeom prst="line">
            <a:avLst/>
          </a:prstGeom>
          <a:noFill/>
          <a:ln w="29210">
            <a:solidFill>
              <a:srgbClr val="C8A96A"/>
            </a:solidFill>
            <a:prstDash val="solid"/>
          </a:ln>
        </p:spPr>
      </p:sp>
      <p:sp>
        <p:nvSpPr>
          <p:cNvPr id="31" name="Text 28"/>
          <p:cNvSpPr/>
          <p:nvPr/>
        </p:nvSpPr>
        <p:spPr>
          <a:xfrm>
            <a:off x="3183849" y="4270248"/>
            <a:ext cx="1554480" cy="329184"/>
          </a:xfrm>
          <a:prstGeom prst="rect">
            <a:avLst/>
          </a:prstGeom>
          <a:noFill/>
          <a:ln/>
        </p:spPr>
        <p:txBody>
          <a:bodyPr wrap="square" lIns="0" tIns="0" rIns="0" bIns="0" rtlCol="0" anchor="ctr">
            <a:normAutofit/>
          </a:bodyPr>
          <a:lstStyle/>
          <a:p>
            <a:pPr algn="ctr" indent="0" marL="0">
              <a:buNone/>
            </a:pPr>
            <a:r>
              <a:rPr lang="en-US" sz="850" b="1" dirty="0">
                <a:solidFill>
                  <a:srgbClr val="C8A96A"/>
                </a:solidFill>
              </a:rPr>
              <a:t>Region × recognition</a:t>
            </a:r>
            <a:endParaRPr lang="en-US" sz="850" dirty="0"/>
          </a:p>
          <a:p>
            <a:pPr algn="ctr" indent="0" marL="0">
              <a:buNone/>
            </a:pPr>
            <a:r>
              <a:rPr lang="en-US" sz="850" b="1" dirty="0">
                <a:solidFill>
                  <a:srgbClr val="C8A96A"/>
                </a:solidFill>
              </a:rPr>
              <a:t>0.301</a:t>
            </a:r>
            <a:endParaRPr lang="en-US" sz="850" dirty="0"/>
          </a:p>
        </p:txBody>
      </p:sp>
      <p:sp>
        <p:nvSpPr>
          <p:cNvPr id="32" name="Shape 29"/>
          <p:cNvSpPr/>
          <p:nvPr/>
        </p:nvSpPr>
        <p:spPr>
          <a:xfrm>
            <a:off x="713232" y="5623560"/>
            <a:ext cx="10744200" cy="438912"/>
          </a:xfrm>
          <a:prstGeom prst="roundRect">
            <a:avLst/>
          </a:prstGeom>
          <a:solidFill>
            <a:srgbClr val="E7F2EB"/>
          </a:solidFill>
          <a:ln w="10160">
            <a:solidFill>
              <a:srgbClr val="5B9B78"/>
            </a:solidFill>
            <a:prstDash val="solid"/>
          </a:ln>
        </p:spPr>
      </p:sp>
      <p:sp>
        <p:nvSpPr>
          <p:cNvPr id="33" name="Text 30"/>
          <p:cNvSpPr/>
          <p:nvPr/>
        </p:nvSpPr>
        <p:spPr>
          <a:xfrm>
            <a:off x="868680" y="5724144"/>
            <a:ext cx="10433304" cy="201168"/>
          </a:xfrm>
          <a:prstGeom prst="rect">
            <a:avLst/>
          </a:prstGeom>
          <a:noFill/>
          <a:ln/>
        </p:spPr>
        <p:txBody>
          <a:bodyPr wrap="square" lIns="0" tIns="0" rIns="0" bIns="0" rtlCol="0" anchor="ctr">
            <a:normAutofit/>
          </a:bodyPr>
          <a:lstStyle/>
          <a:p>
            <a:pPr indent="0" marL="0">
              <a:buNone/>
            </a:pPr>
            <a:r>
              <a:rPr lang="en-US" sz="1050" b="1" dirty="0">
                <a:solidFill>
                  <a:srgbClr val="14251D"/>
                </a:solidFill>
                <a:latin typeface="Aptos" pitchFamily="34" charset="0"/>
                <a:ea typeface="Aptos" pitchFamily="34" charset="-122"/>
                <a:cs typeface="Aptos" pitchFamily="34" charset="-120"/>
              </a:rPr>
              <a:t>The most defensible conclusion is that several variables are associated, but most measured relationships are modest.</a:t>
            </a:r>
            <a:endParaRPr lang="en-US" sz="1050" dirty="0"/>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4.10 • DISCUSSION</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What the combined results suggest</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Patterns vary by leadership form, population distribution, continent, and region.</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sp>
        <p:nvSpPr>
          <p:cNvPr id="8" name="Shape 5"/>
          <p:cNvSpPr/>
          <p:nvPr/>
        </p:nvSpPr>
        <p:spPr>
          <a:xfrm>
            <a:off x="566928" y="1664208"/>
            <a:ext cx="3520440" cy="1691640"/>
          </a:xfrm>
          <a:prstGeom prst="roundRect">
            <a:avLst>
              <a:gd name="adj" fmla="val 540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9" name="Text 6"/>
          <p:cNvSpPr/>
          <p:nvPr/>
        </p:nvSpPr>
        <p:spPr>
          <a:xfrm>
            <a:off x="768096" y="1874520"/>
            <a:ext cx="502920" cy="292608"/>
          </a:xfrm>
          <a:prstGeom prst="rect">
            <a:avLst/>
          </a:prstGeom>
          <a:noFill/>
          <a:ln/>
        </p:spPr>
        <p:txBody>
          <a:bodyPr wrap="square" lIns="0" tIns="0" rIns="0" bIns="0" rtlCol="0" anchor="ctr"/>
          <a:lstStyle/>
          <a:p>
            <a:pPr indent="0" marL="0">
              <a:buNone/>
            </a:pPr>
            <a:r>
              <a:rPr lang="en-US" sz="2100" b="1" dirty="0">
                <a:solidFill>
                  <a:srgbClr val="C8A96A"/>
                </a:solidFill>
                <a:latin typeface="Georgia" pitchFamily="34" charset="0"/>
                <a:ea typeface="Georgia" pitchFamily="34" charset="-122"/>
                <a:cs typeface="Georgia" pitchFamily="34" charset="-120"/>
              </a:rPr>
              <a:t>01</a:t>
            </a:r>
            <a:endParaRPr lang="en-US" sz="2100" dirty="0"/>
          </a:p>
        </p:txBody>
      </p:sp>
      <p:sp>
        <p:nvSpPr>
          <p:cNvPr id="10" name="Text 7"/>
          <p:cNvSpPr/>
          <p:nvPr/>
        </p:nvSpPr>
        <p:spPr>
          <a:xfrm>
            <a:off x="1389888" y="1892808"/>
            <a:ext cx="2468880" cy="237744"/>
          </a:xfrm>
          <a:prstGeom prst="rect">
            <a:avLst/>
          </a:prstGeom>
          <a:noFill/>
          <a:ln/>
        </p:spPr>
        <p:txBody>
          <a:bodyPr wrap="square" lIns="0" tIns="0" rIns="0" bIns="0" rtlCol="0" anchor="ctr">
            <a:normAutofit/>
          </a:bodyPr>
          <a:lstStyle/>
          <a:p>
            <a:pPr indent="0" marL="0">
              <a:buNone/>
            </a:pPr>
            <a:r>
              <a:rPr lang="en-US" sz="1100" b="1" dirty="0">
                <a:solidFill>
                  <a:srgbClr val="123524"/>
                </a:solidFill>
              </a:rPr>
              <a:t>Leadership &amp; recognition</a:t>
            </a:r>
            <a:endParaRPr lang="en-US" sz="1100" dirty="0"/>
          </a:p>
        </p:txBody>
      </p:sp>
      <p:sp>
        <p:nvSpPr>
          <p:cNvPr id="11" name="Text 8"/>
          <p:cNvSpPr/>
          <p:nvPr/>
        </p:nvSpPr>
        <p:spPr>
          <a:xfrm>
            <a:off x="795528" y="2423160"/>
            <a:ext cx="3063240" cy="603504"/>
          </a:xfrm>
          <a:prstGeom prst="rect">
            <a:avLst/>
          </a:prstGeom>
          <a:noFill/>
          <a:ln/>
        </p:spPr>
        <p:txBody>
          <a:bodyPr wrap="square" lIns="0" tIns="0" rIns="0" bIns="0" rtlCol="0" anchor="ctr">
            <a:normAutofit/>
          </a:bodyPr>
          <a:lstStyle/>
          <a:p>
            <a:pPr indent="0" marL="0">
              <a:buNone/>
            </a:pPr>
            <a:r>
              <a:rPr lang="en-US" sz="1150" dirty="0">
                <a:solidFill>
                  <a:srgbClr val="14251D"/>
                </a:solidFill>
              </a:rPr>
              <a:t>All three indicators are significant; effects range from very weak to weak.</a:t>
            </a:r>
            <a:endParaRPr lang="en-US" sz="1150" dirty="0"/>
          </a:p>
        </p:txBody>
      </p:sp>
      <p:sp>
        <p:nvSpPr>
          <p:cNvPr id="12" name="Shape 9"/>
          <p:cNvSpPr/>
          <p:nvPr/>
        </p:nvSpPr>
        <p:spPr>
          <a:xfrm>
            <a:off x="4343400" y="1664208"/>
            <a:ext cx="3520440" cy="1691640"/>
          </a:xfrm>
          <a:prstGeom prst="roundRect">
            <a:avLst>
              <a:gd name="adj" fmla="val 540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13" name="Text 10"/>
          <p:cNvSpPr/>
          <p:nvPr/>
        </p:nvSpPr>
        <p:spPr>
          <a:xfrm>
            <a:off x="4544568" y="1874520"/>
            <a:ext cx="502920" cy="292608"/>
          </a:xfrm>
          <a:prstGeom prst="rect">
            <a:avLst/>
          </a:prstGeom>
          <a:noFill/>
          <a:ln/>
        </p:spPr>
        <p:txBody>
          <a:bodyPr wrap="square" lIns="0" tIns="0" rIns="0" bIns="0" rtlCol="0" anchor="ctr"/>
          <a:lstStyle/>
          <a:p>
            <a:pPr indent="0" marL="0">
              <a:buNone/>
            </a:pPr>
            <a:r>
              <a:rPr lang="en-US" sz="2100" b="1" dirty="0">
                <a:solidFill>
                  <a:srgbClr val="C8A96A"/>
                </a:solidFill>
                <a:latin typeface="Georgia" pitchFamily="34" charset="0"/>
                <a:ea typeface="Georgia" pitchFamily="34" charset="-122"/>
                <a:cs typeface="Georgia" pitchFamily="34" charset="-120"/>
              </a:rPr>
              <a:t>02</a:t>
            </a:r>
            <a:endParaRPr lang="en-US" sz="2100" dirty="0"/>
          </a:p>
        </p:txBody>
      </p:sp>
      <p:sp>
        <p:nvSpPr>
          <p:cNvPr id="14" name="Text 11"/>
          <p:cNvSpPr/>
          <p:nvPr/>
        </p:nvSpPr>
        <p:spPr>
          <a:xfrm>
            <a:off x="5166360" y="1892808"/>
            <a:ext cx="2468880" cy="237744"/>
          </a:xfrm>
          <a:prstGeom prst="rect">
            <a:avLst/>
          </a:prstGeom>
          <a:noFill/>
          <a:ln/>
        </p:spPr>
        <p:txBody>
          <a:bodyPr wrap="square" lIns="0" tIns="0" rIns="0" bIns="0" rtlCol="0" anchor="ctr">
            <a:normAutofit/>
          </a:bodyPr>
          <a:lstStyle/>
          <a:p>
            <a:pPr indent="0" marL="0">
              <a:buNone/>
            </a:pPr>
            <a:r>
              <a:rPr lang="en-US" sz="1100" b="1" dirty="0">
                <a:solidFill>
                  <a:srgbClr val="123524"/>
                </a:solidFill>
              </a:rPr>
              <a:t>Functions</a:t>
            </a:r>
            <a:endParaRPr lang="en-US" sz="1100" dirty="0"/>
          </a:p>
        </p:txBody>
      </p:sp>
      <p:sp>
        <p:nvSpPr>
          <p:cNvPr id="15" name="Text 12"/>
          <p:cNvSpPr/>
          <p:nvPr/>
        </p:nvSpPr>
        <p:spPr>
          <a:xfrm>
            <a:off x="4572000" y="2423160"/>
            <a:ext cx="3063240" cy="603504"/>
          </a:xfrm>
          <a:prstGeom prst="rect">
            <a:avLst/>
          </a:prstGeom>
          <a:noFill/>
          <a:ln/>
        </p:spPr>
        <p:txBody>
          <a:bodyPr wrap="square" lIns="0" tIns="0" rIns="0" bIns="0" rtlCol="0" anchor="ctr">
            <a:normAutofit/>
          </a:bodyPr>
          <a:lstStyle/>
          <a:p>
            <a:pPr indent="0" marL="0">
              <a:buNone/>
            </a:pPr>
            <a:r>
              <a:rPr lang="en-US" sz="1150" dirty="0">
                <a:solidFill>
                  <a:srgbClr val="14251D"/>
                </a:solidFill>
              </a:rPr>
              <a:t>Land and security show more consistent relationships than healing, which has extensive missingness.</a:t>
            </a:r>
            <a:endParaRPr lang="en-US" sz="1150" dirty="0"/>
          </a:p>
        </p:txBody>
      </p:sp>
      <p:sp>
        <p:nvSpPr>
          <p:cNvPr id="16" name="Shape 13"/>
          <p:cNvSpPr/>
          <p:nvPr/>
        </p:nvSpPr>
        <p:spPr>
          <a:xfrm>
            <a:off x="8119872" y="1664208"/>
            <a:ext cx="3520440" cy="1691640"/>
          </a:xfrm>
          <a:prstGeom prst="roundRect">
            <a:avLst>
              <a:gd name="adj" fmla="val 540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17" name="Text 14"/>
          <p:cNvSpPr/>
          <p:nvPr/>
        </p:nvSpPr>
        <p:spPr>
          <a:xfrm>
            <a:off x="8321040" y="1874520"/>
            <a:ext cx="502920" cy="292608"/>
          </a:xfrm>
          <a:prstGeom prst="rect">
            <a:avLst/>
          </a:prstGeom>
          <a:noFill/>
          <a:ln/>
        </p:spPr>
        <p:txBody>
          <a:bodyPr wrap="square" lIns="0" tIns="0" rIns="0" bIns="0" rtlCol="0" anchor="ctr"/>
          <a:lstStyle/>
          <a:p>
            <a:pPr indent="0" marL="0">
              <a:buNone/>
            </a:pPr>
            <a:r>
              <a:rPr lang="en-US" sz="2100" b="1" dirty="0">
                <a:solidFill>
                  <a:srgbClr val="C8A96A"/>
                </a:solidFill>
                <a:latin typeface="Georgia" pitchFamily="34" charset="0"/>
                <a:ea typeface="Georgia" pitchFamily="34" charset="-122"/>
                <a:cs typeface="Georgia" pitchFamily="34" charset="-120"/>
              </a:rPr>
              <a:t>03</a:t>
            </a:r>
            <a:endParaRPr lang="en-US" sz="2100" dirty="0"/>
          </a:p>
        </p:txBody>
      </p:sp>
      <p:sp>
        <p:nvSpPr>
          <p:cNvPr id="18" name="Text 15"/>
          <p:cNvSpPr/>
          <p:nvPr/>
        </p:nvSpPr>
        <p:spPr>
          <a:xfrm>
            <a:off x="8942832" y="1892808"/>
            <a:ext cx="2468880" cy="237744"/>
          </a:xfrm>
          <a:prstGeom prst="rect">
            <a:avLst/>
          </a:prstGeom>
          <a:noFill/>
          <a:ln/>
        </p:spPr>
        <p:txBody>
          <a:bodyPr wrap="square" lIns="0" tIns="0" rIns="0" bIns="0" rtlCol="0" anchor="ctr">
            <a:normAutofit/>
          </a:bodyPr>
          <a:lstStyle/>
          <a:p>
            <a:pPr indent="0" marL="0">
              <a:buNone/>
            </a:pPr>
            <a:r>
              <a:rPr lang="en-US" sz="1100" b="1" dirty="0">
                <a:solidFill>
                  <a:srgbClr val="123524"/>
                </a:solidFill>
              </a:rPr>
              <a:t>Population</a:t>
            </a:r>
            <a:endParaRPr lang="en-US" sz="1100" dirty="0"/>
          </a:p>
        </p:txBody>
      </p:sp>
      <p:sp>
        <p:nvSpPr>
          <p:cNvPr id="19" name="Text 16"/>
          <p:cNvSpPr/>
          <p:nvPr/>
        </p:nvSpPr>
        <p:spPr>
          <a:xfrm>
            <a:off x="8348472" y="2423160"/>
            <a:ext cx="3063240" cy="603504"/>
          </a:xfrm>
          <a:prstGeom prst="rect">
            <a:avLst/>
          </a:prstGeom>
          <a:noFill/>
          <a:ln/>
        </p:spPr>
        <p:txBody>
          <a:bodyPr wrap="square" lIns="0" tIns="0" rIns="0" bIns="0" rtlCol="0" anchor="ctr">
            <a:normAutofit/>
          </a:bodyPr>
          <a:lstStyle/>
          <a:p>
            <a:pPr indent="0" marL="0">
              <a:buNone/>
            </a:pPr>
            <a:r>
              <a:rPr lang="en-US" sz="1150" dirty="0">
                <a:solidFill>
                  <a:srgbClr val="14251D"/>
                </a:solidFill>
              </a:rPr>
              <a:t>Recognized and function-present groups often rank higher, but effects are small or negligible.</a:t>
            </a:r>
            <a:endParaRPr lang="en-US" sz="1150" dirty="0"/>
          </a:p>
        </p:txBody>
      </p:sp>
      <p:sp>
        <p:nvSpPr>
          <p:cNvPr id="20" name="Shape 17"/>
          <p:cNvSpPr/>
          <p:nvPr/>
        </p:nvSpPr>
        <p:spPr>
          <a:xfrm>
            <a:off x="2468880" y="4005072"/>
            <a:ext cx="3566160" cy="1691640"/>
          </a:xfrm>
          <a:prstGeom prst="roundRect">
            <a:avLst>
              <a:gd name="adj" fmla="val 540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21" name="Text 18"/>
          <p:cNvSpPr/>
          <p:nvPr/>
        </p:nvSpPr>
        <p:spPr>
          <a:xfrm>
            <a:off x="2670048" y="4215384"/>
            <a:ext cx="502920" cy="292608"/>
          </a:xfrm>
          <a:prstGeom prst="rect">
            <a:avLst/>
          </a:prstGeom>
          <a:noFill/>
          <a:ln/>
        </p:spPr>
        <p:txBody>
          <a:bodyPr wrap="square" lIns="0" tIns="0" rIns="0" bIns="0" rtlCol="0" anchor="ctr"/>
          <a:lstStyle/>
          <a:p>
            <a:pPr indent="0" marL="0">
              <a:buNone/>
            </a:pPr>
            <a:r>
              <a:rPr lang="en-US" sz="2100" b="1" dirty="0">
                <a:solidFill>
                  <a:srgbClr val="C8A96A"/>
                </a:solidFill>
                <a:latin typeface="Georgia" pitchFamily="34" charset="0"/>
                <a:ea typeface="Georgia" pitchFamily="34" charset="-122"/>
                <a:cs typeface="Georgia" pitchFamily="34" charset="-120"/>
              </a:rPr>
              <a:t>04</a:t>
            </a:r>
            <a:endParaRPr lang="en-US" sz="2100" dirty="0"/>
          </a:p>
        </p:txBody>
      </p:sp>
      <p:sp>
        <p:nvSpPr>
          <p:cNvPr id="22" name="Text 19"/>
          <p:cNvSpPr/>
          <p:nvPr/>
        </p:nvSpPr>
        <p:spPr>
          <a:xfrm>
            <a:off x="3291840" y="4233672"/>
            <a:ext cx="2514600" cy="237744"/>
          </a:xfrm>
          <a:prstGeom prst="rect">
            <a:avLst/>
          </a:prstGeom>
          <a:noFill/>
          <a:ln/>
        </p:spPr>
        <p:txBody>
          <a:bodyPr wrap="square" lIns="0" tIns="0" rIns="0" bIns="0" rtlCol="0" anchor="ctr">
            <a:normAutofit/>
          </a:bodyPr>
          <a:lstStyle/>
          <a:p>
            <a:pPr indent="0" marL="0">
              <a:buNone/>
            </a:pPr>
            <a:r>
              <a:rPr lang="en-US" sz="1100" b="1" dirty="0">
                <a:solidFill>
                  <a:srgbClr val="123524"/>
                </a:solidFill>
              </a:rPr>
              <a:t>Geography</a:t>
            </a:r>
            <a:endParaRPr lang="en-US" sz="1100" dirty="0"/>
          </a:p>
        </p:txBody>
      </p:sp>
      <p:sp>
        <p:nvSpPr>
          <p:cNvPr id="23" name="Text 20"/>
          <p:cNvSpPr/>
          <p:nvPr/>
        </p:nvSpPr>
        <p:spPr>
          <a:xfrm>
            <a:off x="2697480" y="4764024"/>
            <a:ext cx="3108960" cy="603504"/>
          </a:xfrm>
          <a:prstGeom prst="rect">
            <a:avLst/>
          </a:prstGeom>
          <a:noFill/>
          <a:ln/>
        </p:spPr>
        <p:txBody>
          <a:bodyPr wrap="square" lIns="0" tIns="0" rIns="0" bIns="0" rtlCol="0" anchor="ctr">
            <a:normAutofit/>
          </a:bodyPr>
          <a:lstStyle/>
          <a:p>
            <a:pPr indent="0" marL="0">
              <a:buNone/>
            </a:pPr>
            <a:r>
              <a:rPr lang="en-US" sz="1150" dirty="0">
                <a:solidFill>
                  <a:srgbClr val="14251D"/>
                </a:solidFill>
              </a:rPr>
              <a:t>Recognition varies across continents and regions; the regional effect is moderate.</a:t>
            </a:r>
            <a:endParaRPr lang="en-US" sz="1150" dirty="0"/>
          </a:p>
        </p:txBody>
      </p:sp>
      <p:sp>
        <p:nvSpPr>
          <p:cNvPr id="24" name="Shape 21"/>
          <p:cNvSpPr/>
          <p:nvPr/>
        </p:nvSpPr>
        <p:spPr>
          <a:xfrm>
            <a:off x="6291072" y="4005072"/>
            <a:ext cx="3566160" cy="1691640"/>
          </a:xfrm>
          <a:prstGeom prst="roundRect">
            <a:avLst>
              <a:gd name="adj" fmla="val 5405"/>
            </a:avLst>
          </a:prstGeom>
          <a:solidFill>
            <a:srgbClr val="F6EEDC"/>
          </a:solidFill>
          <a:ln w="8890">
            <a:solidFill>
              <a:srgbClr val="E0C88F"/>
            </a:solidFill>
            <a:prstDash val="solid"/>
          </a:ln>
          <a:effectLst>
            <a:outerShdw sx="100000" sy="100000" kx="0" ky="0" algn="bl" rotWithShape="0" blurRad="19050" dist="50800" dir="2700000">
              <a:srgbClr val="AAB7AF">
                <a:alpha val="13000"/>
              </a:srgbClr>
            </a:outerShdw>
          </a:effectLst>
        </p:spPr>
      </p:sp>
      <p:sp>
        <p:nvSpPr>
          <p:cNvPr id="25" name="Text 22"/>
          <p:cNvSpPr/>
          <p:nvPr/>
        </p:nvSpPr>
        <p:spPr>
          <a:xfrm>
            <a:off x="6492240" y="4215384"/>
            <a:ext cx="502920" cy="292608"/>
          </a:xfrm>
          <a:prstGeom prst="rect">
            <a:avLst/>
          </a:prstGeom>
          <a:noFill/>
          <a:ln/>
        </p:spPr>
        <p:txBody>
          <a:bodyPr wrap="square" lIns="0" tIns="0" rIns="0" bIns="0" rtlCol="0" anchor="ctr"/>
          <a:lstStyle/>
          <a:p>
            <a:pPr indent="0" marL="0">
              <a:buNone/>
            </a:pPr>
            <a:r>
              <a:rPr lang="en-US" sz="2100" b="1" dirty="0">
                <a:solidFill>
                  <a:srgbClr val="C8A96A"/>
                </a:solidFill>
                <a:latin typeface="Georgia" pitchFamily="34" charset="0"/>
                <a:ea typeface="Georgia" pitchFamily="34" charset="-122"/>
                <a:cs typeface="Georgia" pitchFamily="34" charset="-120"/>
              </a:rPr>
              <a:t>05</a:t>
            </a:r>
            <a:endParaRPr lang="en-US" sz="2100" dirty="0"/>
          </a:p>
        </p:txBody>
      </p:sp>
      <p:sp>
        <p:nvSpPr>
          <p:cNvPr id="26" name="Text 23"/>
          <p:cNvSpPr/>
          <p:nvPr/>
        </p:nvSpPr>
        <p:spPr>
          <a:xfrm>
            <a:off x="7114032" y="4233672"/>
            <a:ext cx="2514600" cy="237744"/>
          </a:xfrm>
          <a:prstGeom prst="rect">
            <a:avLst/>
          </a:prstGeom>
          <a:noFill/>
          <a:ln/>
        </p:spPr>
        <p:txBody>
          <a:bodyPr wrap="square" lIns="0" tIns="0" rIns="0" bIns="0" rtlCol="0" anchor="ctr">
            <a:normAutofit/>
          </a:bodyPr>
          <a:lstStyle/>
          <a:p>
            <a:pPr indent="0" marL="0">
              <a:buNone/>
            </a:pPr>
            <a:r>
              <a:rPr lang="en-US" sz="1100" b="1" dirty="0">
                <a:solidFill>
                  <a:srgbClr val="123524"/>
                </a:solidFill>
              </a:rPr>
              <a:t>Interpretive boundary</a:t>
            </a:r>
            <a:endParaRPr lang="en-US" sz="1100" dirty="0"/>
          </a:p>
        </p:txBody>
      </p:sp>
      <p:sp>
        <p:nvSpPr>
          <p:cNvPr id="27" name="Text 24"/>
          <p:cNvSpPr/>
          <p:nvPr/>
        </p:nvSpPr>
        <p:spPr>
          <a:xfrm>
            <a:off x="6519672" y="4764024"/>
            <a:ext cx="3108960" cy="603504"/>
          </a:xfrm>
          <a:prstGeom prst="rect">
            <a:avLst/>
          </a:prstGeom>
          <a:noFill/>
          <a:ln/>
        </p:spPr>
        <p:txBody>
          <a:bodyPr wrap="square" lIns="0" tIns="0" rIns="0" bIns="0" rtlCol="0" anchor="ctr">
            <a:normAutofit/>
          </a:bodyPr>
          <a:lstStyle/>
          <a:p>
            <a:pPr indent="0" marL="0">
              <a:buNone/>
            </a:pPr>
            <a:r>
              <a:rPr lang="en-US" sz="1150" dirty="0">
                <a:solidFill>
                  <a:srgbClr val="14251D"/>
                </a:solidFill>
              </a:rPr>
              <a:t>The dataset is observational and cross-sectional. Historical mechanisms require separate research.</a:t>
            </a:r>
            <a:endParaRPr lang="en-US" sz="1150" dirty="0"/>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4.10 • DISCUSSION</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Missing data shapes the strength of inference</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Complete-case samples differ across analyses and must be reported explicitly.</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sp>
        <p:nvSpPr>
          <p:cNvPr id="8" name="Text 5"/>
          <p:cNvSpPr/>
          <p:nvPr/>
        </p:nvSpPr>
        <p:spPr>
          <a:xfrm>
            <a:off x="685800" y="1828800"/>
            <a:ext cx="1645920" cy="182880"/>
          </a:xfrm>
          <a:prstGeom prst="rect">
            <a:avLst/>
          </a:prstGeom>
          <a:noFill/>
          <a:ln/>
        </p:spPr>
        <p:txBody>
          <a:bodyPr wrap="square" lIns="0" tIns="0" rIns="0" bIns="0" rtlCol="0" anchor="ctr"/>
          <a:lstStyle/>
          <a:p>
            <a:pPr indent="0" marL="0">
              <a:buNone/>
            </a:pPr>
            <a:r>
              <a:rPr lang="en-US" sz="1050" b="1" dirty="0">
                <a:solidFill>
                  <a:srgbClr val="14251D"/>
                </a:solidFill>
              </a:rPr>
              <a:t>Formal recognition</a:t>
            </a:r>
            <a:endParaRPr lang="en-US" sz="1050" dirty="0"/>
          </a:p>
        </p:txBody>
      </p:sp>
      <p:sp>
        <p:nvSpPr>
          <p:cNvPr id="9" name="Shape 6"/>
          <p:cNvSpPr/>
          <p:nvPr/>
        </p:nvSpPr>
        <p:spPr>
          <a:xfrm>
            <a:off x="2468880" y="1783080"/>
            <a:ext cx="6858000" cy="320040"/>
          </a:xfrm>
          <a:prstGeom prst="rect">
            <a:avLst/>
          </a:prstGeom>
          <a:solidFill>
            <a:srgbClr val="E6E9E7"/>
          </a:solidFill>
          <a:ln w="12700">
            <a:solidFill>
              <a:srgbClr val="E6E9E7"/>
            </a:solidFill>
            <a:prstDash val="solid"/>
          </a:ln>
        </p:spPr>
      </p:sp>
      <p:sp>
        <p:nvSpPr>
          <p:cNvPr id="10" name="Shape 7"/>
          <p:cNvSpPr/>
          <p:nvPr/>
        </p:nvSpPr>
        <p:spPr>
          <a:xfrm>
            <a:off x="2468880" y="1783080"/>
            <a:ext cx="2308023" cy="320040"/>
          </a:xfrm>
          <a:prstGeom prst="rect">
            <a:avLst/>
          </a:prstGeom>
          <a:solidFill>
            <a:srgbClr val="C8A96A"/>
          </a:solidFill>
          <a:ln w="12700">
            <a:solidFill>
              <a:srgbClr val="C8A96A"/>
            </a:solidFill>
            <a:prstDash val="solid"/>
          </a:ln>
        </p:spPr>
      </p:sp>
      <p:sp>
        <p:nvSpPr>
          <p:cNvPr id="11" name="Text 8"/>
          <p:cNvSpPr/>
          <p:nvPr/>
        </p:nvSpPr>
        <p:spPr>
          <a:xfrm>
            <a:off x="9528048" y="1828800"/>
            <a:ext cx="1143000" cy="182880"/>
          </a:xfrm>
          <a:prstGeom prst="rect">
            <a:avLst/>
          </a:prstGeom>
          <a:noFill/>
          <a:ln/>
        </p:spPr>
        <p:txBody>
          <a:bodyPr wrap="square" lIns="0" tIns="0" rIns="0" bIns="0" rtlCol="0" anchor="ctr"/>
          <a:lstStyle/>
          <a:p>
            <a:pPr algn="r" indent="0" marL="0">
              <a:buNone/>
            </a:pPr>
            <a:r>
              <a:rPr lang="en-US" sz="1050" b="1" dirty="0">
                <a:solidFill>
                  <a:srgbClr val="C8A96A"/>
                </a:solidFill>
              </a:rPr>
              <a:t>524 missing</a:t>
            </a:r>
            <a:endParaRPr lang="en-US" sz="1050" dirty="0"/>
          </a:p>
        </p:txBody>
      </p:sp>
      <p:sp>
        <p:nvSpPr>
          <p:cNvPr id="12" name="Text 9"/>
          <p:cNvSpPr/>
          <p:nvPr/>
        </p:nvSpPr>
        <p:spPr>
          <a:xfrm>
            <a:off x="685800" y="2560320"/>
            <a:ext cx="1645920" cy="182880"/>
          </a:xfrm>
          <a:prstGeom prst="rect">
            <a:avLst/>
          </a:prstGeom>
          <a:noFill/>
          <a:ln/>
        </p:spPr>
        <p:txBody>
          <a:bodyPr wrap="square" lIns="0" tIns="0" rIns="0" bIns="0" rtlCol="0" anchor="ctr"/>
          <a:lstStyle/>
          <a:p>
            <a:pPr indent="0" marL="0">
              <a:buNone/>
            </a:pPr>
            <a:r>
              <a:rPr lang="en-US" sz="1050" b="1" dirty="0">
                <a:solidFill>
                  <a:srgbClr val="14251D"/>
                </a:solidFill>
              </a:rPr>
              <a:t>Leadership variables</a:t>
            </a:r>
            <a:endParaRPr lang="en-US" sz="1050" dirty="0"/>
          </a:p>
        </p:txBody>
      </p:sp>
      <p:sp>
        <p:nvSpPr>
          <p:cNvPr id="13" name="Shape 10"/>
          <p:cNvSpPr/>
          <p:nvPr/>
        </p:nvSpPr>
        <p:spPr>
          <a:xfrm>
            <a:off x="2468880" y="2514600"/>
            <a:ext cx="6858000" cy="320040"/>
          </a:xfrm>
          <a:prstGeom prst="rect">
            <a:avLst/>
          </a:prstGeom>
          <a:solidFill>
            <a:srgbClr val="E6E9E7"/>
          </a:solidFill>
          <a:ln w="12700">
            <a:solidFill>
              <a:srgbClr val="E6E9E7"/>
            </a:solidFill>
            <a:prstDash val="solid"/>
          </a:ln>
        </p:spPr>
      </p:sp>
      <p:sp>
        <p:nvSpPr>
          <p:cNvPr id="14" name="Shape 11"/>
          <p:cNvSpPr/>
          <p:nvPr/>
        </p:nvSpPr>
        <p:spPr>
          <a:xfrm>
            <a:off x="2468880" y="2514600"/>
            <a:ext cx="1471145" cy="320040"/>
          </a:xfrm>
          <a:prstGeom prst="rect">
            <a:avLst/>
          </a:prstGeom>
          <a:solidFill>
            <a:srgbClr val="123524"/>
          </a:solidFill>
          <a:ln w="12700">
            <a:solidFill>
              <a:srgbClr val="123524"/>
            </a:solidFill>
            <a:prstDash val="solid"/>
          </a:ln>
        </p:spPr>
      </p:sp>
      <p:sp>
        <p:nvSpPr>
          <p:cNvPr id="15" name="Text 12"/>
          <p:cNvSpPr/>
          <p:nvPr/>
        </p:nvSpPr>
        <p:spPr>
          <a:xfrm>
            <a:off x="9528048" y="2560320"/>
            <a:ext cx="1143000" cy="182880"/>
          </a:xfrm>
          <a:prstGeom prst="rect">
            <a:avLst/>
          </a:prstGeom>
          <a:noFill/>
          <a:ln/>
        </p:spPr>
        <p:txBody>
          <a:bodyPr wrap="square" lIns="0" tIns="0" rIns="0" bIns="0" rtlCol="0" anchor="ctr"/>
          <a:lstStyle/>
          <a:p>
            <a:pPr algn="r" indent="0" marL="0">
              <a:buNone/>
            </a:pPr>
            <a:r>
              <a:rPr lang="en-US" sz="1050" b="1" dirty="0">
                <a:solidFill>
                  <a:srgbClr val="123524"/>
                </a:solidFill>
              </a:rPr>
              <a:t>334 missing</a:t>
            </a:r>
            <a:endParaRPr lang="en-US" sz="1050" dirty="0"/>
          </a:p>
        </p:txBody>
      </p:sp>
      <p:sp>
        <p:nvSpPr>
          <p:cNvPr id="16" name="Text 13"/>
          <p:cNvSpPr/>
          <p:nvPr/>
        </p:nvSpPr>
        <p:spPr>
          <a:xfrm>
            <a:off x="685800" y="3291840"/>
            <a:ext cx="1645920" cy="182880"/>
          </a:xfrm>
          <a:prstGeom prst="rect">
            <a:avLst/>
          </a:prstGeom>
          <a:noFill/>
          <a:ln/>
        </p:spPr>
        <p:txBody>
          <a:bodyPr wrap="square" lIns="0" tIns="0" rIns="0" bIns="0" rtlCol="0" anchor="ctr"/>
          <a:lstStyle/>
          <a:p>
            <a:pPr indent="0" marL="0">
              <a:buNone/>
            </a:pPr>
            <a:r>
              <a:rPr lang="en-US" sz="1050" b="1" dirty="0">
                <a:solidFill>
                  <a:srgbClr val="14251D"/>
                </a:solidFill>
              </a:rPr>
              <a:t>Land / Security</a:t>
            </a:r>
            <a:endParaRPr lang="en-US" sz="1050" dirty="0"/>
          </a:p>
        </p:txBody>
      </p:sp>
      <p:sp>
        <p:nvSpPr>
          <p:cNvPr id="17" name="Shape 14"/>
          <p:cNvSpPr/>
          <p:nvPr/>
        </p:nvSpPr>
        <p:spPr>
          <a:xfrm>
            <a:off x="2468880" y="3246120"/>
            <a:ext cx="6858000" cy="320040"/>
          </a:xfrm>
          <a:prstGeom prst="rect">
            <a:avLst/>
          </a:prstGeom>
          <a:solidFill>
            <a:srgbClr val="E6E9E7"/>
          </a:solidFill>
          <a:ln w="12700">
            <a:solidFill>
              <a:srgbClr val="E6E9E7"/>
            </a:solidFill>
            <a:prstDash val="solid"/>
          </a:ln>
        </p:spPr>
      </p:sp>
      <p:sp>
        <p:nvSpPr>
          <p:cNvPr id="18" name="Shape 15"/>
          <p:cNvSpPr/>
          <p:nvPr/>
        </p:nvSpPr>
        <p:spPr>
          <a:xfrm>
            <a:off x="2468880" y="3246120"/>
            <a:ext cx="1841133" cy="320040"/>
          </a:xfrm>
          <a:prstGeom prst="rect">
            <a:avLst/>
          </a:prstGeom>
          <a:solidFill>
            <a:srgbClr val="447B71"/>
          </a:solidFill>
          <a:ln w="12700">
            <a:solidFill>
              <a:srgbClr val="447B71"/>
            </a:solidFill>
            <a:prstDash val="solid"/>
          </a:ln>
        </p:spPr>
      </p:sp>
      <p:sp>
        <p:nvSpPr>
          <p:cNvPr id="19" name="Text 16"/>
          <p:cNvSpPr/>
          <p:nvPr/>
        </p:nvSpPr>
        <p:spPr>
          <a:xfrm>
            <a:off x="9528048" y="3291840"/>
            <a:ext cx="1143000" cy="182880"/>
          </a:xfrm>
          <a:prstGeom prst="rect">
            <a:avLst/>
          </a:prstGeom>
          <a:noFill/>
          <a:ln/>
        </p:spPr>
        <p:txBody>
          <a:bodyPr wrap="square" lIns="0" tIns="0" rIns="0" bIns="0" rtlCol="0" anchor="ctr"/>
          <a:lstStyle/>
          <a:p>
            <a:pPr algn="r" indent="0" marL="0">
              <a:buNone/>
            </a:pPr>
            <a:r>
              <a:rPr lang="en-US" sz="1050" b="1" dirty="0">
                <a:solidFill>
                  <a:srgbClr val="447B71"/>
                </a:solidFill>
              </a:rPr>
              <a:t>418 missing</a:t>
            </a:r>
            <a:endParaRPr lang="en-US" sz="1050" dirty="0"/>
          </a:p>
        </p:txBody>
      </p:sp>
      <p:sp>
        <p:nvSpPr>
          <p:cNvPr id="20" name="Text 17"/>
          <p:cNvSpPr/>
          <p:nvPr/>
        </p:nvSpPr>
        <p:spPr>
          <a:xfrm>
            <a:off x="685800" y="4023360"/>
            <a:ext cx="1645920" cy="182880"/>
          </a:xfrm>
          <a:prstGeom prst="rect">
            <a:avLst/>
          </a:prstGeom>
          <a:noFill/>
          <a:ln/>
        </p:spPr>
        <p:txBody>
          <a:bodyPr wrap="square" lIns="0" tIns="0" rIns="0" bIns="0" rtlCol="0" anchor="ctr"/>
          <a:lstStyle/>
          <a:p>
            <a:pPr indent="0" marL="0">
              <a:buNone/>
            </a:pPr>
            <a:r>
              <a:rPr lang="en-US" sz="1050" b="1" dirty="0">
                <a:solidFill>
                  <a:srgbClr val="14251D"/>
                </a:solidFill>
              </a:rPr>
              <a:t>Healing</a:t>
            </a:r>
            <a:endParaRPr lang="en-US" sz="1050" dirty="0"/>
          </a:p>
        </p:txBody>
      </p:sp>
      <p:sp>
        <p:nvSpPr>
          <p:cNvPr id="21" name="Shape 18"/>
          <p:cNvSpPr/>
          <p:nvPr/>
        </p:nvSpPr>
        <p:spPr>
          <a:xfrm>
            <a:off x="2468880" y="3977640"/>
            <a:ext cx="6858000" cy="320040"/>
          </a:xfrm>
          <a:prstGeom prst="rect">
            <a:avLst/>
          </a:prstGeom>
          <a:solidFill>
            <a:srgbClr val="E6E9E7"/>
          </a:solidFill>
          <a:ln w="12700">
            <a:solidFill>
              <a:srgbClr val="E6E9E7"/>
            </a:solidFill>
            <a:prstDash val="solid"/>
          </a:ln>
        </p:spPr>
      </p:sp>
      <p:sp>
        <p:nvSpPr>
          <p:cNvPr id="22" name="Shape 19"/>
          <p:cNvSpPr/>
          <p:nvPr/>
        </p:nvSpPr>
        <p:spPr>
          <a:xfrm>
            <a:off x="2468880" y="3977640"/>
            <a:ext cx="5510185" cy="320040"/>
          </a:xfrm>
          <a:prstGeom prst="rect">
            <a:avLst/>
          </a:prstGeom>
          <a:solidFill>
            <a:srgbClr val="A94E47"/>
          </a:solidFill>
          <a:ln w="12700">
            <a:solidFill>
              <a:srgbClr val="A94E47"/>
            </a:solidFill>
            <a:prstDash val="solid"/>
          </a:ln>
        </p:spPr>
      </p:sp>
      <p:sp>
        <p:nvSpPr>
          <p:cNvPr id="23" name="Text 20"/>
          <p:cNvSpPr/>
          <p:nvPr/>
        </p:nvSpPr>
        <p:spPr>
          <a:xfrm>
            <a:off x="9528048" y="4023360"/>
            <a:ext cx="1143000" cy="182880"/>
          </a:xfrm>
          <a:prstGeom prst="rect">
            <a:avLst/>
          </a:prstGeom>
          <a:noFill/>
          <a:ln/>
        </p:spPr>
        <p:txBody>
          <a:bodyPr wrap="square" lIns="0" tIns="0" rIns="0" bIns="0" rtlCol="0" anchor="ctr"/>
          <a:lstStyle/>
          <a:p>
            <a:pPr algn="r" indent="0" marL="0">
              <a:buNone/>
            </a:pPr>
            <a:r>
              <a:rPr lang="en-US" sz="1050" b="1" dirty="0">
                <a:solidFill>
                  <a:srgbClr val="A94E47"/>
                </a:solidFill>
              </a:rPr>
              <a:t>1,251 missing</a:t>
            </a:r>
            <a:endParaRPr lang="en-US" sz="1050" dirty="0"/>
          </a:p>
        </p:txBody>
      </p:sp>
      <p:sp>
        <p:nvSpPr>
          <p:cNvPr id="24" name="Text 21"/>
          <p:cNvSpPr/>
          <p:nvPr/>
        </p:nvSpPr>
        <p:spPr>
          <a:xfrm>
            <a:off x="685800" y="4754880"/>
            <a:ext cx="1645920" cy="182880"/>
          </a:xfrm>
          <a:prstGeom prst="rect">
            <a:avLst/>
          </a:prstGeom>
          <a:noFill/>
          <a:ln/>
        </p:spPr>
        <p:txBody>
          <a:bodyPr wrap="square" lIns="0" tIns="0" rIns="0" bIns="0" rtlCol="0" anchor="ctr"/>
          <a:lstStyle/>
          <a:p>
            <a:pPr indent="0" marL="0">
              <a:buNone/>
            </a:pPr>
            <a:r>
              <a:rPr lang="en-US" sz="1050" b="1" dirty="0">
                <a:solidFill>
                  <a:srgbClr val="14251D"/>
                </a:solidFill>
              </a:rPr>
              <a:t>Population</a:t>
            </a:r>
            <a:endParaRPr lang="en-US" sz="1050" dirty="0"/>
          </a:p>
        </p:txBody>
      </p:sp>
      <p:sp>
        <p:nvSpPr>
          <p:cNvPr id="25" name="Shape 22"/>
          <p:cNvSpPr/>
          <p:nvPr/>
        </p:nvSpPr>
        <p:spPr>
          <a:xfrm>
            <a:off x="2468880" y="4709160"/>
            <a:ext cx="6858000" cy="320040"/>
          </a:xfrm>
          <a:prstGeom prst="rect">
            <a:avLst/>
          </a:prstGeom>
          <a:solidFill>
            <a:srgbClr val="E6E9E7"/>
          </a:solidFill>
          <a:ln w="12700">
            <a:solidFill>
              <a:srgbClr val="E6E9E7"/>
            </a:solidFill>
            <a:prstDash val="solid"/>
          </a:ln>
        </p:spPr>
      </p:sp>
      <p:sp>
        <p:nvSpPr>
          <p:cNvPr id="26" name="Shape 23"/>
          <p:cNvSpPr/>
          <p:nvPr/>
        </p:nvSpPr>
        <p:spPr>
          <a:xfrm>
            <a:off x="2468880" y="4709160"/>
            <a:ext cx="823665" cy="320040"/>
          </a:xfrm>
          <a:prstGeom prst="rect">
            <a:avLst/>
          </a:prstGeom>
          <a:solidFill>
            <a:srgbClr val="AEB8B2"/>
          </a:solidFill>
          <a:ln w="12700">
            <a:solidFill>
              <a:srgbClr val="AEB8B2"/>
            </a:solidFill>
            <a:prstDash val="solid"/>
          </a:ln>
        </p:spPr>
      </p:sp>
      <p:sp>
        <p:nvSpPr>
          <p:cNvPr id="27" name="Text 24"/>
          <p:cNvSpPr/>
          <p:nvPr/>
        </p:nvSpPr>
        <p:spPr>
          <a:xfrm>
            <a:off x="9528048" y="4754880"/>
            <a:ext cx="1143000" cy="182880"/>
          </a:xfrm>
          <a:prstGeom prst="rect">
            <a:avLst/>
          </a:prstGeom>
          <a:noFill/>
          <a:ln/>
        </p:spPr>
        <p:txBody>
          <a:bodyPr wrap="square" lIns="0" tIns="0" rIns="0" bIns="0" rtlCol="0" anchor="ctr"/>
          <a:lstStyle/>
          <a:p>
            <a:pPr algn="r" indent="0" marL="0">
              <a:buNone/>
            </a:pPr>
            <a:r>
              <a:rPr lang="en-US" sz="1050" b="1" dirty="0">
                <a:solidFill>
                  <a:srgbClr val="AEB8B2"/>
                </a:solidFill>
              </a:rPr>
              <a:t>187 missing</a:t>
            </a:r>
            <a:endParaRPr lang="en-US" sz="1050" dirty="0"/>
          </a:p>
        </p:txBody>
      </p:sp>
      <p:sp>
        <p:nvSpPr>
          <p:cNvPr id="28" name="Shape 25"/>
          <p:cNvSpPr/>
          <p:nvPr/>
        </p:nvSpPr>
        <p:spPr>
          <a:xfrm>
            <a:off x="8001000" y="5468112"/>
            <a:ext cx="3383280" cy="658368"/>
          </a:xfrm>
          <a:prstGeom prst="roundRect">
            <a:avLst>
              <a:gd name="adj" fmla="val 13889"/>
            </a:avLst>
          </a:prstGeom>
          <a:solidFill>
            <a:srgbClr val="F6EEDC"/>
          </a:solidFill>
          <a:ln w="8890">
            <a:solidFill>
              <a:srgbClr val="E0C88F"/>
            </a:solidFill>
            <a:prstDash val="solid"/>
          </a:ln>
          <a:effectLst>
            <a:outerShdw sx="100000" sy="100000" kx="0" ky="0" algn="bl" rotWithShape="0" blurRad="19050" dist="50800" dir="2700000">
              <a:srgbClr val="AAB7AF">
                <a:alpha val="13000"/>
              </a:srgbClr>
            </a:outerShdw>
          </a:effectLst>
        </p:spPr>
      </p:sp>
      <p:sp>
        <p:nvSpPr>
          <p:cNvPr id="29" name="Text 26"/>
          <p:cNvSpPr/>
          <p:nvPr/>
        </p:nvSpPr>
        <p:spPr>
          <a:xfrm>
            <a:off x="8211312" y="5632704"/>
            <a:ext cx="2971800" cy="283464"/>
          </a:xfrm>
          <a:prstGeom prst="rect">
            <a:avLst/>
          </a:prstGeom>
          <a:noFill/>
          <a:ln/>
        </p:spPr>
        <p:txBody>
          <a:bodyPr wrap="square" lIns="0" tIns="0" rIns="0" bIns="0" rtlCol="0" anchor="ctr">
            <a:normAutofit/>
          </a:bodyPr>
          <a:lstStyle/>
          <a:p>
            <a:pPr indent="0" marL="0">
              <a:buNone/>
            </a:pPr>
            <a:r>
              <a:rPr lang="en-US" sz="1050" b="1" dirty="0">
                <a:solidFill>
                  <a:srgbClr val="14251D"/>
                </a:solidFill>
              </a:rPr>
              <a:t>Key limitation: healing analyses use much smaller complete-case samples and should be interpreted cautiously.</a:t>
            </a:r>
            <a:endParaRPr lang="en-US" sz="1050" dirty="0"/>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4.10 • DISCUSSION</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The interface supports bilingual and dark-mode use</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Presentation preferences persist across the multi-page website.</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sp>
        <p:nvSpPr>
          <p:cNvPr id="8" name="Shape 5"/>
          <p:cNvSpPr/>
          <p:nvPr/>
        </p:nvSpPr>
        <p:spPr>
          <a:xfrm>
            <a:off x="530352" y="1563624"/>
            <a:ext cx="5468112" cy="4325112"/>
          </a:xfrm>
          <a:prstGeom prst="roundRect">
            <a:avLst>
              <a:gd name="adj" fmla="val 2114"/>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pic>
        <p:nvPicPr>
          <p:cNvPr id="9" name="Image 0" descr="C:\Users\mossa\OneDrive\Documents\مشروع التخرج\docs\chapter4-screenshots\34-arabic-rtl-home.png">    </p:cNvPr>
          <p:cNvPicPr>
            <a:picLocks noChangeAspect="1"/>
          </p:cNvPicPr>
          <p:nvPr/>
        </p:nvPicPr>
        <p:blipFill>
          <a:blip r:embed="rId1"/>
          <a:stretch>
            <a:fillRect/>
          </a:stretch>
        </p:blipFill>
        <p:spPr>
          <a:xfrm>
            <a:off x="566928" y="1852141"/>
            <a:ext cx="5394960" cy="3748077"/>
          </a:xfrm>
          <a:prstGeom prst="rect">
            <a:avLst/>
          </a:prstGeom>
        </p:spPr>
      </p:pic>
      <p:sp>
        <p:nvSpPr>
          <p:cNvPr id="10" name="Text 6"/>
          <p:cNvSpPr/>
          <p:nvPr/>
        </p:nvSpPr>
        <p:spPr>
          <a:xfrm>
            <a:off x="566928" y="5907024"/>
            <a:ext cx="5394960" cy="219456"/>
          </a:xfrm>
          <a:prstGeom prst="rect">
            <a:avLst/>
          </a:prstGeom>
          <a:noFill/>
          <a:ln/>
        </p:spPr>
        <p:txBody>
          <a:bodyPr wrap="square" lIns="0" tIns="0" rIns="0" bIns="0" rtlCol="0" anchor="ctr">
            <a:normAutofit/>
          </a:bodyPr>
          <a:lstStyle/>
          <a:p>
            <a:pPr algn="ctr" indent="0" marL="0">
              <a:buNone/>
            </a:pPr>
            <a:r>
              <a:rPr lang="en-US" sz="900" i="1" dirty="0">
                <a:solidFill>
                  <a:srgbClr val="65736B"/>
                </a:solidFill>
                <a:latin typeface="Aptos" pitchFamily="34" charset="0"/>
                <a:ea typeface="Aptos" pitchFamily="34" charset="-122"/>
                <a:cs typeface="Aptos" pitchFamily="34" charset="-120"/>
              </a:rPr>
              <a:t>Figure 4.21: Arabic Right-to-Left Interface</a:t>
            </a:r>
            <a:endParaRPr lang="en-US" sz="900" dirty="0"/>
          </a:p>
        </p:txBody>
      </p:sp>
      <p:sp>
        <p:nvSpPr>
          <p:cNvPr id="11" name="Shape 7"/>
          <p:cNvSpPr/>
          <p:nvPr/>
        </p:nvSpPr>
        <p:spPr>
          <a:xfrm>
            <a:off x="6199632" y="1563624"/>
            <a:ext cx="5468112" cy="4325112"/>
          </a:xfrm>
          <a:prstGeom prst="roundRect">
            <a:avLst>
              <a:gd name="adj" fmla="val 2114"/>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pic>
        <p:nvPicPr>
          <p:cNvPr id="12" name="Image 1" descr="C:\Users\mossa\OneDrive\Documents\مشروع التخرج\docs\chapter4-screenshots\35-dark-mode-statistics.png">    </p:cNvPr>
          <p:cNvPicPr>
            <a:picLocks noChangeAspect="1"/>
          </p:cNvPicPr>
          <p:nvPr/>
        </p:nvPicPr>
        <p:blipFill>
          <a:blip r:embed="rId2"/>
          <a:stretch>
            <a:fillRect/>
          </a:stretch>
        </p:blipFill>
        <p:spPr>
          <a:xfrm>
            <a:off x="6236208" y="1852141"/>
            <a:ext cx="5394960" cy="3748077"/>
          </a:xfrm>
          <a:prstGeom prst="rect">
            <a:avLst/>
          </a:prstGeom>
        </p:spPr>
      </p:pic>
      <p:sp>
        <p:nvSpPr>
          <p:cNvPr id="13" name="Text 8"/>
          <p:cNvSpPr/>
          <p:nvPr/>
        </p:nvSpPr>
        <p:spPr>
          <a:xfrm>
            <a:off x="6236208" y="5907024"/>
            <a:ext cx="5394960" cy="219456"/>
          </a:xfrm>
          <a:prstGeom prst="rect">
            <a:avLst/>
          </a:prstGeom>
          <a:noFill/>
          <a:ln/>
        </p:spPr>
        <p:txBody>
          <a:bodyPr wrap="square" lIns="0" tIns="0" rIns="0" bIns="0" rtlCol="0" anchor="ctr">
            <a:normAutofit/>
          </a:bodyPr>
          <a:lstStyle/>
          <a:p>
            <a:pPr algn="ctr" indent="0" marL="0">
              <a:buNone/>
            </a:pPr>
            <a:r>
              <a:rPr lang="en-US" sz="900" i="1" dirty="0">
                <a:solidFill>
                  <a:srgbClr val="65736B"/>
                </a:solidFill>
                <a:latin typeface="Aptos" pitchFamily="34" charset="0"/>
                <a:ea typeface="Aptos" pitchFamily="34" charset="-122"/>
                <a:cs typeface="Aptos" pitchFamily="34" charset="-120"/>
              </a:rPr>
              <a:t>Figure 4.22: Dark-Mode Statistics Interface</a:t>
            </a:r>
            <a:endParaRPr lang="en-US" sz="900" dirty="0"/>
          </a:p>
        </p:txBody>
      </p:sp>
      <p:sp>
        <p:nvSpPr>
          <p:cNvPr id="14" name="Shape 9"/>
          <p:cNvSpPr/>
          <p:nvPr/>
        </p:nvSpPr>
        <p:spPr>
          <a:xfrm>
            <a:off x="2926080" y="6071616"/>
            <a:ext cx="6309360" cy="438912"/>
          </a:xfrm>
          <a:prstGeom prst="roundRect">
            <a:avLst/>
          </a:prstGeom>
          <a:solidFill>
            <a:srgbClr val="F6EEDC"/>
          </a:solidFill>
          <a:ln w="10160">
            <a:solidFill>
              <a:srgbClr val="C8A96A"/>
            </a:solidFill>
            <a:prstDash val="solid"/>
          </a:ln>
        </p:spPr>
      </p:sp>
      <p:sp>
        <p:nvSpPr>
          <p:cNvPr id="15" name="Text 10"/>
          <p:cNvSpPr/>
          <p:nvPr/>
        </p:nvSpPr>
        <p:spPr>
          <a:xfrm>
            <a:off x="3081528" y="6172200"/>
            <a:ext cx="5998464" cy="201168"/>
          </a:xfrm>
          <a:prstGeom prst="rect">
            <a:avLst/>
          </a:prstGeom>
          <a:noFill/>
          <a:ln/>
        </p:spPr>
        <p:txBody>
          <a:bodyPr wrap="square" lIns="0" tIns="0" rIns="0" bIns="0" rtlCol="0" anchor="ctr">
            <a:normAutofit/>
          </a:bodyPr>
          <a:lstStyle/>
          <a:p>
            <a:pPr indent="0" marL="0">
              <a:buNone/>
            </a:pPr>
            <a:r>
              <a:rPr lang="en-US" sz="1050" b="1" dirty="0">
                <a:solidFill>
                  <a:srgbClr val="14251D"/>
                </a:solidFill>
                <a:latin typeface="Aptos" pitchFamily="34" charset="0"/>
                <a:ea typeface="Aptos" pitchFamily="34" charset="-122"/>
                <a:cs typeface="Aptos" pitchFamily="34" charset="-120"/>
              </a:rPr>
              <a:t>Saved preferences remain active across page navigation and refresh.</a:t>
            </a:r>
            <a:endParaRPr lang="en-US" sz="1050" dirty="0"/>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4.11 • SYSTEM RESULT SUMMARY</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The completed platform meets its research-interface goals</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The same database supports discovery, visualization, comparison, and statistical testing.</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sp>
        <p:nvSpPr>
          <p:cNvPr id="8" name="Shape 5"/>
          <p:cNvSpPr/>
          <p:nvPr/>
        </p:nvSpPr>
        <p:spPr>
          <a:xfrm>
            <a:off x="594360" y="1645920"/>
            <a:ext cx="3520440" cy="1664208"/>
          </a:xfrm>
          <a:prstGeom prst="roundRect">
            <a:avLst>
              <a:gd name="adj" fmla="val 549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9" name="Text 6"/>
          <p:cNvSpPr/>
          <p:nvPr/>
        </p:nvSpPr>
        <p:spPr>
          <a:xfrm>
            <a:off x="795528" y="1828800"/>
            <a:ext cx="502920" cy="320040"/>
          </a:xfrm>
          <a:prstGeom prst="rect">
            <a:avLst/>
          </a:prstGeom>
          <a:noFill/>
          <a:ln/>
        </p:spPr>
        <p:txBody>
          <a:bodyPr wrap="square" lIns="0" tIns="0" rIns="0" bIns="0" rtlCol="0" anchor="ctr"/>
          <a:lstStyle/>
          <a:p>
            <a:pPr indent="0" marL="0">
              <a:buNone/>
            </a:pPr>
            <a:r>
              <a:rPr lang="en-US" sz="2300" b="1" dirty="0">
                <a:solidFill>
                  <a:srgbClr val="C8A96A"/>
                </a:solidFill>
                <a:latin typeface="Georgia" pitchFamily="34" charset="0"/>
                <a:ea typeface="Georgia" pitchFamily="34" charset="-122"/>
                <a:cs typeface="Georgia" pitchFamily="34" charset="-120"/>
              </a:rPr>
              <a:t>01</a:t>
            </a:r>
            <a:endParaRPr lang="en-US" sz="2300" dirty="0"/>
          </a:p>
        </p:txBody>
      </p:sp>
      <p:sp>
        <p:nvSpPr>
          <p:cNvPr id="10" name="Text 7"/>
          <p:cNvSpPr/>
          <p:nvPr/>
        </p:nvSpPr>
        <p:spPr>
          <a:xfrm>
            <a:off x="1453896" y="1856232"/>
            <a:ext cx="2286000" cy="182880"/>
          </a:xfrm>
          <a:prstGeom prst="rect">
            <a:avLst/>
          </a:prstGeom>
          <a:noFill/>
          <a:ln/>
        </p:spPr>
        <p:txBody>
          <a:bodyPr wrap="square" lIns="0" tIns="0" rIns="0" bIns="0" rtlCol="0" anchor="ctr"/>
          <a:lstStyle/>
          <a:p>
            <a:pPr indent="0" marL="0">
              <a:buNone/>
            </a:pPr>
            <a:r>
              <a:rPr lang="en-US" sz="1000" b="1" spc="80" kern="0" dirty="0">
                <a:solidFill>
                  <a:srgbClr val="123524"/>
                </a:solidFill>
              </a:rPr>
              <a:t>EXPLORE</a:t>
            </a:r>
            <a:endParaRPr lang="en-US" sz="1000" dirty="0"/>
          </a:p>
        </p:txBody>
      </p:sp>
      <p:sp>
        <p:nvSpPr>
          <p:cNvPr id="11" name="Text 8"/>
          <p:cNvSpPr/>
          <p:nvPr/>
        </p:nvSpPr>
        <p:spPr>
          <a:xfrm>
            <a:off x="822960" y="2432304"/>
            <a:ext cx="2999232" cy="530352"/>
          </a:xfrm>
          <a:prstGeom prst="rect">
            <a:avLst/>
          </a:prstGeom>
          <a:noFill/>
          <a:ln/>
        </p:spPr>
        <p:txBody>
          <a:bodyPr wrap="square" lIns="0" tIns="0" rIns="0" bIns="0" rtlCol="0" anchor="ctr">
            <a:normAutofit/>
          </a:bodyPr>
          <a:lstStyle/>
          <a:p>
            <a:pPr indent="0" marL="0">
              <a:buNone/>
            </a:pPr>
            <a:r>
              <a:rPr lang="en-US" sz="1200" b="1" dirty="0">
                <a:solidFill>
                  <a:srgbClr val="14251D"/>
                </a:solidFill>
              </a:rPr>
              <a:t>Search, filters, sorting, pagination, detail dialog</a:t>
            </a:r>
            <a:endParaRPr lang="en-US" sz="1200" dirty="0"/>
          </a:p>
        </p:txBody>
      </p:sp>
      <p:sp>
        <p:nvSpPr>
          <p:cNvPr id="12" name="Shape 9"/>
          <p:cNvSpPr/>
          <p:nvPr/>
        </p:nvSpPr>
        <p:spPr>
          <a:xfrm>
            <a:off x="4416552" y="1645920"/>
            <a:ext cx="3520440" cy="1664208"/>
          </a:xfrm>
          <a:prstGeom prst="roundRect">
            <a:avLst>
              <a:gd name="adj" fmla="val 549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13" name="Text 10"/>
          <p:cNvSpPr/>
          <p:nvPr/>
        </p:nvSpPr>
        <p:spPr>
          <a:xfrm>
            <a:off x="4617720" y="1828800"/>
            <a:ext cx="502920" cy="320040"/>
          </a:xfrm>
          <a:prstGeom prst="rect">
            <a:avLst/>
          </a:prstGeom>
          <a:noFill/>
          <a:ln/>
        </p:spPr>
        <p:txBody>
          <a:bodyPr wrap="square" lIns="0" tIns="0" rIns="0" bIns="0" rtlCol="0" anchor="ctr"/>
          <a:lstStyle/>
          <a:p>
            <a:pPr indent="0" marL="0">
              <a:buNone/>
            </a:pPr>
            <a:r>
              <a:rPr lang="en-US" sz="2300" b="1" dirty="0">
                <a:solidFill>
                  <a:srgbClr val="C8A96A"/>
                </a:solidFill>
                <a:latin typeface="Georgia" pitchFamily="34" charset="0"/>
                <a:ea typeface="Georgia" pitchFamily="34" charset="-122"/>
                <a:cs typeface="Georgia" pitchFamily="34" charset="-120"/>
              </a:rPr>
              <a:t>02</a:t>
            </a:r>
            <a:endParaRPr lang="en-US" sz="2300" dirty="0"/>
          </a:p>
        </p:txBody>
      </p:sp>
      <p:sp>
        <p:nvSpPr>
          <p:cNvPr id="14" name="Text 11"/>
          <p:cNvSpPr/>
          <p:nvPr/>
        </p:nvSpPr>
        <p:spPr>
          <a:xfrm>
            <a:off x="5276088" y="1856232"/>
            <a:ext cx="2286000" cy="182880"/>
          </a:xfrm>
          <a:prstGeom prst="rect">
            <a:avLst/>
          </a:prstGeom>
          <a:noFill/>
          <a:ln/>
        </p:spPr>
        <p:txBody>
          <a:bodyPr wrap="square" lIns="0" tIns="0" rIns="0" bIns="0" rtlCol="0" anchor="ctr"/>
          <a:lstStyle/>
          <a:p>
            <a:pPr indent="0" marL="0">
              <a:buNone/>
            </a:pPr>
            <a:r>
              <a:rPr lang="en-US" sz="1000" b="1" spc="80" kern="0" dirty="0">
                <a:solidFill>
                  <a:srgbClr val="123524"/>
                </a:solidFill>
              </a:rPr>
              <a:t>MAP</a:t>
            </a:r>
            <a:endParaRPr lang="en-US" sz="1000" dirty="0"/>
          </a:p>
        </p:txBody>
      </p:sp>
      <p:sp>
        <p:nvSpPr>
          <p:cNvPr id="15" name="Text 12"/>
          <p:cNvSpPr/>
          <p:nvPr/>
        </p:nvSpPr>
        <p:spPr>
          <a:xfrm>
            <a:off x="4645152" y="2432304"/>
            <a:ext cx="2999232" cy="530352"/>
          </a:xfrm>
          <a:prstGeom prst="rect">
            <a:avLst/>
          </a:prstGeom>
          <a:noFill/>
          <a:ln/>
        </p:spPr>
        <p:txBody>
          <a:bodyPr wrap="square" lIns="0" tIns="0" rIns="0" bIns="0" rtlCol="0" anchor="ctr">
            <a:normAutofit/>
          </a:bodyPr>
          <a:lstStyle/>
          <a:p>
            <a:pPr indent="0" marL="0">
              <a:buNone/>
            </a:pPr>
            <a:r>
              <a:rPr lang="en-US" sz="1200" b="1" dirty="0">
                <a:solidFill>
                  <a:srgbClr val="14251D"/>
                </a:solidFill>
              </a:rPr>
              <a:t>Five live continent totals and marker navigation</a:t>
            </a:r>
            <a:endParaRPr lang="en-US" sz="1200" dirty="0"/>
          </a:p>
        </p:txBody>
      </p:sp>
      <p:sp>
        <p:nvSpPr>
          <p:cNvPr id="16" name="Shape 13"/>
          <p:cNvSpPr/>
          <p:nvPr/>
        </p:nvSpPr>
        <p:spPr>
          <a:xfrm>
            <a:off x="8238744" y="1645920"/>
            <a:ext cx="3520440" cy="1664208"/>
          </a:xfrm>
          <a:prstGeom prst="roundRect">
            <a:avLst>
              <a:gd name="adj" fmla="val 549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17" name="Text 14"/>
          <p:cNvSpPr/>
          <p:nvPr/>
        </p:nvSpPr>
        <p:spPr>
          <a:xfrm>
            <a:off x="8439912" y="1828800"/>
            <a:ext cx="502920" cy="320040"/>
          </a:xfrm>
          <a:prstGeom prst="rect">
            <a:avLst/>
          </a:prstGeom>
          <a:noFill/>
          <a:ln/>
        </p:spPr>
        <p:txBody>
          <a:bodyPr wrap="square" lIns="0" tIns="0" rIns="0" bIns="0" rtlCol="0" anchor="ctr"/>
          <a:lstStyle/>
          <a:p>
            <a:pPr indent="0" marL="0">
              <a:buNone/>
            </a:pPr>
            <a:r>
              <a:rPr lang="en-US" sz="2300" b="1" dirty="0">
                <a:solidFill>
                  <a:srgbClr val="C8A96A"/>
                </a:solidFill>
                <a:latin typeface="Georgia" pitchFamily="34" charset="0"/>
                <a:ea typeface="Georgia" pitchFamily="34" charset="-122"/>
                <a:cs typeface="Georgia" pitchFamily="34" charset="-120"/>
              </a:rPr>
              <a:t>03</a:t>
            </a:r>
            <a:endParaRPr lang="en-US" sz="2300" dirty="0"/>
          </a:p>
        </p:txBody>
      </p:sp>
      <p:sp>
        <p:nvSpPr>
          <p:cNvPr id="18" name="Text 15"/>
          <p:cNvSpPr/>
          <p:nvPr/>
        </p:nvSpPr>
        <p:spPr>
          <a:xfrm>
            <a:off x="9098280" y="1856232"/>
            <a:ext cx="2286000" cy="182880"/>
          </a:xfrm>
          <a:prstGeom prst="rect">
            <a:avLst/>
          </a:prstGeom>
          <a:noFill/>
          <a:ln/>
        </p:spPr>
        <p:txBody>
          <a:bodyPr wrap="square" lIns="0" tIns="0" rIns="0" bIns="0" rtlCol="0" anchor="ctr"/>
          <a:lstStyle/>
          <a:p>
            <a:pPr indent="0" marL="0">
              <a:buNone/>
            </a:pPr>
            <a:r>
              <a:rPr lang="en-US" sz="1000" b="1" spc="80" kern="0" dirty="0">
                <a:solidFill>
                  <a:srgbClr val="123524"/>
                </a:solidFill>
              </a:rPr>
              <a:t>DESCRIBE</a:t>
            </a:r>
            <a:endParaRPr lang="en-US" sz="1000" dirty="0"/>
          </a:p>
        </p:txBody>
      </p:sp>
      <p:sp>
        <p:nvSpPr>
          <p:cNvPr id="19" name="Text 16"/>
          <p:cNvSpPr/>
          <p:nvPr/>
        </p:nvSpPr>
        <p:spPr>
          <a:xfrm>
            <a:off x="8467344" y="2432304"/>
            <a:ext cx="2999232" cy="530352"/>
          </a:xfrm>
          <a:prstGeom prst="rect">
            <a:avLst/>
          </a:prstGeom>
          <a:noFill/>
          <a:ln/>
        </p:spPr>
        <p:txBody>
          <a:bodyPr wrap="square" lIns="0" tIns="0" rIns="0" bIns="0" rtlCol="0" anchor="ctr">
            <a:normAutofit/>
          </a:bodyPr>
          <a:lstStyle/>
          <a:p>
            <a:pPr indent="0" marL="0">
              <a:buNone/>
            </a:pPr>
            <a:r>
              <a:rPr lang="en-US" sz="1200" b="1" dirty="0">
                <a:solidFill>
                  <a:srgbClr val="14251D"/>
                </a:solidFill>
              </a:rPr>
              <a:t>Scoped dashboard with seven dynamic charts</a:t>
            </a:r>
            <a:endParaRPr lang="en-US" sz="1200" dirty="0"/>
          </a:p>
        </p:txBody>
      </p:sp>
      <p:sp>
        <p:nvSpPr>
          <p:cNvPr id="20" name="Shape 17"/>
          <p:cNvSpPr/>
          <p:nvPr/>
        </p:nvSpPr>
        <p:spPr>
          <a:xfrm>
            <a:off x="594360" y="3657600"/>
            <a:ext cx="3520440" cy="1664208"/>
          </a:xfrm>
          <a:prstGeom prst="roundRect">
            <a:avLst>
              <a:gd name="adj" fmla="val 549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21" name="Text 18"/>
          <p:cNvSpPr/>
          <p:nvPr/>
        </p:nvSpPr>
        <p:spPr>
          <a:xfrm>
            <a:off x="795528" y="3840480"/>
            <a:ext cx="502920" cy="320040"/>
          </a:xfrm>
          <a:prstGeom prst="rect">
            <a:avLst/>
          </a:prstGeom>
          <a:noFill/>
          <a:ln/>
        </p:spPr>
        <p:txBody>
          <a:bodyPr wrap="square" lIns="0" tIns="0" rIns="0" bIns="0" rtlCol="0" anchor="ctr"/>
          <a:lstStyle/>
          <a:p>
            <a:pPr indent="0" marL="0">
              <a:buNone/>
            </a:pPr>
            <a:r>
              <a:rPr lang="en-US" sz="2300" b="1" dirty="0">
                <a:solidFill>
                  <a:srgbClr val="C8A96A"/>
                </a:solidFill>
                <a:latin typeface="Georgia" pitchFamily="34" charset="0"/>
                <a:ea typeface="Georgia" pitchFamily="34" charset="-122"/>
                <a:cs typeface="Georgia" pitchFamily="34" charset="-120"/>
              </a:rPr>
              <a:t>04</a:t>
            </a:r>
            <a:endParaRPr lang="en-US" sz="2300" dirty="0"/>
          </a:p>
        </p:txBody>
      </p:sp>
      <p:sp>
        <p:nvSpPr>
          <p:cNvPr id="22" name="Text 19"/>
          <p:cNvSpPr/>
          <p:nvPr/>
        </p:nvSpPr>
        <p:spPr>
          <a:xfrm>
            <a:off x="1453896" y="3867912"/>
            <a:ext cx="2286000" cy="182880"/>
          </a:xfrm>
          <a:prstGeom prst="rect">
            <a:avLst/>
          </a:prstGeom>
          <a:noFill/>
          <a:ln/>
        </p:spPr>
        <p:txBody>
          <a:bodyPr wrap="square" lIns="0" tIns="0" rIns="0" bIns="0" rtlCol="0" anchor="ctr"/>
          <a:lstStyle/>
          <a:p>
            <a:pPr indent="0" marL="0">
              <a:buNone/>
            </a:pPr>
            <a:r>
              <a:rPr lang="en-US" sz="1000" b="1" spc="80" kern="0" dirty="0">
                <a:solidFill>
                  <a:srgbClr val="123524"/>
                </a:solidFill>
              </a:rPr>
              <a:t>COMPARE</a:t>
            </a:r>
            <a:endParaRPr lang="en-US" sz="1000" dirty="0"/>
          </a:p>
        </p:txBody>
      </p:sp>
      <p:sp>
        <p:nvSpPr>
          <p:cNvPr id="23" name="Text 20"/>
          <p:cNvSpPr/>
          <p:nvPr/>
        </p:nvSpPr>
        <p:spPr>
          <a:xfrm>
            <a:off x="822960" y="4443984"/>
            <a:ext cx="2999232" cy="530352"/>
          </a:xfrm>
          <a:prstGeom prst="rect">
            <a:avLst/>
          </a:prstGeom>
          <a:noFill/>
          <a:ln/>
        </p:spPr>
        <p:txBody>
          <a:bodyPr wrap="square" lIns="0" tIns="0" rIns="0" bIns="0" rtlCol="0" anchor="ctr">
            <a:normAutofit/>
          </a:bodyPr>
          <a:lstStyle/>
          <a:p>
            <a:pPr indent="0" marL="0">
              <a:buNone/>
            </a:pPr>
            <a:r>
              <a:rPr lang="en-US" sz="1200" b="1" dirty="0">
                <a:solidFill>
                  <a:srgbClr val="14251D"/>
                </a:solidFill>
              </a:rPr>
              <a:t>Country, continent, and region profiles</a:t>
            </a:r>
            <a:endParaRPr lang="en-US" sz="1200" dirty="0"/>
          </a:p>
        </p:txBody>
      </p:sp>
      <p:sp>
        <p:nvSpPr>
          <p:cNvPr id="24" name="Shape 21"/>
          <p:cNvSpPr/>
          <p:nvPr/>
        </p:nvSpPr>
        <p:spPr>
          <a:xfrm>
            <a:off x="4416552" y="3657600"/>
            <a:ext cx="3520440" cy="1664208"/>
          </a:xfrm>
          <a:prstGeom prst="roundRect">
            <a:avLst>
              <a:gd name="adj" fmla="val 549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25" name="Text 22"/>
          <p:cNvSpPr/>
          <p:nvPr/>
        </p:nvSpPr>
        <p:spPr>
          <a:xfrm>
            <a:off x="4617720" y="3840480"/>
            <a:ext cx="502920" cy="320040"/>
          </a:xfrm>
          <a:prstGeom prst="rect">
            <a:avLst/>
          </a:prstGeom>
          <a:noFill/>
          <a:ln/>
        </p:spPr>
        <p:txBody>
          <a:bodyPr wrap="square" lIns="0" tIns="0" rIns="0" bIns="0" rtlCol="0" anchor="ctr"/>
          <a:lstStyle/>
          <a:p>
            <a:pPr indent="0" marL="0">
              <a:buNone/>
            </a:pPr>
            <a:r>
              <a:rPr lang="en-US" sz="2300" b="1" dirty="0">
                <a:solidFill>
                  <a:srgbClr val="C8A96A"/>
                </a:solidFill>
                <a:latin typeface="Georgia" pitchFamily="34" charset="0"/>
                <a:ea typeface="Georgia" pitchFamily="34" charset="-122"/>
                <a:cs typeface="Georgia" pitchFamily="34" charset="-120"/>
              </a:rPr>
              <a:t>05</a:t>
            </a:r>
            <a:endParaRPr lang="en-US" sz="2300" dirty="0"/>
          </a:p>
        </p:txBody>
      </p:sp>
      <p:sp>
        <p:nvSpPr>
          <p:cNvPr id="26" name="Text 23"/>
          <p:cNvSpPr/>
          <p:nvPr/>
        </p:nvSpPr>
        <p:spPr>
          <a:xfrm>
            <a:off x="5276088" y="3867912"/>
            <a:ext cx="2286000" cy="182880"/>
          </a:xfrm>
          <a:prstGeom prst="rect">
            <a:avLst/>
          </a:prstGeom>
          <a:noFill/>
          <a:ln/>
        </p:spPr>
        <p:txBody>
          <a:bodyPr wrap="square" lIns="0" tIns="0" rIns="0" bIns="0" rtlCol="0" anchor="ctr"/>
          <a:lstStyle/>
          <a:p>
            <a:pPr indent="0" marL="0">
              <a:buNone/>
            </a:pPr>
            <a:r>
              <a:rPr lang="en-US" sz="1000" b="1" spc="80" kern="0" dirty="0">
                <a:solidFill>
                  <a:srgbClr val="123524"/>
                </a:solidFill>
              </a:rPr>
              <a:t>ANALYZE</a:t>
            </a:r>
            <a:endParaRPr lang="en-US" sz="1000" dirty="0"/>
          </a:p>
        </p:txBody>
      </p:sp>
      <p:sp>
        <p:nvSpPr>
          <p:cNvPr id="27" name="Text 24"/>
          <p:cNvSpPr/>
          <p:nvPr/>
        </p:nvSpPr>
        <p:spPr>
          <a:xfrm>
            <a:off x="4645152" y="4443984"/>
            <a:ext cx="2999232" cy="530352"/>
          </a:xfrm>
          <a:prstGeom prst="rect">
            <a:avLst/>
          </a:prstGeom>
          <a:noFill/>
          <a:ln/>
        </p:spPr>
        <p:txBody>
          <a:bodyPr wrap="square" lIns="0" tIns="0" rIns="0" bIns="0" rtlCol="0" anchor="ctr">
            <a:normAutofit/>
          </a:bodyPr>
          <a:lstStyle/>
          <a:p>
            <a:pPr indent="0" marL="0">
              <a:buNone/>
            </a:pPr>
            <a:r>
              <a:rPr lang="en-US" sz="1200" b="1" dirty="0">
                <a:solidFill>
                  <a:srgbClr val="14251D"/>
                </a:solidFill>
              </a:rPr>
              <a:t>Predefined tests plus a dynamic method selector</a:t>
            </a:r>
            <a:endParaRPr lang="en-US" sz="1200" dirty="0"/>
          </a:p>
        </p:txBody>
      </p:sp>
      <p:sp>
        <p:nvSpPr>
          <p:cNvPr id="28" name="Shape 25"/>
          <p:cNvSpPr/>
          <p:nvPr/>
        </p:nvSpPr>
        <p:spPr>
          <a:xfrm>
            <a:off x="8238744" y="3657600"/>
            <a:ext cx="3520440" cy="1664208"/>
          </a:xfrm>
          <a:prstGeom prst="roundRect">
            <a:avLst>
              <a:gd name="adj" fmla="val 549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29" name="Text 26"/>
          <p:cNvSpPr/>
          <p:nvPr/>
        </p:nvSpPr>
        <p:spPr>
          <a:xfrm>
            <a:off x="8439912" y="3840480"/>
            <a:ext cx="502920" cy="320040"/>
          </a:xfrm>
          <a:prstGeom prst="rect">
            <a:avLst/>
          </a:prstGeom>
          <a:noFill/>
          <a:ln/>
        </p:spPr>
        <p:txBody>
          <a:bodyPr wrap="square" lIns="0" tIns="0" rIns="0" bIns="0" rtlCol="0" anchor="ctr"/>
          <a:lstStyle/>
          <a:p>
            <a:pPr indent="0" marL="0">
              <a:buNone/>
            </a:pPr>
            <a:r>
              <a:rPr lang="en-US" sz="2300" b="1" dirty="0">
                <a:solidFill>
                  <a:srgbClr val="C8A96A"/>
                </a:solidFill>
                <a:latin typeface="Georgia" pitchFamily="34" charset="0"/>
                <a:ea typeface="Georgia" pitchFamily="34" charset="-122"/>
                <a:cs typeface="Georgia" pitchFamily="34" charset="-120"/>
              </a:rPr>
              <a:t>06</a:t>
            </a:r>
            <a:endParaRPr lang="en-US" sz="2300" dirty="0"/>
          </a:p>
        </p:txBody>
      </p:sp>
      <p:sp>
        <p:nvSpPr>
          <p:cNvPr id="30" name="Text 27"/>
          <p:cNvSpPr/>
          <p:nvPr/>
        </p:nvSpPr>
        <p:spPr>
          <a:xfrm>
            <a:off x="9098280" y="3867912"/>
            <a:ext cx="2286000" cy="182880"/>
          </a:xfrm>
          <a:prstGeom prst="rect">
            <a:avLst/>
          </a:prstGeom>
          <a:noFill/>
          <a:ln/>
        </p:spPr>
        <p:txBody>
          <a:bodyPr wrap="square" lIns="0" tIns="0" rIns="0" bIns="0" rtlCol="0" anchor="ctr"/>
          <a:lstStyle/>
          <a:p>
            <a:pPr indent="0" marL="0">
              <a:buNone/>
            </a:pPr>
            <a:r>
              <a:rPr lang="en-US" sz="1000" b="1" spc="80" kern="0" dirty="0">
                <a:solidFill>
                  <a:srgbClr val="123524"/>
                </a:solidFill>
              </a:rPr>
              <a:t>PRESENT</a:t>
            </a:r>
            <a:endParaRPr lang="en-US" sz="1000" dirty="0"/>
          </a:p>
        </p:txBody>
      </p:sp>
      <p:sp>
        <p:nvSpPr>
          <p:cNvPr id="31" name="Text 28"/>
          <p:cNvSpPr/>
          <p:nvPr/>
        </p:nvSpPr>
        <p:spPr>
          <a:xfrm>
            <a:off x="8467344" y="4443984"/>
            <a:ext cx="2999232" cy="530352"/>
          </a:xfrm>
          <a:prstGeom prst="rect">
            <a:avLst/>
          </a:prstGeom>
          <a:noFill/>
          <a:ln/>
        </p:spPr>
        <p:txBody>
          <a:bodyPr wrap="square" lIns="0" tIns="0" rIns="0" bIns="0" rtlCol="0" anchor="ctr">
            <a:normAutofit/>
          </a:bodyPr>
          <a:lstStyle/>
          <a:p>
            <a:pPr indent="0" marL="0">
              <a:buNone/>
            </a:pPr>
            <a:r>
              <a:rPr lang="en-US" sz="1200" b="1" dirty="0">
                <a:solidFill>
                  <a:srgbClr val="14251D"/>
                </a:solidFill>
              </a:rPr>
              <a:t>Responsive, bilingual, accessible, dark-mode interface</a:t>
            </a:r>
            <a:endParaRPr lang="en-US" sz="1200" dirty="0"/>
          </a:p>
        </p:txBody>
      </p:sp>
      <p:sp>
        <p:nvSpPr>
          <p:cNvPr id="32" name="Shape 29"/>
          <p:cNvSpPr/>
          <p:nvPr/>
        </p:nvSpPr>
        <p:spPr>
          <a:xfrm>
            <a:off x="548640" y="5687568"/>
            <a:ext cx="2130552"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33" name="Shape 30"/>
          <p:cNvSpPr/>
          <p:nvPr/>
        </p:nvSpPr>
        <p:spPr>
          <a:xfrm>
            <a:off x="548640" y="5687568"/>
            <a:ext cx="54864" cy="777240"/>
          </a:xfrm>
          <a:prstGeom prst="rect">
            <a:avLst/>
          </a:prstGeom>
          <a:solidFill>
            <a:srgbClr val="123524"/>
          </a:solidFill>
          <a:ln w="12700">
            <a:solidFill>
              <a:srgbClr val="123524"/>
            </a:solidFill>
            <a:prstDash val="solid"/>
          </a:ln>
        </p:spPr>
      </p:sp>
      <p:sp>
        <p:nvSpPr>
          <p:cNvPr id="34" name="Text 31"/>
          <p:cNvSpPr/>
          <p:nvPr/>
        </p:nvSpPr>
        <p:spPr>
          <a:xfrm>
            <a:off x="713232" y="5806440"/>
            <a:ext cx="1856232"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GROUPS</a:t>
            </a:r>
            <a:endParaRPr lang="en-US" sz="780" dirty="0"/>
          </a:p>
        </p:txBody>
      </p:sp>
      <p:sp>
        <p:nvSpPr>
          <p:cNvPr id="35" name="Text 32"/>
          <p:cNvSpPr/>
          <p:nvPr/>
        </p:nvSpPr>
        <p:spPr>
          <a:xfrm>
            <a:off x="713232" y="6007608"/>
            <a:ext cx="1856232"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1,557</a:t>
            </a:r>
            <a:endParaRPr lang="en-US" sz="1800" dirty="0"/>
          </a:p>
        </p:txBody>
      </p:sp>
      <p:sp>
        <p:nvSpPr>
          <p:cNvPr id="36" name="Shape 33"/>
          <p:cNvSpPr/>
          <p:nvPr/>
        </p:nvSpPr>
        <p:spPr>
          <a:xfrm>
            <a:off x="2788920" y="5687568"/>
            <a:ext cx="2130552"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37" name="Shape 34"/>
          <p:cNvSpPr/>
          <p:nvPr/>
        </p:nvSpPr>
        <p:spPr>
          <a:xfrm>
            <a:off x="2788920" y="5687568"/>
            <a:ext cx="54864" cy="777240"/>
          </a:xfrm>
          <a:prstGeom prst="rect">
            <a:avLst/>
          </a:prstGeom>
          <a:solidFill>
            <a:srgbClr val="123524"/>
          </a:solidFill>
          <a:ln w="12700">
            <a:solidFill>
              <a:srgbClr val="123524"/>
            </a:solidFill>
            <a:prstDash val="solid"/>
          </a:ln>
        </p:spPr>
      </p:sp>
      <p:sp>
        <p:nvSpPr>
          <p:cNvPr id="38" name="Text 35"/>
          <p:cNvSpPr/>
          <p:nvPr/>
        </p:nvSpPr>
        <p:spPr>
          <a:xfrm>
            <a:off x="2953512" y="5806440"/>
            <a:ext cx="1856232"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COUNTRIES</a:t>
            </a:r>
            <a:endParaRPr lang="en-US" sz="780" dirty="0"/>
          </a:p>
        </p:txBody>
      </p:sp>
      <p:sp>
        <p:nvSpPr>
          <p:cNvPr id="39" name="Text 36"/>
          <p:cNvSpPr/>
          <p:nvPr/>
        </p:nvSpPr>
        <p:spPr>
          <a:xfrm>
            <a:off x="2953512" y="6007608"/>
            <a:ext cx="1856232"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130</a:t>
            </a:r>
            <a:endParaRPr lang="en-US" sz="1800" dirty="0"/>
          </a:p>
        </p:txBody>
      </p:sp>
      <p:sp>
        <p:nvSpPr>
          <p:cNvPr id="40" name="Shape 37"/>
          <p:cNvSpPr/>
          <p:nvPr/>
        </p:nvSpPr>
        <p:spPr>
          <a:xfrm>
            <a:off x="5029200" y="5687568"/>
            <a:ext cx="2130552"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41" name="Shape 38"/>
          <p:cNvSpPr/>
          <p:nvPr/>
        </p:nvSpPr>
        <p:spPr>
          <a:xfrm>
            <a:off x="5029200" y="5687568"/>
            <a:ext cx="54864" cy="777240"/>
          </a:xfrm>
          <a:prstGeom prst="rect">
            <a:avLst/>
          </a:prstGeom>
          <a:solidFill>
            <a:srgbClr val="123524"/>
          </a:solidFill>
          <a:ln w="12700">
            <a:solidFill>
              <a:srgbClr val="123524"/>
            </a:solidFill>
            <a:prstDash val="solid"/>
          </a:ln>
        </p:spPr>
      </p:sp>
      <p:sp>
        <p:nvSpPr>
          <p:cNvPr id="42" name="Text 39"/>
          <p:cNvSpPr/>
          <p:nvPr/>
        </p:nvSpPr>
        <p:spPr>
          <a:xfrm>
            <a:off x="5193792" y="5806440"/>
            <a:ext cx="1856232"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CONTINENTS</a:t>
            </a:r>
            <a:endParaRPr lang="en-US" sz="780" dirty="0"/>
          </a:p>
        </p:txBody>
      </p:sp>
      <p:sp>
        <p:nvSpPr>
          <p:cNvPr id="43" name="Text 40"/>
          <p:cNvSpPr/>
          <p:nvPr/>
        </p:nvSpPr>
        <p:spPr>
          <a:xfrm>
            <a:off x="5193792" y="6007608"/>
            <a:ext cx="1856232"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5</a:t>
            </a:r>
            <a:endParaRPr lang="en-US" sz="1800" dirty="0"/>
          </a:p>
        </p:txBody>
      </p:sp>
      <p:sp>
        <p:nvSpPr>
          <p:cNvPr id="44" name="Shape 41"/>
          <p:cNvSpPr/>
          <p:nvPr/>
        </p:nvSpPr>
        <p:spPr>
          <a:xfrm>
            <a:off x="7269480" y="5687568"/>
            <a:ext cx="2130552"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45" name="Shape 42"/>
          <p:cNvSpPr/>
          <p:nvPr/>
        </p:nvSpPr>
        <p:spPr>
          <a:xfrm>
            <a:off x="7269480" y="5687568"/>
            <a:ext cx="54864" cy="777240"/>
          </a:xfrm>
          <a:prstGeom prst="rect">
            <a:avLst/>
          </a:prstGeom>
          <a:solidFill>
            <a:srgbClr val="123524"/>
          </a:solidFill>
          <a:ln w="12700">
            <a:solidFill>
              <a:srgbClr val="123524"/>
            </a:solidFill>
            <a:prstDash val="solid"/>
          </a:ln>
        </p:spPr>
      </p:sp>
      <p:sp>
        <p:nvSpPr>
          <p:cNvPr id="46" name="Text 43"/>
          <p:cNvSpPr/>
          <p:nvPr/>
        </p:nvSpPr>
        <p:spPr>
          <a:xfrm>
            <a:off x="7434072" y="5806440"/>
            <a:ext cx="1856232"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RECOGNIZED</a:t>
            </a:r>
            <a:endParaRPr lang="en-US" sz="780" dirty="0"/>
          </a:p>
        </p:txBody>
      </p:sp>
      <p:sp>
        <p:nvSpPr>
          <p:cNvPr id="47" name="Text 44"/>
          <p:cNvSpPr/>
          <p:nvPr/>
        </p:nvSpPr>
        <p:spPr>
          <a:xfrm>
            <a:off x="7434072" y="6007608"/>
            <a:ext cx="1856232"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744</a:t>
            </a:r>
            <a:endParaRPr lang="en-US" sz="1800" dirty="0"/>
          </a:p>
        </p:txBody>
      </p:sp>
      <p:sp>
        <p:nvSpPr>
          <p:cNvPr id="48" name="Shape 45"/>
          <p:cNvSpPr/>
          <p:nvPr/>
        </p:nvSpPr>
        <p:spPr>
          <a:xfrm>
            <a:off x="9509760" y="5687568"/>
            <a:ext cx="2130552"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49" name="Shape 46"/>
          <p:cNvSpPr/>
          <p:nvPr/>
        </p:nvSpPr>
        <p:spPr>
          <a:xfrm>
            <a:off x="9509760" y="5687568"/>
            <a:ext cx="54864" cy="777240"/>
          </a:xfrm>
          <a:prstGeom prst="rect">
            <a:avLst/>
          </a:prstGeom>
          <a:solidFill>
            <a:srgbClr val="123524"/>
          </a:solidFill>
          <a:ln w="12700">
            <a:solidFill>
              <a:srgbClr val="123524"/>
            </a:solidFill>
            <a:prstDash val="solid"/>
          </a:ln>
        </p:spPr>
      </p:sp>
      <p:sp>
        <p:nvSpPr>
          <p:cNvPr id="50" name="Text 47"/>
          <p:cNvSpPr/>
          <p:nvPr/>
        </p:nvSpPr>
        <p:spPr>
          <a:xfrm>
            <a:off x="9674352" y="5806440"/>
            <a:ext cx="1856232"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API ERRORS</a:t>
            </a:r>
            <a:endParaRPr lang="en-US" sz="780" dirty="0"/>
          </a:p>
        </p:txBody>
      </p:sp>
      <p:sp>
        <p:nvSpPr>
          <p:cNvPr id="51" name="Text 48"/>
          <p:cNvSpPr/>
          <p:nvPr/>
        </p:nvSpPr>
        <p:spPr>
          <a:xfrm>
            <a:off x="9674352" y="6007608"/>
            <a:ext cx="1856232"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0</a:t>
            </a:r>
            <a:endParaRPr lang="en-US" sz="1800" dirty="0"/>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4.12 • CHAPTER SUMMARY</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Chapter 4 established both technical and analytical outcomes</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The platform is functional, evidence-based, and ready to support the final conclusions.</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sp>
        <p:nvSpPr>
          <p:cNvPr id="8" name="Shape 5"/>
          <p:cNvSpPr/>
          <p:nvPr/>
        </p:nvSpPr>
        <p:spPr>
          <a:xfrm>
            <a:off x="658368" y="1691640"/>
            <a:ext cx="6537960" cy="4114800"/>
          </a:xfrm>
          <a:prstGeom prst="roundRect">
            <a:avLst>
              <a:gd name="adj" fmla="val 2222"/>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sp>
      <p:sp>
        <p:nvSpPr>
          <p:cNvPr id="9" name="Text 6"/>
          <p:cNvSpPr/>
          <p:nvPr/>
        </p:nvSpPr>
        <p:spPr>
          <a:xfrm>
            <a:off x="987552" y="2011680"/>
            <a:ext cx="3474720" cy="329184"/>
          </a:xfrm>
          <a:prstGeom prst="rect">
            <a:avLst/>
          </a:prstGeom>
          <a:noFill/>
          <a:ln/>
        </p:spPr>
        <p:txBody>
          <a:bodyPr wrap="square" lIns="0" tIns="0" rIns="0" bIns="0" rtlCol="0" anchor="ctr"/>
          <a:lstStyle/>
          <a:p>
            <a:pPr indent="0" marL="0">
              <a:buNone/>
            </a:pPr>
            <a:r>
              <a:rPr lang="en-US" sz="2100" b="1" dirty="0">
                <a:solidFill>
                  <a:srgbClr val="123524"/>
                </a:solidFill>
                <a:latin typeface="Georgia" pitchFamily="34" charset="0"/>
                <a:ea typeface="Georgia" pitchFamily="34" charset="-122"/>
                <a:cs typeface="Georgia" pitchFamily="34" charset="-120"/>
              </a:rPr>
              <a:t>Established in this chapter</a:t>
            </a:r>
            <a:endParaRPr lang="en-US" sz="2100" dirty="0"/>
          </a:p>
        </p:txBody>
      </p:sp>
      <p:sp>
        <p:nvSpPr>
          <p:cNvPr id="10" name="Text 7"/>
          <p:cNvSpPr/>
          <p:nvPr/>
        </p:nvSpPr>
        <p:spPr>
          <a:xfrm>
            <a:off x="960120" y="2606040"/>
            <a:ext cx="5852160" cy="2514600"/>
          </a:xfrm>
          <a:prstGeom prst="rect">
            <a:avLst/>
          </a:prstGeom>
          <a:noFill/>
          <a:ln/>
        </p:spPr>
        <p:txBody>
          <a:bodyPr wrap="square" lIns="25400" tIns="25400" rIns="25400" bIns="25400" rtlCol="0" anchor="ctr">
            <a:normAutofit/>
          </a:bodyPr>
          <a:lstStyle/>
          <a:p>
            <a:pPr marL="177800" indent="-177800">
              <a:buSzPct val="100000"/>
              <a:buChar char="•"/>
            </a:pPr>
            <a:r>
              <a:rPr lang="en-US" sz="1320" dirty="0">
                <a:solidFill>
                  <a:srgbClr val="14251D"/>
                </a:solidFill>
                <a:latin typeface="Aptos" pitchFamily="34" charset="0"/>
                <a:ea typeface="Aptos" pitchFamily="34" charset="-122"/>
                <a:cs typeface="Aptos" pitchFamily="34" charset="-120"/>
              </a:rPr>
              <a:t>The final frontend is connected to live Flask–MySQL services.</a:t>
            </a:r>
            <a:endParaRPr lang="en-US" sz="1320" dirty="0"/>
          </a:p>
          <a:p>
            <a:pPr marL="177800" indent="-177800">
              <a:buSzPct val="100000"/>
              <a:buChar char="•"/>
            </a:pPr>
            <a:r>
              <a:rPr lang="en-US" sz="1320" dirty="0">
                <a:solidFill>
                  <a:srgbClr val="14251D"/>
                </a:solidFill>
                <a:latin typeface="Aptos" pitchFamily="34" charset="0"/>
                <a:ea typeface="Aptos" pitchFamily="34" charset="-122"/>
                <a:cs typeface="Aptos" pitchFamily="34" charset="-120"/>
              </a:rPr>
              <a:t>Search, filters, map navigation, statistics, and comparisons are operational.</a:t>
            </a:r>
            <a:endParaRPr lang="en-US" sz="1320" dirty="0"/>
          </a:p>
          <a:p>
            <a:pPr marL="177800" indent="-177800">
              <a:buSzPct val="100000"/>
              <a:buChar char="•"/>
            </a:pPr>
            <a:r>
              <a:rPr lang="en-US" sz="1320" dirty="0">
                <a:solidFill>
                  <a:srgbClr val="14251D"/>
                </a:solidFill>
                <a:latin typeface="Aptos" pitchFamily="34" charset="0"/>
                <a:ea typeface="Aptos" pitchFamily="34" charset="-122"/>
                <a:cs typeface="Aptos" pitchFamily="34" charset="-120"/>
              </a:rPr>
              <a:t>Inferential outputs match the current API and preserve decimal expected frequencies.</a:t>
            </a:r>
            <a:endParaRPr lang="en-US" sz="1320" dirty="0"/>
          </a:p>
          <a:p>
            <a:pPr marL="177800" indent="-177800">
              <a:buSzPct val="100000"/>
              <a:buChar char="•"/>
            </a:pPr>
            <a:r>
              <a:rPr lang="en-US" sz="1320" dirty="0">
                <a:solidFill>
                  <a:srgbClr val="14251D"/>
                </a:solidFill>
                <a:latin typeface="Aptos" pitchFamily="34" charset="0"/>
                <a:ea typeface="Aptos" pitchFamily="34" charset="-122"/>
                <a:cs typeface="Aptos" pitchFamily="34" charset="-120"/>
              </a:rPr>
              <a:t>Most significant relationships have weak, very weak, small, or negligible effects.</a:t>
            </a:r>
            <a:endParaRPr lang="en-US" sz="1320" dirty="0"/>
          </a:p>
          <a:p>
            <a:pPr marL="177800" indent="-177800">
              <a:buSzPct val="100000"/>
              <a:buChar char="•"/>
            </a:pPr>
            <a:r>
              <a:rPr lang="en-US" sz="1320" dirty="0">
                <a:solidFill>
                  <a:srgbClr val="14251D"/>
                </a:solidFill>
                <a:latin typeface="Aptos" pitchFamily="34" charset="0"/>
                <a:ea typeface="Aptos" pitchFamily="34" charset="-122"/>
                <a:cs typeface="Aptos" pitchFamily="34" charset="-120"/>
              </a:rPr>
              <a:t>Geographic recognition differences are evident, with the regional result showing a moderate effect.</a:t>
            </a:r>
            <a:endParaRPr lang="en-US" sz="1320" dirty="0"/>
          </a:p>
          <a:p>
            <a:pPr marL="177800" indent="-177800">
              <a:buSzPct val="100000"/>
              <a:buChar char="•"/>
            </a:pPr>
            <a:r>
              <a:rPr lang="en-US" sz="1320" dirty="0">
                <a:solidFill>
                  <a:srgbClr val="14251D"/>
                </a:solidFill>
                <a:latin typeface="Aptos" pitchFamily="34" charset="0"/>
                <a:ea typeface="Aptos" pitchFamily="34" charset="-122"/>
                <a:cs typeface="Aptos" pitchFamily="34" charset="-120"/>
              </a:rPr>
              <a:t>Findings describe association or difference—not causation.</a:t>
            </a:r>
            <a:endParaRPr lang="en-US" sz="1320" dirty="0"/>
          </a:p>
        </p:txBody>
      </p:sp>
      <p:sp>
        <p:nvSpPr>
          <p:cNvPr id="11" name="Shape 8"/>
          <p:cNvSpPr/>
          <p:nvPr/>
        </p:nvSpPr>
        <p:spPr>
          <a:xfrm>
            <a:off x="7498080" y="1691640"/>
            <a:ext cx="3977640" cy="4114800"/>
          </a:xfrm>
          <a:prstGeom prst="roundRect">
            <a:avLst>
              <a:gd name="adj" fmla="val 2299"/>
            </a:avLst>
          </a:prstGeom>
          <a:solidFill>
            <a:srgbClr val="EAF1EC"/>
          </a:solidFill>
          <a:ln w="8890">
            <a:solidFill>
              <a:srgbClr val="C6D8CD"/>
            </a:solidFill>
            <a:prstDash val="solid"/>
          </a:ln>
          <a:effectLst>
            <a:outerShdw sx="100000" sy="100000" kx="0" ky="0" algn="bl" rotWithShape="0" blurRad="19050" dist="50800" dir="2700000">
              <a:srgbClr val="AAB7AF">
                <a:alpha val="13000"/>
              </a:srgbClr>
            </a:outerShdw>
          </a:effectLst>
        </p:spPr>
      </p:sp>
      <p:sp>
        <p:nvSpPr>
          <p:cNvPr id="12" name="Text 9"/>
          <p:cNvSpPr/>
          <p:nvPr/>
        </p:nvSpPr>
        <p:spPr>
          <a:xfrm>
            <a:off x="7845552" y="2011680"/>
            <a:ext cx="914400" cy="182880"/>
          </a:xfrm>
          <a:prstGeom prst="rect">
            <a:avLst/>
          </a:prstGeom>
          <a:noFill/>
          <a:ln/>
        </p:spPr>
        <p:txBody>
          <a:bodyPr wrap="square" lIns="0" tIns="0" rIns="0" bIns="0" rtlCol="0" anchor="ctr"/>
          <a:lstStyle/>
          <a:p>
            <a:pPr indent="0" marL="0">
              <a:buNone/>
            </a:pPr>
            <a:r>
              <a:rPr lang="en-US" sz="1000" b="1" spc="100" kern="0" dirty="0">
                <a:solidFill>
                  <a:srgbClr val="C8A96A"/>
                </a:solidFill>
              </a:rPr>
              <a:t>NEXT</a:t>
            </a:r>
            <a:endParaRPr lang="en-US" sz="1000" dirty="0"/>
          </a:p>
        </p:txBody>
      </p:sp>
      <p:sp>
        <p:nvSpPr>
          <p:cNvPr id="13" name="Text 10"/>
          <p:cNvSpPr/>
          <p:nvPr/>
        </p:nvSpPr>
        <p:spPr>
          <a:xfrm>
            <a:off x="7845552" y="2395728"/>
            <a:ext cx="2926080" cy="438912"/>
          </a:xfrm>
          <a:prstGeom prst="rect">
            <a:avLst/>
          </a:prstGeom>
          <a:noFill/>
          <a:ln/>
        </p:spPr>
        <p:txBody>
          <a:bodyPr wrap="square" lIns="0" tIns="0" rIns="0" bIns="0" rtlCol="0" anchor="ctr"/>
          <a:lstStyle/>
          <a:p>
            <a:pPr indent="0" marL="0">
              <a:buNone/>
            </a:pPr>
            <a:r>
              <a:rPr lang="en-US" sz="2700" b="1" dirty="0">
                <a:solidFill>
                  <a:srgbClr val="123524"/>
                </a:solidFill>
                <a:latin typeface="Georgia" pitchFamily="34" charset="0"/>
                <a:ea typeface="Georgia" pitchFamily="34" charset="-122"/>
                <a:cs typeface="Georgia" pitchFamily="34" charset="-120"/>
              </a:rPr>
              <a:t>Chapter 5</a:t>
            </a:r>
            <a:endParaRPr lang="en-US" sz="2700" dirty="0"/>
          </a:p>
        </p:txBody>
      </p:sp>
      <p:sp>
        <p:nvSpPr>
          <p:cNvPr id="14" name="Text 11"/>
          <p:cNvSpPr/>
          <p:nvPr/>
        </p:nvSpPr>
        <p:spPr>
          <a:xfrm>
            <a:off x="7845552" y="3090672"/>
            <a:ext cx="3127248" cy="822960"/>
          </a:xfrm>
          <a:prstGeom prst="rect">
            <a:avLst/>
          </a:prstGeom>
          <a:noFill/>
          <a:ln/>
        </p:spPr>
        <p:txBody>
          <a:bodyPr wrap="square" lIns="0" tIns="0" rIns="0" bIns="0" rtlCol="0" anchor="ctr">
            <a:normAutofit/>
          </a:bodyPr>
          <a:lstStyle/>
          <a:p>
            <a:pPr indent="0" marL="0">
              <a:buNone/>
            </a:pPr>
            <a:r>
              <a:rPr lang="en-US" sz="1600" b="1" dirty="0">
                <a:solidFill>
                  <a:srgbClr val="14251D"/>
                </a:solidFill>
              </a:rPr>
              <a:t>Conclusions, recommendations, and future development priorities.</a:t>
            </a:r>
            <a:endParaRPr lang="en-US" sz="1600" dirty="0"/>
          </a:p>
        </p:txBody>
      </p:sp>
      <p:sp>
        <p:nvSpPr>
          <p:cNvPr id="15" name="Shape 12"/>
          <p:cNvSpPr/>
          <p:nvPr/>
        </p:nvSpPr>
        <p:spPr>
          <a:xfrm>
            <a:off x="7845552" y="4736592"/>
            <a:ext cx="1874520" cy="512064"/>
          </a:xfrm>
          <a:prstGeom prst="rightArrow">
            <a:avLst/>
          </a:prstGeom>
          <a:solidFill>
            <a:srgbClr val="C8A96A"/>
          </a:solidFill>
          <a:ln w="12700">
            <a:solidFill>
              <a:srgbClr val="C8A96A"/>
            </a:solidFill>
            <a:prstDash val="solid"/>
          </a:ln>
        </p:spPr>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31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University Graduation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 Results and Discussion</dc:title>
  <dc:subject>Chapter 4 — Results and Discussion</dc:subject>
  <dc:creator>Traditional Governance Data Analytics and Visualization Platform</dc:creator>
  <cp:lastModifiedBy>Traditional Governance Data Analytics and Visualization Platform</cp:lastModifiedBy>
  <cp:revision>1</cp:revision>
  <dcterms:created xsi:type="dcterms:W3CDTF">2026-08-08T19:50:41Z</dcterms:created>
  <dcterms:modified xsi:type="dcterms:W3CDTF">2026-08-08T19:50:41Z</dcterms:modified>
</cp:coreProperties>
</file>