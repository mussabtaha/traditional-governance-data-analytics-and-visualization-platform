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b9d1178ce04243" /><Relationship Type="http://schemas.openxmlformats.org/officeDocument/2006/relationships/extended-properties" Target="/docProps/app.xml" Id="R01507e8d08404b9a" /><Relationship Type="http://schemas.openxmlformats.org/officeDocument/2006/relationships/officeDocument" Target="/ppt/presentation.xml" Id="R95368325e02f4871" /></Relationships>
</file>

<file path=ppt/presentation.xml><?xml version="1.0" encoding="utf-8"?>
<p:presentation xmlns:p="http://schemas.openxmlformats.org/presentationml/2006/main">
  <p:sldMasterIdLst>
    <p:sldMasterId xmlns:r="http://schemas.openxmlformats.org/officeDocument/2006/relationships" id="2147483648" r:id="Ra1e2cd6280054f81"/>
  </p:sldMasterIdLst>
  <p:notesMasterIdLst>
    <p:notesMasterId xmlns:r="http://schemas.openxmlformats.org/officeDocument/2006/relationships" r:id="R0cc186d810ad427b"/>
  </p:notesMasterIdLst>
  <p:sldIdLst>
    <p:sldId xmlns:r="http://schemas.openxmlformats.org/officeDocument/2006/relationships" id="256" r:id="R96df66dcc4994e54"/>
    <p:sldId xmlns:r="http://schemas.openxmlformats.org/officeDocument/2006/relationships" id="257" r:id="Ra8a7aeac1e084318"/>
    <p:sldId xmlns:r="http://schemas.openxmlformats.org/officeDocument/2006/relationships" id="258" r:id="Rcce3280942764da2"/>
    <p:sldId xmlns:r="http://schemas.openxmlformats.org/officeDocument/2006/relationships" id="259" r:id="R01901f47d2044d6e"/>
    <p:sldId xmlns:r="http://schemas.openxmlformats.org/officeDocument/2006/relationships" id="260" r:id="R4729974432464c05"/>
    <p:sldId xmlns:r="http://schemas.openxmlformats.org/officeDocument/2006/relationships" id="261" r:id="R60ce6858901a4715"/>
    <p:sldId xmlns:r="http://schemas.openxmlformats.org/officeDocument/2006/relationships" id="262" r:id="R295d90eca83447d7"/>
    <p:sldId xmlns:r="http://schemas.openxmlformats.org/officeDocument/2006/relationships" id="263" r:id="R73e8024f5e294abf"/>
    <p:sldId xmlns:r="http://schemas.openxmlformats.org/officeDocument/2006/relationships" id="264" r:id="Re017bc951566455f"/>
    <p:sldId xmlns:r="http://schemas.openxmlformats.org/officeDocument/2006/relationships" id="265" r:id="R06b3c8ac44c34e2f"/>
    <p:sldId xmlns:r="http://schemas.openxmlformats.org/officeDocument/2006/relationships" id="266" r:id="R4bce2a21351d4be9"/>
    <p:sldId xmlns:r="http://schemas.openxmlformats.org/officeDocument/2006/relationships" id="267" r:id="Re154ce4683e0468e"/>
    <p:sldId xmlns:r="http://schemas.openxmlformats.org/officeDocument/2006/relationships" id="268" r:id="Rfec24cd831874b28"/>
    <p:sldId xmlns:r="http://schemas.openxmlformats.org/officeDocument/2006/relationships" id="269" r:id="Re14c8985c03147db"/>
    <p:sldId xmlns:r="http://schemas.openxmlformats.org/officeDocument/2006/relationships" id="270" r:id="R71677ccc819748a6"/>
    <p:sldId xmlns:r="http://schemas.openxmlformats.org/officeDocument/2006/relationships" id="271" r:id="Rd6b6fc3bf3484970"/>
    <p:sldId xmlns:r="http://schemas.openxmlformats.org/officeDocument/2006/relationships" id="272" r:id="R7ca735239b6148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e75f33262e149d0" /><Relationship Type="http://schemas.openxmlformats.org/officeDocument/2006/relationships/slideMaster" Target="/ppt/slideMasters/slideMaster1.xml" Id="Ra1e2cd6280054f81" /><Relationship Type="http://schemas.openxmlformats.org/officeDocument/2006/relationships/notesMaster" Target="/ppt/notesMasters/notesMaster1.xml" Id="R0cc186d810ad427b" /><Relationship Type="http://schemas.openxmlformats.org/officeDocument/2006/relationships/presProps" Target="/ppt/presProps.xml" Id="R3c84d185123542df" /><Relationship Type="http://schemas.openxmlformats.org/officeDocument/2006/relationships/tableStyles" Target="/ppt/tableStyles.xml" Id="R97d5ff72a879455b" /><Relationship Type="http://schemas.openxmlformats.org/officeDocument/2006/relationships/slide" Target="/ppt/slides/slide1.xml" Id="R96df66dcc4994e54" /><Relationship Type="http://schemas.openxmlformats.org/officeDocument/2006/relationships/slide" Target="/ppt/slides/slide2.xml" Id="Ra8a7aeac1e084318" /><Relationship Type="http://schemas.openxmlformats.org/officeDocument/2006/relationships/slide" Target="/ppt/slides/slide3.xml" Id="Rcce3280942764da2" /><Relationship Type="http://schemas.openxmlformats.org/officeDocument/2006/relationships/slide" Target="/ppt/slides/slide4.xml" Id="R01901f47d2044d6e" /><Relationship Type="http://schemas.openxmlformats.org/officeDocument/2006/relationships/slide" Target="/ppt/slides/slide5.xml" Id="R4729974432464c05" /><Relationship Type="http://schemas.openxmlformats.org/officeDocument/2006/relationships/slide" Target="/ppt/slides/slide6.xml" Id="R60ce6858901a4715" /><Relationship Type="http://schemas.openxmlformats.org/officeDocument/2006/relationships/slide" Target="/ppt/slides/slide7.xml" Id="R295d90eca83447d7" /><Relationship Type="http://schemas.openxmlformats.org/officeDocument/2006/relationships/slide" Target="/ppt/slides/slide8.xml" Id="R73e8024f5e294abf" /><Relationship Type="http://schemas.openxmlformats.org/officeDocument/2006/relationships/slide" Target="/ppt/slides/slide9.xml" Id="Re017bc951566455f" /><Relationship Type="http://schemas.openxmlformats.org/officeDocument/2006/relationships/slide" Target="/ppt/slides/slide10.xml" Id="R06b3c8ac44c34e2f" /><Relationship Type="http://schemas.openxmlformats.org/officeDocument/2006/relationships/slide" Target="/ppt/slides/slide11.xml" Id="R4bce2a21351d4be9" /><Relationship Type="http://schemas.openxmlformats.org/officeDocument/2006/relationships/slide" Target="/ppt/slides/slide12.xml" Id="Re154ce4683e0468e" /><Relationship Type="http://schemas.openxmlformats.org/officeDocument/2006/relationships/slide" Target="/ppt/slides/slide13.xml" Id="Rfec24cd831874b28" /><Relationship Type="http://schemas.openxmlformats.org/officeDocument/2006/relationships/slide" Target="/ppt/slides/slide14.xml" Id="Re14c8985c03147db" /><Relationship Type="http://schemas.openxmlformats.org/officeDocument/2006/relationships/slide" Target="/ppt/slides/slide15.xml" Id="R71677ccc819748a6" /><Relationship Type="http://schemas.openxmlformats.org/officeDocument/2006/relationships/slide" Target="/ppt/slides/slide16.xml" Id="Rd6b6fc3bf3484970" /><Relationship Type="http://schemas.openxmlformats.org/officeDocument/2006/relationships/slide" Target="/ppt/slides/slide17.xml" Id="R7ca735239b6148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e682d8e288443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ff636c10cb4f0f" /><Relationship Type="http://schemas.openxmlformats.org/officeDocument/2006/relationships/notesMaster" Target="/ppt/notesMasters/notesMaster1.xml" Id="Rc70bafeed62747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ee63fe525de49ff" /><Relationship Type="http://schemas.openxmlformats.org/officeDocument/2006/relationships/notesMaster" Target="/ppt/notesMasters/notesMaster1.xml" Id="Re47fc7c248354d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78b080f3da84058" /><Relationship Type="http://schemas.openxmlformats.org/officeDocument/2006/relationships/notesMaster" Target="/ppt/notesMasters/notesMaster1.xml" Id="R4a8c9f538bc445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618f8a14eb4275" /><Relationship Type="http://schemas.openxmlformats.org/officeDocument/2006/relationships/notesMaster" Target="/ppt/notesMasters/notesMaster1.xml" Id="R436ca57dff2a40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ad2ba5a929473f" /><Relationship Type="http://schemas.openxmlformats.org/officeDocument/2006/relationships/notesMaster" Target="/ppt/notesMasters/notesMaster1.xml" Id="R25038bf609a64b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64f231506bf4a78" /><Relationship Type="http://schemas.openxmlformats.org/officeDocument/2006/relationships/notesMaster" Target="/ppt/notesMasters/notesMaster1.xml" Id="R0fc85f8d94a84d0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4d2e7e98254624" /><Relationship Type="http://schemas.openxmlformats.org/officeDocument/2006/relationships/notesMaster" Target="/ppt/notesMasters/notesMaster1.xml" Id="R7d31afc58cd8420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02883d46d64a05" /><Relationship Type="http://schemas.openxmlformats.org/officeDocument/2006/relationships/notesMaster" Target="/ppt/notesMasters/notesMaster1.xml" Id="R0ac6aa26b449426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a9e6ba4aab402f" /><Relationship Type="http://schemas.openxmlformats.org/officeDocument/2006/relationships/notesMaster" Target="/ppt/notesMasters/notesMaster1.xml" Id="Rd45d9116421645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cac03661c7c41b6" /><Relationship Type="http://schemas.openxmlformats.org/officeDocument/2006/relationships/notesMaster" Target="/ppt/notesMasters/notesMaster1.xml" Id="Re271164468f942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a671cb62db84979" /><Relationship Type="http://schemas.openxmlformats.org/officeDocument/2006/relationships/notesMaster" Target="/ppt/notesMasters/notesMaster1.xml" Id="R5a8673f2c39c476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0700feb2644c1a" /><Relationship Type="http://schemas.openxmlformats.org/officeDocument/2006/relationships/notesMaster" Target="/ppt/notesMasters/notesMaster1.xml" Id="R8ab27baf996b41c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5e9986c0b914545" /><Relationship Type="http://schemas.openxmlformats.org/officeDocument/2006/relationships/notesMaster" Target="/ppt/notesMasters/notesMaster1.xml" Id="R9aebfeb63611462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743d2b6b6ae4b1c" /><Relationship Type="http://schemas.openxmlformats.org/officeDocument/2006/relationships/notesMaster" Target="/ppt/notesMasters/notesMaster1.xml" Id="R7348f071707d44a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1f4a55e87e4097" /><Relationship Type="http://schemas.openxmlformats.org/officeDocument/2006/relationships/notesMaster" Target="/ppt/notesMasters/notesMaster1.xml" Id="Rb93c7eb91e3f4f6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8385116a46f4116" /><Relationship Type="http://schemas.openxmlformats.org/officeDocument/2006/relationships/notesMaster" Target="/ppt/notesMasters/notesMaster1.xml" Id="Rb8de1f023d7b4c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3882e271ccb4bfe" /><Relationship Type="http://schemas.openxmlformats.org/officeDocument/2006/relationships/notesMaster" Target="/ppt/notesMasters/notesMaster1.xml" Id="Re00190aec7ee41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في هذه الشريحة أعرّف بالمشروع والميزة الجديدة. سأشرح كيف تحولت صفحة الإحصاءات من عرض عام ثابت إلى لوحة تحليل جغرافي تفاعلية يمكن استخدامها أثناء البحث.</a:t>
            </a:r>
          </a:p>
          <a:p xmlns:a="http://schemas.openxmlformats.org/drawingml/2006/main">
            <a:r>
              <a:t/>
            </a:r>
          </a:p>
          <a:p xmlns:a="http://schemas.openxmlformats.org/drawingml/2006/main">
            <a:r>
              <a:t>[Sources]</a:t>
            </a:r>
          </a:p>
          <a:p xmlns:a="http://schemas.openxmlformats.org/drawingml/2006/main">
            <a:r>
              <a:t>- assets/images/hero-village.png</a:t>
            </a:r>
          </a:p>
          <a:p xmlns:a="http://schemas.openxmlformats.org/drawingml/2006/main">
            <a:r>
              <a:t>- assets/icons/apple-touch-icon.png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قبل التحديث كانت الصفحة تعرض إحصاءات شاملة لكل السجلات فقط. كانت مناسبة لإعطاء صورة عامة، لكنها لا تساعد المستخدم على الإجابة عن أسئلة خاصة بدولة أو قارة أو منطقة.</a:t>
            </a:r>
          </a:p>
          <a:p xmlns:a="http://schemas.openxmlformats.org/drawingml/2006/main">
            <a:r>
              <a:t/>
            </a:r>
          </a:p>
          <a:p xmlns:a="http://schemas.openxmlformats.org/drawingml/2006/main">
            <a:r>
              <a:t>[Sources]</a:t>
            </a:r>
          </a:p>
          <a:p xmlns:a="http://schemas.openxmlformats.org/drawingml/2006/main">
            <a:r>
              <a:t>- assets/screenshots/statistics-dashboard.png</a:t>
            </a:r>
          </a:p>
          <a:p xmlns:a="http://schemas.openxmlformats.org/drawingml/2006/main">
            <a:r>
              <a:t>- statistics.html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احتجنا التحديث لأن الباحث يريد الانتقال من السؤال العام إلى سؤال محدد. الحل هو صفحة واحدة قابلة لإعادة الاستخدام، ويتغير نطاق البيانات فقط حسب اختيار الدولة أو القارة أو المنطقة.</a:t>
            </a:r>
          </a:p>
          <a:p xmlns:a="http://schemas.openxmlformats.org/drawingml/2006/main">
            <a:r>
              <a:t/>
            </a:r>
          </a:p>
          <a:p xmlns:a="http://schemas.openxmlformats.org/drawingml/2006/main">
            <a:r>
              <a:t>[Sources]</a:t>
            </a:r>
          </a:p>
          <a:p xmlns:a="http://schemas.openxmlformats.org/drawingml/2006/main">
            <a:r>
              <a:t>- docs/interactive-statistics-filtering-defense-guide.md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الميزة تحتوي على أربعة أوضاع: جميع البيانات، الدولة، القارة، والمنطقة. يظهر اسم النطاق الحالي بوضوح، ويمكن للمستخدم إعادة الصفحة إلى جميع البيانات بزر إعادة الضبط.</a:t>
            </a:r>
          </a:p>
          <a:p xmlns:a="http://schemas.openxmlformats.org/drawingml/2006/main">
            <a:r>
              <a:t/>
            </a:r>
          </a:p>
          <a:p xmlns:a="http://schemas.openxmlformats.org/drawingml/2006/main">
            <a:r>
              <a:t>[Sources]</a:t>
            </a:r>
          </a:p>
          <a:p xmlns:a="http://schemas.openxmlformats.org/drawingml/2006/main">
            <a:r>
              <a:t>- statistics.html</a:t>
            </a:r>
          </a:p>
          <a:p xmlns:a="http://schemas.openxmlformats.org/drawingml/2006/main">
            <a:r>
              <a:t>- js/script.js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يبدأ التدفق باختيار المستخدم. تبني الواجهة طلباً واحداً، وتتحقق Flask من المرشح، ثم تنفذ MySQL الحسابات. تعود النتائج بصيغة JSON وتحدث Chart.js الرسوم من دون إعادة تحميل الصفحة.</a:t>
            </a:r>
          </a:p>
          <a:p xmlns:a="http://schemas.openxmlformats.org/drawingml/2006/main">
            <a:r>
              <a:t/>
            </a:r>
          </a:p>
          <a:p xmlns:a="http://schemas.openxmlformats.org/drawingml/2006/main">
            <a:r>
              <a:t>[Sources]</a:t>
            </a:r>
          </a:p>
          <a:p xmlns:a="http://schemas.openxmlformats.org/drawingml/2006/main">
            <a:r>
              <a:t>- backend-flask/routes/api.py</a:t>
            </a:r>
          </a:p>
          <a:p xmlns:a="http://schemas.openxmlformats.org/drawingml/2006/main">
            <a:r>
              <a:t>- js/script.js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أنشأت مساراً واحداً هو GET /api/statistics. يستقبل مرشحاً اختيارياً واحداً، ثم يعيد كل البيانات التي تحتاجها البطاقات والرسوم في استجابة JSON منظمة.</a:t>
            </a:r>
          </a:p>
          <a:p xmlns:a="http://schemas.openxmlformats.org/drawingml/2006/main">
            <a:r>
              <a:t/>
            </a:r>
          </a:p>
          <a:p xmlns:a="http://schemas.openxmlformats.org/drawingml/2006/main">
            <a:r>
              <a:t>[Sources]</a:t>
            </a:r>
          </a:p>
          <a:p xmlns:a="http://schemas.openxmlformats.org/drawingml/2006/main">
            <a:r>
              <a:t>- backend-flask/routes/api.py</a:t>
            </a:r>
          </a:p>
          <a:p xmlns:a="http://schemas.openxmlformats.org/drawingml/2006/main">
            <a:r>
              <a:t>- https://traditional-governance-data-analytics.onrender.com/api/statistics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جميع عمليات العد والتجميع تحدث داخل MySQL، وليس داخل المتصفح. كما تدعم الفهارس أعمدة الدولة والقارة والمنطقة وتركيباتها مع الاعتراف الرسمي وحالة المؤسسة التقليدية لتقليل قراءة الصفوف.</a:t>
            </a:r>
          </a:p>
          <a:p xmlns:a="http://schemas.openxmlformats.org/drawingml/2006/main">
            <a:r>
              <a:t/>
            </a:r>
          </a:p>
          <a:p xmlns:a="http://schemas.openxmlformats.org/drawingml/2006/main">
            <a:r>
              <a:t>[Sources]</a:t>
            </a:r>
          </a:p>
          <a:p xmlns:a="http://schemas.openxmlformats.org/drawingml/2006/main">
            <a:r>
              <a:t>- backend-flask/routes/api.py</a:t>
            </a:r>
          </a:p>
          <a:p xmlns:a="http://schemas.openxmlformats.org/drawingml/2006/main">
            <a:r>
              <a:t>- docs/interactive-statistics-filtering-defense-guide.md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أضفت لوحة المرشحات فوق البطاقات. يختار المستخدم نوع التحليل ثم القيمة، وتعرض الصفحة النطاق الحالي. زر إعادة الضبط يعيد جميع البيانات، كما يتم حفظ النطاق في عنوان الصفحة.</a:t>
            </a:r>
          </a:p>
          <a:p xmlns:a="http://schemas.openxmlformats.org/drawingml/2006/main">
            <a:r>
              <a:t/>
            </a:r>
          </a:p>
          <a:p xmlns:a="http://schemas.openxmlformats.org/drawingml/2006/main">
            <a:r>
              <a:t>[Sources]</a:t>
            </a:r>
          </a:p>
          <a:p xmlns:a="http://schemas.openxmlformats.org/drawingml/2006/main">
            <a:r>
              <a:t>- statistics.html</a:t>
            </a:r>
          </a:p>
          <a:p xmlns:a="http://schemas.openxmlformats.org/drawingml/2006/main">
            <a:r>
              <a:t>- js/script.js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لم أقم بحذف الرسوم وإنشائها من جديد. تحتفظ الصفحة بنفس كائنات Chart.js، ثم تستبدل البيانات والعناوين وتستدعي chart.update، وهذا أكثر كفاءة ويعطي انتقالاً بصرياً سلساً.</a:t>
            </a:r>
          </a:p>
          <a:p xmlns:a="http://schemas.openxmlformats.org/drawingml/2006/main">
            <a:r>
              <a:t/>
            </a:r>
          </a:p>
          <a:p xmlns:a="http://schemas.openxmlformats.org/drawingml/2006/main">
            <a:r>
              <a:t>[Sources]</a:t>
            </a:r>
          </a:p>
          <a:p xmlns:a="http://schemas.openxmlformats.org/drawingml/2006/main">
            <a:r>
              <a:t>- js/script.js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هذه أمثلة مختصرة فقط. يبني JavaScript عنوان الطلب، وتستخدم MySQL معاملات آمنة في الاستعلام، ثم تُستبدل بيانات الرسم ويُستدعى chart.update.</a:t>
            </a:r>
          </a:p>
          <a:p xmlns:a="http://schemas.openxmlformats.org/drawingml/2006/main">
            <a:r>
              <a:t/>
            </a:r>
          </a:p>
          <a:p xmlns:a="http://schemas.openxmlformats.org/drawingml/2006/main">
            <a:r>
              <a:t>[Sources]</a:t>
            </a:r>
          </a:p>
          <a:p xmlns:a="http://schemas.openxmlformats.org/drawingml/2006/main">
            <a:r>
              <a:t>- js/script.js</a:t>
            </a:r>
          </a:p>
          <a:p xmlns:a="http://schemas.openxmlformats.org/drawingml/2006/main">
            <a:r>
              <a:t>- backend-flask/routes/api.py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عند تغيير المرشح ترسل الصفحة طلباً واحداً فقط. لا يتم تنزيل جميع سجلات المجموعات، لأن MySQL تنفذ التصفية والتجميع، ولذلك يقل استخدام الذاكرة ويتحسن زمن الاستجابة.</a:t>
            </a:r>
          </a:p>
          <a:p xmlns:a="http://schemas.openxmlformats.org/drawingml/2006/main">
            <a:r>
              <a:t/>
            </a:r>
          </a:p>
          <a:p xmlns:a="http://schemas.openxmlformats.org/drawingml/2006/main">
            <a:r>
              <a:t>[Sources]</a:t>
            </a:r>
          </a:p>
          <a:p xmlns:a="http://schemas.openxmlformats.org/drawingml/2006/main">
            <a:r>
              <a:t>- js/script.js</a:t>
            </a:r>
          </a:p>
          <a:p xmlns:a="http://schemas.openxmlformats.org/drawingml/2006/main">
            <a:r>
              <a:t>- backend-flask/routes/api.py</a:t>
            </a:r>
          </a:p>
          <a:p xmlns:a="http://schemas.openxmlformats.org/drawingml/2006/main">
            <a:r>
              <a:t>- backend-flask/tests/test_statistics.py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يحمي المسار نفسه بعدة خطوات: استعلامات بمعاملات، التحقق من القيم، والسماح بمرشح جغرافي واحد فقط. أي طلب غير صحيح يُرفض برمز 400 قبل تنفيذ التحليل.</a:t>
            </a:r>
          </a:p>
          <a:p xmlns:a="http://schemas.openxmlformats.org/drawingml/2006/main">
            <a:r>
              <a:t/>
            </a:r>
          </a:p>
          <a:p xmlns:a="http://schemas.openxmlformats.org/drawingml/2006/main">
            <a:r>
              <a:t>[Sources]</a:t>
            </a:r>
          </a:p>
          <a:p xmlns:a="http://schemas.openxmlformats.org/drawingml/2006/main">
            <a:r>
              <a:t>- backend-flask/routes/api.py</a:t>
            </a:r>
          </a:p>
          <a:p xmlns:a="http://schemas.openxmlformats.org/drawingml/2006/main">
            <a:r>
              <a:t>- backend-flask/tests/test_statistics.py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تحققت من الميزة آلياً وعملياً. نجحت 17 حالة اختبار في Flask، ونجح فحص JavaScript وPython. كما تحققت من النطاق العام وكينيا وأفريقيا، ومن العربية والاتجاه من اليمين إلى اليسار، ولم تظهر أخطاء في وحدة التحكم.</a:t>
            </a:r>
          </a:p>
          <a:p xmlns:a="http://schemas.openxmlformats.org/drawingml/2006/main">
            <a:r>
              <a:t/>
            </a:r>
          </a:p>
          <a:p xmlns:a="http://schemas.openxmlformats.org/drawingml/2006/main">
            <a:r>
              <a:t>[Sources]</a:t>
            </a:r>
          </a:p>
          <a:p xmlns:a="http://schemas.openxmlformats.org/drawingml/2006/main">
            <a:r>
              <a:t>- backend-flask/tests</a:t>
            </a:r>
          </a:p>
          <a:p xmlns:a="http://schemas.openxmlformats.org/drawingml/2006/main">
            <a:r>
              <a:t>- https://traditional-governance-frontend.onrender.com/statistics.html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هذه أماكن مخصصة للصور الحية النهائية. تم التحقق من كل حالة في الموقع المنشور، لكن تعذر حفظ الصور آلياً؛ لذلك أستبدل هذه الإطارات بلقطات نظيفة قبل العرض.</a:t>
            </a:r>
          </a:p>
          <a:p xmlns:a="http://schemas.openxmlformats.org/drawingml/2006/main">
            <a:r>
              <a:t/>
            </a:r>
          </a:p>
          <a:p xmlns:a="http://schemas.openxmlformats.org/drawingml/2006/main">
            <a:r>
              <a:t>[Sources]</a:t>
            </a:r>
          </a:p>
          <a:p xmlns:a="http://schemas.openxmlformats.org/drawingml/2006/main">
            <a:r>
              <a:t>- https://traditional-governance-frontend.onrender.com/statistics.html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في هذه الشريحة أوضح دليل الأداء من تبويب Network. عند تغيير القارة إلى أفريقيا يجب أن يظهر طلب واحد فقط إلى /api/statistics مع استجابة 200.</a:t>
            </a:r>
          </a:p>
          <a:p xmlns:a="http://schemas.openxmlformats.org/drawingml/2006/main">
            <a:r>
              <a:t/>
            </a:r>
          </a:p>
          <a:p xmlns:a="http://schemas.openxmlformats.org/drawingml/2006/main">
            <a:r>
              <a:t>[Sources]</a:t>
            </a:r>
          </a:p>
          <a:p xmlns:a="http://schemas.openxmlformats.org/drawingml/2006/main">
            <a:r>
              <a:t>- js/script.js</a:t>
            </a:r>
          </a:p>
          <a:p xmlns:a="http://schemas.openxmlformats.org/drawingml/2006/main">
            <a:r>
              <a:t>- https://traditional-governance-data-analytics.onrender.com/api/statistics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الفائدة الأساسية هي أن الباحث يستطيع البدء بالصورة العالمية ثم تضييق التحليل جغرافياً. وتبقى نفس البطاقات والرسوم، لكن كل القيم تتغير لتعكس النطاق المختار.</a:t>
            </a:r>
          </a:p>
          <a:p xmlns:a="http://schemas.openxmlformats.org/drawingml/2006/main">
            <a:r>
              <a:t/>
            </a:r>
          </a:p>
          <a:p xmlns:a="http://schemas.openxmlformats.org/drawingml/2006/main">
            <a:r>
              <a:t>[Sources]</a:t>
            </a:r>
          </a:p>
          <a:p xmlns:a="http://schemas.openxmlformats.org/drawingml/2006/main">
            <a:r>
              <a:t>- statistics.html</a:t>
            </a:r>
          </a:p>
          <a:p xmlns:a="http://schemas.openxmlformats.org/drawingml/2006/main">
            <a:r>
              <a:t>- js/script.js</a:t>
            </a:r>
          </a:p>
          <a:p xmlns:a="http://schemas.openxmlformats.org/drawingml/2006/main">
            <a:r>
              <a:t>- backend-flask/routes/api.py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الخلاصة أن الصفحة أصبحت لوحة تحليل جغرافي تفاعلية. تجمع الميزة بين صفحة واحدة، ومسار Flask واحد، وحسابات MySQL، وتحديث ديناميكي للرسوم، مع اختبارات للأداء والأمان وتجربة المستخدم.</a:t>
            </a:r>
          </a:p>
          <a:p xmlns:a="http://schemas.openxmlformats.org/drawingml/2006/main">
            <a:r>
              <a:t/>
            </a:r>
          </a:p>
          <a:p xmlns:a="http://schemas.openxmlformats.org/drawingml/2006/main">
            <a:r>
              <a:t>[Sources]</a:t>
            </a:r>
          </a:p>
          <a:p xmlns:a="http://schemas.openxmlformats.org/drawingml/2006/main">
            <a:r>
              <a:t>- statistics.html</a:t>
            </a:r>
          </a:p>
          <a:p xmlns:a="http://schemas.openxmlformats.org/drawingml/2006/main">
            <a:r>
              <a:t>- js/script.js</a:t>
            </a:r>
          </a:p>
          <a:p xmlns:a="http://schemas.openxmlformats.org/drawingml/2006/main">
            <a:r>
              <a:t>- backend-flask/routes/api.py</a:t>
            </a:r>
          </a:p>
          <a:p xmlns:a="http://schemas.openxmlformats.org/drawingml/2006/main">
            <a:r>
              <a:t>- backend-flask/tests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7eb53f4e744a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50319f525464e63" /><Relationship Type="http://schemas.openxmlformats.org/officeDocument/2006/relationships/slideLayout" Target="/ppt/slideLayouts/slideLayout1.xml" Id="R11704ff593524e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704ff593524e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f33d1ca80ef42bc" /><Relationship Type="http://schemas.openxmlformats.org/officeDocument/2006/relationships/image" Target="/ppt/media/image.png" Id="Re1b619c0591a401b" /><Relationship Type="http://schemas.openxmlformats.org/officeDocument/2006/relationships/image" Target="/ppt/media/image2.png" Id="Rb0b2382178f94c9f" /><Relationship Type="http://schemas.openxmlformats.org/officeDocument/2006/relationships/notesSlide" Target="/ppt/notesSlides/notesSlide1.xml" Id="R10a09b84afe140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8d0c52137884ee7" /><Relationship Type="http://schemas.openxmlformats.org/officeDocument/2006/relationships/image" Target="/ppt/media/image3.png" Id="R9e4fe5decd8c45fb" /><Relationship Type="http://schemas.openxmlformats.org/officeDocument/2006/relationships/image" Target="/ppt/media/image.jpeg" Id="R1ebb9b4993624480" /><Relationship Type="http://schemas.openxmlformats.org/officeDocument/2006/relationships/notesSlide" Target="/ppt/notesSlides/notesSlide2.xml" Id="Rbdd0c393d7f841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6cbdcd29f841c6" /><Relationship Type="http://schemas.openxmlformats.org/officeDocument/2006/relationships/image" Target="/ppt/media/image4.png" Id="Rb62e3cd5cba041bc" /><Relationship Type="http://schemas.openxmlformats.org/officeDocument/2006/relationships/notesSlide" Target="/ppt/notesSlides/notesSlide3.xml" Id="Rc50fd94c731b4f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395396701a64bf6" /><Relationship Type="http://schemas.openxmlformats.org/officeDocument/2006/relationships/image" Target="/ppt/media/image5.png" Id="R91de5766173d4b21" /><Relationship Type="http://schemas.openxmlformats.org/officeDocument/2006/relationships/notesSlide" Target="/ppt/notesSlides/notesSlide4.xml" Id="Rbb587952ba4647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060f5da63114e2e" /><Relationship Type="http://schemas.openxmlformats.org/officeDocument/2006/relationships/image" Target="/ppt/media/image6.png" Id="R9a874439fa9e4eaf" /><Relationship Type="http://schemas.openxmlformats.org/officeDocument/2006/relationships/notesSlide" Target="/ppt/notesSlides/notesSlide5.xml" Id="Rd9dee89b20a643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51a9659f12c43f2" /><Relationship Type="http://schemas.openxmlformats.org/officeDocument/2006/relationships/image" Target="/ppt/media/image7.png" Id="R7d9dc25e7e404e0c" /><Relationship Type="http://schemas.openxmlformats.org/officeDocument/2006/relationships/notesSlide" Target="/ppt/notesSlides/notesSlide6.xml" Id="R03fd104c3bac49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11fc1c9731446f9" /><Relationship Type="http://schemas.openxmlformats.org/officeDocument/2006/relationships/image" Target="/ppt/media/image8.png" Id="Rdc16b352029e4a72" /><Relationship Type="http://schemas.openxmlformats.org/officeDocument/2006/relationships/notesSlide" Target="/ppt/notesSlides/notesSlide7.xml" Id="R67a42e5f1ea04a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a07b5bf2bc548a0" /><Relationship Type="http://schemas.openxmlformats.org/officeDocument/2006/relationships/image" Target="/ppt/media/image9.png" Id="R8e4934d2123b41c0" /><Relationship Type="http://schemas.openxmlformats.org/officeDocument/2006/relationships/notesSlide" Target="/ppt/notesSlides/notesSlide8.xml" Id="Raf134992cd7c45d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3b13d94ba874d0a" /><Relationship Type="http://schemas.openxmlformats.org/officeDocument/2006/relationships/image" Target="/ppt/media/image10.png" Id="R352c5146817c4390" /><Relationship Type="http://schemas.openxmlformats.org/officeDocument/2006/relationships/notesSlide" Target="/ppt/notesSlides/notesSlide9.xml" Id="R22b99c02442e406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7fa6b652dd2466f" /><Relationship Type="http://schemas.openxmlformats.org/officeDocument/2006/relationships/image" Target="/ppt/media/image11.png" Id="R5b7b1249aa394c99" /><Relationship Type="http://schemas.openxmlformats.org/officeDocument/2006/relationships/notesSlide" Target="/ppt/notesSlides/notesSlide10.xml" Id="R6628fcbb2d0d4c9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8017ab8daf54396" /><Relationship Type="http://schemas.openxmlformats.org/officeDocument/2006/relationships/image" Target="/ppt/media/image12.png" Id="Rb07f427f1bce4f92" /><Relationship Type="http://schemas.openxmlformats.org/officeDocument/2006/relationships/notesSlide" Target="/ppt/notesSlides/notesSlide11.xml" Id="R3f03f6806c1f447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721f3b993484045" /><Relationship Type="http://schemas.openxmlformats.org/officeDocument/2006/relationships/image" Target="/ppt/media/image13.png" Id="R955fdb584400462b" /><Relationship Type="http://schemas.openxmlformats.org/officeDocument/2006/relationships/notesSlide" Target="/ppt/notesSlides/notesSlide12.xml" Id="Rf083cfb8be38433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339209398864144" /><Relationship Type="http://schemas.openxmlformats.org/officeDocument/2006/relationships/image" Target="/ppt/media/image14.png" Id="R070c1201177a46a4" /><Relationship Type="http://schemas.openxmlformats.org/officeDocument/2006/relationships/notesSlide" Target="/ppt/notesSlides/notesSlide13.xml" Id="R79b39dde60a94dd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2e51fd33fa84a54" /><Relationship Type="http://schemas.openxmlformats.org/officeDocument/2006/relationships/image" Target="/ppt/media/image15.png" Id="R0cf03114adde4c17" /><Relationship Type="http://schemas.openxmlformats.org/officeDocument/2006/relationships/notesSlide" Target="/ppt/notesSlides/notesSlide14.xml" Id="R921062ac5cc74c2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0271a4f284445f2" /><Relationship Type="http://schemas.openxmlformats.org/officeDocument/2006/relationships/image" Target="/ppt/media/image16.png" Id="Rf362536fd70f4eeb" /><Relationship Type="http://schemas.openxmlformats.org/officeDocument/2006/relationships/notesSlide" Target="/ppt/notesSlides/notesSlide15.xml" Id="Re1c69fc370b245a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33a80be514c4bbd" /><Relationship Type="http://schemas.openxmlformats.org/officeDocument/2006/relationships/image" Target="/ppt/media/image17.png" Id="Rb00c9621b7264ea4" /><Relationship Type="http://schemas.openxmlformats.org/officeDocument/2006/relationships/notesSlide" Target="/ppt/notesSlides/notesSlide16.xml" Id="R84660edd8e0d4c9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3e1af0c503d4eee" /><Relationship Type="http://schemas.openxmlformats.org/officeDocument/2006/relationships/image" Target="/ppt/media/image18.png" Id="R4f6927160e3a4d80" /><Relationship Type="http://schemas.openxmlformats.org/officeDocument/2006/relationships/notesSlide" Target="/ppt/notesSlides/notesSlide17.xml" Id="R5d2cace487b347c1" /></Relationships>
</file>

<file path=ppt/slides/slide1.xml><?xml version="1.0" encoding="utf-8"?>
<p:sld xmlns:p="http://schemas.openxmlformats.org/presentationml/2006/main">
  <p:cSld>
    <p:bg>
      <p:bgPr>
        <a:solidFill xmlns:a="http://schemas.openxmlformats.org/drawingml/2006/main">
          <a:srgbClr val="0B2A1D"/>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1b619c0591a401b"/>
          <a:srcRect xmlns:a="http://schemas.openxmlformats.org/drawingml/2006/main" l="23423" t="0" r="23423" b="0"/>
          <a:stretch xmlns:a="http://schemas.openxmlformats.org/drawingml/2006/main">
            <a:fillRect l="0" t="0" r="0" b="0"/>
          </a:stretch>
        </p:blipFill>
        <p:spPr>
          <a:xfrm xmlns:a="http://schemas.openxmlformats.org/drawingml/2006/main">
            <a:off x="5715000" y="0"/>
            <a:ext cx="6477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0AB0590-0A94-41D7-AB74-437347CBF229}"/>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0B2A1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A0A12F5-A6D8-46B0-B73B-9CD0B348FF4D}"/>
              </a:ext>
            </a:extLst>
          </p:cNvPr>
          <p:cNvSpPr>
            <a:spLocks xmlns:a="http://schemas.openxmlformats.org/drawingml/2006/main" noGrp="1"/>
          </p:cNvSpPr>
          <p:nvPr/>
        </p:nvSpPr>
        <p:spPr>
          <a:xfrm xmlns:a="http://schemas.openxmlformats.org/drawingml/2006/main">
            <a:off x="5667375" y="0"/>
            <a:ext cx="76200" cy="685800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0b2382178f94c9f"/>
          <a:stretch xmlns:a="http://schemas.openxmlformats.org/drawingml/2006/main"/>
        </p:blipFill>
        <p:spPr>
          <a:xfrm xmlns:a="http://schemas.openxmlformats.org/drawingml/2006/main">
            <a:off x="666750" y="552450"/>
            <a:ext cx="628650" cy="628650"/>
          </a:xfrm>
          <a:prstGeom xmlns:a="http://schemas.openxmlformats.org/drawingml/2006/main" prst="roundRect">
            <a:avLst>
              <a:gd name="adj" fmla="val 18182"/>
            </a:avLst>
          </a:prstGeom>
        </p:spPr>
      </p:pic>
      <p:sp>
        <p:nvSpPr>
          <p:cNvPr id="5" name="">
            <a:extLst xmlns:a="http://schemas.openxmlformats.org/drawingml/2006/main">
              <a:ext uri="{FF2B5EF4-FFF2-40B4-BE49-F238E27FC236}">
                <a16:creationId xmlns:a16="http://schemas.microsoft.com/office/drawing/2014/main" id="{C1D7FE30-B1FF-46AF-9E58-2690FBF31086}"/>
              </a:ext>
            </a:extLst>
          </p:cNvPr>
          <p:cNvSpPr>
            <a:spLocks xmlns:a="http://schemas.openxmlformats.org/drawingml/2006/main" noGrp="1"/>
          </p:cNvSpPr>
          <p:nvPr/>
        </p:nvSpPr>
        <p:spPr>
          <a:xfrm xmlns:a="http://schemas.openxmlformats.org/drawingml/2006/main">
            <a:off x="1466850" y="638175"/>
            <a:ext cx="3714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C8A96A"/>
                </a:solidFill>
              </a:defRPr>
            </a:pPr>
            <a:r>
              <a:rPr sz="1050" b="1" i="0">
                <a:solidFill>
                  <a:srgbClr val="C8A96A"/>
                </a:solidFill>
              </a:rPr>
              <a:t>TRADITIONAL GOVERNANCE</a:t>
            </a:r>
          </a:p>
        </p:txBody>
      </p:sp>
      <p:sp>
        <p:nvSpPr>
          <p:cNvPr id="6" name="">
            <a:extLst xmlns:a="http://schemas.openxmlformats.org/drawingml/2006/main">
              <a:ext uri="{FF2B5EF4-FFF2-40B4-BE49-F238E27FC236}">
                <a16:creationId xmlns:a16="http://schemas.microsoft.com/office/drawing/2014/main" id="{B8EECCC3-2149-488B-896D-24A8AC7E6BCA}"/>
              </a:ext>
            </a:extLst>
          </p:cNvPr>
          <p:cNvSpPr>
            <a:spLocks xmlns:a="http://schemas.openxmlformats.org/drawingml/2006/main" noGrp="1"/>
          </p:cNvSpPr>
          <p:nvPr/>
        </p:nvSpPr>
        <p:spPr>
          <a:xfrm xmlns:a="http://schemas.openxmlformats.org/drawingml/2006/main">
            <a:off x="1466850" y="86677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FFFFFF"/>
                </a:solidFill>
              </a:defRPr>
            </a:pPr>
            <a:r>
              <a:rPr sz="825" b="0" i="0">
                <a:solidFill>
                  <a:srgbClr val="FFFFFF"/>
                </a:solidFill>
              </a:rPr>
              <a:t>DATA ANALYTICS &amp; VISUALIZATION PLATFORM</a:t>
            </a:r>
          </a:p>
        </p:txBody>
      </p:sp>
      <p:sp>
        <p:nvSpPr>
          <p:cNvPr id="7" name="">
            <a:extLst xmlns:a="http://schemas.openxmlformats.org/drawingml/2006/main">
              <a:ext uri="{FF2B5EF4-FFF2-40B4-BE49-F238E27FC236}">
                <a16:creationId xmlns:a16="http://schemas.microsoft.com/office/drawing/2014/main" id="{717C884B-064E-4A6F-9CED-5501EDF2237A}"/>
              </a:ext>
            </a:extLst>
          </p:cNvPr>
          <p:cNvSpPr>
            <a:spLocks xmlns:a="http://schemas.openxmlformats.org/drawingml/2006/main" noGrp="1"/>
          </p:cNvSpPr>
          <p:nvPr/>
        </p:nvSpPr>
        <p:spPr>
          <a:xfrm xmlns:a="http://schemas.openxmlformats.org/drawingml/2006/main">
            <a:off x="666750" y="1809750"/>
            <a:ext cx="4476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i="0">
                <a:solidFill>
                  <a:srgbClr val="FFFFFF"/>
                </a:solidFill>
              </a:defRPr>
            </a:pPr>
            <a:r>
              <a:rPr sz="3750" b="1" i="0">
                <a:solidFill>
                  <a:srgbClr val="FFFFFF"/>
                </a:solidFill>
              </a:rPr>
              <a:t>Interactive Statistics</a:t>
            </a:r>
          </a:p>
          <a:p xmlns:a="http://schemas.openxmlformats.org/drawingml/2006/main">
            <a:pPr algn="l">
              <a:defRPr sz="3750" b="1" i="0">
                <a:solidFill>
                  <a:srgbClr val="FFFFFF"/>
                </a:solidFill>
              </a:defRPr>
            </a:pPr>
            <a:r>
              <a:rPr sz="3750" b="1" i="0">
                <a:solidFill>
                  <a:srgbClr val="FFFFFF"/>
                </a:solidFill>
              </a:rPr>
              <a:t>Filtering Feature</a:t>
            </a:r>
          </a:p>
        </p:txBody>
      </p:sp>
      <p:sp>
        <p:nvSpPr>
          <p:cNvPr id="8" name="">
            <a:extLst xmlns:a="http://schemas.openxmlformats.org/drawingml/2006/main">
              <a:ext uri="{FF2B5EF4-FFF2-40B4-BE49-F238E27FC236}">
                <a16:creationId xmlns:a16="http://schemas.microsoft.com/office/drawing/2014/main" id="{747B5872-4A41-4CD9-9F55-156D3C1E1084}"/>
              </a:ext>
            </a:extLst>
          </p:cNvPr>
          <p:cNvSpPr>
            <a:spLocks xmlns:a="http://schemas.openxmlformats.org/drawingml/2006/main" noGrp="1"/>
          </p:cNvSpPr>
          <p:nvPr/>
        </p:nvSpPr>
        <p:spPr>
          <a:xfrm xmlns:a="http://schemas.openxmlformats.org/drawingml/2006/main">
            <a:off x="685800" y="3638550"/>
            <a:ext cx="4429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EDE1C8"/>
                </a:solidFill>
              </a:defRPr>
            </a:pPr>
            <a:r>
              <a:rPr sz="1650" b="0" i="0">
                <a:solidFill>
                  <a:srgbClr val="EDE1C8"/>
                </a:solidFill>
              </a:rPr>
              <a:t>A clear explanation of the design, workflow,</a:t>
            </a:r>
          </a:p>
          <a:p xmlns:a="http://schemas.openxmlformats.org/drawingml/2006/main">
            <a:pPr algn="l">
              <a:defRPr sz="1650" b="0" i="0">
                <a:solidFill>
                  <a:srgbClr val="EDE1C8"/>
                </a:solidFill>
              </a:defRPr>
            </a:pPr>
            <a:r>
              <a:rPr sz="1650" b="0" i="0">
                <a:solidFill>
                  <a:srgbClr val="EDE1C8"/>
                </a:solidFill>
              </a:rPr>
              <a:t>implementation, performance, and testing.</a:t>
            </a:r>
          </a:p>
        </p:txBody>
      </p:sp>
      <p:sp>
        <p:nvSpPr>
          <p:cNvPr id="9" name="">
            <a:extLst xmlns:a="http://schemas.openxmlformats.org/drawingml/2006/main">
              <a:ext uri="{FF2B5EF4-FFF2-40B4-BE49-F238E27FC236}">
                <a16:creationId xmlns:a16="http://schemas.microsoft.com/office/drawing/2014/main" id="{2BB2FFBD-3D04-40ED-8212-439148B42122}"/>
              </a:ext>
            </a:extLst>
          </p:cNvPr>
          <p:cNvSpPr>
            <a:spLocks xmlns:a="http://schemas.openxmlformats.org/drawingml/2006/main" noGrp="1"/>
          </p:cNvSpPr>
          <p:nvPr/>
        </p:nvSpPr>
        <p:spPr>
          <a:xfrm xmlns:a="http://schemas.openxmlformats.org/drawingml/2006/main">
            <a:off x="685800" y="5048250"/>
            <a:ext cx="2905125" cy="533400"/>
          </a:xfrm>
          <a:prstGeom xmlns:a="http://schemas.openxmlformats.org/drawingml/2006/main" prst="roundRect">
            <a:avLst>
              <a:gd name="adj" fmla="val 14286"/>
            </a:avLst>
          </a:prstGeom>
          <a:solidFill xmlns:a="http://schemas.openxmlformats.org/drawingml/2006/main">
            <a:srgbClr val="C8A96A"/>
          </a:solidFill>
          <a:ln xmlns:a="http://schemas.openxmlformats.org/drawingml/2006/main" w="0">
            <a:solidFill>
              <a:srgbClr val="C8A96A"/>
            </a:solidFill>
            <a:prstDash val="solid"/>
          </a:ln>
        </p:spPr>
      </p:sp>
      <p:sp>
        <p:nvSpPr>
          <p:cNvPr id="10" name="">
            <a:extLst xmlns:a="http://schemas.openxmlformats.org/drawingml/2006/main">
              <a:ext uri="{FF2B5EF4-FFF2-40B4-BE49-F238E27FC236}">
                <a16:creationId xmlns:a16="http://schemas.microsoft.com/office/drawing/2014/main" id="{FB1D6374-66DC-470B-A090-9C283584CE3A}"/>
              </a:ext>
            </a:extLst>
          </p:cNvPr>
          <p:cNvSpPr>
            <a:spLocks xmlns:a="http://schemas.openxmlformats.org/drawingml/2006/main" noGrp="1"/>
          </p:cNvSpPr>
          <p:nvPr/>
        </p:nvSpPr>
        <p:spPr>
          <a:xfrm xmlns:a="http://schemas.openxmlformats.org/drawingml/2006/main">
            <a:off x="685800" y="5191125"/>
            <a:ext cx="2905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0B2A1D"/>
                </a:solidFill>
              </a:defRPr>
            </a:pPr>
            <a:r>
              <a:rPr sz="1350" b="1" i="0">
                <a:solidFill>
                  <a:srgbClr val="0B2A1D"/>
                </a:solidFill>
              </a:rPr>
              <a:t>Graduation Project Defense</a:t>
            </a:r>
          </a:p>
        </p:txBody>
      </p:sp>
      <p:sp>
        <p:nvSpPr>
          <p:cNvPr id="11" name="">
            <a:extLst xmlns:a="http://schemas.openxmlformats.org/drawingml/2006/main">
              <a:ext uri="{FF2B5EF4-FFF2-40B4-BE49-F238E27FC236}">
                <a16:creationId xmlns:a16="http://schemas.microsoft.com/office/drawing/2014/main" id="{A6744F46-F479-45C3-9A17-BC888FB1B91D}"/>
              </a:ext>
            </a:extLst>
          </p:cNvPr>
          <p:cNvSpPr>
            <a:spLocks xmlns:a="http://schemas.openxmlformats.org/drawingml/2006/main" noGrp="1"/>
          </p:cNvSpPr>
          <p:nvPr/>
        </p:nvSpPr>
        <p:spPr>
          <a:xfrm xmlns:a="http://schemas.openxmlformats.org/drawingml/2006/main">
            <a:off x="666750" y="62103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i="0">
                <a:solidFill>
                  <a:srgbClr val="FFFFFF"/>
                </a:solidFill>
              </a:defRPr>
            </a:pPr>
            <a:r>
              <a:rPr sz="900" b="0" i="0">
                <a:solidFill>
                  <a:srgbClr val="FFFFFF"/>
                </a:solidFill>
              </a:rPr>
              <a:t>Traditional Governance Data Analytics and Visualization Platform</a:t>
            </a:r>
          </a:p>
        </p:txBody>
      </p:sp>
    </p:spTree>
    <p:extLst>
      <p:ext uri="{BB962C8B-B14F-4D97-AF65-F5344CB8AC3E}">
        <p14:creationId xmlns:p14="http://schemas.microsoft.com/office/powerpoint/2010/main" val="461311858"/>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4D204C2-E055-49AA-A94D-380F44590C63}"/>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1D2223F-5A14-483C-B84B-96A68F853D50}"/>
              </a:ext>
            </a:extLst>
          </p:cNvPr>
          <p:cNvSpPr>
            <a:spLocks xmlns:a="http://schemas.openxmlformats.org/drawingml/2006/main" noGrp="1"/>
          </p:cNvSpPr>
          <p:nvPr/>
        </p:nvSpPr>
        <p:spPr>
          <a:xfrm xmlns:a="http://schemas.openxmlformats.org/drawingml/2006/main">
            <a:off x="609600" y="523875"/>
            <a:ext cx="66675" cy="476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6E111D6-4DBE-449C-B493-44D14A037C82}"/>
              </a:ext>
            </a:extLst>
          </p:cNvPr>
          <p:cNvSpPr>
            <a:spLocks xmlns:a="http://schemas.openxmlformats.org/drawingml/2006/main" noGrp="1"/>
          </p:cNvSpPr>
          <p:nvPr/>
        </p:nvSpPr>
        <p:spPr>
          <a:xfrm xmlns:a="http://schemas.openxmlformats.org/drawingml/2006/main">
            <a:off x="838200" y="4572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A96A"/>
                </a:solidFill>
              </a:defRPr>
            </a:pPr>
            <a:r>
              <a:rPr sz="975" b="1" i="0">
                <a:solidFill>
                  <a:srgbClr val="C8A96A"/>
                </a:solidFill>
              </a:rPr>
              <a:t>BEFORE THE UPDATE</a:t>
            </a:r>
          </a:p>
        </p:txBody>
      </p:sp>
      <p:sp>
        <p:nvSpPr>
          <p:cNvPr id="4" name="">
            <a:extLst xmlns:a="http://schemas.openxmlformats.org/drawingml/2006/main">
              <a:ext uri="{FF2B5EF4-FFF2-40B4-BE49-F238E27FC236}">
                <a16:creationId xmlns:a16="http://schemas.microsoft.com/office/drawing/2014/main" id="{51F59849-FBA8-4ECD-95EF-AB00B4B91BA9}"/>
              </a:ext>
            </a:extLst>
          </p:cNvPr>
          <p:cNvSpPr>
            <a:spLocks xmlns:a="http://schemas.openxmlformats.org/drawingml/2006/main" noGrp="1"/>
          </p:cNvSpPr>
          <p:nvPr/>
        </p:nvSpPr>
        <p:spPr>
          <a:xfrm xmlns:a="http://schemas.openxmlformats.org/drawingml/2006/main">
            <a:off x="838200" y="65722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524"/>
                </a:solidFill>
              </a:defRPr>
            </a:pPr>
            <a:r>
              <a:rPr sz="2700" b="1" i="0">
                <a:solidFill>
                  <a:srgbClr val="123524"/>
                </a:solidFill>
              </a:rPr>
              <a:t>The page answered only one global question</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e4fe5decd8c45fb"/>
          <a:stretch xmlns:a="http://schemas.openxmlformats.org/drawingml/2006/main"/>
        </p:blipFill>
        <p:spPr>
          <a:xfrm xmlns:a="http://schemas.openxmlformats.org/drawingml/2006/main">
            <a:off x="11125200" y="428625"/>
            <a:ext cx="495300" cy="495300"/>
          </a:xfrm>
          <a:prstGeom xmlns:a="http://schemas.openxmlformats.org/drawingml/2006/main" prst="roundRect">
            <a:avLst>
              <a:gd name="adj" fmla="val 23077"/>
            </a:avLst>
          </a:prstGeom>
        </p:spPr>
      </p:pic>
      <p:sp>
        <p:nvSpPr>
          <p:cNvPr id="6" name="">
            <a:extLst xmlns:a="http://schemas.openxmlformats.org/drawingml/2006/main">
              <a:ext uri="{FF2B5EF4-FFF2-40B4-BE49-F238E27FC236}">
                <a16:creationId xmlns:a16="http://schemas.microsoft.com/office/drawing/2014/main" id="{98BEA604-C7C7-4F1F-AAF4-9637075392B3}"/>
              </a:ext>
            </a:extLst>
          </p:cNvPr>
          <p:cNvSpPr>
            <a:spLocks xmlns:a="http://schemas.openxmlformats.org/drawingml/2006/main" noGrp="1"/>
          </p:cNvSpPr>
          <p:nvPr/>
        </p:nvSpPr>
        <p:spPr>
          <a:xfrm xmlns:a="http://schemas.openxmlformats.org/drawingml/2006/main">
            <a:off x="609600" y="6457950"/>
            <a:ext cx="10972800" cy="9525"/>
          </a:xfrm>
          <a:prstGeom xmlns:a="http://schemas.openxmlformats.org/drawingml/2006/main" prst="rect">
            <a:avLst/>
          </a:prstGeom>
          <a:solidFill xmlns:a="http://schemas.openxmlformats.org/drawingml/2006/main">
            <a:srgbClr val="DCDDD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A2B686B-9315-470A-A74F-C361E59DDA47}"/>
              </a:ext>
            </a:extLst>
          </p:cNvPr>
          <p:cNvSpPr>
            <a:spLocks xmlns:a="http://schemas.openxmlformats.org/drawingml/2006/main" noGrp="1"/>
          </p:cNvSpPr>
          <p:nvPr/>
        </p:nvSpPr>
        <p:spPr>
          <a:xfrm xmlns:a="http://schemas.openxmlformats.org/drawingml/2006/main">
            <a:off x="609600" y="6543675"/>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66736B"/>
                </a:solidFill>
              </a:defRPr>
            </a:pPr>
            <a:r>
              <a:rPr sz="825" b="0" i="0">
                <a:solidFill>
                  <a:srgbClr val="66736B"/>
                </a:solidFill>
              </a:rPr>
              <a:t>Traditional Governance  •  Interactive Statistics</a:t>
            </a:r>
          </a:p>
        </p:txBody>
      </p:sp>
      <p:sp>
        <p:nvSpPr>
          <p:cNvPr id="8" name="">
            <a:extLst xmlns:a="http://schemas.openxmlformats.org/drawingml/2006/main">
              <a:ext uri="{FF2B5EF4-FFF2-40B4-BE49-F238E27FC236}">
                <a16:creationId xmlns:a16="http://schemas.microsoft.com/office/drawing/2014/main" id="{DEF71CFF-A208-42C3-8E2D-5FCE3B1DDA7B}"/>
              </a:ext>
            </a:extLst>
          </p:cNvPr>
          <p:cNvSpPr>
            <a:spLocks xmlns:a="http://schemas.openxmlformats.org/drawingml/2006/main" noGrp="1"/>
          </p:cNvSpPr>
          <p:nvPr/>
        </p:nvSpPr>
        <p:spPr>
          <a:xfrm xmlns:a="http://schemas.openxmlformats.org/drawingml/2006/main">
            <a:off x="11068050" y="65246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123524"/>
                </a:solidFill>
              </a:defRPr>
            </a:pPr>
            <a:r>
              <a:rPr sz="900" b="1" i="0">
                <a:solidFill>
                  <a:srgbClr val="123524"/>
                </a:solidFill>
              </a:rPr>
              <a:t>02</a:t>
            </a:r>
          </a:p>
        </p:txBody>
      </p:sp>
      <p:sp>
        <p:nvSpPr>
          <p:cNvPr id="9" name="">
            <a:extLst xmlns:a="http://schemas.openxmlformats.org/drawingml/2006/main">
              <a:ext uri="{FF2B5EF4-FFF2-40B4-BE49-F238E27FC236}">
                <a16:creationId xmlns:a16="http://schemas.microsoft.com/office/drawing/2014/main" id="{CB721C48-C33B-46F5-B30C-7634CEFBD1E9}"/>
              </a:ext>
            </a:extLst>
          </p:cNvPr>
          <p:cNvSpPr>
            <a:spLocks xmlns:a="http://schemas.openxmlformats.org/drawingml/2006/main" noGrp="1"/>
          </p:cNvSpPr>
          <p:nvPr/>
        </p:nvSpPr>
        <p:spPr>
          <a:xfrm xmlns:a="http://schemas.openxmlformats.org/drawingml/2006/main">
            <a:off x="628650" y="1466850"/>
            <a:ext cx="4333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123524"/>
                </a:solidFill>
              </a:defRPr>
            </a:pPr>
            <a:r>
              <a:rPr sz="2025" b="1" i="0">
                <a:solidFill>
                  <a:srgbClr val="123524"/>
                </a:solidFill>
              </a:rPr>
              <a:t>Every chart used the full dataset.</a:t>
            </a:r>
          </a:p>
        </p:txBody>
      </p:sp>
      <p:sp>
        <p:nvSpPr>
          <p:cNvPr id="10" name="">
            <a:extLst xmlns:a="http://schemas.openxmlformats.org/drawingml/2006/main">
              <a:ext uri="{FF2B5EF4-FFF2-40B4-BE49-F238E27FC236}">
                <a16:creationId xmlns:a16="http://schemas.microsoft.com/office/drawing/2014/main" id="{5EB94F9C-4CF3-45B0-A672-A7B2DAF21384}"/>
              </a:ext>
            </a:extLst>
          </p:cNvPr>
          <p:cNvSpPr>
            <a:spLocks xmlns:a="http://schemas.openxmlformats.org/drawingml/2006/main" noGrp="1"/>
          </p:cNvSpPr>
          <p:nvPr/>
        </p:nvSpPr>
        <p:spPr>
          <a:xfrm xmlns:a="http://schemas.openxmlformats.org/drawingml/2006/main">
            <a:off x="685800" y="2219325"/>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D4B9120-21FC-4D7D-8951-7A111B0312CF}"/>
              </a:ext>
            </a:extLst>
          </p:cNvPr>
          <p:cNvSpPr>
            <a:spLocks xmlns:a="http://schemas.openxmlformats.org/drawingml/2006/main" noGrp="1"/>
          </p:cNvSpPr>
          <p:nvPr/>
        </p:nvSpPr>
        <p:spPr>
          <a:xfrm xmlns:a="http://schemas.openxmlformats.org/drawingml/2006/main">
            <a:off x="914400" y="2143125"/>
            <a:ext cx="4152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17211B"/>
                </a:solidFill>
              </a:defRPr>
            </a:pPr>
            <a:r>
              <a:rPr sz="1425" b="0" i="0">
                <a:solidFill>
                  <a:srgbClr val="17211B"/>
                </a:solidFill>
              </a:rPr>
              <a:t>No country-level analysis</a:t>
            </a:r>
          </a:p>
        </p:txBody>
      </p:sp>
      <p:sp>
        <p:nvSpPr>
          <p:cNvPr id="12" name="">
            <a:extLst xmlns:a="http://schemas.openxmlformats.org/drawingml/2006/main">
              <a:ext uri="{FF2B5EF4-FFF2-40B4-BE49-F238E27FC236}">
                <a16:creationId xmlns:a16="http://schemas.microsoft.com/office/drawing/2014/main" id="{D0B8BE76-2FE1-4B3B-AD49-E1FB34560AF3}"/>
              </a:ext>
            </a:extLst>
          </p:cNvPr>
          <p:cNvSpPr>
            <a:spLocks xmlns:a="http://schemas.openxmlformats.org/drawingml/2006/main" noGrp="1"/>
          </p:cNvSpPr>
          <p:nvPr/>
        </p:nvSpPr>
        <p:spPr>
          <a:xfrm xmlns:a="http://schemas.openxmlformats.org/drawingml/2006/main">
            <a:off x="685800" y="2809875"/>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0BE5748-6EB7-40FB-8578-6350520751B6}"/>
              </a:ext>
            </a:extLst>
          </p:cNvPr>
          <p:cNvSpPr>
            <a:spLocks xmlns:a="http://schemas.openxmlformats.org/drawingml/2006/main" noGrp="1"/>
          </p:cNvSpPr>
          <p:nvPr/>
        </p:nvSpPr>
        <p:spPr>
          <a:xfrm xmlns:a="http://schemas.openxmlformats.org/drawingml/2006/main">
            <a:off x="914400" y="2733675"/>
            <a:ext cx="4152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17211B"/>
                </a:solidFill>
              </a:defRPr>
            </a:pPr>
            <a:r>
              <a:rPr sz="1425" b="0" i="0">
                <a:solidFill>
                  <a:srgbClr val="17211B"/>
                </a:solidFill>
              </a:rPr>
              <a:t>No continent-level analysis</a:t>
            </a:r>
          </a:p>
        </p:txBody>
      </p:sp>
      <p:sp>
        <p:nvSpPr>
          <p:cNvPr id="14" name="">
            <a:extLst xmlns:a="http://schemas.openxmlformats.org/drawingml/2006/main">
              <a:ext uri="{FF2B5EF4-FFF2-40B4-BE49-F238E27FC236}">
                <a16:creationId xmlns:a16="http://schemas.microsoft.com/office/drawing/2014/main" id="{FE1237C6-9927-4321-B6A9-A5005BF05518}"/>
              </a:ext>
            </a:extLst>
          </p:cNvPr>
          <p:cNvSpPr>
            <a:spLocks xmlns:a="http://schemas.openxmlformats.org/drawingml/2006/main" noGrp="1"/>
          </p:cNvSpPr>
          <p:nvPr/>
        </p:nvSpPr>
        <p:spPr>
          <a:xfrm xmlns:a="http://schemas.openxmlformats.org/drawingml/2006/main">
            <a:off x="685800" y="3400425"/>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D496C78-901F-474A-B4C2-1C1D992D6728}"/>
              </a:ext>
            </a:extLst>
          </p:cNvPr>
          <p:cNvSpPr>
            <a:spLocks xmlns:a="http://schemas.openxmlformats.org/drawingml/2006/main" noGrp="1"/>
          </p:cNvSpPr>
          <p:nvPr/>
        </p:nvSpPr>
        <p:spPr>
          <a:xfrm xmlns:a="http://schemas.openxmlformats.org/drawingml/2006/main">
            <a:off x="914400" y="3324225"/>
            <a:ext cx="4152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17211B"/>
                </a:solidFill>
              </a:defRPr>
            </a:pPr>
            <a:r>
              <a:rPr sz="1425" b="0" i="0">
                <a:solidFill>
                  <a:srgbClr val="17211B"/>
                </a:solidFill>
              </a:rPr>
              <a:t>No region-level analysis</a:t>
            </a:r>
          </a:p>
        </p:txBody>
      </p:sp>
      <p:sp>
        <p:nvSpPr>
          <p:cNvPr id="16" name="">
            <a:extLst xmlns:a="http://schemas.openxmlformats.org/drawingml/2006/main">
              <a:ext uri="{FF2B5EF4-FFF2-40B4-BE49-F238E27FC236}">
                <a16:creationId xmlns:a16="http://schemas.microsoft.com/office/drawing/2014/main" id="{701F05A0-8241-4D3E-B3A2-673681CF23F4}"/>
              </a:ext>
            </a:extLst>
          </p:cNvPr>
          <p:cNvSpPr>
            <a:spLocks xmlns:a="http://schemas.openxmlformats.org/drawingml/2006/main" noGrp="1"/>
          </p:cNvSpPr>
          <p:nvPr/>
        </p:nvSpPr>
        <p:spPr>
          <a:xfrm xmlns:a="http://schemas.openxmlformats.org/drawingml/2006/main">
            <a:off x="685800" y="3990975"/>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7E94281-A47E-4583-8A19-2F8F3854151C}"/>
              </a:ext>
            </a:extLst>
          </p:cNvPr>
          <p:cNvSpPr>
            <a:spLocks xmlns:a="http://schemas.openxmlformats.org/drawingml/2006/main" noGrp="1"/>
          </p:cNvSpPr>
          <p:nvPr/>
        </p:nvSpPr>
        <p:spPr>
          <a:xfrm xmlns:a="http://schemas.openxmlformats.org/drawingml/2006/main">
            <a:off x="914400" y="3914775"/>
            <a:ext cx="4152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17211B"/>
                </a:solidFill>
              </a:defRPr>
            </a:pPr>
            <a:r>
              <a:rPr sz="1425" b="0" i="0">
                <a:solidFill>
                  <a:srgbClr val="17211B"/>
                </a:solidFill>
              </a:rPr>
              <a:t>Users could not narrow the research scope</a:t>
            </a:r>
          </a:p>
        </p:txBody>
      </p:sp>
      <p:sp>
        <p:nvSpPr>
          <p:cNvPr id="18" name="">
            <a:extLst xmlns:a="http://schemas.openxmlformats.org/drawingml/2006/main">
              <a:ext uri="{FF2B5EF4-FFF2-40B4-BE49-F238E27FC236}">
                <a16:creationId xmlns:a16="http://schemas.microsoft.com/office/drawing/2014/main" id="{21D32227-DBBD-4702-993C-3C55BF089D08}"/>
              </a:ext>
            </a:extLst>
          </p:cNvPr>
          <p:cNvSpPr>
            <a:spLocks xmlns:a="http://schemas.openxmlformats.org/drawingml/2006/main" noGrp="1"/>
          </p:cNvSpPr>
          <p:nvPr/>
        </p:nvSpPr>
        <p:spPr>
          <a:xfrm xmlns:a="http://schemas.openxmlformats.org/drawingml/2006/main">
            <a:off x="685800" y="4838700"/>
            <a:ext cx="4171950" cy="876300"/>
          </a:xfrm>
          <a:prstGeom xmlns:a="http://schemas.openxmlformats.org/drawingml/2006/main" prst="roundRect">
            <a:avLst>
              <a:gd name="adj" fmla="val 8696"/>
            </a:avLst>
          </a:prstGeom>
          <a:solidFill xmlns:a="http://schemas.openxmlformats.org/drawingml/2006/main">
            <a:srgbClr val="EDE1C8"/>
          </a:solidFill>
          <a:ln xmlns:a="http://schemas.openxmlformats.org/drawingml/2006/main" w="9525">
            <a:solidFill>
              <a:srgbClr val="C8A96A"/>
            </a:solidFill>
            <a:prstDash val="solid"/>
          </a:ln>
        </p:spPr>
      </p:sp>
      <p:sp>
        <p:nvSpPr>
          <p:cNvPr id="19" name="">
            <a:extLst xmlns:a="http://schemas.openxmlformats.org/drawingml/2006/main">
              <a:ext uri="{FF2B5EF4-FFF2-40B4-BE49-F238E27FC236}">
                <a16:creationId xmlns:a16="http://schemas.microsoft.com/office/drawing/2014/main" id="{6DA2FFA6-17A0-4DC2-A999-9A78B0922B4B}"/>
              </a:ext>
            </a:extLst>
          </p:cNvPr>
          <p:cNvSpPr>
            <a:spLocks xmlns:a="http://schemas.openxmlformats.org/drawingml/2006/main" noGrp="1"/>
          </p:cNvSpPr>
          <p:nvPr/>
        </p:nvSpPr>
        <p:spPr>
          <a:xfrm xmlns:a="http://schemas.openxmlformats.org/drawingml/2006/main">
            <a:off x="914400" y="49911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23524"/>
                </a:solidFill>
              </a:defRPr>
            </a:pPr>
            <a:r>
              <a:rPr sz="1200" b="1" i="0">
                <a:solidFill>
                  <a:srgbClr val="123524"/>
                </a:solidFill>
              </a:rPr>
              <a:t>Result</a:t>
            </a:r>
          </a:p>
        </p:txBody>
      </p:sp>
      <p:sp>
        <p:nvSpPr>
          <p:cNvPr id="20" name="">
            <a:extLst xmlns:a="http://schemas.openxmlformats.org/drawingml/2006/main">
              <a:ext uri="{FF2B5EF4-FFF2-40B4-BE49-F238E27FC236}">
                <a16:creationId xmlns:a16="http://schemas.microsoft.com/office/drawing/2014/main" id="{4938C668-329B-4DB9-B339-1C8FB2317F82}"/>
              </a:ext>
            </a:extLst>
          </p:cNvPr>
          <p:cNvSpPr>
            <a:spLocks xmlns:a="http://schemas.openxmlformats.org/drawingml/2006/main" noGrp="1"/>
          </p:cNvSpPr>
          <p:nvPr/>
        </p:nvSpPr>
        <p:spPr>
          <a:xfrm xmlns:a="http://schemas.openxmlformats.org/drawingml/2006/main">
            <a:off x="914400" y="5229225"/>
            <a:ext cx="36671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17211B"/>
                </a:solidFill>
              </a:defRPr>
            </a:pPr>
            <a:r>
              <a:rPr sz="1275" b="0" i="0">
                <a:solidFill>
                  <a:srgbClr val="17211B"/>
                </a:solidFill>
              </a:rPr>
              <a:t>Useful for overview, but limited for comparison and focused research.</a:t>
            </a:r>
          </a:p>
        </p:txBody>
      </p:sp>
      <p:sp>
        <p:nvSpPr>
          <p:cNvPr id="21" name="">
            <a:extLst xmlns:a="http://schemas.openxmlformats.org/drawingml/2006/main">
              <a:ext uri="{FF2B5EF4-FFF2-40B4-BE49-F238E27FC236}">
                <a16:creationId xmlns:a16="http://schemas.microsoft.com/office/drawing/2014/main" id="{CE6D5C38-2CA3-40F9-86A5-1EED8C34E236}"/>
              </a:ext>
            </a:extLst>
          </p:cNvPr>
          <p:cNvSpPr>
            <a:spLocks xmlns:a="http://schemas.openxmlformats.org/drawingml/2006/main" noGrp="1"/>
          </p:cNvSpPr>
          <p:nvPr/>
        </p:nvSpPr>
        <p:spPr>
          <a:xfrm xmlns:a="http://schemas.openxmlformats.org/drawingml/2006/main">
            <a:off x="5391150" y="1428750"/>
            <a:ext cx="6191250" cy="4333875"/>
          </a:xfrm>
          <a:prstGeom xmlns:a="http://schemas.openxmlformats.org/drawingml/2006/main" prst="roundRect">
            <a:avLst>
              <a:gd name="adj" fmla="val 2637"/>
            </a:avLst>
          </a:prstGeom>
          <a:solidFill xmlns:a="http://schemas.openxmlformats.org/drawingml/2006/main">
            <a:srgbClr val="FFFFFF"/>
          </a:solidFill>
          <a:ln xmlns:a="http://schemas.openxmlformats.org/drawingml/2006/main" w="9525">
            <a:solidFill>
              <a:srgbClr val="DCDD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1ebb9b4993624480"/>
          <a:srcRect xmlns:a="http://schemas.openxmlformats.org/drawingml/2006/main" l="0" t="53" r="0" b="53"/>
          <a:stretch xmlns:a="http://schemas.openxmlformats.org/drawingml/2006/main">
            <a:fillRect l="0" t="0" r="0" b="0"/>
          </a:stretch>
        </p:blipFill>
        <p:spPr>
          <a:xfrm xmlns:a="http://schemas.openxmlformats.org/drawingml/2006/main">
            <a:off x="5543550" y="1581150"/>
            <a:ext cx="5886450" cy="3676650"/>
          </a:xfrm>
          <a:prstGeom xmlns:a="http://schemas.openxmlformats.org/drawingml/2006/main" prst="roundRect">
            <a:avLst>
              <a:gd name="adj" fmla="val 3109"/>
            </a:avLst>
          </a:prstGeom>
        </p:spPr>
      </p:pic>
      <p:sp>
        <p:nvSpPr>
          <p:cNvPr id="23" name="">
            <a:extLst xmlns:a="http://schemas.openxmlformats.org/drawingml/2006/main">
              <a:ext uri="{FF2B5EF4-FFF2-40B4-BE49-F238E27FC236}">
                <a16:creationId xmlns:a16="http://schemas.microsoft.com/office/drawing/2014/main" id="{FF10D8B9-CD4E-4AAB-82EA-8CC9B033B7FD}"/>
              </a:ext>
            </a:extLst>
          </p:cNvPr>
          <p:cNvSpPr>
            <a:spLocks xmlns:a="http://schemas.openxmlformats.org/drawingml/2006/main" noGrp="1"/>
          </p:cNvSpPr>
          <p:nvPr/>
        </p:nvSpPr>
        <p:spPr>
          <a:xfrm xmlns:a="http://schemas.openxmlformats.org/drawingml/2006/main">
            <a:off x="7143750" y="5353050"/>
            <a:ext cx="2724150" cy="333375"/>
          </a:xfrm>
          <a:prstGeom xmlns:a="http://schemas.openxmlformats.org/drawingml/2006/main" prst="roundRect">
            <a:avLst>
              <a:gd name="adj" fmla="val 22857"/>
            </a:avLst>
          </a:prstGeom>
          <a:solidFill xmlns:a="http://schemas.openxmlformats.org/drawingml/2006/main">
            <a:srgbClr val="123524"/>
          </a:solidFill>
          <a:ln xmlns:a="http://schemas.openxmlformats.org/drawingml/2006/main" w="0">
            <a:solidFill>
              <a:srgbClr val="123524"/>
            </a:solidFill>
            <a:prstDash val="solid"/>
          </a:ln>
        </p:spPr>
      </p:sp>
      <p:sp>
        <p:nvSpPr>
          <p:cNvPr id="24" name="">
            <a:extLst xmlns:a="http://schemas.openxmlformats.org/drawingml/2006/main">
              <a:ext uri="{FF2B5EF4-FFF2-40B4-BE49-F238E27FC236}">
                <a16:creationId xmlns:a16="http://schemas.microsoft.com/office/drawing/2014/main" id="{3B7956B6-AF3E-48B6-B495-AA1052E8544D}"/>
              </a:ext>
            </a:extLst>
          </p:cNvPr>
          <p:cNvSpPr>
            <a:spLocks xmlns:a="http://schemas.openxmlformats.org/drawingml/2006/main" noGrp="1"/>
          </p:cNvSpPr>
          <p:nvPr/>
        </p:nvSpPr>
        <p:spPr>
          <a:xfrm xmlns:a="http://schemas.openxmlformats.org/drawingml/2006/main">
            <a:off x="7143750" y="5429250"/>
            <a:ext cx="2724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One fixed scope: All Data</a:t>
            </a:r>
          </a:p>
        </p:txBody>
      </p:sp>
    </p:spTree>
    <p:extLst>
      <p:ext uri="{BB962C8B-B14F-4D97-AF65-F5344CB8AC3E}">
        <p14:creationId xmlns:p14="http://schemas.microsoft.com/office/powerpoint/2010/main" val="1828869456"/>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9D7BDEF-04C4-449F-95A6-03D8B2A4214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5BC5BF7-8825-4B79-9A7C-E311986D9D38}"/>
              </a:ext>
            </a:extLst>
          </p:cNvPr>
          <p:cNvSpPr>
            <a:spLocks xmlns:a="http://schemas.openxmlformats.org/drawingml/2006/main" noGrp="1"/>
          </p:cNvSpPr>
          <p:nvPr/>
        </p:nvSpPr>
        <p:spPr>
          <a:xfrm xmlns:a="http://schemas.openxmlformats.org/drawingml/2006/main">
            <a:off x="609600" y="523875"/>
            <a:ext cx="66675" cy="476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C447029-B60C-4062-8E72-A735CAF8A3C0}"/>
              </a:ext>
            </a:extLst>
          </p:cNvPr>
          <p:cNvSpPr>
            <a:spLocks xmlns:a="http://schemas.openxmlformats.org/drawingml/2006/main" noGrp="1"/>
          </p:cNvSpPr>
          <p:nvPr/>
        </p:nvSpPr>
        <p:spPr>
          <a:xfrm xmlns:a="http://schemas.openxmlformats.org/drawingml/2006/main">
            <a:off x="838200" y="4572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A96A"/>
                </a:solidFill>
              </a:defRPr>
            </a:pPr>
            <a:r>
              <a:rPr sz="975" b="1" i="0">
                <a:solidFill>
                  <a:srgbClr val="C8A96A"/>
                </a:solidFill>
              </a:rPr>
              <a:t>RESEARCH NEED</a:t>
            </a:r>
          </a:p>
        </p:txBody>
      </p:sp>
      <p:sp>
        <p:nvSpPr>
          <p:cNvPr id="4" name="">
            <a:extLst xmlns:a="http://schemas.openxmlformats.org/drawingml/2006/main">
              <a:ext uri="{FF2B5EF4-FFF2-40B4-BE49-F238E27FC236}">
                <a16:creationId xmlns:a16="http://schemas.microsoft.com/office/drawing/2014/main" id="{238F2264-ADC6-4154-8954-336D0CC249E3}"/>
              </a:ext>
            </a:extLst>
          </p:cNvPr>
          <p:cNvSpPr>
            <a:spLocks xmlns:a="http://schemas.openxmlformats.org/drawingml/2006/main" noGrp="1"/>
          </p:cNvSpPr>
          <p:nvPr/>
        </p:nvSpPr>
        <p:spPr>
          <a:xfrm xmlns:a="http://schemas.openxmlformats.org/drawingml/2006/main">
            <a:off x="838200" y="65722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524"/>
                </a:solidFill>
              </a:defRPr>
            </a:pPr>
            <a:r>
              <a:rPr sz="2700" b="1" i="0">
                <a:solidFill>
                  <a:srgbClr val="123524"/>
                </a:solidFill>
              </a:rPr>
              <a:t>Geographic questions required geographic scope</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b62e3cd5cba041bc"/>
          <a:stretch xmlns:a="http://schemas.openxmlformats.org/drawingml/2006/main"/>
        </p:blipFill>
        <p:spPr>
          <a:xfrm xmlns:a="http://schemas.openxmlformats.org/drawingml/2006/main">
            <a:off x="11125200" y="428625"/>
            <a:ext cx="495300" cy="495300"/>
          </a:xfrm>
          <a:prstGeom xmlns:a="http://schemas.openxmlformats.org/drawingml/2006/main" prst="roundRect">
            <a:avLst>
              <a:gd name="adj" fmla="val 23077"/>
            </a:avLst>
          </a:prstGeom>
        </p:spPr>
      </p:pic>
      <p:sp>
        <p:nvSpPr>
          <p:cNvPr id="6" name="">
            <a:extLst xmlns:a="http://schemas.openxmlformats.org/drawingml/2006/main">
              <a:ext uri="{FF2B5EF4-FFF2-40B4-BE49-F238E27FC236}">
                <a16:creationId xmlns:a16="http://schemas.microsoft.com/office/drawing/2014/main" id="{5BA6333B-53AA-4326-A5DE-26A95F040B66}"/>
              </a:ext>
            </a:extLst>
          </p:cNvPr>
          <p:cNvSpPr>
            <a:spLocks xmlns:a="http://schemas.openxmlformats.org/drawingml/2006/main" noGrp="1"/>
          </p:cNvSpPr>
          <p:nvPr/>
        </p:nvSpPr>
        <p:spPr>
          <a:xfrm xmlns:a="http://schemas.openxmlformats.org/drawingml/2006/main">
            <a:off x="609600" y="6457950"/>
            <a:ext cx="10972800" cy="9525"/>
          </a:xfrm>
          <a:prstGeom xmlns:a="http://schemas.openxmlformats.org/drawingml/2006/main" prst="rect">
            <a:avLst/>
          </a:prstGeom>
          <a:solidFill xmlns:a="http://schemas.openxmlformats.org/drawingml/2006/main">
            <a:srgbClr val="DCDDD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2A5DECD-A2CE-44B2-AB70-1495E240D531}"/>
              </a:ext>
            </a:extLst>
          </p:cNvPr>
          <p:cNvSpPr>
            <a:spLocks xmlns:a="http://schemas.openxmlformats.org/drawingml/2006/main" noGrp="1"/>
          </p:cNvSpPr>
          <p:nvPr/>
        </p:nvSpPr>
        <p:spPr>
          <a:xfrm xmlns:a="http://schemas.openxmlformats.org/drawingml/2006/main">
            <a:off x="609600" y="6543675"/>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66736B"/>
                </a:solidFill>
              </a:defRPr>
            </a:pPr>
            <a:r>
              <a:rPr sz="825" b="0" i="0">
                <a:solidFill>
                  <a:srgbClr val="66736B"/>
                </a:solidFill>
              </a:rPr>
              <a:t>Traditional Governance  •  Interactive Statistics</a:t>
            </a:r>
          </a:p>
        </p:txBody>
      </p:sp>
      <p:sp>
        <p:nvSpPr>
          <p:cNvPr id="8" name="">
            <a:extLst xmlns:a="http://schemas.openxmlformats.org/drawingml/2006/main">
              <a:ext uri="{FF2B5EF4-FFF2-40B4-BE49-F238E27FC236}">
                <a16:creationId xmlns:a16="http://schemas.microsoft.com/office/drawing/2014/main" id="{F13BA7F9-7C7A-4D2B-9899-B6741C8A9112}"/>
              </a:ext>
            </a:extLst>
          </p:cNvPr>
          <p:cNvSpPr>
            <a:spLocks xmlns:a="http://schemas.openxmlformats.org/drawingml/2006/main" noGrp="1"/>
          </p:cNvSpPr>
          <p:nvPr/>
        </p:nvSpPr>
        <p:spPr>
          <a:xfrm xmlns:a="http://schemas.openxmlformats.org/drawingml/2006/main">
            <a:off x="11068050" y="65246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123524"/>
                </a:solidFill>
              </a:defRPr>
            </a:pPr>
            <a:r>
              <a:rPr sz="900" b="1" i="0">
                <a:solidFill>
                  <a:srgbClr val="123524"/>
                </a:solidFill>
              </a:rPr>
              <a:t>03</a:t>
            </a:r>
          </a:p>
        </p:txBody>
      </p:sp>
      <p:sp>
        <p:nvSpPr>
          <p:cNvPr id="9" name="">
            <a:extLst xmlns:a="http://schemas.openxmlformats.org/drawingml/2006/main">
              <a:ext uri="{FF2B5EF4-FFF2-40B4-BE49-F238E27FC236}">
                <a16:creationId xmlns:a16="http://schemas.microsoft.com/office/drawing/2014/main" id="{6482DFB5-FA34-4CAC-9467-22A7A582F74C}"/>
              </a:ext>
            </a:extLst>
          </p:cNvPr>
          <p:cNvSpPr>
            <a:spLocks xmlns:a="http://schemas.openxmlformats.org/drawingml/2006/main" noGrp="1"/>
          </p:cNvSpPr>
          <p:nvPr/>
        </p:nvSpPr>
        <p:spPr>
          <a:xfrm xmlns:a="http://schemas.openxmlformats.org/drawingml/2006/main">
            <a:off x="685800" y="14668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123524"/>
                </a:solidFill>
              </a:defRPr>
            </a:pPr>
            <a:r>
              <a:rPr sz="2100" b="1" i="0">
                <a:solidFill>
                  <a:srgbClr val="123524"/>
                </a:solidFill>
              </a:rPr>
              <a:t>A researcher may ask:</a:t>
            </a:r>
          </a:p>
        </p:txBody>
      </p:sp>
      <p:sp>
        <p:nvSpPr>
          <p:cNvPr id="10" name="">
            <a:extLst xmlns:a="http://schemas.openxmlformats.org/drawingml/2006/main">
              <a:ext uri="{FF2B5EF4-FFF2-40B4-BE49-F238E27FC236}">
                <a16:creationId xmlns:a16="http://schemas.microsoft.com/office/drawing/2014/main" id="{52F554D4-062D-48D0-8232-5CB89F7F46C7}"/>
              </a:ext>
            </a:extLst>
          </p:cNvPr>
          <p:cNvSpPr>
            <a:spLocks xmlns:a="http://schemas.openxmlformats.org/drawingml/2006/main" noGrp="1"/>
          </p:cNvSpPr>
          <p:nvPr/>
        </p:nvSpPr>
        <p:spPr>
          <a:xfrm xmlns:a="http://schemas.openxmlformats.org/drawingml/2006/main">
            <a:off x="762000" y="2095500"/>
            <a:ext cx="628650" cy="62865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C92DD8D-A7A8-4722-8F19-1A7C5533493E}"/>
              </a:ext>
            </a:extLst>
          </p:cNvPr>
          <p:cNvSpPr>
            <a:spLocks xmlns:a="http://schemas.openxmlformats.org/drawingml/2006/main" noGrp="1"/>
          </p:cNvSpPr>
          <p:nvPr/>
        </p:nvSpPr>
        <p:spPr>
          <a:xfrm xmlns:a="http://schemas.openxmlformats.org/drawingml/2006/main">
            <a:off x="762000" y="2247900"/>
            <a:ext cx="62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FFFFFF"/>
                </a:solidFill>
              </a:defRPr>
            </a:pPr>
            <a:r>
              <a:rPr sz="1650" b="1" i="0">
                <a:solidFill>
                  <a:srgbClr val="FFFFFF"/>
                </a:solidFill>
              </a:rPr>
              <a:t>1</a:t>
            </a:r>
          </a:p>
        </p:txBody>
      </p:sp>
      <p:sp>
        <p:nvSpPr>
          <p:cNvPr id="12" name="">
            <a:extLst xmlns:a="http://schemas.openxmlformats.org/drawingml/2006/main">
              <a:ext uri="{FF2B5EF4-FFF2-40B4-BE49-F238E27FC236}">
                <a16:creationId xmlns:a16="http://schemas.microsoft.com/office/drawing/2014/main" id="{A6BE29DC-08D1-4A41-9B8E-A601B36E2D8F}"/>
              </a:ext>
            </a:extLst>
          </p:cNvPr>
          <p:cNvSpPr>
            <a:spLocks xmlns:a="http://schemas.openxmlformats.org/drawingml/2006/main" noGrp="1"/>
          </p:cNvSpPr>
          <p:nvPr/>
        </p:nvSpPr>
        <p:spPr>
          <a:xfrm xmlns:a="http://schemas.openxmlformats.org/drawingml/2006/main">
            <a:off x="1638300" y="212407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A96A"/>
                </a:solidFill>
              </a:defRPr>
            </a:pPr>
            <a:r>
              <a:rPr sz="975" b="1" i="0">
                <a:solidFill>
                  <a:srgbClr val="C8A96A"/>
                </a:solidFill>
              </a:rPr>
              <a:t>COUNTRY</a:t>
            </a:r>
          </a:p>
        </p:txBody>
      </p:sp>
      <p:sp>
        <p:nvSpPr>
          <p:cNvPr id="13" name="">
            <a:extLst xmlns:a="http://schemas.openxmlformats.org/drawingml/2006/main">
              <a:ext uri="{FF2B5EF4-FFF2-40B4-BE49-F238E27FC236}">
                <a16:creationId xmlns:a16="http://schemas.microsoft.com/office/drawing/2014/main" id="{F52470F5-8BFD-4CD7-8758-1FC3A18097E5}"/>
              </a:ext>
            </a:extLst>
          </p:cNvPr>
          <p:cNvSpPr>
            <a:spLocks xmlns:a="http://schemas.openxmlformats.org/drawingml/2006/main" noGrp="1"/>
          </p:cNvSpPr>
          <p:nvPr/>
        </p:nvSpPr>
        <p:spPr>
          <a:xfrm xmlns:a="http://schemas.openxmlformats.org/drawingml/2006/main">
            <a:off x="1638300" y="239077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7211B"/>
                </a:solidFill>
              </a:defRPr>
            </a:pPr>
            <a:r>
              <a:rPr sz="1500" b="1" i="0">
                <a:solidFill>
                  <a:srgbClr val="17211B"/>
                </a:solidFill>
              </a:rPr>
              <a:t>What patterns appear in Kenya?</a:t>
            </a:r>
          </a:p>
        </p:txBody>
      </p:sp>
      <p:sp>
        <p:nvSpPr>
          <p:cNvPr id="14" name="">
            <a:extLst xmlns:a="http://schemas.openxmlformats.org/drawingml/2006/main">
              <a:ext uri="{FF2B5EF4-FFF2-40B4-BE49-F238E27FC236}">
                <a16:creationId xmlns:a16="http://schemas.microsoft.com/office/drawing/2014/main" id="{5CBEE15D-95D9-4AD4-B2B4-E824FB14BBBE}"/>
              </a:ext>
            </a:extLst>
          </p:cNvPr>
          <p:cNvSpPr>
            <a:spLocks xmlns:a="http://schemas.openxmlformats.org/drawingml/2006/main" noGrp="1"/>
          </p:cNvSpPr>
          <p:nvPr/>
        </p:nvSpPr>
        <p:spPr>
          <a:xfrm xmlns:a="http://schemas.openxmlformats.org/drawingml/2006/main">
            <a:off x="762000" y="3219450"/>
            <a:ext cx="628650" cy="628650"/>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630A62E-90AE-485D-8A17-5629904E9979}"/>
              </a:ext>
            </a:extLst>
          </p:cNvPr>
          <p:cNvSpPr>
            <a:spLocks xmlns:a="http://schemas.openxmlformats.org/drawingml/2006/main" noGrp="1"/>
          </p:cNvSpPr>
          <p:nvPr/>
        </p:nvSpPr>
        <p:spPr>
          <a:xfrm xmlns:a="http://schemas.openxmlformats.org/drawingml/2006/main">
            <a:off x="762000" y="3371850"/>
            <a:ext cx="62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0B2A1D"/>
                </a:solidFill>
              </a:defRPr>
            </a:pPr>
            <a:r>
              <a:rPr sz="1650" b="1" i="0">
                <a:solidFill>
                  <a:srgbClr val="0B2A1D"/>
                </a:solidFill>
              </a:rPr>
              <a:t>2</a:t>
            </a:r>
          </a:p>
        </p:txBody>
      </p:sp>
      <p:sp>
        <p:nvSpPr>
          <p:cNvPr id="16" name="">
            <a:extLst xmlns:a="http://schemas.openxmlformats.org/drawingml/2006/main">
              <a:ext uri="{FF2B5EF4-FFF2-40B4-BE49-F238E27FC236}">
                <a16:creationId xmlns:a16="http://schemas.microsoft.com/office/drawing/2014/main" id="{C29C9433-5613-400B-9F21-DBA8CE80C434}"/>
              </a:ext>
            </a:extLst>
          </p:cNvPr>
          <p:cNvSpPr>
            <a:spLocks xmlns:a="http://schemas.openxmlformats.org/drawingml/2006/main" noGrp="1"/>
          </p:cNvSpPr>
          <p:nvPr/>
        </p:nvSpPr>
        <p:spPr>
          <a:xfrm xmlns:a="http://schemas.openxmlformats.org/drawingml/2006/main">
            <a:off x="1638300" y="324802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A96A"/>
                </a:solidFill>
              </a:defRPr>
            </a:pPr>
            <a:r>
              <a:rPr sz="975" b="1" i="0">
                <a:solidFill>
                  <a:srgbClr val="C8A96A"/>
                </a:solidFill>
              </a:rPr>
              <a:t>CONTINENT</a:t>
            </a:r>
          </a:p>
        </p:txBody>
      </p:sp>
      <p:sp>
        <p:nvSpPr>
          <p:cNvPr id="17" name="">
            <a:extLst xmlns:a="http://schemas.openxmlformats.org/drawingml/2006/main">
              <a:ext uri="{FF2B5EF4-FFF2-40B4-BE49-F238E27FC236}">
                <a16:creationId xmlns:a16="http://schemas.microsoft.com/office/drawing/2014/main" id="{41C284F6-E066-46C1-B67B-6816B4EBA3DC}"/>
              </a:ext>
            </a:extLst>
          </p:cNvPr>
          <p:cNvSpPr>
            <a:spLocks xmlns:a="http://schemas.openxmlformats.org/drawingml/2006/main" noGrp="1"/>
          </p:cNvSpPr>
          <p:nvPr/>
        </p:nvSpPr>
        <p:spPr>
          <a:xfrm xmlns:a="http://schemas.openxmlformats.org/drawingml/2006/main">
            <a:off x="1638300" y="351472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7211B"/>
                </a:solidFill>
              </a:defRPr>
            </a:pPr>
            <a:r>
              <a:rPr sz="1500" b="1" i="0">
                <a:solidFill>
                  <a:srgbClr val="17211B"/>
                </a:solidFill>
              </a:rPr>
              <a:t>How does Africa compare?</a:t>
            </a:r>
          </a:p>
        </p:txBody>
      </p:sp>
      <p:sp>
        <p:nvSpPr>
          <p:cNvPr id="18" name="">
            <a:extLst xmlns:a="http://schemas.openxmlformats.org/drawingml/2006/main">
              <a:ext uri="{FF2B5EF4-FFF2-40B4-BE49-F238E27FC236}">
                <a16:creationId xmlns:a16="http://schemas.microsoft.com/office/drawing/2014/main" id="{5D04DF7E-F3C5-4B7D-B8AA-D439041DD14B}"/>
              </a:ext>
            </a:extLst>
          </p:cNvPr>
          <p:cNvSpPr>
            <a:spLocks xmlns:a="http://schemas.openxmlformats.org/drawingml/2006/main" noGrp="1"/>
          </p:cNvSpPr>
          <p:nvPr/>
        </p:nvSpPr>
        <p:spPr>
          <a:xfrm xmlns:a="http://schemas.openxmlformats.org/drawingml/2006/main">
            <a:off x="762000" y="4343400"/>
            <a:ext cx="628650" cy="62865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72686A5-3C36-4455-B586-348D17D75DAD}"/>
              </a:ext>
            </a:extLst>
          </p:cNvPr>
          <p:cNvSpPr>
            <a:spLocks xmlns:a="http://schemas.openxmlformats.org/drawingml/2006/main" noGrp="1"/>
          </p:cNvSpPr>
          <p:nvPr/>
        </p:nvSpPr>
        <p:spPr>
          <a:xfrm xmlns:a="http://schemas.openxmlformats.org/drawingml/2006/main">
            <a:off x="762000" y="4495800"/>
            <a:ext cx="628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FFFFFF"/>
                </a:solidFill>
              </a:defRPr>
            </a:pPr>
            <a:r>
              <a:rPr sz="1650" b="1" i="0">
                <a:solidFill>
                  <a:srgbClr val="FFFFFF"/>
                </a:solidFill>
              </a:rPr>
              <a:t>3</a:t>
            </a:r>
          </a:p>
        </p:txBody>
      </p:sp>
      <p:sp>
        <p:nvSpPr>
          <p:cNvPr id="20" name="">
            <a:extLst xmlns:a="http://schemas.openxmlformats.org/drawingml/2006/main">
              <a:ext uri="{FF2B5EF4-FFF2-40B4-BE49-F238E27FC236}">
                <a16:creationId xmlns:a16="http://schemas.microsoft.com/office/drawing/2014/main" id="{CC6F265F-A5D4-44C5-8948-9DB0F754ECE3}"/>
              </a:ext>
            </a:extLst>
          </p:cNvPr>
          <p:cNvSpPr>
            <a:spLocks xmlns:a="http://schemas.openxmlformats.org/drawingml/2006/main" noGrp="1"/>
          </p:cNvSpPr>
          <p:nvPr/>
        </p:nvSpPr>
        <p:spPr>
          <a:xfrm xmlns:a="http://schemas.openxmlformats.org/drawingml/2006/main">
            <a:off x="1638300" y="437197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A96A"/>
                </a:solidFill>
              </a:defRPr>
            </a:pPr>
            <a:r>
              <a:rPr sz="975" b="1" i="0">
                <a:solidFill>
                  <a:srgbClr val="C8A96A"/>
                </a:solidFill>
              </a:rPr>
              <a:t>REGION</a:t>
            </a:r>
          </a:p>
        </p:txBody>
      </p:sp>
      <p:sp>
        <p:nvSpPr>
          <p:cNvPr id="21" name="">
            <a:extLst xmlns:a="http://schemas.openxmlformats.org/drawingml/2006/main">
              <a:ext uri="{FF2B5EF4-FFF2-40B4-BE49-F238E27FC236}">
                <a16:creationId xmlns:a16="http://schemas.microsoft.com/office/drawing/2014/main" id="{1EB1EAA1-08D0-4599-8504-A39F6F843F58}"/>
              </a:ext>
            </a:extLst>
          </p:cNvPr>
          <p:cNvSpPr>
            <a:spLocks xmlns:a="http://schemas.openxmlformats.org/drawingml/2006/main" noGrp="1"/>
          </p:cNvSpPr>
          <p:nvPr/>
        </p:nvSpPr>
        <p:spPr>
          <a:xfrm xmlns:a="http://schemas.openxmlformats.org/drawingml/2006/main">
            <a:off x="1638300" y="4638675"/>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7211B"/>
                </a:solidFill>
              </a:defRPr>
            </a:pPr>
            <a:r>
              <a:rPr sz="1500" b="1" i="0">
                <a:solidFill>
                  <a:srgbClr val="17211B"/>
                </a:solidFill>
              </a:rPr>
              <a:t>What is visible in Sub-Saharan Africa?</a:t>
            </a:r>
          </a:p>
        </p:txBody>
      </p:sp>
      <p:sp>
        <p:nvSpPr>
          <p:cNvPr id="22" name="">
            <a:extLst xmlns:a="http://schemas.openxmlformats.org/drawingml/2006/main">
              <a:ext uri="{FF2B5EF4-FFF2-40B4-BE49-F238E27FC236}">
                <a16:creationId xmlns:a16="http://schemas.microsoft.com/office/drawing/2014/main" id="{F086FABE-D5E6-46B7-B85B-134CF7026770}"/>
              </a:ext>
            </a:extLst>
          </p:cNvPr>
          <p:cNvSpPr>
            <a:spLocks xmlns:a="http://schemas.openxmlformats.org/drawingml/2006/main" noGrp="1"/>
          </p:cNvSpPr>
          <p:nvPr/>
        </p:nvSpPr>
        <p:spPr>
          <a:xfrm xmlns:a="http://schemas.openxmlformats.org/drawingml/2006/main">
            <a:off x="6191250" y="1619250"/>
            <a:ext cx="9525" cy="3857625"/>
          </a:xfrm>
          <a:prstGeom xmlns:a="http://schemas.openxmlformats.org/drawingml/2006/main" prst="rect">
            <a:avLst/>
          </a:prstGeom>
          <a:solidFill xmlns:a="http://schemas.openxmlformats.org/drawingml/2006/main">
            <a:srgbClr val="DCDDD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77121AB-4061-440D-8745-18A89B222FCD}"/>
              </a:ext>
            </a:extLst>
          </p:cNvPr>
          <p:cNvSpPr>
            <a:spLocks xmlns:a="http://schemas.openxmlformats.org/drawingml/2006/main" noGrp="1"/>
          </p:cNvSpPr>
          <p:nvPr/>
        </p:nvSpPr>
        <p:spPr>
          <a:xfrm xmlns:a="http://schemas.openxmlformats.org/drawingml/2006/main">
            <a:off x="6724650" y="15621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C8A96A"/>
                </a:solidFill>
              </a:defRPr>
            </a:pPr>
            <a:r>
              <a:rPr sz="1350" b="1" i="0">
                <a:solidFill>
                  <a:srgbClr val="C8A96A"/>
                </a:solidFill>
              </a:rPr>
              <a:t>Design decision</a:t>
            </a:r>
          </a:p>
        </p:txBody>
      </p:sp>
      <p:sp>
        <p:nvSpPr>
          <p:cNvPr id="24" name="">
            <a:extLst xmlns:a="http://schemas.openxmlformats.org/drawingml/2006/main">
              <a:ext uri="{FF2B5EF4-FFF2-40B4-BE49-F238E27FC236}">
                <a16:creationId xmlns:a16="http://schemas.microsoft.com/office/drawing/2014/main" id="{9AB578A2-F36A-4CCD-8BF5-DE5510F8891E}"/>
              </a:ext>
            </a:extLst>
          </p:cNvPr>
          <p:cNvSpPr>
            <a:spLocks xmlns:a="http://schemas.openxmlformats.org/drawingml/2006/main" noGrp="1"/>
          </p:cNvSpPr>
          <p:nvPr/>
        </p:nvSpPr>
        <p:spPr>
          <a:xfrm xmlns:a="http://schemas.openxmlformats.org/drawingml/2006/main">
            <a:off x="6724650" y="1981200"/>
            <a:ext cx="4095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524"/>
                </a:solidFill>
              </a:defRPr>
            </a:pPr>
            <a:r>
              <a:rPr sz="2700" b="1" i="0">
                <a:solidFill>
                  <a:srgbClr val="123524"/>
                </a:solidFill>
              </a:rPr>
              <a:t>One reusable page</a:t>
            </a:r>
          </a:p>
        </p:txBody>
      </p:sp>
      <p:sp>
        <p:nvSpPr>
          <p:cNvPr id="25" name="">
            <a:extLst xmlns:a="http://schemas.openxmlformats.org/drawingml/2006/main">
              <a:ext uri="{FF2B5EF4-FFF2-40B4-BE49-F238E27FC236}">
                <a16:creationId xmlns:a16="http://schemas.microsoft.com/office/drawing/2014/main" id="{C30E656C-E148-4E00-89C7-ACCEDF9A6263}"/>
              </a:ext>
            </a:extLst>
          </p:cNvPr>
          <p:cNvSpPr>
            <a:spLocks xmlns:a="http://schemas.openxmlformats.org/drawingml/2006/main" noGrp="1"/>
          </p:cNvSpPr>
          <p:nvPr/>
        </p:nvSpPr>
        <p:spPr>
          <a:xfrm xmlns:a="http://schemas.openxmlformats.org/drawingml/2006/main">
            <a:off x="6724650" y="2647950"/>
            <a:ext cx="4095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66736B"/>
                </a:solidFill>
              </a:defRPr>
            </a:pPr>
            <a:r>
              <a:rPr sz="1575" b="0" i="0">
                <a:solidFill>
                  <a:srgbClr val="66736B"/>
                </a:solidFill>
              </a:rPr>
              <a:t>The interface stays consistent while the selected geographic scope changes the data.</a:t>
            </a:r>
          </a:p>
        </p:txBody>
      </p:sp>
      <p:sp>
        <p:nvSpPr>
          <p:cNvPr id="26" name="">
            <a:extLst xmlns:a="http://schemas.openxmlformats.org/drawingml/2006/main">
              <a:ext uri="{FF2B5EF4-FFF2-40B4-BE49-F238E27FC236}">
                <a16:creationId xmlns:a16="http://schemas.microsoft.com/office/drawing/2014/main" id="{73669512-C279-4A6F-969B-65BADB169204}"/>
              </a:ext>
            </a:extLst>
          </p:cNvPr>
          <p:cNvSpPr>
            <a:spLocks xmlns:a="http://schemas.openxmlformats.org/drawingml/2006/main" noGrp="1"/>
          </p:cNvSpPr>
          <p:nvPr/>
        </p:nvSpPr>
        <p:spPr>
          <a:xfrm xmlns:a="http://schemas.openxmlformats.org/drawingml/2006/main">
            <a:off x="6724650" y="3886200"/>
            <a:ext cx="409575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CDDD7"/>
            </a:solidFill>
            <a:prstDash val="solid"/>
          </a:ln>
        </p:spPr>
      </p:sp>
      <p:sp>
        <p:nvSpPr>
          <p:cNvPr id="27" name="">
            <a:extLst xmlns:a="http://schemas.openxmlformats.org/drawingml/2006/main">
              <a:ext uri="{FF2B5EF4-FFF2-40B4-BE49-F238E27FC236}">
                <a16:creationId xmlns:a16="http://schemas.microsoft.com/office/drawing/2014/main" id="{99E661C6-E77F-4268-897F-02293E24D7C4}"/>
              </a:ext>
            </a:extLst>
          </p:cNvPr>
          <p:cNvSpPr>
            <a:spLocks xmlns:a="http://schemas.openxmlformats.org/drawingml/2006/main" noGrp="1"/>
          </p:cNvSpPr>
          <p:nvPr/>
        </p:nvSpPr>
        <p:spPr>
          <a:xfrm xmlns:a="http://schemas.openxmlformats.org/drawingml/2006/main">
            <a:off x="6724650" y="3886200"/>
            <a:ext cx="76200" cy="114300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7DDCDE22-E854-46B7-81F0-3CDE429B17DA}"/>
              </a:ext>
            </a:extLst>
          </p:cNvPr>
          <p:cNvSpPr>
            <a:spLocks xmlns:a="http://schemas.openxmlformats.org/drawingml/2006/main" noGrp="1"/>
          </p:cNvSpPr>
          <p:nvPr/>
        </p:nvSpPr>
        <p:spPr>
          <a:xfrm xmlns:a="http://schemas.openxmlformats.org/drawingml/2006/main">
            <a:off x="6991350" y="4038600"/>
            <a:ext cx="3657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C8A96A"/>
                </a:solidFill>
              </a:defRPr>
            </a:pPr>
            <a:r>
              <a:rPr sz="2700" b="1" i="0">
                <a:solidFill>
                  <a:srgbClr val="C8A96A"/>
                </a:solidFill>
              </a:rPr>
              <a:t>≈130</a:t>
            </a:r>
          </a:p>
        </p:txBody>
      </p:sp>
      <p:sp>
        <p:nvSpPr>
          <p:cNvPr id="29" name="">
            <a:extLst xmlns:a="http://schemas.openxmlformats.org/drawingml/2006/main">
              <a:ext uri="{FF2B5EF4-FFF2-40B4-BE49-F238E27FC236}">
                <a16:creationId xmlns:a16="http://schemas.microsoft.com/office/drawing/2014/main" id="{4FFE63CC-D03C-4765-9815-19D7E6ECE514}"/>
              </a:ext>
            </a:extLst>
          </p:cNvPr>
          <p:cNvSpPr>
            <a:spLocks xmlns:a="http://schemas.openxmlformats.org/drawingml/2006/main" noGrp="1"/>
          </p:cNvSpPr>
          <p:nvPr/>
        </p:nvSpPr>
        <p:spPr>
          <a:xfrm xmlns:a="http://schemas.openxmlformats.org/drawingml/2006/main">
            <a:off x="6991350" y="4552950"/>
            <a:ext cx="3657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66736B"/>
                </a:solidFill>
              </a:defRPr>
            </a:pPr>
            <a:r>
              <a:rPr sz="1200" b="0" i="0">
                <a:solidFill>
                  <a:srgbClr val="66736B"/>
                </a:solidFill>
              </a:rPr>
              <a:t>Countries supported without creating 130 separate pages</a:t>
            </a:r>
          </a:p>
        </p:txBody>
      </p:sp>
    </p:spTree>
    <p:extLst>
      <p:ext uri="{BB962C8B-B14F-4D97-AF65-F5344CB8AC3E}">
        <p14:creationId xmlns:p14="http://schemas.microsoft.com/office/powerpoint/2010/main" val="1052540561"/>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104EBBE-EDBA-4EAA-9B5F-F5C7231299C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55C2FD7-2D4D-41F0-AE0B-697F4E6B7858}"/>
              </a:ext>
            </a:extLst>
          </p:cNvPr>
          <p:cNvSpPr>
            <a:spLocks xmlns:a="http://schemas.openxmlformats.org/drawingml/2006/main" noGrp="1"/>
          </p:cNvSpPr>
          <p:nvPr/>
        </p:nvSpPr>
        <p:spPr>
          <a:xfrm xmlns:a="http://schemas.openxmlformats.org/drawingml/2006/main">
            <a:off x="609600" y="523875"/>
            <a:ext cx="66675" cy="476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83CBFE4-CC93-42CE-B394-B51C4F72FE86}"/>
              </a:ext>
            </a:extLst>
          </p:cNvPr>
          <p:cNvSpPr>
            <a:spLocks xmlns:a="http://schemas.openxmlformats.org/drawingml/2006/main" noGrp="1"/>
          </p:cNvSpPr>
          <p:nvPr/>
        </p:nvSpPr>
        <p:spPr>
          <a:xfrm xmlns:a="http://schemas.openxmlformats.org/drawingml/2006/main">
            <a:off x="838200" y="4572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A96A"/>
                </a:solidFill>
              </a:defRPr>
            </a:pPr>
            <a:r>
              <a:rPr sz="975" b="1" i="0">
                <a:solidFill>
                  <a:srgbClr val="C8A96A"/>
                </a:solidFill>
              </a:rPr>
              <a:t>FEATURE OVERVIEW</a:t>
            </a:r>
          </a:p>
        </p:txBody>
      </p:sp>
      <p:sp>
        <p:nvSpPr>
          <p:cNvPr id="4" name="">
            <a:extLst xmlns:a="http://schemas.openxmlformats.org/drawingml/2006/main">
              <a:ext uri="{FF2B5EF4-FFF2-40B4-BE49-F238E27FC236}">
                <a16:creationId xmlns:a16="http://schemas.microsoft.com/office/drawing/2014/main" id="{3F73157E-C99B-45E1-9B3D-02F6A543CC0F}"/>
              </a:ext>
            </a:extLst>
          </p:cNvPr>
          <p:cNvSpPr>
            <a:spLocks xmlns:a="http://schemas.openxmlformats.org/drawingml/2006/main" noGrp="1"/>
          </p:cNvSpPr>
          <p:nvPr/>
        </p:nvSpPr>
        <p:spPr>
          <a:xfrm xmlns:a="http://schemas.openxmlformats.org/drawingml/2006/main">
            <a:off x="838200" y="65722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524"/>
                </a:solidFill>
              </a:defRPr>
            </a:pPr>
            <a:r>
              <a:rPr sz="2700" b="1" i="0">
                <a:solidFill>
                  <a:srgbClr val="123524"/>
                </a:solidFill>
              </a:rPr>
              <a:t>Four analysis modes, one consistent dashboard</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91de5766173d4b21"/>
          <a:stretch xmlns:a="http://schemas.openxmlformats.org/drawingml/2006/main"/>
        </p:blipFill>
        <p:spPr>
          <a:xfrm xmlns:a="http://schemas.openxmlformats.org/drawingml/2006/main">
            <a:off x="11125200" y="428625"/>
            <a:ext cx="495300" cy="495300"/>
          </a:xfrm>
          <a:prstGeom xmlns:a="http://schemas.openxmlformats.org/drawingml/2006/main" prst="roundRect">
            <a:avLst>
              <a:gd name="adj" fmla="val 23077"/>
            </a:avLst>
          </a:prstGeom>
        </p:spPr>
      </p:pic>
      <p:sp>
        <p:nvSpPr>
          <p:cNvPr id="6" name="">
            <a:extLst xmlns:a="http://schemas.openxmlformats.org/drawingml/2006/main">
              <a:ext uri="{FF2B5EF4-FFF2-40B4-BE49-F238E27FC236}">
                <a16:creationId xmlns:a16="http://schemas.microsoft.com/office/drawing/2014/main" id="{77289E08-C84F-4E87-BD86-BE67783EDC57}"/>
              </a:ext>
            </a:extLst>
          </p:cNvPr>
          <p:cNvSpPr>
            <a:spLocks xmlns:a="http://schemas.openxmlformats.org/drawingml/2006/main" noGrp="1"/>
          </p:cNvSpPr>
          <p:nvPr/>
        </p:nvSpPr>
        <p:spPr>
          <a:xfrm xmlns:a="http://schemas.openxmlformats.org/drawingml/2006/main">
            <a:off x="609600" y="6457950"/>
            <a:ext cx="10972800" cy="9525"/>
          </a:xfrm>
          <a:prstGeom xmlns:a="http://schemas.openxmlformats.org/drawingml/2006/main" prst="rect">
            <a:avLst/>
          </a:prstGeom>
          <a:solidFill xmlns:a="http://schemas.openxmlformats.org/drawingml/2006/main">
            <a:srgbClr val="DCDDD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82F23FF-32F3-4EEE-9E29-2415BC13DB7E}"/>
              </a:ext>
            </a:extLst>
          </p:cNvPr>
          <p:cNvSpPr>
            <a:spLocks xmlns:a="http://schemas.openxmlformats.org/drawingml/2006/main" noGrp="1"/>
          </p:cNvSpPr>
          <p:nvPr/>
        </p:nvSpPr>
        <p:spPr>
          <a:xfrm xmlns:a="http://schemas.openxmlformats.org/drawingml/2006/main">
            <a:off x="609600" y="6543675"/>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66736B"/>
                </a:solidFill>
              </a:defRPr>
            </a:pPr>
            <a:r>
              <a:rPr sz="825" b="0" i="0">
                <a:solidFill>
                  <a:srgbClr val="66736B"/>
                </a:solidFill>
              </a:rPr>
              <a:t>Traditional Governance  •  Interactive Statistics</a:t>
            </a:r>
          </a:p>
        </p:txBody>
      </p:sp>
      <p:sp>
        <p:nvSpPr>
          <p:cNvPr id="8" name="">
            <a:extLst xmlns:a="http://schemas.openxmlformats.org/drawingml/2006/main">
              <a:ext uri="{FF2B5EF4-FFF2-40B4-BE49-F238E27FC236}">
                <a16:creationId xmlns:a16="http://schemas.microsoft.com/office/drawing/2014/main" id="{77B41683-A1D7-4E30-A41A-780C32386D10}"/>
              </a:ext>
            </a:extLst>
          </p:cNvPr>
          <p:cNvSpPr>
            <a:spLocks xmlns:a="http://schemas.openxmlformats.org/drawingml/2006/main" noGrp="1"/>
          </p:cNvSpPr>
          <p:nvPr/>
        </p:nvSpPr>
        <p:spPr>
          <a:xfrm xmlns:a="http://schemas.openxmlformats.org/drawingml/2006/main">
            <a:off x="11068050" y="65246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123524"/>
                </a:solidFill>
              </a:defRPr>
            </a:pPr>
            <a:r>
              <a:rPr sz="900" b="1" i="0">
                <a:solidFill>
                  <a:srgbClr val="123524"/>
                </a:solidFill>
              </a:rPr>
              <a:t>04</a:t>
            </a:r>
          </a:p>
        </p:txBody>
      </p:sp>
      <p:sp>
        <p:nvSpPr>
          <p:cNvPr id="9" name="">
            <a:extLst xmlns:a="http://schemas.openxmlformats.org/drawingml/2006/main">
              <a:ext uri="{FF2B5EF4-FFF2-40B4-BE49-F238E27FC236}">
                <a16:creationId xmlns:a16="http://schemas.microsoft.com/office/drawing/2014/main" id="{856A5854-F161-492B-9747-89C391D9BC04}"/>
              </a:ext>
            </a:extLst>
          </p:cNvPr>
          <p:cNvSpPr>
            <a:spLocks xmlns:a="http://schemas.openxmlformats.org/drawingml/2006/main" noGrp="1"/>
          </p:cNvSpPr>
          <p:nvPr/>
        </p:nvSpPr>
        <p:spPr>
          <a:xfrm xmlns:a="http://schemas.openxmlformats.org/drawingml/2006/main">
            <a:off x="685800" y="15049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23524"/>
                </a:solidFill>
              </a:defRPr>
            </a:pPr>
            <a:r>
              <a:rPr sz="1725" b="1" i="0">
                <a:solidFill>
                  <a:srgbClr val="123524"/>
                </a:solidFill>
              </a:rPr>
              <a:t>The first control selects the scope.</a:t>
            </a:r>
          </a:p>
        </p:txBody>
      </p:sp>
      <p:sp>
        <p:nvSpPr>
          <p:cNvPr id="10" name="">
            <a:extLst xmlns:a="http://schemas.openxmlformats.org/drawingml/2006/main">
              <a:ext uri="{FF2B5EF4-FFF2-40B4-BE49-F238E27FC236}">
                <a16:creationId xmlns:a16="http://schemas.microsoft.com/office/drawing/2014/main" id="{B46FB31B-95DA-46B7-8EC9-8C564EC4925D}"/>
              </a:ext>
            </a:extLst>
          </p:cNvPr>
          <p:cNvSpPr>
            <a:spLocks xmlns:a="http://schemas.openxmlformats.org/drawingml/2006/main" noGrp="1"/>
          </p:cNvSpPr>
          <p:nvPr/>
        </p:nvSpPr>
        <p:spPr>
          <a:xfrm xmlns:a="http://schemas.openxmlformats.org/drawingml/2006/main">
            <a:off x="685800" y="2133600"/>
            <a:ext cx="2381250" cy="514350"/>
          </a:xfrm>
          <a:prstGeom xmlns:a="http://schemas.openxmlformats.org/drawingml/2006/main" prst="roundRect">
            <a:avLst>
              <a:gd name="adj" fmla="val 14815"/>
            </a:avLst>
          </a:prstGeom>
          <a:solidFill xmlns:a="http://schemas.openxmlformats.org/drawingml/2006/main">
            <a:srgbClr val="123524"/>
          </a:solidFill>
          <a:ln xmlns:a="http://schemas.openxmlformats.org/drawingml/2006/main" w="9525">
            <a:solidFill>
              <a:srgbClr val="123524"/>
            </a:solidFill>
            <a:prstDash val="solid"/>
          </a:ln>
        </p:spPr>
      </p:sp>
      <p:sp>
        <p:nvSpPr>
          <p:cNvPr id="11" name="">
            <a:extLst xmlns:a="http://schemas.openxmlformats.org/drawingml/2006/main">
              <a:ext uri="{FF2B5EF4-FFF2-40B4-BE49-F238E27FC236}">
                <a16:creationId xmlns:a16="http://schemas.microsoft.com/office/drawing/2014/main" id="{3AB33D25-4C2F-40A7-93B3-DACC0DFEEDD0}"/>
              </a:ext>
            </a:extLst>
          </p:cNvPr>
          <p:cNvSpPr>
            <a:spLocks xmlns:a="http://schemas.openxmlformats.org/drawingml/2006/main" noGrp="1"/>
          </p:cNvSpPr>
          <p:nvPr/>
        </p:nvSpPr>
        <p:spPr>
          <a:xfrm xmlns:a="http://schemas.openxmlformats.org/drawingml/2006/main">
            <a:off x="685800" y="22574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All Data</a:t>
            </a:r>
          </a:p>
        </p:txBody>
      </p:sp>
      <p:sp>
        <p:nvSpPr>
          <p:cNvPr id="12" name="">
            <a:extLst xmlns:a="http://schemas.openxmlformats.org/drawingml/2006/main">
              <a:ext uri="{FF2B5EF4-FFF2-40B4-BE49-F238E27FC236}">
                <a16:creationId xmlns:a16="http://schemas.microsoft.com/office/drawing/2014/main" id="{E998DF17-F42F-4CA5-82B6-9F58694DD411}"/>
              </a:ext>
            </a:extLst>
          </p:cNvPr>
          <p:cNvSpPr>
            <a:spLocks xmlns:a="http://schemas.openxmlformats.org/drawingml/2006/main" noGrp="1"/>
          </p:cNvSpPr>
          <p:nvPr/>
        </p:nvSpPr>
        <p:spPr>
          <a:xfrm xmlns:a="http://schemas.openxmlformats.org/drawingml/2006/main">
            <a:off x="3238500" y="2133600"/>
            <a:ext cx="23812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CDDD7"/>
            </a:solidFill>
            <a:prstDash val="solid"/>
          </a:ln>
        </p:spPr>
      </p:sp>
      <p:sp>
        <p:nvSpPr>
          <p:cNvPr id="13" name="">
            <a:extLst xmlns:a="http://schemas.openxmlformats.org/drawingml/2006/main">
              <a:ext uri="{FF2B5EF4-FFF2-40B4-BE49-F238E27FC236}">
                <a16:creationId xmlns:a16="http://schemas.microsoft.com/office/drawing/2014/main" id="{A580F114-8A72-4477-8E43-0DBA65834B50}"/>
              </a:ext>
            </a:extLst>
          </p:cNvPr>
          <p:cNvSpPr>
            <a:spLocks xmlns:a="http://schemas.openxmlformats.org/drawingml/2006/main" noGrp="1"/>
          </p:cNvSpPr>
          <p:nvPr/>
        </p:nvSpPr>
        <p:spPr>
          <a:xfrm xmlns:a="http://schemas.openxmlformats.org/drawingml/2006/main">
            <a:off x="3238500" y="22574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23524"/>
                </a:solidFill>
              </a:defRPr>
            </a:pPr>
            <a:r>
              <a:rPr sz="1350" b="1" i="0">
                <a:solidFill>
                  <a:srgbClr val="123524"/>
                </a:solidFill>
              </a:rPr>
              <a:t>Country</a:t>
            </a:r>
          </a:p>
        </p:txBody>
      </p:sp>
      <p:sp>
        <p:nvSpPr>
          <p:cNvPr id="14" name="">
            <a:extLst xmlns:a="http://schemas.openxmlformats.org/drawingml/2006/main">
              <a:ext uri="{FF2B5EF4-FFF2-40B4-BE49-F238E27FC236}">
                <a16:creationId xmlns:a16="http://schemas.microsoft.com/office/drawing/2014/main" id="{63AFFE8E-17D8-4D5D-8CB0-17F4B0197703}"/>
              </a:ext>
            </a:extLst>
          </p:cNvPr>
          <p:cNvSpPr>
            <a:spLocks xmlns:a="http://schemas.openxmlformats.org/drawingml/2006/main" noGrp="1"/>
          </p:cNvSpPr>
          <p:nvPr/>
        </p:nvSpPr>
        <p:spPr>
          <a:xfrm xmlns:a="http://schemas.openxmlformats.org/drawingml/2006/main">
            <a:off x="5791200" y="2133600"/>
            <a:ext cx="23812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CDDD7"/>
            </a:solidFill>
            <a:prstDash val="solid"/>
          </a:ln>
        </p:spPr>
      </p:sp>
      <p:sp>
        <p:nvSpPr>
          <p:cNvPr id="15" name="">
            <a:extLst xmlns:a="http://schemas.openxmlformats.org/drawingml/2006/main">
              <a:ext uri="{FF2B5EF4-FFF2-40B4-BE49-F238E27FC236}">
                <a16:creationId xmlns:a16="http://schemas.microsoft.com/office/drawing/2014/main" id="{9491CD5C-A200-4476-8384-0442F7E526F2}"/>
              </a:ext>
            </a:extLst>
          </p:cNvPr>
          <p:cNvSpPr>
            <a:spLocks xmlns:a="http://schemas.openxmlformats.org/drawingml/2006/main" noGrp="1"/>
          </p:cNvSpPr>
          <p:nvPr/>
        </p:nvSpPr>
        <p:spPr>
          <a:xfrm xmlns:a="http://schemas.openxmlformats.org/drawingml/2006/main">
            <a:off x="5791200" y="22574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23524"/>
                </a:solidFill>
              </a:defRPr>
            </a:pPr>
            <a:r>
              <a:rPr sz="1350" b="1" i="0">
                <a:solidFill>
                  <a:srgbClr val="123524"/>
                </a:solidFill>
              </a:rPr>
              <a:t>Continent</a:t>
            </a:r>
          </a:p>
        </p:txBody>
      </p:sp>
      <p:sp>
        <p:nvSpPr>
          <p:cNvPr id="16" name="">
            <a:extLst xmlns:a="http://schemas.openxmlformats.org/drawingml/2006/main">
              <a:ext uri="{FF2B5EF4-FFF2-40B4-BE49-F238E27FC236}">
                <a16:creationId xmlns:a16="http://schemas.microsoft.com/office/drawing/2014/main" id="{866637DC-3B1B-4D31-B0A9-601CE2AB8434}"/>
              </a:ext>
            </a:extLst>
          </p:cNvPr>
          <p:cNvSpPr>
            <a:spLocks xmlns:a="http://schemas.openxmlformats.org/drawingml/2006/main" noGrp="1"/>
          </p:cNvSpPr>
          <p:nvPr/>
        </p:nvSpPr>
        <p:spPr>
          <a:xfrm xmlns:a="http://schemas.openxmlformats.org/drawingml/2006/main">
            <a:off x="8343900" y="2133600"/>
            <a:ext cx="238125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CDDD7"/>
            </a:solidFill>
            <a:prstDash val="solid"/>
          </a:ln>
        </p:spPr>
      </p:sp>
      <p:sp>
        <p:nvSpPr>
          <p:cNvPr id="17" name="">
            <a:extLst xmlns:a="http://schemas.openxmlformats.org/drawingml/2006/main">
              <a:ext uri="{FF2B5EF4-FFF2-40B4-BE49-F238E27FC236}">
                <a16:creationId xmlns:a16="http://schemas.microsoft.com/office/drawing/2014/main" id="{58647C6D-E190-45AA-B0E0-1BDFD196D007}"/>
              </a:ext>
            </a:extLst>
          </p:cNvPr>
          <p:cNvSpPr>
            <a:spLocks xmlns:a="http://schemas.openxmlformats.org/drawingml/2006/main" noGrp="1"/>
          </p:cNvSpPr>
          <p:nvPr/>
        </p:nvSpPr>
        <p:spPr>
          <a:xfrm xmlns:a="http://schemas.openxmlformats.org/drawingml/2006/main">
            <a:off x="8343900" y="22574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23524"/>
                </a:solidFill>
              </a:defRPr>
            </a:pPr>
            <a:r>
              <a:rPr sz="1350" b="1" i="0">
                <a:solidFill>
                  <a:srgbClr val="123524"/>
                </a:solidFill>
              </a:rPr>
              <a:t>Region</a:t>
            </a:r>
          </a:p>
        </p:txBody>
      </p:sp>
      <p:sp>
        <p:nvSpPr>
          <p:cNvPr id="18" name="">
            <a:extLst xmlns:a="http://schemas.openxmlformats.org/drawingml/2006/main">
              <a:ext uri="{FF2B5EF4-FFF2-40B4-BE49-F238E27FC236}">
                <a16:creationId xmlns:a16="http://schemas.microsoft.com/office/drawing/2014/main" id="{58FBE86B-FDE5-4192-A709-7FA7EF6AB305}"/>
              </a:ext>
            </a:extLst>
          </p:cNvPr>
          <p:cNvSpPr>
            <a:spLocks xmlns:a="http://schemas.openxmlformats.org/drawingml/2006/main" noGrp="1"/>
          </p:cNvSpPr>
          <p:nvPr/>
        </p:nvSpPr>
        <p:spPr>
          <a:xfrm xmlns:a="http://schemas.openxmlformats.org/drawingml/2006/main">
            <a:off x="685800" y="27813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66736B"/>
                </a:solidFill>
              </a:defRPr>
            </a:pPr>
            <a:r>
              <a:rPr sz="1200" b="0" i="0">
                <a:solidFill>
                  <a:srgbClr val="66736B"/>
                </a:solidFill>
              </a:rPr>
              <a:t>Global overview</a:t>
            </a:r>
          </a:p>
        </p:txBody>
      </p:sp>
      <p:sp>
        <p:nvSpPr>
          <p:cNvPr id="19" name="">
            <a:extLst xmlns:a="http://schemas.openxmlformats.org/drawingml/2006/main">
              <a:ext uri="{FF2B5EF4-FFF2-40B4-BE49-F238E27FC236}">
                <a16:creationId xmlns:a16="http://schemas.microsoft.com/office/drawing/2014/main" id="{05B8B458-52DB-443D-9F47-E96A96D216EE}"/>
              </a:ext>
            </a:extLst>
          </p:cNvPr>
          <p:cNvSpPr>
            <a:spLocks xmlns:a="http://schemas.openxmlformats.org/drawingml/2006/main" noGrp="1"/>
          </p:cNvSpPr>
          <p:nvPr/>
        </p:nvSpPr>
        <p:spPr>
          <a:xfrm xmlns:a="http://schemas.openxmlformats.org/drawingml/2006/main">
            <a:off x="3238500" y="27813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66736B"/>
                </a:solidFill>
              </a:defRPr>
            </a:pPr>
            <a:r>
              <a:rPr sz="1200" b="0" i="0">
                <a:solidFill>
                  <a:srgbClr val="66736B"/>
                </a:solidFill>
              </a:rPr>
              <a:t>Example: Kenya</a:t>
            </a:r>
          </a:p>
        </p:txBody>
      </p:sp>
      <p:sp>
        <p:nvSpPr>
          <p:cNvPr id="20" name="">
            <a:extLst xmlns:a="http://schemas.openxmlformats.org/drawingml/2006/main">
              <a:ext uri="{FF2B5EF4-FFF2-40B4-BE49-F238E27FC236}">
                <a16:creationId xmlns:a16="http://schemas.microsoft.com/office/drawing/2014/main" id="{7B9C63C1-7A55-4C8D-A339-EEC9549DFF2A}"/>
              </a:ext>
            </a:extLst>
          </p:cNvPr>
          <p:cNvSpPr>
            <a:spLocks xmlns:a="http://schemas.openxmlformats.org/drawingml/2006/main" noGrp="1"/>
          </p:cNvSpPr>
          <p:nvPr/>
        </p:nvSpPr>
        <p:spPr>
          <a:xfrm xmlns:a="http://schemas.openxmlformats.org/drawingml/2006/main">
            <a:off x="5791200" y="27813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66736B"/>
                </a:solidFill>
              </a:defRPr>
            </a:pPr>
            <a:r>
              <a:rPr sz="1200" b="0" i="0">
                <a:solidFill>
                  <a:srgbClr val="66736B"/>
                </a:solidFill>
              </a:rPr>
              <a:t>Example: Africa</a:t>
            </a:r>
          </a:p>
        </p:txBody>
      </p:sp>
      <p:sp>
        <p:nvSpPr>
          <p:cNvPr id="21" name="">
            <a:extLst xmlns:a="http://schemas.openxmlformats.org/drawingml/2006/main">
              <a:ext uri="{FF2B5EF4-FFF2-40B4-BE49-F238E27FC236}">
                <a16:creationId xmlns:a16="http://schemas.microsoft.com/office/drawing/2014/main" id="{6CFE6435-38BA-4C61-8531-01CE8EC741CA}"/>
              </a:ext>
            </a:extLst>
          </p:cNvPr>
          <p:cNvSpPr>
            <a:spLocks xmlns:a="http://schemas.openxmlformats.org/drawingml/2006/main" noGrp="1"/>
          </p:cNvSpPr>
          <p:nvPr/>
        </p:nvSpPr>
        <p:spPr>
          <a:xfrm xmlns:a="http://schemas.openxmlformats.org/drawingml/2006/main">
            <a:off x="8343900" y="27813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66736B"/>
                </a:solidFill>
              </a:defRPr>
            </a:pPr>
            <a:r>
              <a:rPr sz="1200" b="0" i="0">
                <a:solidFill>
                  <a:srgbClr val="66736B"/>
                </a:solidFill>
              </a:rPr>
              <a:t>Example: Sub-Saharan Africa</a:t>
            </a:r>
          </a:p>
        </p:txBody>
      </p:sp>
      <p:sp>
        <p:nvSpPr>
          <p:cNvPr id="22" name="">
            <a:extLst xmlns:a="http://schemas.openxmlformats.org/drawingml/2006/main">
              <a:ext uri="{FF2B5EF4-FFF2-40B4-BE49-F238E27FC236}">
                <a16:creationId xmlns:a16="http://schemas.microsoft.com/office/drawing/2014/main" id="{46282861-FB4A-4E51-BECA-B69FB07B3F27}"/>
              </a:ext>
            </a:extLst>
          </p:cNvPr>
          <p:cNvSpPr>
            <a:spLocks xmlns:a="http://schemas.openxmlformats.org/drawingml/2006/main" noGrp="1"/>
          </p:cNvSpPr>
          <p:nvPr/>
        </p:nvSpPr>
        <p:spPr>
          <a:xfrm xmlns:a="http://schemas.openxmlformats.org/drawingml/2006/main">
            <a:off x="1866900" y="3381375"/>
            <a:ext cx="8382000" cy="190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8A16219-3015-449A-B72B-B25D32DE6E45}"/>
              </a:ext>
            </a:extLst>
          </p:cNvPr>
          <p:cNvSpPr>
            <a:spLocks xmlns:a="http://schemas.openxmlformats.org/drawingml/2006/main" noGrp="1"/>
          </p:cNvSpPr>
          <p:nvPr/>
        </p:nvSpPr>
        <p:spPr>
          <a:xfrm xmlns:a="http://schemas.openxmlformats.org/drawingml/2006/main">
            <a:off x="1524000" y="3648075"/>
            <a:ext cx="914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i="0">
                <a:solidFill>
                  <a:srgbClr val="17211B"/>
                </a:solidFill>
              </a:defRPr>
            </a:pPr>
            <a:r>
              <a:rPr sz="1575" b="1" i="0">
                <a:solidFill>
                  <a:srgbClr val="17211B"/>
                </a:solidFill>
              </a:rPr>
              <a:t>If Country, Continent, or Region is selected, a second dropdown shows valid database values.</a:t>
            </a:r>
          </a:p>
        </p:txBody>
      </p:sp>
      <p:sp>
        <p:nvSpPr>
          <p:cNvPr id="24" name="">
            <a:extLst xmlns:a="http://schemas.openxmlformats.org/drawingml/2006/main">
              <a:ext uri="{FF2B5EF4-FFF2-40B4-BE49-F238E27FC236}">
                <a16:creationId xmlns:a16="http://schemas.microsoft.com/office/drawing/2014/main" id="{34DD8ACF-1B71-4ACB-B2A4-2F018F634CF2}"/>
              </a:ext>
            </a:extLst>
          </p:cNvPr>
          <p:cNvSpPr>
            <a:spLocks xmlns:a="http://schemas.openxmlformats.org/drawingml/2006/main" noGrp="1"/>
          </p:cNvSpPr>
          <p:nvPr/>
        </p:nvSpPr>
        <p:spPr>
          <a:xfrm xmlns:a="http://schemas.openxmlformats.org/drawingml/2006/main">
            <a:off x="2343150" y="4495800"/>
            <a:ext cx="7505700"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CDD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BB14EC2E-0A09-46DD-973F-3A3462880DC7}"/>
              </a:ext>
            </a:extLst>
          </p:cNvPr>
          <p:cNvSpPr>
            <a:spLocks xmlns:a="http://schemas.openxmlformats.org/drawingml/2006/main" noGrp="1"/>
          </p:cNvSpPr>
          <p:nvPr/>
        </p:nvSpPr>
        <p:spPr>
          <a:xfrm xmlns:a="http://schemas.openxmlformats.org/drawingml/2006/main">
            <a:off x="2647950" y="4695825"/>
            <a:ext cx="1676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66736B"/>
                </a:solidFill>
              </a:defRPr>
            </a:pPr>
            <a:r>
              <a:rPr sz="1125" b="1" i="0">
                <a:solidFill>
                  <a:srgbClr val="66736B"/>
                </a:solidFill>
              </a:rPr>
              <a:t>Current scope</a:t>
            </a:r>
          </a:p>
        </p:txBody>
      </p:sp>
      <p:sp>
        <p:nvSpPr>
          <p:cNvPr id="26" name="">
            <a:extLst xmlns:a="http://schemas.openxmlformats.org/drawingml/2006/main">
              <a:ext uri="{FF2B5EF4-FFF2-40B4-BE49-F238E27FC236}">
                <a16:creationId xmlns:a16="http://schemas.microsoft.com/office/drawing/2014/main" id="{D980016D-8917-4090-A49D-7E3A1D0861B2}"/>
              </a:ext>
            </a:extLst>
          </p:cNvPr>
          <p:cNvSpPr>
            <a:spLocks xmlns:a="http://schemas.openxmlformats.org/drawingml/2006/main" noGrp="1"/>
          </p:cNvSpPr>
          <p:nvPr/>
        </p:nvSpPr>
        <p:spPr>
          <a:xfrm xmlns:a="http://schemas.openxmlformats.org/drawingml/2006/main">
            <a:off x="2647950" y="500062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23524"/>
                </a:solidFill>
              </a:defRPr>
            </a:pPr>
            <a:r>
              <a:rPr sz="1725" b="1" i="0">
                <a:solidFill>
                  <a:srgbClr val="123524"/>
                </a:solidFill>
              </a:rPr>
              <a:t>Continent: Africa</a:t>
            </a:r>
          </a:p>
        </p:txBody>
      </p:sp>
      <p:sp>
        <p:nvSpPr>
          <p:cNvPr id="27" name="">
            <a:extLst xmlns:a="http://schemas.openxmlformats.org/drawingml/2006/main">
              <a:ext uri="{FF2B5EF4-FFF2-40B4-BE49-F238E27FC236}">
                <a16:creationId xmlns:a16="http://schemas.microsoft.com/office/drawing/2014/main" id="{2DA47591-4A2E-4622-B3E5-FFA2760C7780}"/>
              </a:ext>
            </a:extLst>
          </p:cNvPr>
          <p:cNvSpPr>
            <a:spLocks xmlns:a="http://schemas.openxmlformats.org/drawingml/2006/main" noGrp="1"/>
          </p:cNvSpPr>
          <p:nvPr/>
        </p:nvSpPr>
        <p:spPr>
          <a:xfrm xmlns:a="http://schemas.openxmlformats.org/drawingml/2006/main">
            <a:off x="7677150" y="4733925"/>
            <a:ext cx="1809750" cy="457200"/>
          </a:xfrm>
          <a:prstGeom xmlns:a="http://schemas.openxmlformats.org/drawingml/2006/main" prst="roundRect">
            <a:avLst>
              <a:gd name="adj" fmla="val 16667"/>
            </a:avLst>
          </a:prstGeom>
          <a:solidFill xmlns:a="http://schemas.openxmlformats.org/drawingml/2006/main">
            <a:srgbClr val="EDE1C8"/>
          </a:solidFill>
          <a:ln xmlns:a="http://schemas.openxmlformats.org/drawingml/2006/main" w="9525">
            <a:solidFill>
              <a:srgbClr val="C8A96A"/>
            </a:solidFill>
            <a:prstDash val="solid"/>
          </a:ln>
        </p:spPr>
      </p:sp>
      <p:sp>
        <p:nvSpPr>
          <p:cNvPr id="28" name="">
            <a:extLst xmlns:a="http://schemas.openxmlformats.org/drawingml/2006/main">
              <a:ext uri="{FF2B5EF4-FFF2-40B4-BE49-F238E27FC236}">
                <a16:creationId xmlns:a16="http://schemas.microsoft.com/office/drawing/2014/main" id="{A0D069F0-93B4-4D4E-B7DB-AD06F9D34918}"/>
              </a:ext>
            </a:extLst>
          </p:cNvPr>
          <p:cNvSpPr>
            <a:spLocks xmlns:a="http://schemas.openxmlformats.org/drawingml/2006/main" noGrp="1"/>
          </p:cNvSpPr>
          <p:nvPr/>
        </p:nvSpPr>
        <p:spPr>
          <a:xfrm xmlns:a="http://schemas.openxmlformats.org/drawingml/2006/main">
            <a:off x="7677150" y="484822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123524"/>
                </a:solidFill>
              </a:defRPr>
            </a:pPr>
            <a:r>
              <a:rPr sz="1275" b="1" i="0">
                <a:solidFill>
                  <a:srgbClr val="123524"/>
                </a:solidFill>
              </a:rPr>
              <a:t>Reset filters</a:t>
            </a:r>
          </a:p>
        </p:txBody>
      </p:sp>
    </p:spTree>
    <p:extLst>
      <p:ext uri="{BB962C8B-B14F-4D97-AF65-F5344CB8AC3E}">
        <p14:creationId xmlns:p14="http://schemas.microsoft.com/office/powerpoint/2010/main" val="62460576"/>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5A4ED3C7-74F5-4BD0-AEB1-6E6DE0614435}"/>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E18F99-1D23-485E-9B98-079D80FCFC55}"/>
              </a:ext>
            </a:extLst>
          </p:cNvPr>
          <p:cNvSpPr>
            <a:spLocks xmlns:a="http://schemas.openxmlformats.org/drawingml/2006/main" noGrp="1"/>
          </p:cNvSpPr>
          <p:nvPr/>
        </p:nvSpPr>
        <p:spPr>
          <a:xfrm xmlns:a="http://schemas.openxmlformats.org/drawingml/2006/main">
            <a:off x="609600" y="523875"/>
            <a:ext cx="66675" cy="476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617D2CA-F48C-43C0-B909-5D67447BB6DA}"/>
              </a:ext>
            </a:extLst>
          </p:cNvPr>
          <p:cNvSpPr>
            <a:spLocks xmlns:a="http://schemas.openxmlformats.org/drawingml/2006/main" noGrp="1"/>
          </p:cNvSpPr>
          <p:nvPr/>
        </p:nvSpPr>
        <p:spPr>
          <a:xfrm xmlns:a="http://schemas.openxmlformats.org/drawingml/2006/main">
            <a:off x="838200" y="4572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A96A"/>
                </a:solidFill>
              </a:defRPr>
            </a:pPr>
            <a:r>
              <a:rPr sz="975" b="1" i="0">
                <a:solidFill>
                  <a:srgbClr val="C8A96A"/>
                </a:solidFill>
              </a:rPr>
              <a:t>SYSTEM DESIGN</a:t>
            </a:r>
          </a:p>
        </p:txBody>
      </p:sp>
      <p:sp>
        <p:nvSpPr>
          <p:cNvPr id="4" name="">
            <a:extLst xmlns:a="http://schemas.openxmlformats.org/drawingml/2006/main">
              <a:ext uri="{FF2B5EF4-FFF2-40B4-BE49-F238E27FC236}">
                <a16:creationId xmlns:a16="http://schemas.microsoft.com/office/drawing/2014/main" id="{CB2768B8-9BDE-47C4-8C4A-49AE58F4FEF8}"/>
              </a:ext>
            </a:extLst>
          </p:cNvPr>
          <p:cNvSpPr>
            <a:spLocks xmlns:a="http://schemas.openxmlformats.org/drawingml/2006/main" noGrp="1"/>
          </p:cNvSpPr>
          <p:nvPr/>
        </p:nvSpPr>
        <p:spPr>
          <a:xfrm xmlns:a="http://schemas.openxmlformats.org/drawingml/2006/main">
            <a:off x="838200" y="65722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524"/>
                </a:solidFill>
              </a:defRPr>
            </a:pPr>
            <a:r>
              <a:rPr sz="2700" b="1" i="0">
                <a:solidFill>
                  <a:srgbClr val="123524"/>
                </a:solidFill>
              </a:rPr>
              <a:t>One selection moves through the full stack</a:t>
            </a:r>
          </a:p>
        </p:txBody>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9a874439fa9e4eaf"/>
          <a:stretch xmlns:a="http://schemas.openxmlformats.org/drawingml/2006/main"/>
        </p:blipFill>
        <p:spPr>
          <a:xfrm xmlns:a="http://schemas.openxmlformats.org/drawingml/2006/main">
            <a:off x="11125200" y="428625"/>
            <a:ext cx="495300" cy="495300"/>
          </a:xfrm>
          <a:prstGeom xmlns:a="http://schemas.openxmlformats.org/drawingml/2006/main" prst="roundRect">
            <a:avLst>
              <a:gd name="adj" fmla="val 23077"/>
            </a:avLst>
          </a:prstGeom>
        </p:spPr>
      </p:pic>
      <p:sp>
        <p:nvSpPr>
          <p:cNvPr id="6" name="">
            <a:extLst xmlns:a="http://schemas.openxmlformats.org/drawingml/2006/main">
              <a:ext uri="{FF2B5EF4-FFF2-40B4-BE49-F238E27FC236}">
                <a16:creationId xmlns:a16="http://schemas.microsoft.com/office/drawing/2014/main" id="{FB861934-462F-4419-8303-B447625FF5F7}"/>
              </a:ext>
            </a:extLst>
          </p:cNvPr>
          <p:cNvSpPr>
            <a:spLocks xmlns:a="http://schemas.openxmlformats.org/drawingml/2006/main" noGrp="1"/>
          </p:cNvSpPr>
          <p:nvPr/>
        </p:nvSpPr>
        <p:spPr>
          <a:xfrm xmlns:a="http://schemas.openxmlformats.org/drawingml/2006/main">
            <a:off x="609600" y="6457950"/>
            <a:ext cx="10972800" cy="9525"/>
          </a:xfrm>
          <a:prstGeom xmlns:a="http://schemas.openxmlformats.org/drawingml/2006/main" prst="rect">
            <a:avLst/>
          </a:prstGeom>
          <a:solidFill xmlns:a="http://schemas.openxmlformats.org/drawingml/2006/main">
            <a:srgbClr val="DCDDD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78B7C9C-F775-4385-A1CA-FEFEB6AFED8C}"/>
              </a:ext>
            </a:extLst>
          </p:cNvPr>
          <p:cNvSpPr>
            <a:spLocks xmlns:a="http://schemas.openxmlformats.org/drawingml/2006/main" noGrp="1"/>
          </p:cNvSpPr>
          <p:nvPr/>
        </p:nvSpPr>
        <p:spPr>
          <a:xfrm xmlns:a="http://schemas.openxmlformats.org/drawingml/2006/main">
            <a:off x="609600" y="6543675"/>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66736B"/>
                </a:solidFill>
              </a:defRPr>
            </a:pPr>
            <a:r>
              <a:rPr sz="825" b="0" i="0">
                <a:solidFill>
                  <a:srgbClr val="66736B"/>
                </a:solidFill>
              </a:rPr>
              <a:t>Traditional Governance  •  Interactive Statistics</a:t>
            </a:r>
          </a:p>
        </p:txBody>
      </p:sp>
      <p:sp>
        <p:nvSpPr>
          <p:cNvPr id="8" name="">
            <a:extLst xmlns:a="http://schemas.openxmlformats.org/drawingml/2006/main">
              <a:ext uri="{FF2B5EF4-FFF2-40B4-BE49-F238E27FC236}">
                <a16:creationId xmlns:a16="http://schemas.microsoft.com/office/drawing/2014/main" id="{F950E4AC-D8C8-4B60-8FC7-B99A8BB2331A}"/>
              </a:ext>
            </a:extLst>
          </p:cNvPr>
          <p:cNvSpPr>
            <a:spLocks xmlns:a="http://schemas.openxmlformats.org/drawingml/2006/main" noGrp="1"/>
          </p:cNvSpPr>
          <p:nvPr/>
        </p:nvSpPr>
        <p:spPr>
          <a:xfrm xmlns:a="http://schemas.openxmlformats.org/drawingml/2006/main">
            <a:off x="11068050" y="65246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123524"/>
                </a:solidFill>
              </a:defRPr>
            </a:pPr>
            <a:r>
              <a:rPr sz="900" b="1" i="0">
                <a:solidFill>
                  <a:srgbClr val="123524"/>
                </a:solidFill>
              </a:rPr>
              <a:t>05</a:t>
            </a:r>
          </a:p>
        </p:txBody>
      </p:sp>
      <p:sp>
        <p:nvSpPr>
          <p:cNvPr id="9" name="">
            <a:extLst xmlns:a="http://schemas.openxmlformats.org/drawingml/2006/main">
              <a:ext uri="{FF2B5EF4-FFF2-40B4-BE49-F238E27FC236}">
                <a16:creationId xmlns:a16="http://schemas.microsoft.com/office/drawing/2014/main" id="{940B0600-03FC-4D06-A9B8-598962520957}"/>
              </a:ext>
            </a:extLst>
          </p:cNvPr>
          <p:cNvSpPr>
            <a:spLocks xmlns:a="http://schemas.openxmlformats.org/drawingml/2006/main" noGrp="1"/>
          </p:cNvSpPr>
          <p:nvPr/>
        </p:nvSpPr>
        <p:spPr>
          <a:xfrm xmlns:a="http://schemas.openxmlformats.org/drawingml/2006/main">
            <a:off x="1790700" y="2552700"/>
            <a:ext cx="30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i="0">
                <a:solidFill>
                  <a:srgbClr val="C8A96A"/>
                </a:solidFill>
              </a:defRPr>
            </a:pPr>
            <a:r>
              <a:rPr sz="2025" b="1" i="0">
                <a:solidFill>
                  <a:srgbClr val="C8A96A"/>
                </a:solidFill>
              </a:rPr>
              <a:t>→</a:t>
            </a:r>
          </a:p>
        </p:txBody>
      </p:sp>
      <p:sp>
        <p:nvSpPr>
          <p:cNvPr id="10" name="">
            <a:extLst xmlns:a="http://schemas.openxmlformats.org/drawingml/2006/main">
              <a:ext uri="{FF2B5EF4-FFF2-40B4-BE49-F238E27FC236}">
                <a16:creationId xmlns:a16="http://schemas.microsoft.com/office/drawing/2014/main" id="{8148C650-1D92-4EDB-82CA-E390FB6E8F24}"/>
              </a:ext>
            </a:extLst>
          </p:cNvPr>
          <p:cNvSpPr>
            <a:spLocks xmlns:a="http://schemas.openxmlformats.org/drawingml/2006/main" noGrp="1"/>
          </p:cNvSpPr>
          <p:nvPr/>
        </p:nvSpPr>
        <p:spPr>
          <a:xfrm xmlns:a="http://schemas.openxmlformats.org/drawingml/2006/main">
            <a:off x="3448050" y="2552700"/>
            <a:ext cx="30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i="0">
                <a:solidFill>
                  <a:srgbClr val="C8A96A"/>
                </a:solidFill>
              </a:defRPr>
            </a:pPr>
            <a:r>
              <a:rPr sz="2025" b="1" i="0">
                <a:solidFill>
                  <a:srgbClr val="C8A96A"/>
                </a:solidFill>
              </a:rPr>
              <a:t>→</a:t>
            </a:r>
          </a:p>
        </p:txBody>
      </p:sp>
      <p:sp>
        <p:nvSpPr>
          <p:cNvPr id="11" name="">
            <a:extLst xmlns:a="http://schemas.openxmlformats.org/drawingml/2006/main">
              <a:ext uri="{FF2B5EF4-FFF2-40B4-BE49-F238E27FC236}">
                <a16:creationId xmlns:a16="http://schemas.microsoft.com/office/drawing/2014/main" id="{FB3F75B1-8E06-4B38-AA8A-6E74818C5520}"/>
              </a:ext>
            </a:extLst>
          </p:cNvPr>
          <p:cNvSpPr>
            <a:spLocks xmlns:a="http://schemas.openxmlformats.org/drawingml/2006/main" noGrp="1"/>
          </p:cNvSpPr>
          <p:nvPr/>
        </p:nvSpPr>
        <p:spPr>
          <a:xfrm xmlns:a="http://schemas.openxmlformats.org/drawingml/2006/main">
            <a:off x="5105400" y="2552700"/>
            <a:ext cx="30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i="0">
                <a:solidFill>
                  <a:srgbClr val="C8A96A"/>
                </a:solidFill>
              </a:defRPr>
            </a:pPr>
            <a:r>
              <a:rPr sz="2025" b="1" i="0">
                <a:solidFill>
                  <a:srgbClr val="C8A96A"/>
                </a:solidFill>
              </a:rPr>
              <a:t>→</a:t>
            </a:r>
          </a:p>
        </p:txBody>
      </p:sp>
      <p:sp>
        <p:nvSpPr>
          <p:cNvPr id="12" name="">
            <a:extLst xmlns:a="http://schemas.openxmlformats.org/drawingml/2006/main">
              <a:ext uri="{FF2B5EF4-FFF2-40B4-BE49-F238E27FC236}">
                <a16:creationId xmlns:a16="http://schemas.microsoft.com/office/drawing/2014/main" id="{17DC8ADB-E0AF-46B2-BB20-CB872AF9819B}"/>
              </a:ext>
            </a:extLst>
          </p:cNvPr>
          <p:cNvSpPr>
            <a:spLocks xmlns:a="http://schemas.openxmlformats.org/drawingml/2006/main" noGrp="1"/>
          </p:cNvSpPr>
          <p:nvPr/>
        </p:nvSpPr>
        <p:spPr>
          <a:xfrm xmlns:a="http://schemas.openxmlformats.org/drawingml/2006/main">
            <a:off x="6762750" y="2552700"/>
            <a:ext cx="30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i="0">
                <a:solidFill>
                  <a:srgbClr val="C8A96A"/>
                </a:solidFill>
              </a:defRPr>
            </a:pPr>
            <a:r>
              <a:rPr sz="2025" b="1" i="0">
                <a:solidFill>
                  <a:srgbClr val="C8A96A"/>
                </a:solidFill>
              </a:rPr>
              <a:t>→</a:t>
            </a:r>
          </a:p>
        </p:txBody>
      </p:sp>
      <p:sp>
        <p:nvSpPr>
          <p:cNvPr id="13" name="">
            <a:extLst xmlns:a="http://schemas.openxmlformats.org/drawingml/2006/main">
              <a:ext uri="{FF2B5EF4-FFF2-40B4-BE49-F238E27FC236}">
                <a16:creationId xmlns:a16="http://schemas.microsoft.com/office/drawing/2014/main" id="{C89822F2-7607-4FFA-99B9-F1F491351B3A}"/>
              </a:ext>
            </a:extLst>
          </p:cNvPr>
          <p:cNvSpPr>
            <a:spLocks xmlns:a="http://schemas.openxmlformats.org/drawingml/2006/main" noGrp="1"/>
          </p:cNvSpPr>
          <p:nvPr/>
        </p:nvSpPr>
        <p:spPr>
          <a:xfrm xmlns:a="http://schemas.openxmlformats.org/drawingml/2006/main">
            <a:off x="8420100" y="2552700"/>
            <a:ext cx="30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i="0">
                <a:solidFill>
                  <a:srgbClr val="C8A96A"/>
                </a:solidFill>
              </a:defRPr>
            </a:pPr>
            <a:r>
              <a:rPr sz="2025" b="1" i="0">
                <a:solidFill>
                  <a:srgbClr val="C8A96A"/>
                </a:solidFill>
              </a:rPr>
              <a:t>→</a:t>
            </a:r>
          </a:p>
        </p:txBody>
      </p:sp>
      <p:sp>
        <p:nvSpPr>
          <p:cNvPr id="14" name="">
            <a:extLst xmlns:a="http://schemas.openxmlformats.org/drawingml/2006/main">
              <a:ext uri="{FF2B5EF4-FFF2-40B4-BE49-F238E27FC236}">
                <a16:creationId xmlns:a16="http://schemas.microsoft.com/office/drawing/2014/main" id="{F114191F-8244-4826-B911-02506562C716}"/>
              </a:ext>
            </a:extLst>
          </p:cNvPr>
          <p:cNvSpPr>
            <a:spLocks xmlns:a="http://schemas.openxmlformats.org/drawingml/2006/main" noGrp="1"/>
          </p:cNvSpPr>
          <p:nvPr/>
        </p:nvSpPr>
        <p:spPr>
          <a:xfrm xmlns:a="http://schemas.openxmlformats.org/drawingml/2006/main">
            <a:off x="10077450" y="2552700"/>
            <a:ext cx="304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i="0">
                <a:solidFill>
                  <a:srgbClr val="C8A96A"/>
                </a:solidFill>
              </a:defRPr>
            </a:pPr>
            <a:r>
              <a:rPr sz="2025" b="1" i="0">
                <a:solidFill>
                  <a:srgbClr val="C8A96A"/>
                </a:solidFill>
              </a:rPr>
              <a:t>→</a:t>
            </a:r>
          </a:p>
        </p:txBody>
      </p:sp>
      <p:sp>
        <p:nvSpPr>
          <p:cNvPr id="15" name="">
            <a:extLst xmlns:a="http://schemas.openxmlformats.org/drawingml/2006/main">
              <a:ext uri="{FF2B5EF4-FFF2-40B4-BE49-F238E27FC236}">
                <a16:creationId xmlns:a16="http://schemas.microsoft.com/office/drawing/2014/main" id="{C6D17BFB-2199-4DAE-9590-030AED5890EE}"/>
              </a:ext>
            </a:extLst>
          </p:cNvPr>
          <p:cNvSpPr>
            <a:spLocks xmlns:a="http://schemas.openxmlformats.org/drawingml/2006/main" noGrp="1"/>
          </p:cNvSpPr>
          <p:nvPr/>
        </p:nvSpPr>
        <p:spPr>
          <a:xfrm xmlns:a="http://schemas.openxmlformats.org/drawingml/2006/main">
            <a:off x="809625" y="1828800"/>
            <a:ext cx="609600" cy="60960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F0D0137-B984-4C71-845A-01425F147114}"/>
              </a:ext>
            </a:extLst>
          </p:cNvPr>
          <p:cNvSpPr>
            <a:spLocks xmlns:a="http://schemas.openxmlformats.org/drawingml/2006/main" noGrp="1"/>
          </p:cNvSpPr>
          <p:nvPr/>
        </p:nvSpPr>
        <p:spPr>
          <a:xfrm xmlns:a="http://schemas.openxmlformats.org/drawingml/2006/main">
            <a:off x="809625" y="1990725"/>
            <a:ext cx="60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U</a:t>
            </a:r>
          </a:p>
        </p:txBody>
      </p:sp>
      <p:sp>
        <p:nvSpPr>
          <p:cNvPr id="17" name="">
            <a:extLst xmlns:a="http://schemas.openxmlformats.org/drawingml/2006/main">
              <a:ext uri="{FF2B5EF4-FFF2-40B4-BE49-F238E27FC236}">
                <a16:creationId xmlns:a16="http://schemas.microsoft.com/office/drawing/2014/main" id="{203EDEA1-E2BD-4108-9DFA-34A6F5897257}"/>
              </a:ext>
            </a:extLst>
          </p:cNvPr>
          <p:cNvSpPr>
            <a:spLocks xmlns:a="http://schemas.openxmlformats.org/drawingml/2006/main" noGrp="1"/>
          </p:cNvSpPr>
          <p:nvPr/>
        </p:nvSpPr>
        <p:spPr>
          <a:xfrm xmlns:a="http://schemas.openxmlformats.org/drawingml/2006/main">
            <a:off x="438150" y="2647950"/>
            <a:ext cx="1352550" cy="1123950"/>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9525">
            <a:solidFill>
              <a:srgbClr val="DCDDD7"/>
            </a:solidFill>
            <a:prstDash val="solid"/>
          </a:ln>
        </p:spPr>
      </p:sp>
      <p:sp>
        <p:nvSpPr>
          <p:cNvPr id="18" name="">
            <a:extLst xmlns:a="http://schemas.openxmlformats.org/drawingml/2006/main">
              <a:ext uri="{FF2B5EF4-FFF2-40B4-BE49-F238E27FC236}">
                <a16:creationId xmlns:a16="http://schemas.microsoft.com/office/drawing/2014/main" id="{EA1A4AEA-0806-4C0F-9C0E-08B44F0CF6EB}"/>
              </a:ext>
            </a:extLst>
          </p:cNvPr>
          <p:cNvSpPr>
            <a:spLocks xmlns:a="http://schemas.openxmlformats.org/drawingml/2006/main" noGrp="1"/>
          </p:cNvSpPr>
          <p:nvPr/>
        </p:nvSpPr>
        <p:spPr>
          <a:xfrm xmlns:a="http://schemas.openxmlformats.org/drawingml/2006/main">
            <a:off x="514350" y="28194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23524"/>
                </a:solidFill>
              </a:defRPr>
            </a:pPr>
            <a:r>
              <a:rPr sz="1125" b="1" i="0">
                <a:solidFill>
                  <a:srgbClr val="123524"/>
                </a:solidFill>
              </a:rPr>
              <a:t>USER</a:t>
            </a:r>
          </a:p>
        </p:txBody>
      </p:sp>
      <p:sp>
        <p:nvSpPr>
          <p:cNvPr id="19" name="">
            <a:extLst xmlns:a="http://schemas.openxmlformats.org/drawingml/2006/main">
              <a:ext uri="{FF2B5EF4-FFF2-40B4-BE49-F238E27FC236}">
                <a16:creationId xmlns:a16="http://schemas.microsoft.com/office/drawing/2014/main" id="{84777A93-409F-4EA0-AD31-0ACAF498E6AE}"/>
              </a:ext>
            </a:extLst>
          </p:cNvPr>
          <p:cNvSpPr>
            <a:spLocks xmlns:a="http://schemas.openxmlformats.org/drawingml/2006/main" noGrp="1"/>
          </p:cNvSpPr>
          <p:nvPr/>
        </p:nvSpPr>
        <p:spPr>
          <a:xfrm xmlns:a="http://schemas.openxmlformats.org/drawingml/2006/main">
            <a:off x="552450" y="3162300"/>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66736B"/>
                </a:solidFill>
              </a:defRPr>
            </a:pPr>
            <a:r>
              <a:rPr sz="1125" b="0" i="0">
                <a:solidFill>
                  <a:srgbClr val="66736B"/>
                </a:solidFill>
              </a:rPr>
              <a:t>Selects scope</a:t>
            </a:r>
          </a:p>
        </p:txBody>
      </p:sp>
      <p:sp>
        <p:nvSpPr>
          <p:cNvPr id="20" name="">
            <a:extLst xmlns:a="http://schemas.openxmlformats.org/drawingml/2006/main">
              <a:ext uri="{FF2B5EF4-FFF2-40B4-BE49-F238E27FC236}">
                <a16:creationId xmlns:a16="http://schemas.microsoft.com/office/drawing/2014/main" id="{3D85109B-4462-48E7-885D-7A61B5D4EBC3}"/>
              </a:ext>
            </a:extLst>
          </p:cNvPr>
          <p:cNvSpPr>
            <a:spLocks xmlns:a="http://schemas.openxmlformats.org/drawingml/2006/main" noGrp="1"/>
          </p:cNvSpPr>
          <p:nvPr/>
        </p:nvSpPr>
        <p:spPr>
          <a:xfrm xmlns:a="http://schemas.openxmlformats.org/drawingml/2006/main">
            <a:off x="2466975" y="1828800"/>
            <a:ext cx="609600" cy="60960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FAD90A0-1EE2-473B-8288-78C8A7C9CEFB}"/>
              </a:ext>
            </a:extLst>
          </p:cNvPr>
          <p:cNvSpPr>
            <a:spLocks xmlns:a="http://schemas.openxmlformats.org/drawingml/2006/main" noGrp="1"/>
          </p:cNvSpPr>
          <p:nvPr/>
        </p:nvSpPr>
        <p:spPr>
          <a:xfrm xmlns:a="http://schemas.openxmlformats.org/drawingml/2006/main">
            <a:off x="2466975" y="1990725"/>
            <a:ext cx="60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FE</a:t>
            </a:r>
          </a:p>
        </p:txBody>
      </p:sp>
      <p:sp>
        <p:nvSpPr>
          <p:cNvPr id="22" name="">
            <a:extLst xmlns:a="http://schemas.openxmlformats.org/drawingml/2006/main">
              <a:ext uri="{FF2B5EF4-FFF2-40B4-BE49-F238E27FC236}">
                <a16:creationId xmlns:a16="http://schemas.microsoft.com/office/drawing/2014/main" id="{66854606-865F-49D6-B130-04F9D99F4727}"/>
              </a:ext>
            </a:extLst>
          </p:cNvPr>
          <p:cNvSpPr>
            <a:spLocks xmlns:a="http://schemas.openxmlformats.org/drawingml/2006/main" noGrp="1"/>
          </p:cNvSpPr>
          <p:nvPr/>
        </p:nvSpPr>
        <p:spPr>
          <a:xfrm xmlns:a="http://schemas.openxmlformats.org/drawingml/2006/main">
            <a:off x="2095500" y="2647950"/>
            <a:ext cx="1352550" cy="1123950"/>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9525">
            <a:solidFill>
              <a:srgbClr val="DCDDD7"/>
            </a:solidFill>
            <a:prstDash val="solid"/>
          </a:ln>
        </p:spPr>
      </p:sp>
      <p:sp>
        <p:nvSpPr>
          <p:cNvPr id="23" name="">
            <a:extLst xmlns:a="http://schemas.openxmlformats.org/drawingml/2006/main">
              <a:ext uri="{FF2B5EF4-FFF2-40B4-BE49-F238E27FC236}">
                <a16:creationId xmlns:a16="http://schemas.microsoft.com/office/drawing/2014/main" id="{4E943CE7-DF2E-4172-BEBF-5AE80FFF5B8B}"/>
              </a:ext>
            </a:extLst>
          </p:cNvPr>
          <p:cNvSpPr>
            <a:spLocks xmlns:a="http://schemas.openxmlformats.org/drawingml/2006/main" noGrp="1"/>
          </p:cNvSpPr>
          <p:nvPr/>
        </p:nvSpPr>
        <p:spPr>
          <a:xfrm xmlns:a="http://schemas.openxmlformats.org/drawingml/2006/main">
            <a:off x="2171700" y="28194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23524"/>
                </a:solidFill>
              </a:defRPr>
            </a:pPr>
            <a:r>
              <a:rPr sz="1125" b="1" i="0">
                <a:solidFill>
                  <a:srgbClr val="123524"/>
                </a:solidFill>
              </a:rPr>
              <a:t>FRONTEND</a:t>
            </a:r>
          </a:p>
        </p:txBody>
      </p:sp>
      <p:sp>
        <p:nvSpPr>
          <p:cNvPr id="24" name="">
            <a:extLst xmlns:a="http://schemas.openxmlformats.org/drawingml/2006/main">
              <a:ext uri="{FF2B5EF4-FFF2-40B4-BE49-F238E27FC236}">
                <a16:creationId xmlns:a16="http://schemas.microsoft.com/office/drawing/2014/main" id="{21E15F92-EED2-416A-B431-E1C9D633B2F9}"/>
              </a:ext>
            </a:extLst>
          </p:cNvPr>
          <p:cNvSpPr>
            <a:spLocks xmlns:a="http://schemas.openxmlformats.org/drawingml/2006/main" noGrp="1"/>
          </p:cNvSpPr>
          <p:nvPr/>
        </p:nvSpPr>
        <p:spPr>
          <a:xfrm xmlns:a="http://schemas.openxmlformats.org/drawingml/2006/main">
            <a:off x="2209800" y="3162300"/>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66736B"/>
                </a:solidFill>
              </a:defRPr>
            </a:pPr>
            <a:r>
              <a:rPr sz="1125" b="0" i="0">
                <a:solidFill>
                  <a:srgbClr val="66736B"/>
                </a:solidFill>
              </a:rPr>
              <a:t>Builds request</a:t>
            </a:r>
          </a:p>
        </p:txBody>
      </p:sp>
      <p:sp>
        <p:nvSpPr>
          <p:cNvPr id="25" name="">
            <a:extLst xmlns:a="http://schemas.openxmlformats.org/drawingml/2006/main">
              <a:ext uri="{FF2B5EF4-FFF2-40B4-BE49-F238E27FC236}">
                <a16:creationId xmlns:a16="http://schemas.microsoft.com/office/drawing/2014/main" id="{B712874B-2D90-4487-92EF-D404FB98BA65}"/>
              </a:ext>
            </a:extLst>
          </p:cNvPr>
          <p:cNvSpPr>
            <a:spLocks xmlns:a="http://schemas.openxmlformats.org/drawingml/2006/main" noGrp="1"/>
          </p:cNvSpPr>
          <p:nvPr/>
        </p:nvSpPr>
        <p:spPr>
          <a:xfrm xmlns:a="http://schemas.openxmlformats.org/drawingml/2006/main">
            <a:off x="4124325" y="1828800"/>
            <a:ext cx="609600" cy="60960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D29EB9C-0E59-4AC0-9723-56B293792B9E}"/>
              </a:ext>
            </a:extLst>
          </p:cNvPr>
          <p:cNvSpPr>
            <a:spLocks xmlns:a="http://schemas.openxmlformats.org/drawingml/2006/main" noGrp="1"/>
          </p:cNvSpPr>
          <p:nvPr/>
        </p:nvSpPr>
        <p:spPr>
          <a:xfrm xmlns:a="http://schemas.openxmlformats.org/drawingml/2006/main">
            <a:off x="4124325" y="1990725"/>
            <a:ext cx="60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API</a:t>
            </a:r>
          </a:p>
        </p:txBody>
      </p:sp>
      <p:sp>
        <p:nvSpPr>
          <p:cNvPr id="27" name="">
            <a:extLst xmlns:a="http://schemas.openxmlformats.org/drawingml/2006/main">
              <a:ext uri="{FF2B5EF4-FFF2-40B4-BE49-F238E27FC236}">
                <a16:creationId xmlns:a16="http://schemas.microsoft.com/office/drawing/2014/main" id="{6FC62C95-F144-4A24-A847-EED0D4DCB45B}"/>
              </a:ext>
            </a:extLst>
          </p:cNvPr>
          <p:cNvSpPr>
            <a:spLocks xmlns:a="http://schemas.openxmlformats.org/drawingml/2006/main" noGrp="1"/>
          </p:cNvSpPr>
          <p:nvPr/>
        </p:nvSpPr>
        <p:spPr>
          <a:xfrm xmlns:a="http://schemas.openxmlformats.org/drawingml/2006/main">
            <a:off x="3752850" y="2647950"/>
            <a:ext cx="1352550" cy="1123950"/>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9525">
            <a:solidFill>
              <a:srgbClr val="DCDDD7"/>
            </a:solidFill>
            <a:prstDash val="solid"/>
          </a:ln>
        </p:spPr>
      </p:sp>
      <p:sp>
        <p:nvSpPr>
          <p:cNvPr id="28" name="">
            <a:extLst xmlns:a="http://schemas.openxmlformats.org/drawingml/2006/main">
              <a:ext uri="{FF2B5EF4-FFF2-40B4-BE49-F238E27FC236}">
                <a16:creationId xmlns:a16="http://schemas.microsoft.com/office/drawing/2014/main" id="{4B4F15A5-DCCA-40FB-BE4D-B8CB30662DEC}"/>
              </a:ext>
            </a:extLst>
          </p:cNvPr>
          <p:cNvSpPr>
            <a:spLocks xmlns:a="http://schemas.openxmlformats.org/drawingml/2006/main" noGrp="1"/>
          </p:cNvSpPr>
          <p:nvPr/>
        </p:nvSpPr>
        <p:spPr>
          <a:xfrm xmlns:a="http://schemas.openxmlformats.org/drawingml/2006/main">
            <a:off x="3829050" y="28194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23524"/>
                </a:solidFill>
              </a:defRPr>
            </a:pPr>
            <a:r>
              <a:rPr sz="1125" b="1" i="0">
                <a:solidFill>
                  <a:srgbClr val="123524"/>
                </a:solidFill>
              </a:rPr>
              <a:t>FLASK API</a:t>
            </a:r>
          </a:p>
        </p:txBody>
      </p:sp>
      <p:sp>
        <p:nvSpPr>
          <p:cNvPr id="29" name="">
            <a:extLst xmlns:a="http://schemas.openxmlformats.org/drawingml/2006/main">
              <a:ext uri="{FF2B5EF4-FFF2-40B4-BE49-F238E27FC236}">
                <a16:creationId xmlns:a16="http://schemas.microsoft.com/office/drawing/2014/main" id="{79405093-E328-417B-9E2D-7817EAB3FE31}"/>
              </a:ext>
            </a:extLst>
          </p:cNvPr>
          <p:cNvSpPr>
            <a:spLocks xmlns:a="http://schemas.openxmlformats.org/drawingml/2006/main" noGrp="1"/>
          </p:cNvSpPr>
          <p:nvPr/>
        </p:nvSpPr>
        <p:spPr>
          <a:xfrm xmlns:a="http://schemas.openxmlformats.org/drawingml/2006/main">
            <a:off x="3867150" y="3162300"/>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66736B"/>
                </a:solidFill>
              </a:defRPr>
            </a:pPr>
            <a:r>
              <a:rPr sz="1125" b="0" i="0">
                <a:solidFill>
                  <a:srgbClr val="66736B"/>
                </a:solidFill>
              </a:rPr>
              <a:t>Validates input</a:t>
            </a:r>
          </a:p>
        </p:txBody>
      </p:sp>
      <p:sp>
        <p:nvSpPr>
          <p:cNvPr id="30" name="">
            <a:extLst xmlns:a="http://schemas.openxmlformats.org/drawingml/2006/main">
              <a:ext uri="{FF2B5EF4-FFF2-40B4-BE49-F238E27FC236}">
                <a16:creationId xmlns:a16="http://schemas.microsoft.com/office/drawing/2014/main" id="{583A0FE7-5F1C-43D3-8206-D90659453A70}"/>
              </a:ext>
            </a:extLst>
          </p:cNvPr>
          <p:cNvSpPr>
            <a:spLocks xmlns:a="http://schemas.openxmlformats.org/drawingml/2006/main" noGrp="1"/>
          </p:cNvSpPr>
          <p:nvPr/>
        </p:nvSpPr>
        <p:spPr>
          <a:xfrm xmlns:a="http://schemas.openxmlformats.org/drawingml/2006/main">
            <a:off x="5781675" y="1828800"/>
            <a:ext cx="609600" cy="609600"/>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EA3123D-9AA5-4670-A0CF-3D2ABB235449}"/>
              </a:ext>
            </a:extLst>
          </p:cNvPr>
          <p:cNvSpPr>
            <a:spLocks xmlns:a="http://schemas.openxmlformats.org/drawingml/2006/main" noGrp="1"/>
          </p:cNvSpPr>
          <p:nvPr/>
        </p:nvSpPr>
        <p:spPr>
          <a:xfrm xmlns:a="http://schemas.openxmlformats.org/drawingml/2006/main">
            <a:off x="5781675" y="1990725"/>
            <a:ext cx="60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0B2A1D"/>
                </a:solidFill>
              </a:defRPr>
            </a:pPr>
            <a:r>
              <a:rPr sz="1350" b="1" i="0">
                <a:solidFill>
                  <a:srgbClr val="0B2A1D"/>
                </a:solidFill>
              </a:rPr>
              <a:t>DB</a:t>
            </a:r>
          </a:p>
        </p:txBody>
      </p:sp>
      <p:sp>
        <p:nvSpPr>
          <p:cNvPr id="32" name="">
            <a:extLst xmlns:a="http://schemas.openxmlformats.org/drawingml/2006/main">
              <a:ext uri="{FF2B5EF4-FFF2-40B4-BE49-F238E27FC236}">
                <a16:creationId xmlns:a16="http://schemas.microsoft.com/office/drawing/2014/main" id="{6E8C88AD-B439-4DE5-9E53-ADE213ED204A}"/>
              </a:ext>
            </a:extLst>
          </p:cNvPr>
          <p:cNvSpPr>
            <a:spLocks xmlns:a="http://schemas.openxmlformats.org/drawingml/2006/main" noGrp="1"/>
          </p:cNvSpPr>
          <p:nvPr/>
        </p:nvSpPr>
        <p:spPr>
          <a:xfrm xmlns:a="http://schemas.openxmlformats.org/drawingml/2006/main">
            <a:off x="5410200" y="2647950"/>
            <a:ext cx="1352550" cy="1123950"/>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9525">
            <a:solidFill>
              <a:srgbClr val="DCDDD7"/>
            </a:solidFill>
            <a:prstDash val="solid"/>
          </a:ln>
        </p:spPr>
      </p:sp>
      <p:sp>
        <p:nvSpPr>
          <p:cNvPr id="33" name="">
            <a:extLst xmlns:a="http://schemas.openxmlformats.org/drawingml/2006/main">
              <a:ext uri="{FF2B5EF4-FFF2-40B4-BE49-F238E27FC236}">
                <a16:creationId xmlns:a16="http://schemas.microsoft.com/office/drawing/2014/main" id="{0E1DE8F3-B8DE-458D-BEE2-0BD55299F1EB}"/>
              </a:ext>
            </a:extLst>
          </p:cNvPr>
          <p:cNvSpPr>
            <a:spLocks xmlns:a="http://schemas.openxmlformats.org/drawingml/2006/main" noGrp="1"/>
          </p:cNvSpPr>
          <p:nvPr/>
        </p:nvSpPr>
        <p:spPr>
          <a:xfrm xmlns:a="http://schemas.openxmlformats.org/drawingml/2006/main">
            <a:off x="5486400" y="28194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23524"/>
                </a:solidFill>
              </a:defRPr>
            </a:pPr>
            <a:r>
              <a:rPr sz="1125" b="1" i="0">
                <a:solidFill>
                  <a:srgbClr val="123524"/>
                </a:solidFill>
              </a:rPr>
              <a:t>MYSQL</a:t>
            </a:r>
          </a:p>
        </p:txBody>
      </p:sp>
      <p:sp>
        <p:nvSpPr>
          <p:cNvPr id="34" name="">
            <a:extLst xmlns:a="http://schemas.openxmlformats.org/drawingml/2006/main">
              <a:ext uri="{FF2B5EF4-FFF2-40B4-BE49-F238E27FC236}">
                <a16:creationId xmlns:a16="http://schemas.microsoft.com/office/drawing/2014/main" id="{615B8DBB-F8F4-4B94-970D-27672504A4C1}"/>
              </a:ext>
            </a:extLst>
          </p:cNvPr>
          <p:cNvSpPr>
            <a:spLocks xmlns:a="http://schemas.openxmlformats.org/drawingml/2006/main" noGrp="1"/>
          </p:cNvSpPr>
          <p:nvPr/>
        </p:nvSpPr>
        <p:spPr>
          <a:xfrm xmlns:a="http://schemas.openxmlformats.org/drawingml/2006/main">
            <a:off x="5524500" y="3162300"/>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66736B"/>
                </a:solidFill>
              </a:defRPr>
            </a:pPr>
            <a:r>
              <a:rPr sz="1125" b="0" i="0">
                <a:solidFill>
                  <a:srgbClr val="66736B"/>
                </a:solidFill>
              </a:rPr>
              <a:t>Filters + aggregates</a:t>
            </a:r>
          </a:p>
        </p:txBody>
      </p:sp>
      <p:sp>
        <p:nvSpPr>
          <p:cNvPr id="35" name="">
            <a:extLst xmlns:a="http://schemas.openxmlformats.org/drawingml/2006/main">
              <a:ext uri="{FF2B5EF4-FFF2-40B4-BE49-F238E27FC236}">
                <a16:creationId xmlns:a16="http://schemas.microsoft.com/office/drawing/2014/main" id="{D96B9C0B-D48B-4D28-9841-5CE96E6B840C}"/>
              </a:ext>
            </a:extLst>
          </p:cNvPr>
          <p:cNvSpPr>
            <a:spLocks xmlns:a="http://schemas.openxmlformats.org/drawingml/2006/main" noGrp="1"/>
          </p:cNvSpPr>
          <p:nvPr/>
        </p:nvSpPr>
        <p:spPr>
          <a:xfrm xmlns:a="http://schemas.openxmlformats.org/drawingml/2006/main">
            <a:off x="7439025" y="1828800"/>
            <a:ext cx="609600" cy="60960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9EFACF6B-2720-48D0-8584-7F6C003D77FA}"/>
              </a:ext>
            </a:extLst>
          </p:cNvPr>
          <p:cNvSpPr>
            <a:spLocks xmlns:a="http://schemas.openxmlformats.org/drawingml/2006/main" noGrp="1"/>
          </p:cNvSpPr>
          <p:nvPr/>
        </p:nvSpPr>
        <p:spPr>
          <a:xfrm xmlns:a="http://schemas.openxmlformats.org/drawingml/2006/main">
            <a:off x="7439025" y="1990725"/>
            <a:ext cx="60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a:t>
            </a:r>
          </a:p>
        </p:txBody>
      </p:sp>
      <p:sp>
        <p:nvSpPr>
          <p:cNvPr id="37" name="">
            <a:extLst xmlns:a="http://schemas.openxmlformats.org/drawingml/2006/main">
              <a:ext uri="{FF2B5EF4-FFF2-40B4-BE49-F238E27FC236}">
                <a16:creationId xmlns:a16="http://schemas.microsoft.com/office/drawing/2014/main" id="{E17BE8DA-7F78-4680-819A-C829BBC67D83}"/>
              </a:ext>
            </a:extLst>
          </p:cNvPr>
          <p:cNvSpPr>
            <a:spLocks xmlns:a="http://schemas.openxmlformats.org/drawingml/2006/main" noGrp="1"/>
          </p:cNvSpPr>
          <p:nvPr/>
        </p:nvSpPr>
        <p:spPr>
          <a:xfrm xmlns:a="http://schemas.openxmlformats.org/drawingml/2006/main">
            <a:off x="7067550" y="2647950"/>
            <a:ext cx="1352550" cy="1123950"/>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9525">
            <a:solidFill>
              <a:srgbClr val="DCDDD7"/>
            </a:solidFill>
            <a:prstDash val="solid"/>
          </a:ln>
        </p:spPr>
      </p:sp>
      <p:sp>
        <p:nvSpPr>
          <p:cNvPr id="38" name="">
            <a:extLst xmlns:a="http://schemas.openxmlformats.org/drawingml/2006/main">
              <a:ext uri="{FF2B5EF4-FFF2-40B4-BE49-F238E27FC236}">
                <a16:creationId xmlns:a16="http://schemas.microsoft.com/office/drawing/2014/main" id="{6685C1A0-F2A5-45D1-BBF8-D53BC669F0BC}"/>
              </a:ext>
            </a:extLst>
          </p:cNvPr>
          <p:cNvSpPr>
            <a:spLocks xmlns:a="http://schemas.openxmlformats.org/drawingml/2006/main" noGrp="1"/>
          </p:cNvSpPr>
          <p:nvPr/>
        </p:nvSpPr>
        <p:spPr>
          <a:xfrm xmlns:a="http://schemas.openxmlformats.org/drawingml/2006/main">
            <a:off x="7143750" y="28194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23524"/>
                </a:solidFill>
              </a:defRPr>
            </a:pPr>
            <a:r>
              <a:rPr sz="1125" b="1" i="0">
                <a:solidFill>
                  <a:srgbClr val="123524"/>
                </a:solidFill>
              </a:rPr>
              <a:t>JSON</a:t>
            </a:r>
          </a:p>
        </p:txBody>
      </p:sp>
      <p:sp>
        <p:nvSpPr>
          <p:cNvPr id="39" name="">
            <a:extLst xmlns:a="http://schemas.openxmlformats.org/drawingml/2006/main">
              <a:ext uri="{FF2B5EF4-FFF2-40B4-BE49-F238E27FC236}">
                <a16:creationId xmlns:a16="http://schemas.microsoft.com/office/drawing/2014/main" id="{E4F92C24-1596-40CE-B3D4-03E78B493D6F}"/>
              </a:ext>
            </a:extLst>
          </p:cNvPr>
          <p:cNvSpPr>
            <a:spLocks xmlns:a="http://schemas.openxmlformats.org/drawingml/2006/main" noGrp="1"/>
          </p:cNvSpPr>
          <p:nvPr/>
        </p:nvSpPr>
        <p:spPr>
          <a:xfrm xmlns:a="http://schemas.openxmlformats.org/drawingml/2006/main">
            <a:off x="7181850" y="3162300"/>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66736B"/>
                </a:solidFill>
              </a:defRPr>
            </a:pPr>
            <a:r>
              <a:rPr sz="1125" b="0" i="0">
                <a:solidFill>
                  <a:srgbClr val="66736B"/>
                </a:solidFill>
              </a:rPr>
              <a:t>Returns one payload</a:t>
            </a:r>
          </a:p>
        </p:txBody>
      </p:sp>
      <p:sp>
        <p:nvSpPr>
          <p:cNvPr id="40" name="">
            <a:extLst xmlns:a="http://schemas.openxmlformats.org/drawingml/2006/main">
              <a:ext uri="{FF2B5EF4-FFF2-40B4-BE49-F238E27FC236}">
                <a16:creationId xmlns:a16="http://schemas.microsoft.com/office/drawing/2014/main" id="{5A5DDC53-3D8E-4FD5-99D5-311C8BC75DB3}"/>
              </a:ext>
            </a:extLst>
          </p:cNvPr>
          <p:cNvSpPr>
            <a:spLocks xmlns:a="http://schemas.openxmlformats.org/drawingml/2006/main" noGrp="1"/>
          </p:cNvSpPr>
          <p:nvPr/>
        </p:nvSpPr>
        <p:spPr>
          <a:xfrm xmlns:a="http://schemas.openxmlformats.org/drawingml/2006/main">
            <a:off x="9096375" y="1828800"/>
            <a:ext cx="609600" cy="60960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55E174C9-31A7-4BC3-B914-4910F1EA8799}"/>
              </a:ext>
            </a:extLst>
          </p:cNvPr>
          <p:cNvSpPr>
            <a:spLocks xmlns:a="http://schemas.openxmlformats.org/drawingml/2006/main" noGrp="1"/>
          </p:cNvSpPr>
          <p:nvPr/>
        </p:nvSpPr>
        <p:spPr>
          <a:xfrm xmlns:a="http://schemas.openxmlformats.org/drawingml/2006/main">
            <a:off x="9096375" y="1990725"/>
            <a:ext cx="60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JS</a:t>
            </a:r>
          </a:p>
        </p:txBody>
      </p:sp>
      <p:sp>
        <p:nvSpPr>
          <p:cNvPr id="42" name="">
            <a:extLst xmlns:a="http://schemas.openxmlformats.org/drawingml/2006/main">
              <a:ext uri="{FF2B5EF4-FFF2-40B4-BE49-F238E27FC236}">
                <a16:creationId xmlns:a16="http://schemas.microsoft.com/office/drawing/2014/main" id="{C5E84488-7E0E-4731-B0FC-9C076AF4E77B}"/>
              </a:ext>
            </a:extLst>
          </p:cNvPr>
          <p:cNvSpPr>
            <a:spLocks xmlns:a="http://schemas.openxmlformats.org/drawingml/2006/main" noGrp="1"/>
          </p:cNvSpPr>
          <p:nvPr/>
        </p:nvSpPr>
        <p:spPr>
          <a:xfrm xmlns:a="http://schemas.openxmlformats.org/drawingml/2006/main">
            <a:off x="8724900" y="2647950"/>
            <a:ext cx="1352550" cy="1123950"/>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9525">
            <a:solidFill>
              <a:srgbClr val="DCDDD7"/>
            </a:solidFill>
            <a:prstDash val="solid"/>
          </a:ln>
        </p:spPr>
      </p:sp>
      <p:sp>
        <p:nvSpPr>
          <p:cNvPr id="43" name="">
            <a:extLst xmlns:a="http://schemas.openxmlformats.org/drawingml/2006/main">
              <a:ext uri="{FF2B5EF4-FFF2-40B4-BE49-F238E27FC236}">
                <a16:creationId xmlns:a16="http://schemas.microsoft.com/office/drawing/2014/main" id="{7FB5D4F2-A712-4F74-8127-DCFF7E1F902F}"/>
              </a:ext>
            </a:extLst>
          </p:cNvPr>
          <p:cNvSpPr>
            <a:spLocks xmlns:a="http://schemas.openxmlformats.org/drawingml/2006/main" noGrp="1"/>
          </p:cNvSpPr>
          <p:nvPr/>
        </p:nvSpPr>
        <p:spPr>
          <a:xfrm xmlns:a="http://schemas.openxmlformats.org/drawingml/2006/main">
            <a:off x="8801100" y="28194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23524"/>
                </a:solidFill>
              </a:defRPr>
            </a:pPr>
            <a:r>
              <a:rPr sz="1125" b="1" i="0">
                <a:solidFill>
                  <a:srgbClr val="123524"/>
                </a:solidFill>
              </a:rPr>
              <a:t>CHART.JS</a:t>
            </a:r>
          </a:p>
        </p:txBody>
      </p:sp>
      <p:sp>
        <p:nvSpPr>
          <p:cNvPr id="44" name="">
            <a:extLst xmlns:a="http://schemas.openxmlformats.org/drawingml/2006/main">
              <a:ext uri="{FF2B5EF4-FFF2-40B4-BE49-F238E27FC236}">
                <a16:creationId xmlns:a16="http://schemas.microsoft.com/office/drawing/2014/main" id="{6994107A-5762-43B8-B33C-42D0483153CB}"/>
              </a:ext>
            </a:extLst>
          </p:cNvPr>
          <p:cNvSpPr>
            <a:spLocks xmlns:a="http://schemas.openxmlformats.org/drawingml/2006/main" noGrp="1"/>
          </p:cNvSpPr>
          <p:nvPr/>
        </p:nvSpPr>
        <p:spPr>
          <a:xfrm xmlns:a="http://schemas.openxmlformats.org/drawingml/2006/main">
            <a:off x="8839200" y="3162300"/>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66736B"/>
                </a:solidFill>
              </a:defRPr>
            </a:pPr>
            <a:r>
              <a:rPr sz="1125" b="0" i="0">
                <a:solidFill>
                  <a:srgbClr val="66736B"/>
                </a:solidFill>
              </a:rPr>
              <a:t>Updates data</a:t>
            </a:r>
          </a:p>
        </p:txBody>
      </p:sp>
      <p:sp>
        <p:nvSpPr>
          <p:cNvPr id="45" name="">
            <a:extLst xmlns:a="http://schemas.openxmlformats.org/drawingml/2006/main">
              <a:ext uri="{FF2B5EF4-FFF2-40B4-BE49-F238E27FC236}">
                <a16:creationId xmlns:a16="http://schemas.microsoft.com/office/drawing/2014/main" id="{57EBEA0E-70B0-4EDD-AB74-813D6A4921E1}"/>
              </a:ext>
            </a:extLst>
          </p:cNvPr>
          <p:cNvSpPr>
            <a:spLocks xmlns:a="http://schemas.openxmlformats.org/drawingml/2006/main" noGrp="1"/>
          </p:cNvSpPr>
          <p:nvPr/>
        </p:nvSpPr>
        <p:spPr>
          <a:xfrm xmlns:a="http://schemas.openxmlformats.org/drawingml/2006/main">
            <a:off x="10753725" y="1828800"/>
            <a:ext cx="609600" cy="60960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C846901F-D559-42E8-B88B-01895687B0F2}"/>
              </a:ext>
            </a:extLst>
          </p:cNvPr>
          <p:cNvSpPr>
            <a:spLocks xmlns:a="http://schemas.openxmlformats.org/drawingml/2006/main" noGrp="1"/>
          </p:cNvSpPr>
          <p:nvPr/>
        </p:nvSpPr>
        <p:spPr>
          <a:xfrm xmlns:a="http://schemas.openxmlformats.org/drawingml/2006/main">
            <a:off x="10753725" y="1990725"/>
            <a:ext cx="60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FFFFFF"/>
                </a:solidFill>
              </a:defRPr>
            </a:pPr>
            <a:r>
              <a:rPr sz="1350" b="1" i="0">
                <a:solidFill>
                  <a:srgbClr val="FFFFFF"/>
                </a:solidFill>
              </a:rPr>
              <a:t>↻</a:t>
            </a:r>
          </a:p>
        </p:txBody>
      </p:sp>
      <p:sp>
        <p:nvSpPr>
          <p:cNvPr id="47" name="">
            <a:extLst xmlns:a="http://schemas.openxmlformats.org/drawingml/2006/main">
              <a:ext uri="{FF2B5EF4-FFF2-40B4-BE49-F238E27FC236}">
                <a16:creationId xmlns:a16="http://schemas.microsoft.com/office/drawing/2014/main" id="{81003090-A194-4F41-AA6D-F999FCF65103}"/>
              </a:ext>
            </a:extLst>
          </p:cNvPr>
          <p:cNvSpPr>
            <a:spLocks xmlns:a="http://schemas.openxmlformats.org/drawingml/2006/main" noGrp="1"/>
          </p:cNvSpPr>
          <p:nvPr/>
        </p:nvSpPr>
        <p:spPr>
          <a:xfrm xmlns:a="http://schemas.openxmlformats.org/drawingml/2006/main">
            <a:off x="10382250" y="2647950"/>
            <a:ext cx="1352550" cy="1123950"/>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9525">
            <a:solidFill>
              <a:srgbClr val="DCDDD7"/>
            </a:solidFill>
            <a:prstDash val="solid"/>
          </a:ln>
        </p:spPr>
      </p:sp>
      <p:sp>
        <p:nvSpPr>
          <p:cNvPr id="48" name="">
            <a:extLst xmlns:a="http://schemas.openxmlformats.org/drawingml/2006/main">
              <a:ext uri="{FF2B5EF4-FFF2-40B4-BE49-F238E27FC236}">
                <a16:creationId xmlns:a16="http://schemas.microsoft.com/office/drawing/2014/main" id="{0BF124F2-4995-453C-ACD5-044235860834}"/>
              </a:ext>
            </a:extLst>
          </p:cNvPr>
          <p:cNvSpPr>
            <a:spLocks xmlns:a="http://schemas.openxmlformats.org/drawingml/2006/main" noGrp="1"/>
          </p:cNvSpPr>
          <p:nvPr/>
        </p:nvSpPr>
        <p:spPr>
          <a:xfrm xmlns:a="http://schemas.openxmlformats.org/drawingml/2006/main">
            <a:off x="10458450" y="2819400"/>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123524"/>
                </a:solidFill>
              </a:defRPr>
            </a:pPr>
            <a:r>
              <a:rPr sz="1125" b="1" i="0">
                <a:solidFill>
                  <a:srgbClr val="123524"/>
                </a:solidFill>
              </a:rPr>
              <a:t>CHARTS</a:t>
            </a:r>
          </a:p>
        </p:txBody>
      </p:sp>
      <p:sp>
        <p:nvSpPr>
          <p:cNvPr id="49" name="">
            <a:extLst xmlns:a="http://schemas.openxmlformats.org/drawingml/2006/main">
              <a:ext uri="{FF2B5EF4-FFF2-40B4-BE49-F238E27FC236}">
                <a16:creationId xmlns:a16="http://schemas.microsoft.com/office/drawing/2014/main" id="{A4AA136B-0F09-4C40-99EE-5DA62AB66632}"/>
              </a:ext>
            </a:extLst>
          </p:cNvPr>
          <p:cNvSpPr>
            <a:spLocks xmlns:a="http://schemas.openxmlformats.org/drawingml/2006/main" noGrp="1"/>
          </p:cNvSpPr>
          <p:nvPr/>
        </p:nvSpPr>
        <p:spPr>
          <a:xfrm xmlns:a="http://schemas.openxmlformats.org/drawingml/2006/main">
            <a:off x="10496550" y="3162300"/>
            <a:ext cx="112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66736B"/>
                </a:solidFill>
              </a:defRPr>
            </a:pPr>
            <a:r>
              <a:rPr sz="1125" b="0" i="0">
                <a:solidFill>
                  <a:srgbClr val="66736B"/>
                </a:solidFill>
              </a:rPr>
              <a:t>Show new scope</a:t>
            </a:r>
          </a:p>
        </p:txBody>
      </p:sp>
      <p:sp>
        <p:nvSpPr>
          <p:cNvPr id="50" name="">
            <a:extLst xmlns:a="http://schemas.openxmlformats.org/drawingml/2006/main">
              <a:ext uri="{FF2B5EF4-FFF2-40B4-BE49-F238E27FC236}">
                <a16:creationId xmlns:a16="http://schemas.microsoft.com/office/drawing/2014/main" id="{2D2F50CB-33C7-438B-A0CE-1A54E8D73CC2}"/>
              </a:ext>
            </a:extLst>
          </p:cNvPr>
          <p:cNvSpPr>
            <a:spLocks xmlns:a="http://schemas.openxmlformats.org/drawingml/2006/main" noGrp="1"/>
          </p:cNvSpPr>
          <p:nvPr/>
        </p:nvSpPr>
        <p:spPr>
          <a:xfrm xmlns:a="http://schemas.openxmlformats.org/drawingml/2006/main">
            <a:off x="1352550" y="4429125"/>
            <a:ext cx="9486900" cy="800100"/>
          </a:xfrm>
          <a:prstGeom xmlns:a="http://schemas.openxmlformats.org/drawingml/2006/main" prst="roundRect">
            <a:avLst>
              <a:gd name="adj" fmla="val 9524"/>
            </a:avLst>
          </a:prstGeom>
          <a:solidFill xmlns:a="http://schemas.openxmlformats.org/drawingml/2006/main">
            <a:srgbClr val="0B2A1D"/>
          </a:solidFill>
          <a:ln xmlns:a="http://schemas.openxmlformats.org/drawingml/2006/main" w="0">
            <a:solidFill>
              <a:srgbClr val="0B2A1D"/>
            </a:solidFill>
            <a:prstDash val="solid"/>
          </a:ln>
        </p:spPr>
      </p:sp>
      <p:sp>
        <p:nvSpPr>
          <p:cNvPr id="51" name="">
            <a:extLst xmlns:a="http://schemas.openxmlformats.org/drawingml/2006/main">
              <a:ext uri="{FF2B5EF4-FFF2-40B4-BE49-F238E27FC236}">
                <a16:creationId xmlns:a16="http://schemas.microsoft.com/office/drawing/2014/main" id="{50D8452C-8945-4A4A-A121-749F4CB70C37}"/>
              </a:ext>
            </a:extLst>
          </p:cNvPr>
          <p:cNvSpPr>
            <a:spLocks xmlns:a="http://schemas.openxmlformats.org/drawingml/2006/main" noGrp="1"/>
          </p:cNvSpPr>
          <p:nvPr/>
        </p:nvSpPr>
        <p:spPr>
          <a:xfrm xmlns:a="http://schemas.openxmlformats.org/drawingml/2006/main">
            <a:off x="1581150" y="4610100"/>
            <a:ext cx="9029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FFFFFF"/>
                </a:solidFill>
              </a:defRPr>
            </a:pPr>
            <a:r>
              <a:rPr sz="1650" b="1" i="0">
                <a:solidFill>
                  <a:srgbClr val="FFFFFF"/>
                </a:solidFill>
              </a:rPr>
              <a:t>User → Frontend → Flask API → MySQL → JSON → Chart.js → Updated Charts</a:t>
            </a:r>
          </a:p>
        </p:txBody>
      </p:sp>
      <p:sp>
        <p:nvSpPr>
          <p:cNvPr id="52" name="">
            <a:extLst xmlns:a="http://schemas.openxmlformats.org/drawingml/2006/main">
              <a:ext uri="{FF2B5EF4-FFF2-40B4-BE49-F238E27FC236}">
                <a16:creationId xmlns:a16="http://schemas.microsoft.com/office/drawing/2014/main" id="{FCD4FFA2-084D-46A4-A940-649C86D8F161}"/>
              </a:ext>
            </a:extLst>
          </p:cNvPr>
          <p:cNvSpPr>
            <a:spLocks xmlns:a="http://schemas.openxmlformats.org/drawingml/2006/main" noGrp="1"/>
          </p:cNvSpPr>
          <p:nvPr/>
        </p:nvSpPr>
        <p:spPr>
          <a:xfrm xmlns:a="http://schemas.openxmlformats.org/drawingml/2006/main">
            <a:off x="4095750" y="54292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C8A96A"/>
                </a:solidFill>
              </a:defRPr>
            </a:pPr>
            <a:r>
              <a:rPr sz="1350" b="1" i="0">
                <a:solidFill>
                  <a:srgbClr val="C8A96A"/>
                </a:solidFill>
              </a:rPr>
              <a:t>The page never reloads.</a:t>
            </a:r>
          </a:p>
        </p:txBody>
      </p:sp>
    </p:spTree>
    <p:extLst>
      <p:ext uri="{BB962C8B-B14F-4D97-AF65-F5344CB8AC3E}">
        <p14:creationId xmlns:p14="http://schemas.microsoft.com/office/powerpoint/2010/main" val="637612853"/>
      </p:ext>
    </p:extLst>
  </p:cSld>
</p:sld>
</file>

<file path=ppt/slides/slide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2472E1EC-7DAC-44F0-BC29-38FBD470653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91645C-C5D5-408E-873A-B8FF30ACA737}"/>
              </a:ext>
            </a:extLst>
          </p:cNvPr>
          <p:cNvSpPr>
            <a:spLocks xmlns:a="http://schemas.openxmlformats.org/drawingml/2006/main" noGrp="1"/>
          </p:cNvSpPr>
          <p:nvPr/>
        </p:nvSpPr>
        <p:spPr>
          <a:xfrm xmlns:a="http://schemas.openxmlformats.org/drawingml/2006/main">
            <a:off x="609600" y="523875"/>
            <a:ext cx="66675" cy="476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F628981-71B2-4BFB-B58F-980B31211DAC}"/>
              </a:ext>
            </a:extLst>
          </p:cNvPr>
          <p:cNvSpPr>
            <a:spLocks xmlns:a="http://schemas.openxmlformats.org/drawingml/2006/main" noGrp="1"/>
          </p:cNvSpPr>
          <p:nvPr/>
        </p:nvSpPr>
        <p:spPr>
          <a:xfrm xmlns:a="http://schemas.openxmlformats.org/drawingml/2006/main">
            <a:off x="838200" y="4572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A96A"/>
                </a:solidFill>
              </a:defRPr>
            </a:pPr>
            <a:r>
              <a:rPr sz="975" b="1" i="0">
                <a:solidFill>
                  <a:srgbClr val="C8A96A"/>
                </a:solidFill>
              </a:rPr>
              <a:t>BACKEND UPDATE</a:t>
            </a:r>
          </a:p>
        </p:txBody>
      </p:sp>
      <p:sp>
        <p:nvSpPr>
          <p:cNvPr id="4" name="">
            <a:extLst xmlns:a="http://schemas.openxmlformats.org/drawingml/2006/main">
              <a:ext uri="{FF2B5EF4-FFF2-40B4-BE49-F238E27FC236}">
                <a16:creationId xmlns:a16="http://schemas.microsoft.com/office/drawing/2014/main" id="{EF64ACEF-F55A-4135-BC16-40FC49309084}"/>
              </a:ext>
            </a:extLst>
          </p:cNvPr>
          <p:cNvSpPr>
            <a:spLocks xmlns:a="http://schemas.openxmlformats.org/drawingml/2006/main" noGrp="1"/>
          </p:cNvSpPr>
          <p:nvPr/>
        </p:nvSpPr>
        <p:spPr>
          <a:xfrm xmlns:a="http://schemas.openxmlformats.org/drawingml/2006/main">
            <a:off x="838200" y="65722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524"/>
                </a:solidFill>
              </a:defRPr>
            </a:pPr>
            <a:r>
              <a:rPr sz="2700" b="1" i="0">
                <a:solidFill>
                  <a:srgbClr val="123524"/>
                </a:solidFill>
              </a:rPr>
              <a:t>One endpoint returns a complete statistics payload</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7d9dc25e7e404e0c"/>
          <a:stretch xmlns:a="http://schemas.openxmlformats.org/drawingml/2006/main"/>
        </p:blipFill>
        <p:spPr>
          <a:xfrm xmlns:a="http://schemas.openxmlformats.org/drawingml/2006/main">
            <a:off x="11125200" y="428625"/>
            <a:ext cx="495300" cy="495300"/>
          </a:xfrm>
          <a:prstGeom xmlns:a="http://schemas.openxmlformats.org/drawingml/2006/main" prst="roundRect">
            <a:avLst>
              <a:gd name="adj" fmla="val 23077"/>
            </a:avLst>
          </a:prstGeom>
        </p:spPr>
      </p:pic>
      <p:sp>
        <p:nvSpPr>
          <p:cNvPr id="6" name="">
            <a:extLst xmlns:a="http://schemas.openxmlformats.org/drawingml/2006/main">
              <a:ext uri="{FF2B5EF4-FFF2-40B4-BE49-F238E27FC236}">
                <a16:creationId xmlns:a16="http://schemas.microsoft.com/office/drawing/2014/main" id="{7A6DA8C7-6661-4078-84DE-4AEBBA523F44}"/>
              </a:ext>
            </a:extLst>
          </p:cNvPr>
          <p:cNvSpPr>
            <a:spLocks xmlns:a="http://schemas.openxmlformats.org/drawingml/2006/main" noGrp="1"/>
          </p:cNvSpPr>
          <p:nvPr/>
        </p:nvSpPr>
        <p:spPr>
          <a:xfrm xmlns:a="http://schemas.openxmlformats.org/drawingml/2006/main">
            <a:off x="609600" y="6457950"/>
            <a:ext cx="10972800" cy="9525"/>
          </a:xfrm>
          <a:prstGeom xmlns:a="http://schemas.openxmlformats.org/drawingml/2006/main" prst="rect">
            <a:avLst/>
          </a:prstGeom>
          <a:solidFill xmlns:a="http://schemas.openxmlformats.org/drawingml/2006/main">
            <a:srgbClr val="DCDDD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7045CCB-F231-430E-873C-DA4DC9D907E3}"/>
              </a:ext>
            </a:extLst>
          </p:cNvPr>
          <p:cNvSpPr>
            <a:spLocks xmlns:a="http://schemas.openxmlformats.org/drawingml/2006/main" noGrp="1"/>
          </p:cNvSpPr>
          <p:nvPr/>
        </p:nvSpPr>
        <p:spPr>
          <a:xfrm xmlns:a="http://schemas.openxmlformats.org/drawingml/2006/main">
            <a:off x="609600" y="6543675"/>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66736B"/>
                </a:solidFill>
              </a:defRPr>
            </a:pPr>
            <a:r>
              <a:rPr sz="825" b="0" i="0">
                <a:solidFill>
                  <a:srgbClr val="66736B"/>
                </a:solidFill>
              </a:rPr>
              <a:t>Traditional Governance  •  Interactive Statistics</a:t>
            </a:r>
          </a:p>
        </p:txBody>
      </p:sp>
      <p:sp>
        <p:nvSpPr>
          <p:cNvPr id="8" name="">
            <a:extLst xmlns:a="http://schemas.openxmlformats.org/drawingml/2006/main">
              <a:ext uri="{FF2B5EF4-FFF2-40B4-BE49-F238E27FC236}">
                <a16:creationId xmlns:a16="http://schemas.microsoft.com/office/drawing/2014/main" id="{96A8A239-831A-4280-9B79-57A67CDFE5D0}"/>
              </a:ext>
            </a:extLst>
          </p:cNvPr>
          <p:cNvSpPr>
            <a:spLocks xmlns:a="http://schemas.openxmlformats.org/drawingml/2006/main" noGrp="1"/>
          </p:cNvSpPr>
          <p:nvPr/>
        </p:nvSpPr>
        <p:spPr>
          <a:xfrm xmlns:a="http://schemas.openxmlformats.org/drawingml/2006/main">
            <a:off x="11068050" y="65246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123524"/>
                </a:solidFill>
              </a:defRPr>
            </a:pPr>
            <a:r>
              <a:rPr sz="900" b="1" i="0">
                <a:solidFill>
                  <a:srgbClr val="123524"/>
                </a:solidFill>
              </a:rPr>
              <a:t>06</a:t>
            </a:r>
          </a:p>
        </p:txBody>
      </p:sp>
      <p:sp>
        <p:nvSpPr>
          <p:cNvPr id="9" name="">
            <a:extLst xmlns:a="http://schemas.openxmlformats.org/drawingml/2006/main">
              <a:ext uri="{FF2B5EF4-FFF2-40B4-BE49-F238E27FC236}">
                <a16:creationId xmlns:a16="http://schemas.microsoft.com/office/drawing/2014/main" id="{920DC4A0-E475-4EEA-9297-29EB3ABE0774}"/>
              </a:ext>
            </a:extLst>
          </p:cNvPr>
          <p:cNvSpPr>
            <a:spLocks xmlns:a="http://schemas.openxmlformats.org/drawingml/2006/main" noGrp="1"/>
          </p:cNvSpPr>
          <p:nvPr/>
        </p:nvSpPr>
        <p:spPr>
          <a:xfrm xmlns:a="http://schemas.openxmlformats.org/drawingml/2006/main">
            <a:off x="666750" y="1466850"/>
            <a:ext cx="5238750" cy="723900"/>
          </a:xfrm>
          <a:prstGeom xmlns:a="http://schemas.openxmlformats.org/drawingml/2006/main" prst="roundRect">
            <a:avLst>
              <a:gd name="adj" fmla="val 10526"/>
            </a:avLst>
          </a:prstGeom>
          <a:solidFill xmlns:a="http://schemas.openxmlformats.org/drawingml/2006/main">
            <a:srgbClr val="0B2A1D"/>
          </a:solidFill>
          <a:ln xmlns:a="http://schemas.openxmlformats.org/drawingml/2006/main" w="0">
            <a:solidFill>
              <a:srgbClr val="0B2A1D"/>
            </a:solidFill>
            <a:prstDash val="solid"/>
          </a:ln>
        </p:spPr>
      </p:sp>
      <p:sp>
        <p:nvSpPr>
          <p:cNvPr id="10" name="">
            <a:extLst xmlns:a="http://schemas.openxmlformats.org/drawingml/2006/main">
              <a:ext uri="{FF2B5EF4-FFF2-40B4-BE49-F238E27FC236}">
                <a16:creationId xmlns:a16="http://schemas.microsoft.com/office/drawing/2014/main" id="{13D2F4C0-B980-4B5C-A73F-E982A5A0D270}"/>
              </a:ext>
            </a:extLst>
          </p:cNvPr>
          <p:cNvSpPr>
            <a:spLocks xmlns:a="http://schemas.openxmlformats.org/drawingml/2006/main" noGrp="1"/>
          </p:cNvSpPr>
          <p:nvPr/>
        </p:nvSpPr>
        <p:spPr>
          <a:xfrm xmlns:a="http://schemas.openxmlformats.org/drawingml/2006/main">
            <a:off x="933450" y="165735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FFFFFF"/>
                </a:solidFill>
              </a:defRPr>
            </a:pPr>
            <a:r>
              <a:rPr sz="2250" b="1" i="0">
                <a:solidFill>
                  <a:srgbClr val="FFFFFF"/>
                </a:solidFill>
              </a:rPr>
              <a:t>GET  /api/statistics</a:t>
            </a:r>
          </a:p>
        </p:txBody>
      </p:sp>
      <p:sp>
        <p:nvSpPr>
          <p:cNvPr id="11" name="">
            <a:extLst xmlns:a="http://schemas.openxmlformats.org/drawingml/2006/main">
              <a:ext uri="{FF2B5EF4-FFF2-40B4-BE49-F238E27FC236}">
                <a16:creationId xmlns:a16="http://schemas.microsoft.com/office/drawing/2014/main" id="{09C900CD-9A67-413C-91B4-3C8B37D75057}"/>
              </a:ext>
            </a:extLst>
          </p:cNvPr>
          <p:cNvSpPr>
            <a:spLocks xmlns:a="http://schemas.openxmlformats.org/drawingml/2006/main" noGrp="1"/>
          </p:cNvSpPr>
          <p:nvPr/>
        </p:nvSpPr>
        <p:spPr>
          <a:xfrm xmlns:a="http://schemas.openxmlformats.org/drawingml/2006/main">
            <a:off x="685800" y="25527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23524"/>
                </a:solidFill>
              </a:defRPr>
            </a:pPr>
            <a:r>
              <a:rPr sz="1650" b="1" i="0">
                <a:solidFill>
                  <a:srgbClr val="123524"/>
                </a:solidFill>
              </a:rPr>
              <a:t>Request examples</a:t>
            </a:r>
          </a:p>
        </p:txBody>
      </p:sp>
      <p:sp>
        <p:nvSpPr>
          <p:cNvPr id="12" name="">
            <a:extLst xmlns:a="http://schemas.openxmlformats.org/drawingml/2006/main">
              <a:ext uri="{FF2B5EF4-FFF2-40B4-BE49-F238E27FC236}">
                <a16:creationId xmlns:a16="http://schemas.microsoft.com/office/drawing/2014/main" id="{A00B69BA-2C5A-414E-A16A-5B111BBB54D4}"/>
              </a:ext>
            </a:extLst>
          </p:cNvPr>
          <p:cNvSpPr>
            <a:spLocks xmlns:a="http://schemas.openxmlformats.org/drawingml/2006/main" noGrp="1"/>
          </p:cNvSpPr>
          <p:nvPr/>
        </p:nvSpPr>
        <p:spPr>
          <a:xfrm xmlns:a="http://schemas.openxmlformats.org/drawingml/2006/main">
            <a:off x="685800" y="2971800"/>
            <a:ext cx="5219700" cy="438150"/>
          </a:xfrm>
          <a:prstGeom xmlns:a="http://schemas.openxmlformats.org/drawingml/2006/main" prst="roundRect">
            <a:avLst>
              <a:gd name="adj" fmla="val 17391"/>
            </a:avLst>
          </a:prstGeom>
          <a:solidFill xmlns:a="http://schemas.openxmlformats.org/drawingml/2006/main">
            <a:srgbClr val="EDE1C8"/>
          </a:solidFill>
          <a:ln xmlns:a="http://schemas.openxmlformats.org/drawingml/2006/main" w="9525">
            <a:solidFill>
              <a:srgbClr val="DCDDD7"/>
            </a:solidFill>
            <a:prstDash val="solid"/>
          </a:ln>
        </p:spPr>
      </p:sp>
      <p:sp>
        <p:nvSpPr>
          <p:cNvPr id="13" name="">
            <a:extLst xmlns:a="http://schemas.openxmlformats.org/drawingml/2006/main">
              <a:ext uri="{FF2B5EF4-FFF2-40B4-BE49-F238E27FC236}">
                <a16:creationId xmlns:a16="http://schemas.microsoft.com/office/drawing/2014/main" id="{89265449-6B45-4FDE-8ABA-F2B598EA8803}"/>
              </a:ext>
            </a:extLst>
          </p:cNvPr>
          <p:cNvSpPr>
            <a:spLocks xmlns:a="http://schemas.openxmlformats.org/drawingml/2006/main" noGrp="1"/>
          </p:cNvSpPr>
          <p:nvPr/>
        </p:nvSpPr>
        <p:spPr>
          <a:xfrm xmlns:a="http://schemas.openxmlformats.org/drawingml/2006/main">
            <a:off x="857250" y="3076575"/>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7211B"/>
                </a:solidFill>
              </a:defRPr>
            </a:pPr>
            <a:r>
              <a:rPr sz="1200" b="0" i="0">
                <a:solidFill>
                  <a:srgbClr val="17211B"/>
                </a:solidFill>
              </a:rPr>
              <a:t>/api/statistics</a:t>
            </a:r>
          </a:p>
        </p:txBody>
      </p:sp>
      <p:sp>
        <p:nvSpPr>
          <p:cNvPr id="14" name="">
            <a:extLst xmlns:a="http://schemas.openxmlformats.org/drawingml/2006/main">
              <a:ext uri="{FF2B5EF4-FFF2-40B4-BE49-F238E27FC236}">
                <a16:creationId xmlns:a16="http://schemas.microsoft.com/office/drawing/2014/main" id="{C7FE4AE4-9098-46C0-BE6C-75FFC68C7F80}"/>
              </a:ext>
            </a:extLst>
          </p:cNvPr>
          <p:cNvSpPr>
            <a:spLocks xmlns:a="http://schemas.openxmlformats.org/drawingml/2006/main" noGrp="1"/>
          </p:cNvSpPr>
          <p:nvPr/>
        </p:nvSpPr>
        <p:spPr>
          <a:xfrm xmlns:a="http://schemas.openxmlformats.org/drawingml/2006/main">
            <a:off x="685800" y="3552825"/>
            <a:ext cx="52197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CDDD7"/>
            </a:solidFill>
            <a:prstDash val="solid"/>
          </a:ln>
        </p:spPr>
      </p:sp>
      <p:sp>
        <p:nvSpPr>
          <p:cNvPr id="15" name="">
            <a:extLst xmlns:a="http://schemas.openxmlformats.org/drawingml/2006/main">
              <a:ext uri="{FF2B5EF4-FFF2-40B4-BE49-F238E27FC236}">
                <a16:creationId xmlns:a16="http://schemas.microsoft.com/office/drawing/2014/main" id="{4C42C33D-17DF-4757-9B57-A7674A00BD7F}"/>
              </a:ext>
            </a:extLst>
          </p:cNvPr>
          <p:cNvSpPr>
            <a:spLocks xmlns:a="http://schemas.openxmlformats.org/drawingml/2006/main" noGrp="1"/>
          </p:cNvSpPr>
          <p:nvPr/>
        </p:nvSpPr>
        <p:spPr>
          <a:xfrm xmlns:a="http://schemas.openxmlformats.org/drawingml/2006/main">
            <a:off x="857250" y="365760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7211B"/>
                </a:solidFill>
              </a:defRPr>
            </a:pPr>
            <a:r>
              <a:rPr sz="1200" b="0" i="0">
                <a:solidFill>
                  <a:srgbClr val="17211B"/>
                </a:solidFill>
              </a:rPr>
              <a:t>/api/statistics?country=Kenya</a:t>
            </a:r>
          </a:p>
        </p:txBody>
      </p:sp>
      <p:sp>
        <p:nvSpPr>
          <p:cNvPr id="16" name="">
            <a:extLst xmlns:a="http://schemas.openxmlformats.org/drawingml/2006/main">
              <a:ext uri="{FF2B5EF4-FFF2-40B4-BE49-F238E27FC236}">
                <a16:creationId xmlns:a16="http://schemas.microsoft.com/office/drawing/2014/main" id="{2087F73D-83E0-466F-AEB5-984950644FA2}"/>
              </a:ext>
            </a:extLst>
          </p:cNvPr>
          <p:cNvSpPr>
            <a:spLocks xmlns:a="http://schemas.openxmlformats.org/drawingml/2006/main" noGrp="1"/>
          </p:cNvSpPr>
          <p:nvPr/>
        </p:nvSpPr>
        <p:spPr>
          <a:xfrm xmlns:a="http://schemas.openxmlformats.org/drawingml/2006/main">
            <a:off x="685800" y="4133850"/>
            <a:ext cx="52197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CDDD7"/>
            </a:solidFill>
            <a:prstDash val="solid"/>
          </a:ln>
        </p:spPr>
      </p:sp>
      <p:sp>
        <p:nvSpPr>
          <p:cNvPr id="17" name="">
            <a:extLst xmlns:a="http://schemas.openxmlformats.org/drawingml/2006/main">
              <a:ext uri="{FF2B5EF4-FFF2-40B4-BE49-F238E27FC236}">
                <a16:creationId xmlns:a16="http://schemas.microsoft.com/office/drawing/2014/main" id="{ADE844AA-15A2-4045-9CDF-0B016752C28C}"/>
              </a:ext>
            </a:extLst>
          </p:cNvPr>
          <p:cNvSpPr>
            <a:spLocks xmlns:a="http://schemas.openxmlformats.org/drawingml/2006/main" noGrp="1"/>
          </p:cNvSpPr>
          <p:nvPr/>
        </p:nvSpPr>
        <p:spPr>
          <a:xfrm xmlns:a="http://schemas.openxmlformats.org/drawingml/2006/main">
            <a:off x="857250" y="4238625"/>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7211B"/>
                </a:solidFill>
              </a:defRPr>
            </a:pPr>
            <a:r>
              <a:rPr sz="1200" b="0" i="0">
                <a:solidFill>
                  <a:srgbClr val="17211B"/>
                </a:solidFill>
              </a:rPr>
              <a:t>/api/statistics?continent=Africa</a:t>
            </a:r>
          </a:p>
        </p:txBody>
      </p:sp>
      <p:sp>
        <p:nvSpPr>
          <p:cNvPr id="18" name="">
            <a:extLst xmlns:a="http://schemas.openxmlformats.org/drawingml/2006/main">
              <a:ext uri="{FF2B5EF4-FFF2-40B4-BE49-F238E27FC236}">
                <a16:creationId xmlns:a16="http://schemas.microsoft.com/office/drawing/2014/main" id="{7B38C0AD-ECAB-4EF2-A1A3-08761C45A7FB}"/>
              </a:ext>
            </a:extLst>
          </p:cNvPr>
          <p:cNvSpPr>
            <a:spLocks xmlns:a="http://schemas.openxmlformats.org/drawingml/2006/main" noGrp="1"/>
          </p:cNvSpPr>
          <p:nvPr/>
        </p:nvSpPr>
        <p:spPr>
          <a:xfrm xmlns:a="http://schemas.openxmlformats.org/drawingml/2006/main">
            <a:off x="685800" y="4714875"/>
            <a:ext cx="52197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9525">
            <a:solidFill>
              <a:srgbClr val="DCDDD7"/>
            </a:solidFill>
            <a:prstDash val="solid"/>
          </a:ln>
        </p:spPr>
      </p:sp>
      <p:sp>
        <p:nvSpPr>
          <p:cNvPr id="19" name="">
            <a:extLst xmlns:a="http://schemas.openxmlformats.org/drawingml/2006/main">
              <a:ext uri="{FF2B5EF4-FFF2-40B4-BE49-F238E27FC236}">
                <a16:creationId xmlns:a16="http://schemas.microsoft.com/office/drawing/2014/main" id="{BFB709F5-940D-4A84-A9D7-350EF146DF7A}"/>
              </a:ext>
            </a:extLst>
          </p:cNvPr>
          <p:cNvSpPr>
            <a:spLocks xmlns:a="http://schemas.openxmlformats.org/drawingml/2006/main" noGrp="1"/>
          </p:cNvSpPr>
          <p:nvPr/>
        </p:nvSpPr>
        <p:spPr>
          <a:xfrm xmlns:a="http://schemas.openxmlformats.org/drawingml/2006/main">
            <a:off x="857250" y="481965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17211B"/>
                </a:solidFill>
              </a:defRPr>
            </a:pPr>
            <a:r>
              <a:rPr sz="1200" b="0" i="0">
                <a:solidFill>
                  <a:srgbClr val="17211B"/>
                </a:solidFill>
              </a:rPr>
              <a:t>/api/statistics?region=Sub-Saharan Africa</a:t>
            </a:r>
          </a:p>
        </p:txBody>
      </p:sp>
      <p:sp>
        <p:nvSpPr>
          <p:cNvPr id="20" name="">
            <a:extLst xmlns:a="http://schemas.openxmlformats.org/drawingml/2006/main">
              <a:ext uri="{FF2B5EF4-FFF2-40B4-BE49-F238E27FC236}">
                <a16:creationId xmlns:a16="http://schemas.microsoft.com/office/drawing/2014/main" id="{A9EC8BDE-2639-4E24-9A3D-46677E0F478A}"/>
              </a:ext>
            </a:extLst>
          </p:cNvPr>
          <p:cNvSpPr>
            <a:spLocks xmlns:a="http://schemas.openxmlformats.org/drawingml/2006/main" noGrp="1"/>
          </p:cNvSpPr>
          <p:nvPr/>
        </p:nvSpPr>
        <p:spPr>
          <a:xfrm xmlns:a="http://schemas.openxmlformats.org/drawingml/2006/main">
            <a:off x="6343650" y="1466850"/>
            <a:ext cx="9525" cy="4095750"/>
          </a:xfrm>
          <a:prstGeom xmlns:a="http://schemas.openxmlformats.org/drawingml/2006/main" prst="rect">
            <a:avLst/>
          </a:prstGeom>
          <a:solidFill xmlns:a="http://schemas.openxmlformats.org/drawingml/2006/main">
            <a:srgbClr val="DCDDD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B2971F8-168D-46FA-843D-4BBAE4C4E22B}"/>
              </a:ext>
            </a:extLst>
          </p:cNvPr>
          <p:cNvSpPr>
            <a:spLocks xmlns:a="http://schemas.openxmlformats.org/drawingml/2006/main" noGrp="1"/>
          </p:cNvSpPr>
          <p:nvPr/>
        </p:nvSpPr>
        <p:spPr>
          <a:xfrm xmlns:a="http://schemas.openxmlformats.org/drawingml/2006/main">
            <a:off x="6838950" y="152400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i="0">
                <a:solidFill>
                  <a:srgbClr val="123524"/>
                </a:solidFill>
              </a:defRPr>
            </a:pPr>
            <a:r>
              <a:rPr sz="1950" b="1" i="0">
                <a:solidFill>
                  <a:srgbClr val="123524"/>
                </a:solidFill>
              </a:rPr>
              <a:t>One structured JSON response</a:t>
            </a:r>
          </a:p>
        </p:txBody>
      </p:sp>
      <p:sp>
        <p:nvSpPr>
          <p:cNvPr id="22" name="">
            <a:extLst xmlns:a="http://schemas.openxmlformats.org/drawingml/2006/main">
              <a:ext uri="{FF2B5EF4-FFF2-40B4-BE49-F238E27FC236}">
                <a16:creationId xmlns:a16="http://schemas.microsoft.com/office/drawing/2014/main" id="{F7CCBE1A-3792-4FA6-8E0F-5DCBE7381834}"/>
              </a:ext>
            </a:extLst>
          </p:cNvPr>
          <p:cNvSpPr>
            <a:spLocks xmlns:a="http://schemas.openxmlformats.org/drawingml/2006/main" noGrp="1"/>
          </p:cNvSpPr>
          <p:nvPr/>
        </p:nvSpPr>
        <p:spPr>
          <a:xfrm xmlns:a="http://schemas.openxmlformats.org/drawingml/2006/main">
            <a:off x="6858000" y="2257425"/>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6C4C3A3-AF7C-4D95-981B-0EDFB199C28D}"/>
              </a:ext>
            </a:extLst>
          </p:cNvPr>
          <p:cNvSpPr>
            <a:spLocks xmlns:a="http://schemas.openxmlformats.org/drawingml/2006/main" noGrp="1"/>
          </p:cNvSpPr>
          <p:nvPr/>
        </p:nvSpPr>
        <p:spPr>
          <a:xfrm xmlns:a="http://schemas.openxmlformats.org/drawingml/2006/main">
            <a:off x="7086600" y="2181225"/>
            <a:ext cx="4057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17211B"/>
                </a:solidFill>
              </a:defRPr>
            </a:pPr>
            <a:r>
              <a:rPr sz="1350" b="0" i="0">
                <a:solidFill>
                  <a:srgbClr val="17211B"/>
                </a:solidFill>
              </a:rPr>
              <a:t>Scope and label</a:t>
            </a:r>
          </a:p>
        </p:txBody>
      </p:sp>
      <p:sp>
        <p:nvSpPr>
          <p:cNvPr id="24" name="">
            <a:extLst xmlns:a="http://schemas.openxmlformats.org/drawingml/2006/main">
              <a:ext uri="{FF2B5EF4-FFF2-40B4-BE49-F238E27FC236}">
                <a16:creationId xmlns:a16="http://schemas.microsoft.com/office/drawing/2014/main" id="{84C70404-777A-46B7-BCA8-49DDF0085B0C}"/>
              </a:ext>
            </a:extLst>
          </p:cNvPr>
          <p:cNvSpPr>
            <a:spLocks xmlns:a="http://schemas.openxmlformats.org/drawingml/2006/main" noGrp="1"/>
          </p:cNvSpPr>
          <p:nvPr/>
        </p:nvSpPr>
        <p:spPr>
          <a:xfrm xmlns:a="http://schemas.openxmlformats.org/drawingml/2006/main">
            <a:off x="6858000" y="2733675"/>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F841F11-A180-4CE6-9805-AA545AD2B264}"/>
              </a:ext>
            </a:extLst>
          </p:cNvPr>
          <p:cNvSpPr>
            <a:spLocks xmlns:a="http://schemas.openxmlformats.org/drawingml/2006/main" noGrp="1"/>
          </p:cNvSpPr>
          <p:nvPr/>
        </p:nvSpPr>
        <p:spPr>
          <a:xfrm xmlns:a="http://schemas.openxmlformats.org/drawingml/2006/main">
            <a:off x="7086600" y="2657475"/>
            <a:ext cx="4057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17211B"/>
                </a:solidFill>
              </a:defRPr>
            </a:pPr>
            <a:r>
              <a:rPr sz="1350" b="0" i="0">
                <a:solidFill>
                  <a:srgbClr val="17211B"/>
                </a:solidFill>
              </a:rPr>
              <a:t>Summary totals</a:t>
            </a:r>
          </a:p>
        </p:txBody>
      </p:sp>
      <p:sp>
        <p:nvSpPr>
          <p:cNvPr id="26" name="">
            <a:extLst xmlns:a="http://schemas.openxmlformats.org/drawingml/2006/main">
              <a:ext uri="{FF2B5EF4-FFF2-40B4-BE49-F238E27FC236}">
                <a16:creationId xmlns:a16="http://schemas.microsoft.com/office/drawing/2014/main" id="{1F22D140-4DBA-4125-B188-9D411B8559EC}"/>
              </a:ext>
            </a:extLst>
          </p:cNvPr>
          <p:cNvSpPr>
            <a:spLocks xmlns:a="http://schemas.openxmlformats.org/drawingml/2006/main" noGrp="1"/>
          </p:cNvSpPr>
          <p:nvPr/>
        </p:nvSpPr>
        <p:spPr>
          <a:xfrm xmlns:a="http://schemas.openxmlformats.org/drawingml/2006/main">
            <a:off x="6858000" y="3209925"/>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0389A4C-9FF7-4746-8A11-0F6D480139B7}"/>
              </a:ext>
            </a:extLst>
          </p:cNvPr>
          <p:cNvSpPr>
            <a:spLocks xmlns:a="http://schemas.openxmlformats.org/drawingml/2006/main" noGrp="1"/>
          </p:cNvSpPr>
          <p:nvPr/>
        </p:nvSpPr>
        <p:spPr>
          <a:xfrm xmlns:a="http://schemas.openxmlformats.org/drawingml/2006/main">
            <a:off x="7086600" y="3133725"/>
            <a:ext cx="4057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17211B"/>
                </a:solidFill>
              </a:defRPr>
            </a:pPr>
            <a:r>
              <a:rPr sz="1350" b="0" i="0">
                <a:solidFill>
                  <a:srgbClr val="17211B"/>
                </a:solidFill>
              </a:rPr>
              <a:t>Recognition</a:t>
            </a:r>
          </a:p>
        </p:txBody>
      </p:sp>
      <p:sp>
        <p:nvSpPr>
          <p:cNvPr id="28" name="">
            <a:extLst xmlns:a="http://schemas.openxmlformats.org/drawingml/2006/main">
              <a:ext uri="{FF2B5EF4-FFF2-40B4-BE49-F238E27FC236}">
                <a16:creationId xmlns:a16="http://schemas.microsoft.com/office/drawing/2014/main" id="{223AD268-6AE1-4747-8E1B-35F3B53AB2DF}"/>
              </a:ext>
            </a:extLst>
          </p:cNvPr>
          <p:cNvSpPr>
            <a:spLocks xmlns:a="http://schemas.openxmlformats.org/drawingml/2006/main" noGrp="1"/>
          </p:cNvSpPr>
          <p:nvPr/>
        </p:nvSpPr>
        <p:spPr>
          <a:xfrm xmlns:a="http://schemas.openxmlformats.org/drawingml/2006/main">
            <a:off x="6858000" y="3686175"/>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39BE2F0-B18A-4F7A-9712-431C84A5A77D}"/>
              </a:ext>
            </a:extLst>
          </p:cNvPr>
          <p:cNvSpPr>
            <a:spLocks xmlns:a="http://schemas.openxmlformats.org/drawingml/2006/main" noGrp="1"/>
          </p:cNvSpPr>
          <p:nvPr/>
        </p:nvSpPr>
        <p:spPr>
          <a:xfrm xmlns:a="http://schemas.openxmlformats.org/drawingml/2006/main">
            <a:off x="7086600" y="3609975"/>
            <a:ext cx="4057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17211B"/>
                </a:solidFill>
              </a:defRPr>
            </a:pPr>
            <a:r>
              <a:rPr sz="1350" b="0" i="0">
                <a:solidFill>
                  <a:srgbClr val="17211B"/>
                </a:solidFill>
              </a:rPr>
              <a:t>Leadership</a:t>
            </a:r>
          </a:p>
        </p:txBody>
      </p:sp>
      <p:sp>
        <p:nvSpPr>
          <p:cNvPr id="30" name="">
            <a:extLst xmlns:a="http://schemas.openxmlformats.org/drawingml/2006/main">
              <a:ext uri="{FF2B5EF4-FFF2-40B4-BE49-F238E27FC236}">
                <a16:creationId xmlns:a16="http://schemas.microsoft.com/office/drawing/2014/main" id="{81969FA7-C1A3-4983-8A41-7B95FA9934C4}"/>
              </a:ext>
            </a:extLst>
          </p:cNvPr>
          <p:cNvSpPr>
            <a:spLocks xmlns:a="http://schemas.openxmlformats.org/drawingml/2006/main" noGrp="1"/>
          </p:cNvSpPr>
          <p:nvPr/>
        </p:nvSpPr>
        <p:spPr>
          <a:xfrm xmlns:a="http://schemas.openxmlformats.org/drawingml/2006/main">
            <a:off x="6858000" y="4162425"/>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C728C19-8C97-4137-82DE-AE8212BB0973}"/>
              </a:ext>
            </a:extLst>
          </p:cNvPr>
          <p:cNvSpPr>
            <a:spLocks xmlns:a="http://schemas.openxmlformats.org/drawingml/2006/main" noGrp="1"/>
          </p:cNvSpPr>
          <p:nvPr/>
        </p:nvSpPr>
        <p:spPr>
          <a:xfrm xmlns:a="http://schemas.openxmlformats.org/drawingml/2006/main">
            <a:off x="7086600" y="4086225"/>
            <a:ext cx="4057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17211B"/>
                </a:solidFill>
              </a:defRPr>
            </a:pPr>
            <a:r>
              <a:rPr sz="1350" b="0" i="0">
                <a:solidFill>
                  <a:srgbClr val="17211B"/>
                </a:solidFill>
              </a:rPr>
              <a:t>Governance functions</a:t>
            </a:r>
          </a:p>
        </p:txBody>
      </p:sp>
      <p:sp>
        <p:nvSpPr>
          <p:cNvPr id="32" name="">
            <a:extLst xmlns:a="http://schemas.openxmlformats.org/drawingml/2006/main">
              <a:ext uri="{FF2B5EF4-FFF2-40B4-BE49-F238E27FC236}">
                <a16:creationId xmlns:a16="http://schemas.microsoft.com/office/drawing/2014/main" id="{3FCA9352-F787-4DA6-8989-4358305FD456}"/>
              </a:ext>
            </a:extLst>
          </p:cNvPr>
          <p:cNvSpPr>
            <a:spLocks xmlns:a="http://schemas.openxmlformats.org/drawingml/2006/main" noGrp="1"/>
          </p:cNvSpPr>
          <p:nvPr/>
        </p:nvSpPr>
        <p:spPr>
          <a:xfrm xmlns:a="http://schemas.openxmlformats.org/drawingml/2006/main">
            <a:off x="6858000" y="4638675"/>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AAAD0E2-8DD0-4DC6-A88C-AD574C5B203B}"/>
              </a:ext>
            </a:extLst>
          </p:cNvPr>
          <p:cNvSpPr>
            <a:spLocks xmlns:a="http://schemas.openxmlformats.org/drawingml/2006/main" noGrp="1"/>
          </p:cNvSpPr>
          <p:nvPr/>
        </p:nvSpPr>
        <p:spPr>
          <a:xfrm xmlns:a="http://schemas.openxmlformats.org/drawingml/2006/main">
            <a:off x="7086600" y="4562475"/>
            <a:ext cx="4057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17211B"/>
                </a:solidFill>
              </a:defRPr>
            </a:pPr>
            <a:r>
              <a:rPr sz="1350" b="0" i="0">
                <a:solidFill>
                  <a:srgbClr val="17211B"/>
                </a:solidFill>
              </a:rPr>
              <a:t>Geographic distribution</a:t>
            </a:r>
          </a:p>
        </p:txBody>
      </p:sp>
      <p:sp>
        <p:nvSpPr>
          <p:cNvPr id="34" name="">
            <a:extLst xmlns:a="http://schemas.openxmlformats.org/drawingml/2006/main">
              <a:ext uri="{FF2B5EF4-FFF2-40B4-BE49-F238E27FC236}">
                <a16:creationId xmlns:a16="http://schemas.microsoft.com/office/drawing/2014/main" id="{59286484-9FF9-4507-AA53-11297EE84238}"/>
              </a:ext>
            </a:extLst>
          </p:cNvPr>
          <p:cNvSpPr>
            <a:spLocks xmlns:a="http://schemas.openxmlformats.org/drawingml/2006/main" noGrp="1"/>
          </p:cNvSpPr>
          <p:nvPr/>
        </p:nvSpPr>
        <p:spPr>
          <a:xfrm xmlns:a="http://schemas.openxmlformats.org/drawingml/2006/main">
            <a:off x="6858000" y="5114925"/>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8CCA50B9-B844-48CA-A35E-610566771C6F}"/>
              </a:ext>
            </a:extLst>
          </p:cNvPr>
          <p:cNvSpPr>
            <a:spLocks xmlns:a="http://schemas.openxmlformats.org/drawingml/2006/main" noGrp="1"/>
          </p:cNvSpPr>
          <p:nvPr/>
        </p:nvSpPr>
        <p:spPr>
          <a:xfrm xmlns:a="http://schemas.openxmlformats.org/drawingml/2006/main">
            <a:off x="7086600" y="5038725"/>
            <a:ext cx="4057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17211B"/>
                </a:solidFill>
              </a:defRPr>
            </a:pPr>
            <a:r>
              <a:rPr sz="1350" b="0" i="0">
                <a:solidFill>
                  <a:srgbClr val="17211B"/>
                </a:solidFill>
              </a:rPr>
              <a:t>Largest groups and top countries</a:t>
            </a:r>
          </a:p>
        </p:txBody>
      </p:sp>
      <p:sp>
        <p:nvSpPr>
          <p:cNvPr id="36" name="">
            <a:extLst xmlns:a="http://schemas.openxmlformats.org/drawingml/2006/main">
              <a:ext uri="{FF2B5EF4-FFF2-40B4-BE49-F238E27FC236}">
                <a16:creationId xmlns:a16="http://schemas.microsoft.com/office/drawing/2014/main" id="{503C5033-5C85-48EA-AEA3-D5CA09A47977}"/>
              </a:ext>
            </a:extLst>
          </p:cNvPr>
          <p:cNvSpPr>
            <a:spLocks xmlns:a="http://schemas.openxmlformats.org/drawingml/2006/main" noGrp="1"/>
          </p:cNvSpPr>
          <p:nvPr/>
        </p:nvSpPr>
        <p:spPr>
          <a:xfrm xmlns:a="http://schemas.openxmlformats.org/drawingml/2006/main">
            <a:off x="6838950" y="5638800"/>
            <a:ext cx="4191000" cy="419100"/>
          </a:xfrm>
          <a:prstGeom xmlns:a="http://schemas.openxmlformats.org/drawingml/2006/main" prst="roundRect">
            <a:avLst>
              <a:gd name="adj" fmla="val 18182"/>
            </a:avLst>
          </a:prstGeom>
          <a:solidFill xmlns:a="http://schemas.openxmlformats.org/drawingml/2006/main">
            <a:srgbClr val="C8A96A"/>
          </a:solidFill>
          <a:ln xmlns:a="http://schemas.openxmlformats.org/drawingml/2006/main" w="0">
            <a:solidFill>
              <a:srgbClr val="C8A96A"/>
            </a:solidFill>
            <a:prstDash val="solid"/>
          </a:ln>
        </p:spPr>
      </p:sp>
      <p:sp>
        <p:nvSpPr>
          <p:cNvPr id="37" name="">
            <a:extLst xmlns:a="http://schemas.openxmlformats.org/drawingml/2006/main">
              <a:ext uri="{FF2B5EF4-FFF2-40B4-BE49-F238E27FC236}">
                <a16:creationId xmlns:a16="http://schemas.microsoft.com/office/drawing/2014/main" id="{8BE2A446-0262-44EF-BA0A-0EEBD5AF9DAD}"/>
              </a:ext>
            </a:extLst>
          </p:cNvPr>
          <p:cNvSpPr>
            <a:spLocks xmlns:a="http://schemas.openxmlformats.org/drawingml/2006/main" noGrp="1"/>
          </p:cNvSpPr>
          <p:nvPr/>
        </p:nvSpPr>
        <p:spPr>
          <a:xfrm xmlns:a="http://schemas.openxmlformats.org/drawingml/2006/main">
            <a:off x="6838950" y="5743575"/>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0B2A1D"/>
                </a:solidFill>
              </a:defRPr>
            </a:pPr>
            <a:r>
              <a:rPr sz="1200" b="1" i="0">
                <a:solidFill>
                  <a:srgbClr val="0B2A1D"/>
                </a:solidFill>
              </a:rPr>
              <a:t>One request keeps the dashboard consistent.</a:t>
            </a:r>
          </a:p>
        </p:txBody>
      </p:sp>
    </p:spTree>
    <p:extLst>
      <p:ext uri="{BB962C8B-B14F-4D97-AF65-F5344CB8AC3E}">
        <p14:creationId xmlns:p14="http://schemas.microsoft.com/office/powerpoint/2010/main" val="1580700918"/>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51E0B6EB-E056-4980-BAF2-65116376B53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AE5EBE2-ED1D-4098-A7DA-2F7D322A2398}"/>
              </a:ext>
            </a:extLst>
          </p:cNvPr>
          <p:cNvSpPr>
            <a:spLocks xmlns:a="http://schemas.openxmlformats.org/drawingml/2006/main" noGrp="1"/>
          </p:cNvSpPr>
          <p:nvPr/>
        </p:nvSpPr>
        <p:spPr>
          <a:xfrm xmlns:a="http://schemas.openxmlformats.org/drawingml/2006/main">
            <a:off x="609600" y="523875"/>
            <a:ext cx="66675" cy="476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F2F9008-28CF-4884-BFB8-1F176E380716}"/>
              </a:ext>
            </a:extLst>
          </p:cNvPr>
          <p:cNvSpPr>
            <a:spLocks xmlns:a="http://schemas.openxmlformats.org/drawingml/2006/main" noGrp="1"/>
          </p:cNvSpPr>
          <p:nvPr/>
        </p:nvSpPr>
        <p:spPr>
          <a:xfrm xmlns:a="http://schemas.openxmlformats.org/drawingml/2006/main">
            <a:off x="838200" y="4572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A96A"/>
                </a:solidFill>
              </a:defRPr>
            </a:pPr>
            <a:r>
              <a:rPr sz="975" b="1" i="0">
                <a:solidFill>
                  <a:srgbClr val="C8A96A"/>
                </a:solidFill>
              </a:rPr>
              <a:t>DATABASE WORK</a:t>
            </a:r>
          </a:p>
        </p:txBody>
      </p:sp>
      <p:sp>
        <p:nvSpPr>
          <p:cNvPr id="4" name="">
            <a:extLst xmlns:a="http://schemas.openxmlformats.org/drawingml/2006/main">
              <a:ext uri="{FF2B5EF4-FFF2-40B4-BE49-F238E27FC236}">
                <a16:creationId xmlns:a16="http://schemas.microsoft.com/office/drawing/2014/main" id="{ACEE35F1-EE89-430B-81F9-9F019BBD14CA}"/>
              </a:ext>
            </a:extLst>
          </p:cNvPr>
          <p:cNvSpPr>
            <a:spLocks xmlns:a="http://schemas.openxmlformats.org/drawingml/2006/main" noGrp="1"/>
          </p:cNvSpPr>
          <p:nvPr/>
        </p:nvSpPr>
        <p:spPr>
          <a:xfrm xmlns:a="http://schemas.openxmlformats.org/drawingml/2006/main">
            <a:off x="838200" y="65722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524"/>
                </a:solidFill>
              </a:defRPr>
            </a:pPr>
            <a:r>
              <a:rPr sz="2700" b="1" i="0">
                <a:solidFill>
                  <a:srgbClr val="123524"/>
                </a:solidFill>
              </a:rPr>
              <a:t>MySQL performs the filtering and aggregation</a:t>
            </a:r>
          </a:p>
        </p:txBody>
      </p:sp>
      <p:pic>
        <p:nvPicPr>
          <p:cNvPr id="65" name=""/>
          <p:cNvPicPr>
            <a:picLocks xmlns:a="http://schemas.openxmlformats.org/drawingml/2006/main" noChangeAspect="1"/>
          </p:cNvPicPr>
          <p:nvPr/>
        </p:nvPicPr>
        <p:blipFill>
          <a:blip xmlns:r="http://schemas.openxmlformats.org/officeDocument/2006/relationships" xmlns:a="http://schemas.openxmlformats.org/drawingml/2006/main" r:embed="Rdc16b352029e4a72"/>
          <a:stretch xmlns:a="http://schemas.openxmlformats.org/drawingml/2006/main"/>
        </p:blipFill>
        <p:spPr>
          <a:xfrm xmlns:a="http://schemas.openxmlformats.org/drawingml/2006/main">
            <a:off x="11125200" y="428625"/>
            <a:ext cx="495300" cy="495300"/>
          </a:xfrm>
          <a:prstGeom xmlns:a="http://schemas.openxmlformats.org/drawingml/2006/main" prst="roundRect">
            <a:avLst>
              <a:gd name="adj" fmla="val 23077"/>
            </a:avLst>
          </a:prstGeom>
        </p:spPr>
      </p:pic>
      <p:sp>
        <p:nvSpPr>
          <p:cNvPr id="6" name="">
            <a:extLst xmlns:a="http://schemas.openxmlformats.org/drawingml/2006/main">
              <a:ext uri="{FF2B5EF4-FFF2-40B4-BE49-F238E27FC236}">
                <a16:creationId xmlns:a16="http://schemas.microsoft.com/office/drawing/2014/main" id="{AEC4C0E4-741A-4098-AF1F-EE2669EF589B}"/>
              </a:ext>
            </a:extLst>
          </p:cNvPr>
          <p:cNvSpPr>
            <a:spLocks xmlns:a="http://schemas.openxmlformats.org/drawingml/2006/main" noGrp="1"/>
          </p:cNvSpPr>
          <p:nvPr/>
        </p:nvSpPr>
        <p:spPr>
          <a:xfrm xmlns:a="http://schemas.openxmlformats.org/drawingml/2006/main">
            <a:off x="609600" y="6457950"/>
            <a:ext cx="10972800" cy="9525"/>
          </a:xfrm>
          <a:prstGeom xmlns:a="http://schemas.openxmlformats.org/drawingml/2006/main" prst="rect">
            <a:avLst/>
          </a:prstGeom>
          <a:solidFill xmlns:a="http://schemas.openxmlformats.org/drawingml/2006/main">
            <a:srgbClr val="DCDDD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C17C98E-DC68-47B5-BAC1-8B37B38E242A}"/>
              </a:ext>
            </a:extLst>
          </p:cNvPr>
          <p:cNvSpPr>
            <a:spLocks xmlns:a="http://schemas.openxmlformats.org/drawingml/2006/main" noGrp="1"/>
          </p:cNvSpPr>
          <p:nvPr/>
        </p:nvSpPr>
        <p:spPr>
          <a:xfrm xmlns:a="http://schemas.openxmlformats.org/drawingml/2006/main">
            <a:off x="609600" y="6543675"/>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66736B"/>
                </a:solidFill>
              </a:defRPr>
            </a:pPr>
            <a:r>
              <a:rPr sz="825" b="0" i="0">
                <a:solidFill>
                  <a:srgbClr val="66736B"/>
                </a:solidFill>
              </a:rPr>
              <a:t>Traditional Governance  •  Interactive Statistics</a:t>
            </a:r>
          </a:p>
        </p:txBody>
      </p:sp>
      <p:sp>
        <p:nvSpPr>
          <p:cNvPr id="8" name="">
            <a:extLst xmlns:a="http://schemas.openxmlformats.org/drawingml/2006/main">
              <a:ext uri="{FF2B5EF4-FFF2-40B4-BE49-F238E27FC236}">
                <a16:creationId xmlns:a16="http://schemas.microsoft.com/office/drawing/2014/main" id="{CBCEC13C-B2A1-4291-BB3D-B490CDC30D0E}"/>
              </a:ext>
            </a:extLst>
          </p:cNvPr>
          <p:cNvSpPr>
            <a:spLocks xmlns:a="http://schemas.openxmlformats.org/drawingml/2006/main" noGrp="1"/>
          </p:cNvSpPr>
          <p:nvPr/>
        </p:nvSpPr>
        <p:spPr>
          <a:xfrm xmlns:a="http://schemas.openxmlformats.org/drawingml/2006/main">
            <a:off x="11068050" y="65246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123524"/>
                </a:solidFill>
              </a:defRPr>
            </a:pPr>
            <a:r>
              <a:rPr sz="900" b="1" i="0">
                <a:solidFill>
                  <a:srgbClr val="123524"/>
                </a:solidFill>
              </a:rPr>
              <a:t>07</a:t>
            </a:r>
          </a:p>
        </p:txBody>
      </p:sp>
      <p:sp>
        <p:nvSpPr>
          <p:cNvPr id="9" name="">
            <a:extLst xmlns:a="http://schemas.openxmlformats.org/drawingml/2006/main">
              <a:ext uri="{FF2B5EF4-FFF2-40B4-BE49-F238E27FC236}">
                <a16:creationId xmlns:a16="http://schemas.microsoft.com/office/drawing/2014/main" id="{ACCDF58E-C031-491D-A360-63A37F803BC0}"/>
              </a:ext>
            </a:extLst>
          </p:cNvPr>
          <p:cNvSpPr>
            <a:spLocks xmlns:a="http://schemas.openxmlformats.org/drawingml/2006/main" noGrp="1"/>
          </p:cNvSpPr>
          <p:nvPr/>
        </p:nvSpPr>
        <p:spPr>
          <a:xfrm xmlns:a="http://schemas.openxmlformats.org/drawingml/2006/main">
            <a:off x="666750" y="1495425"/>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23524"/>
                </a:solidFill>
              </a:defRPr>
            </a:pPr>
            <a:r>
              <a:rPr sz="1800" b="1" i="0">
                <a:solidFill>
                  <a:srgbClr val="123524"/>
                </a:solidFill>
              </a:rPr>
              <a:t>Calculated in MySQL</a:t>
            </a:r>
          </a:p>
        </p:txBody>
      </p:sp>
      <p:sp>
        <p:nvSpPr>
          <p:cNvPr id="10" name="">
            <a:extLst xmlns:a="http://schemas.openxmlformats.org/drawingml/2006/main">
              <a:ext uri="{FF2B5EF4-FFF2-40B4-BE49-F238E27FC236}">
                <a16:creationId xmlns:a16="http://schemas.microsoft.com/office/drawing/2014/main" id="{D17848AC-F653-48C0-9622-21AF99E928CA}"/>
              </a:ext>
            </a:extLst>
          </p:cNvPr>
          <p:cNvSpPr>
            <a:spLocks xmlns:a="http://schemas.openxmlformats.org/drawingml/2006/main" noGrp="1"/>
          </p:cNvSpPr>
          <p:nvPr/>
        </p:nvSpPr>
        <p:spPr>
          <a:xfrm xmlns:a="http://schemas.openxmlformats.org/drawingml/2006/main">
            <a:off x="723900" y="2028825"/>
            <a:ext cx="400050" cy="40005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496CDD9-A156-4DED-ABA0-813A6BEB49ED}"/>
              </a:ext>
            </a:extLst>
          </p:cNvPr>
          <p:cNvSpPr>
            <a:spLocks xmlns:a="http://schemas.openxmlformats.org/drawingml/2006/main" noGrp="1"/>
          </p:cNvSpPr>
          <p:nvPr/>
        </p:nvSpPr>
        <p:spPr>
          <a:xfrm xmlns:a="http://schemas.openxmlformats.org/drawingml/2006/main">
            <a:off x="723900" y="21145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a:t>
            </a:r>
          </a:p>
        </p:txBody>
      </p:sp>
      <p:sp>
        <p:nvSpPr>
          <p:cNvPr id="12" name="">
            <a:extLst xmlns:a="http://schemas.openxmlformats.org/drawingml/2006/main">
              <a:ext uri="{FF2B5EF4-FFF2-40B4-BE49-F238E27FC236}">
                <a16:creationId xmlns:a16="http://schemas.microsoft.com/office/drawing/2014/main" id="{6AEF9870-51D8-4BAE-9F98-77E8A62E7884}"/>
              </a:ext>
            </a:extLst>
          </p:cNvPr>
          <p:cNvSpPr>
            <a:spLocks xmlns:a="http://schemas.openxmlformats.org/drawingml/2006/main" noGrp="1"/>
          </p:cNvSpPr>
          <p:nvPr/>
        </p:nvSpPr>
        <p:spPr>
          <a:xfrm xmlns:a="http://schemas.openxmlformats.org/drawingml/2006/main">
            <a:off x="1314450" y="20764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7211B"/>
                </a:solidFill>
              </a:defRPr>
            </a:pPr>
            <a:r>
              <a:rPr sz="1500" b="1" i="0">
                <a:solidFill>
                  <a:srgbClr val="17211B"/>
                </a:solidFill>
              </a:rPr>
              <a:t>Recognition</a:t>
            </a:r>
          </a:p>
        </p:txBody>
      </p:sp>
      <p:sp>
        <p:nvSpPr>
          <p:cNvPr id="13" name="">
            <a:extLst xmlns:a="http://schemas.openxmlformats.org/drawingml/2006/main">
              <a:ext uri="{FF2B5EF4-FFF2-40B4-BE49-F238E27FC236}">
                <a16:creationId xmlns:a16="http://schemas.microsoft.com/office/drawing/2014/main" id="{16166B70-17E2-4986-B9DA-17D75FD040DF}"/>
              </a:ext>
            </a:extLst>
          </p:cNvPr>
          <p:cNvSpPr>
            <a:spLocks xmlns:a="http://schemas.openxmlformats.org/drawingml/2006/main" noGrp="1"/>
          </p:cNvSpPr>
          <p:nvPr/>
        </p:nvSpPr>
        <p:spPr>
          <a:xfrm xmlns:a="http://schemas.openxmlformats.org/drawingml/2006/main">
            <a:off x="723900" y="2695575"/>
            <a:ext cx="400050" cy="400050"/>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A0B955E-8A2E-4228-B530-EE8A63E8E5F3}"/>
              </a:ext>
            </a:extLst>
          </p:cNvPr>
          <p:cNvSpPr>
            <a:spLocks xmlns:a="http://schemas.openxmlformats.org/drawingml/2006/main" noGrp="1"/>
          </p:cNvSpPr>
          <p:nvPr/>
        </p:nvSpPr>
        <p:spPr>
          <a:xfrm xmlns:a="http://schemas.openxmlformats.org/drawingml/2006/main">
            <a:off x="723900" y="27813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0B2A1D"/>
                </a:solidFill>
              </a:defRPr>
            </a:pPr>
            <a:r>
              <a:rPr sz="1275" b="1" i="0">
                <a:solidFill>
                  <a:srgbClr val="0B2A1D"/>
                </a:solidFill>
              </a:rPr>
              <a:t>✓</a:t>
            </a:r>
          </a:p>
        </p:txBody>
      </p:sp>
      <p:sp>
        <p:nvSpPr>
          <p:cNvPr id="15" name="">
            <a:extLst xmlns:a="http://schemas.openxmlformats.org/drawingml/2006/main">
              <a:ext uri="{FF2B5EF4-FFF2-40B4-BE49-F238E27FC236}">
                <a16:creationId xmlns:a16="http://schemas.microsoft.com/office/drawing/2014/main" id="{58C24684-EDBE-46EB-95E0-94E1C4DC426D}"/>
              </a:ext>
            </a:extLst>
          </p:cNvPr>
          <p:cNvSpPr>
            <a:spLocks xmlns:a="http://schemas.openxmlformats.org/drawingml/2006/main" noGrp="1"/>
          </p:cNvSpPr>
          <p:nvPr/>
        </p:nvSpPr>
        <p:spPr>
          <a:xfrm xmlns:a="http://schemas.openxmlformats.org/drawingml/2006/main">
            <a:off x="1314450" y="27432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7211B"/>
                </a:solidFill>
              </a:defRPr>
            </a:pPr>
            <a:r>
              <a:rPr sz="1500" b="1" i="0">
                <a:solidFill>
                  <a:srgbClr val="17211B"/>
                </a:solidFill>
              </a:rPr>
              <a:t>Leadership</a:t>
            </a:r>
          </a:p>
        </p:txBody>
      </p:sp>
      <p:sp>
        <p:nvSpPr>
          <p:cNvPr id="16" name="">
            <a:extLst xmlns:a="http://schemas.openxmlformats.org/drawingml/2006/main">
              <a:ext uri="{FF2B5EF4-FFF2-40B4-BE49-F238E27FC236}">
                <a16:creationId xmlns:a16="http://schemas.microsoft.com/office/drawing/2014/main" id="{D2EC8861-87B3-4DC4-8379-6FE0BDFDE2BF}"/>
              </a:ext>
            </a:extLst>
          </p:cNvPr>
          <p:cNvSpPr>
            <a:spLocks xmlns:a="http://schemas.openxmlformats.org/drawingml/2006/main" noGrp="1"/>
          </p:cNvSpPr>
          <p:nvPr/>
        </p:nvSpPr>
        <p:spPr>
          <a:xfrm xmlns:a="http://schemas.openxmlformats.org/drawingml/2006/main">
            <a:off x="723900" y="3362325"/>
            <a:ext cx="400050" cy="40005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0DF49C8-2F10-4416-BB9D-8C483143C6D1}"/>
              </a:ext>
            </a:extLst>
          </p:cNvPr>
          <p:cNvSpPr>
            <a:spLocks xmlns:a="http://schemas.openxmlformats.org/drawingml/2006/main" noGrp="1"/>
          </p:cNvSpPr>
          <p:nvPr/>
        </p:nvSpPr>
        <p:spPr>
          <a:xfrm xmlns:a="http://schemas.openxmlformats.org/drawingml/2006/main">
            <a:off x="723900" y="34480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a:t>
            </a:r>
          </a:p>
        </p:txBody>
      </p:sp>
      <p:sp>
        <p:nvSpPr>
          <p:cNvPr id="18" name="">
            <a:extLst xmlns:a="http://schemas.openxmlformats.org/drawingml/2006/main">
              <a:ext uri="{FF2B5EF4-FFF2-40B4-BE49-F238E27FC236}">
                <a16:creationId xmlns:a16="http://schemas.microsoft.com/office/drawing/2014/main" id="{5CE7543B-9A47-43DF-8CD1-075A7CD03E93}"/>
              </a:ext>
            </a:extLst>
          </p:cNvPr>
          <p:cNvSpPr>
            <a:spLocks xmlns:a="http://schemas.openxmlformats.org/drawingml/2006/main" noGrp="1"/>
          </p:cNvSpPr>
          <p:nvPr/>
        </p:nvSpPr>
        <p:spPr>
          <a:xfrm xmlns:a="http://schemas.openxmlformats.org/drawingml/2006/main">
            <a:off x="1314450" y="34099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7211B"/>
                </a:solidFill>
              </a:defRPr>
            </a:pPr>
            <a:r>
              <a:rPr sz="1500" b="1" i="0">
                <a:solidFill>
                  <a:srgbClr val="17211B"/>
                </a:solidFill>
              </a:rPr>
              <a:t>Governance functions</a:t>
            </a:r>
          </a:p>
        </p:txBody>
      </p:sp>
      <p:sp>
        <p:nvSpPr>
          <p:cNvPr id="19" name="">
            <a:extLst xmlns:a="http://schemas.openxmlformats.org/drawingml/2006/main">
              <a:ext uri="{FF2B5EF4-FFF2-40B4-BE49-F238E27FC236}">
                <a16:creationId xmlns:a16="http://schemas.microsoft.com/office/drawing/2014/main" id="{781290AE-6BCF-4B95-9263-98626083F0B6}"/>
              </a:ext>
            </a:extLst>
          </p:cNvPr>
          <p:cNvSpPr>
            <a:spLocks xmlns:a="http://schemas.openxmlformats.org/drawingml/2006/main" noGrp="1"/>
          </p:cNvSpPr>
          <p:nvPr/>
        </p:nvSpPr>
        <p:spPr>
          <a:xfrm xmlns:a="http://schemas.openxmlformats.org/drawingml/2006/main">
            <a:off x="723900" y="4029075"/>
            <a:ext cx="400050" cy="400050"/>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A0840ED-D992-4479-8BC1-A06A7A815D94}"/>
              </a:ext>
            </a:extLst>
          </p:cNvPr>
          <p:cNvSpPr>
            <a:spLocks xmlns:a="http://schemas.openxmlformats.org/drawingml/2006/main" noGrp="1"/>
          </p:cNvSpPr>
          <p:nvPr/>
        </p:nvSpPr>
        <p:spPr>
          <a:xfrm xmlns:a="http://schemas.openxmlformats.org/drawingml/2006/main">
            <a:off x="723900" y="41148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0B2A1D"/>
                </a:solidFill>
              </a:defRPr>
            </a:pPr>
            <a:r>
              <a:rPr sz="1275" b="1" i="0">
                <a:solidFill>
                  <a:srgbClr val="0B2A1D"/>
                </a:solidFill>
              </a:rPr>
              <a:t>✓</a:t>
            </a:r>
          </a:p>
        </p:txBody>
      </p:sp>
      <p:sp>
        <p:nvSpPr>
          <p:cNvPr id="21" name="">
            <a:extLst xmlns:a="http://schemas.openxmlformats.org/drawingml/2006/main">
              <a:ext uri="{FF2B5EF4-FFF2-40B4-BE49-F238E27FC236}">
                <a16:creationId xmlns:a16="http://schemas.microsoft.com/office/drawing/2014/main" id="{BCB0893E-9024-481D-9367-08897339D045}"/>
              </a:ext>
            </a:extLst>
          </p:cNvPr>
          <p:cNvSpPr>
            <a:spLocks xmlns:a="http://schemas.openxmlformats.org/drawingml/2006/main" noGrp="1"/>
          </p:cNvSpPr>
          <p:nvPr/>
        </p:nvSpPr>
        <p:spPr>
          <a:xfrm xmlns:a="http://schemas.openxmlformats.org/drawingml/2006/main">
            <a:off x="1314450" y="40767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7211B"/>
                </a:solidFill>
              </a:defRPr>
            </a:pPr>
            <a:r>
              <a:rPr sz="1500" b="1" i="0">
                <a:solidFill>
                  <a:srgbClr val="17211B"/>
                </a:solidFill>
              </a:rPr>
              <a:t>Largest groups</a:t>
            </a:r>
          </a:p>
        </p:txBody>
      </p:sp>
      <p:sp>
        <p:nvSpPr>
          <p:cNvPr id="22" name="">
            <a:extLst xmlns:a="http://schemas.openxmlformats.org/drawingml/2006/main">
              <a:ext uri="{FF2B5EF4-FFF2-40B4-BE49-F238E27FC236}">
                <a16:creationId xmlns:a16="http://schemas.microsoft.com/office/drawing/2014/main" id="{FD0C3B59-37B7-48EF-8C2F-F1009440F706}"/>
              </a:ext>
            </a:extLst>
          </p:cNvPr>
          <p:cNvSpPr>
            <a:spLocks xmlns:a="http://schemas.openxmlformats.org/drawingml/2006/main" noGrp="1"/>
          </p:cNvSpPr>
          <p:nvPr/>
        </p:nvSpPr>
        <p:spPr>
          <a:xfrm xmlns:a="http://schemas.openxmlformats.org/drawingml/2006/main">
            <a:off x="723900" y="4695825"/>
            <a:ext cx="400050" cy="40005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8BE7A84-448B-4699-A6B1-B4CF022404B4}"/>
              </a:ext>
            </a:extLst>
          </p:cNvPr>
          <p:cNvSpPr>
            <a:spLocks xmlns:a="http://schemas.openxmlformats.org/drawingml/2006/main" noGrp="1"/>
          </p:cNvSpPr>
          <p:nvPr/>
        </p:nvSpPr>
        <p:spPr>
          <a:xfrm xmlns:a="http://schemas.openxmlformats.org/drawingml/2006/main">
            <a:off x="723900" y="478155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FFFFFF"/>
                </a:solidFill>
              </a:defRPr>
            </a:pPr>
            <a:r>
              <a:rPr sz="1275" b="1" i="0">
                <a:solidFill>
                  <a:srgbClr val="FFFFFF"/>
                </a:solidFill>
              </a:rPr>
              <a:t>✓</a:t>
            </a:r>
          </a:p>
        </p:txBody>
      </p:sp>
      <p:sp>
        <p:nvSpPr>
          <p:cNvPr id="24" name="">
            <a:extLst xmlns:a="http://schemas.openxmlformats.org/drawingml/2006/main">
              <a:ext uri="{FF2B5EF4-FFF2-40B4-BE49-F238E27FC236}">
                <a16:creationId xmlns:a16="http://schemas.microsoft.com/office/drawing/2014/main" id="{D4B62CD0-4480-4829-8A04-E15BF3983659}"/>
              </a:ext>
            </a:extLst>
          </p:cNvPr>
          <p:cNvSpPr>
            <a:spLocks xmlns:a="http://schemas.openxmlformats.org/drawingml/2006/main" noGrp="1"/>
          </p:cNvSpPr>
          <p:nvPr/>
        </p:nvSpPr>
        <p:spPr>
          <a:xfrm xmlns:a="http://schemas.openxmlformats.org/drawingml/2006/main">
            <a:off x="1314450" y="47434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7211B"/>
                </a:solidFill>
              </a:defRPr>
            </a:pPr>
            <a:r>
              <a:rPr sz="1500" b="1" i="0">
                <a:solidFill>
                  <a:srgbClr val="17211B"/>
                </a:solidFill>
              </a:rPr>
              <a:t>Top countries</a:t>
            </a:r>
          </a:p>
        </p:txBody>
      </p:sp>
      <p:sp>
        <p:nvSpPr>
          <p:cNvPr id="25" name="">
            <a:extLst xmlns:a="http://schemas.openxmlformats.org/drawingml/2006/main">
              <a:ext uri="{FF2B5EF4-FFF2-40B4-BE49-F238E27FC236}">
                <a16:creationId xmlns:a16="http://schemas.microsoft.com/office/drawing/2014/main" id="{C706556C-12C8-4FA1-8FB5-52AD6AC4C73D}"/>
              </a:ext>
            </a:extLst>
          </p:cNvPr>
          <p:cNvSpPr>
            <a:spLocks xmlns:a="http://schemas.openxmlformats.org/drawingml/2006/main" noGrp="1"/>
          </p:cNvSpPr>
          <p:nvPr/>
        </p:nvSpPr>
        <p:spPr>
          <a:xfrm xmlns:a="http://schemas.openxmlformats.org/drawingml/2006/main">
            <a:off x="5048250" y="1466850"/>
            <a:ext cx="9525" cy="4476750"/>
          </a:xfrm>
          <a:prstGeom xmlns:a="http://schemas.openxmlformats.org/drawingml/2006/main" prst="rect">
            <a:avLst/>
          </a:prstGeom>
          <a:solidFill xmlns:a="http://schemas.openxmlformats.org/drawingml/2006/main">
            <a:srgbClr val="DCDDD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5F27AAC-1FB9-466B-B59B-912D857062EC}"/>
              </a:ext>
            </a:extLst>
          </p:cNvPr>
          <p:cNvSpPr>
            <a:spLocks xmlns:a="http://schemas.openxmlformats.org/drawingml/2006/main" noGrp="1"/>
          </p:cNvSpPr>
          <p:nvPr/>
        </p:nvSpPr>
        <p:spPr>
          <a:xfrm xmlns:a="http://schemas.openxmlformats.org/drawingml/2006/main">
            <a:off x="5505450" y="1495425"/>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23524"/>
                </a:solidFill>
              </a:defRPr>
            </a:pPr>
            <a:r>
              <a:rPr sz="1800" b="1" i="0">
                <a:solidFill>
                  <a:srgbClr val="123524"/>
                </a:solidFill>
              </a:rPr>
              <a:t>Indexes for repeated filter paths</a:t>
            </a:r>
          </a:p>
        </p:txBody>
      </p:sp>
      <p:sp>
        <p:nvSpPr>
          <p:cNvPr id="27" name="">
            <a:extLst xmlns:a="http://schemas.openxmlformats.org/drawingml/2006/main">
              <a:ext uri="{FF2B5EF4-FFF2-40B4-BE49-F238E27FC236}">
                <a16:creationId xmlns:a16="http://schemas.microsoft.com/office/drawing/2014/main" id="{2A5B2533-7748-4BC4-BB08-EA78EFE2F777}"/>
              </a:ext>
            </a:extLst>
          </p:cNvPr>
          <p:cNvSpPr>
            <a:spLocks xmlns:a="http://schemas.openxmlformats.org/drawingml/2006/main" noGrp="1"/>
          </p:cNvSpPr>
          <p:nvPr/>
        </p:nvSpPr>
        <p:spPr>
          <a:xfrm xmlns:a="http://schemas.openxmlformats.org/drawingml/2006/main">
            <a:off x="5505450" y="2076450"/>
            <a:ext cx="1314450" cy="41910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A98A664-6E66-40DA-9017-A554B17962F4}"/>
              </a:ext>
            </a:extLst>
          </p:cNvPr>
          <p:cNvSpPr>
            <a:spLocks xmlns:a="http://schemas.openxmlformats.org/drawingml/2006/main" noGrp="1"/>
          </p:cNvSpPr>
          <p:nvPr/>
        </p:nvSpPr>
        <p:spPr>
          <a:xfrm xmlns:a="http://schemas.openxmlformats.org/drawingml/2006/main">
            <a:off x="5562600" y="218122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Geography</a:t>
            </a:r>
          </a:p>
        </p:txBody>
      </p:sp>
      <p:sp>
        <p:nvSpPr>
          <p:cNvPr id="29" name="">
            <a:extLst xmlns:a="http://schemas.openxmlformats.org/drawingml/2006/main">
              <a:ext uri="{FF2B5EF4-FFF2-40B4-BE49-F238E27FC236}">
                <a16:creationId xmlns:a16="http://schemas.microsoft.com/office/drawing/2014/main" id="{2FF08B57-D3E9-4C13-96E1-9B6F7CCF6C5C}"/>
              </a:ext>
            </a:extLst>
          </p:cNvPr>
          <p:cNvSpPr>
            <a:spLocks xmlns:a="http://schemas.openxmlformats.org/drawingml/2006/main" noGrp="1"/>
          </p:cNvSpPr>
          <p:nvPr/>
        </p:nvSpPr>
        <p:spPr>
          <a:xfrm xmlns:a="http://schemas.openxmlformats.org/drawingml/2006/main">
            <a:off x="6896100" y="2076450"/>
            <a:ext cx="1162050" cy="41910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7FB1A1B-AB5E-4FCA-9650-6DF0E19B604D}"/>
              </a:ext>
            </a:extLst>
          </p:cNvPr>
          <p:cNvSpPr>
            <a:spLocks xmlns:a="http://schemas.openxmlformats.org/drawingml/2006/main" noGrp="1"/>
          </p:cNvSpPr>
          <p:nvPr/>
        </p:nvSpPr>
        <p:spPr>
          <a:xfrm xmlns:a="http://schemas.openxmlformats.org/drawingml/2006/main">
            <a:off x="6953250" y="21812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Base index</a:t>
            </a:r>
          </a:p>
        </p:txBody>
      </p:sp>
      <p:sp>
        <p:nvSpPr>
          <p:cNvPr id="31" name="">
            <a:extLst xmlns:a="http://schemas.openxmlformats.org/drawingml/2006/main">
              <a:ext uri="{FF2B5EF4-FFF2-40B4-BE49-F238E27FC236}">
                <a16:creationId xmlns:a16="http://schemas.microsoft.com/office/drawing/2014/main" id="{BE915F78-5F07-4354-853C-0C9856DB437B}"/>
              </a:ext>
            </a:extLst>
          </p:cNvPr>
          <p:cNvSpPr>
            <a:spLocks xmlns:a="http://schemas.openxmlformats.org/drawingml/2006/main" noGrp="1"/>
          </p:cNvSpPr>
          <p:nvPr/>
        </p:nvSpPr>
        <p:spPr>
          <a:xfrm xmlns:a="http://schemas.openxmlformats.org/drawingml/2006/main">
            <a:off x="8134350" y="2076450"/>
            <a:ext cx="1543050" cy="41910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D2415A6-860F-4A18-9AED-A959A5FDFFA0}"/>
              </a:ext>
            </a:extLst>
          </p:cNvPr>
          <p:cNvSpPr>
            <a:spLocks xmlns:a="http://schemas.openxmlformats.org/drawingml/2006/main" noGrp="1"/>
          </p:cNvSpPr>
          <p:nvPr/>
        </p:nvSpPr>
        <p:spPr>
          <a:xfrm xmlns:a="http://schemas.openxmlformats.org/drawingml/2006/main">
            <a:off x="8191500" y="21812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 Recognition</a:t>
            </a:r>
          </a:p>
        </p:txBody>
      </p:sp>
      <p:sp>
        <p:nvSpPr>
          <p:cNvPr id="33" name="">
            <a:extLst xmlns:a="http://schemas.openxmlformats.org/drawingml/2006/main">
              <a:ext uri="{FF2B5EF4-FFF2-40B4-BE49-F238E27FC236}">
                <a16:creationId xmlns:a16="http://schemas.microsoft.com/office/drawing/2014/main" id="{931AE738-22C5-4368-893B-9AD242C9A1B6}"/>
              </a:ext>
            </a:extLst>
          </p:cNvPr>
          <p:cNvSpPr>
            <a:spLocks xmlns:a="http://schemas.openxmlformats.org/drawingml/2006/main" noGrp="1"/>
          </p:cNvSpPr>
          <p:nvPr/>
        </p:nvSpPr>
        <p:spPr>
          <a:xfrm xmlns:a="http://schemas.openxmlformats.org/drawingml/2006/main">
            <a:off x="9753600" y="2076450"/>
            <a:ext cx="1428750" cy="41910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A8F4C635-D93C-4F12-A5C5-610CF141A25E}"/>
              </a:ext>
            </a:extLst>
          </p:cNvPr>
          <p:cNvSpPr>
            <a:spLocks xmlns:a="http://schemas.openxmlformats.org/drawingml/2006/main" noGrp="1"/>
          </p:cNvSpPr>
          <p:nvPr/>
        </p:nvSpPr>
        <p:spPr>
          <a:xfrm xmlns:a="http://schemas.openxmlformats.org/drawingml/2006/main">
            <a:off x="9810750" y="2181225"/>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 TPI</a:t>
            </a:r>
          </a:p>
        </p:txBody>
      </p:sp>
      <p:sp>
        <p:nvSpPr>
          <p:cNvPr id="35" name="">
            <a:extLst xmlns:a="http://schemas.openxmlformats.org/drawingml/2006/main">
              <a:ext uri="{FF2B5EF4-FFF2-40B4-BE49-F238E27FC236}">
                <a16:creationId xmlns:a16="http://schemas.microsoft.com/office/drawing/2014/main" id="{3FEC20F9-C640-4A8F-A768-C62A679D8CFA}"/>
              </a:ext>
            </a:extLst>
          </p:cNvPr>
          <p:cNvSpPr>
            <a:spLocks xmlns:a="http://schemas.openxmlformats.org/drawingml/2006/main" noGrp="1"/>
          </p:cNvSpPr>
          <p:nvPr/>
        </p:nvSpPr>
        <p:spPr>
          <a:xfrm xmlns:a="http://schemas.openxmlformats.org/drawingml/2006/main">
            <a:off x="5505450" y="2495550"/>
            <a:ext cx="13144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CDDD7"/>
            </a:solidFill>
            <a:prstDash val="solid"/>
          </a:ln>
        </p:spPr>
      </p:sp>
      <p:sp>
        <p:nvSpPr>
          <p:cNvPr id="36" name="">
            <a:extLst xmlns:a="http://schemas.openxmlformats.org/drawingml/2006/main">
              <a:ext uri="{FF2B5EF4-FFF2-40B4-BE49-F238E27FC236}">
                <a16:creationId xmlns:a16="http://schemas.microsoft.com/office/drawing/2014/main" id="{B9B1B5B5-7A97-4E92-914D-71F88D5E2967}"/>
              </a:ext>
            </a:extLst>
          </p:cNvPr>
          <p:cNvSpPr>
            <a:spLocks xmlns:a="http://schemas.openxmlformats.org/drawingml/2006/main" noGrp="1"/>
          </p:cNvSpPr>
          <p:nvPr/>
        </p:nvSpPr>
        <p:spPr>
          <a:xfrm xmlns:a="http://schemas.openxmlformats.org/drawingml/2006/main">
            <a:off x="5581650" y="2695575"/>
            <a:ext cx="11620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123524"/>
                </a:solidFill>
              </a:defRPr>
            </a:pPr>
            <a:r>
              <a:rPr sz="1275" b="1" i="0">
                <a:solidFill>
                  <a:srgbClr val="123524"/>
                </a:solidFill>
              </a:rPr>
              <a:t>Country</a:t>
            </a:r>
          </a:p>
        </p:txBody>
      </p:sp>
      <p:sp>
        <p:nvSpPr>
          <p:cNvPr id="37" name="">
            <a:extLst xmlns:a="http://schemas.openxmlformats.org/drawingml/2006/main">
              <a:ext uri="{FF2B5EF4-FFF2-40B4-BE49-F238E27FC236}">
                <a16:creationId xmlns:a16="http://schemas.microsoft.com/office/drawing/2014/main" id="{1757B303-2ADA-4134-A38B-26095F51EF04}"/>
              </a:ext>
            </a:extLst>
          </p:cNvPr>
          <p:cNvSpPr>
            <a:spLocks xmlns:a="http://schemas.openxmlformats.org/drawingml/2006/main" noGrp="1"/>
          </p:cNvSpPr>
          <p:nvPr/>
        </p:nvSpPr>
        <p:spPr>
          <a:xfrm xmlns:a="http://schemas.openxmlformats.org/drawingml/2006/main">
            <a:off x="6896100" y="2495550"/>
            <a:ext cx="11620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CDDD7"/>
            </a:solidFill>
            <a:prstDash val="solid"/>
          </a:ln>
        </p:spPr>
      </p:sp>
      <p:sp>
        <p:nvSpPr>
          <p:cNvPr id="38" name="">
            <a:extLst xmlns:a="http://schemas.openxmlformats.org/drawingml/2006/main">
              <a:ext uri="{FF2B5EF4-FFF2-40B4-BE49-F238E27FC236}">
                <a16:creationId xmlns:a16="http://schemas.microsoft.com/office/drawing/2014/main" id="{5603E336-81D1-4E74-942C-1278C83EBF97}"/>
              </a:ext>
            </a:extLst>
          </p:cNvPr>
          <p:cNvSpPr>
            <a:spLocks xmlns:a="http://schemas.openxmlformats.org/drawingml/2006/main" noGrp="1"/>
          </p:cNvSpPr>
          <p:nvPr/>
        </p:nvSpPr>
        <p:spPr>
          <a:xfrm xmlns:a="http://schemas.openxmlformats.org/drawingml/2006/main">
            <a:off x="6972300" y="2695575"/>
            <a:ext cx="10096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17211B"/>
                </a:solidFill>
              </a:defRPr>
            </a:pPr>
            <a:r>
              <a:rPr sz="1050" b="0" i="0">
                <a:solidFill>
                  <a:srgbClr val="17211B"/>
                </a:solidFill>
              </a:rPr>
              <a:t>country</a:t>
            </a:r>
          </a:p>
        </p:txBody>
      </p:sp>
      <p:sp>
        <p:nvSpPr>
          <p:cNvPr id="39" name="">
            <a:extLst xmlns:a="http://schemas.openxmlformats.org/drawingml/2006/main">
              <a:ext uri="{FF2B5EF4-FFF2-40B4-BE49-F238E27FC236}">
                <a16:creationId xmlns:a16="http://schemas.microsoft.com/office/drawing/2014/main" id="{E608396A-B66C-4D35-8E7E-9834132CB566}"/>
              </a:ext>
            </a:extLst>
          </p:cNvPr>
          <p:cNvSpPr>
            <a:spLocks xmlns:a="http://schemas.openxmlformats.org/drawingml/2006/main" noGrp="1"/>
          </p:cNvSpPr>
          <p:nvPr/>
        </p:nvSpPr>
        <p:spPr>
          <a:xfrm xmlns:a="http://schemas.openxmlformats.org/drawingml/2006/main">
            <a:off x="8134350" y="2495550"/>
            <a:ext cx="15430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CDDD7"/>
            </a:solidFill>
            <a:prstDash val="solid"/>
          </a:ln>
        </p:spPr>
      </p:sp>
      <p:sp>
        <p:nvSpPr>
          <p:cNvPr id="40" name="">
            <a:extLst xmlns:a="http://schemas.openxmlformats.org/drawingml/2006/main">
              <a:ext uri="{FF2B5EF4-FFF2-40B4-BE49-F238E27FC236}">
                <a16:creationId xmlns:a16="http://schemas.microsoft.com/office/drawing/2014/main" id="{A7324605-247C-4ADD-94CC-6B70F4AEEEC2}"/>
              </a:ext>
            </a:extLst>
          </p:cNvPr>
          <p:cNvSpPr>
            <a:spLocks xmlns:a="http://schemas.openxmlformats.org/drawingml/2006/main" noGrp="1"/>
          </p:cNvSpPr>
          <p:nvPr/>
        </p:nvSpPr>
        <p:spPr>
          <a:xfrm xmlns:a="http://schemas.openxmlformats.org/drawingml/2006/main">
            <a:off x="8210550" y="2695575"/>
            <a:ext cx="13906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17211B"/>
                </a:solidFill>
              </a:defRPr>
            </a:pPr>
            <a:r>
              <a:rPr sz="1050" b="0" i="0">
                <a:solidFill>
                  <a:srgbClr val="17211B"/>
                </a:solidFill>
              </a:rPr>
              <a:t>country + formackn</a:t>
            </a:r>
          </a:p>
        </p:txBody>
      </p:sp>
      <p:sp>
        <p:nvSpPr>
          <p:cNvPr id="41" name="">
            <a:extLst xmlns:a="http://schemas.openxmlformats.org/drawingml/2006/main">
              <a:ext uri="{FF2B5EF4-FFF2-40B4-BE49-F238E27FC236}">
                <a16:creationId xmlns:a16="http://schemas.microsoft.com/office/drawing/2014/main" id="{16684A11-98EA-4E89-B7F5-4493A2D92CAC}"/>
              </a:ext>
            </a:extLst>
          </p:cNvPr>
          <p:cNvSpPr>
            <a:spLocks xmlns:a="http://schemas.openxmlformats.org/drawingml/2006/main" noGrp="1"/>
          </p:cNvSpPr>
          <p:nvPr/>
        </p:nvSpPr>
        <p:spPr>
          <a:xfrm xmlns:a="http://schemas.openxmlformats.org/drawingml/2006/main">
            <a:off x="9753600" y="2495550"/>
            <a:ext cx="14287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CDDD7"/>
            </a:solidFill>
            <a:prstDash val="solid"/>
          </a:ln>
        </p:spPr>
      </p:sp>
      <p:sp>
        <p:nvSpPr>
          <p:cNvPr id="42" name="">
            <a:extLst xmlns:a="http://schemas.openxmlformats.org/drawingml/2006/main">
              <a:ext uri="{FF2B5EF4-FFF2-40B4-BE49-F238E27FC236}">
                <a16:creationId xmlns:a16="http://schemas.microsoft.com/office/drawing/2014/main" id="{80417B27-8A52-4A39-AFA4-4CE680E18D60}"/>
              </a:ext>
            </a:extLst>
          </p:cNvPr>
          <p:cNvSpPr>
            <a:spLocks xmlns:a="http://schemas.openxmlformats.org/drawingml/2006/main" noGrp="1"/>
          </p:cNvSpPr>
          <p:nvPr/>
        </p:nvSpPr>
        <p:spPr>
          <a:xfrm xmlns:a="http://schemas.openxmlformats.org/drawingml/2006/main">
            <a:off x="9829800" y="2695575"/>
            <a:ext cx="12763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17211B"/>
                </a:solidFill>
              </a:defRPr>
            </a:pPr>
            <a:r>
              <a:rPr sz="1050" b="0" i="0">
                <a:solidFill>
                  <a:srgbClr val="17211B"/>
                </a:solidFill>
              </a:rPr>
              <a:t>country + any_tpi</a:t>
            </a:r>
          </a:p>
        </p:txBody>
      </p:sp>
      <p:sp>
        <p:nvSpPr>
          <p:cNvPr id="43" name="">
            <a:extLst xmlns:a="http://schemas.openxmlformats.org/drawingml/2006/main">
              <a:ext uri="{FF2B5EF4-FFF2-40B4-BE49-F238E27FC236}">
                <a16:creationId xmlns:a16="http://schemas.microsoft.com/office/drawing/2014/main" id="{5483A53D-7DAF-4F09-8A3D-C487D7CCB444}"/>
              </a:ext>
            </a:extLst>
          </p:cNvPr>
          <p:cNvSpPr>
            <a:spLocks xmlns:a="http://schemas.openxmlformats.org/drawingml/2006/main" noGrp="1"/>
          </p:cNvSpPr>
          <p:nvPr/>
        </p:nvSpPr>
        <p:spPr>
          <a:xfrm xmlns:a="http://schemas.openxmlformats.org/drawingml/2006/main">
            <a:off x="5505450" y="3314700"/>
            <a:ext cx="1314450" cy="819150"/>
          </a:xfrm>
          <a:prstGeom xmlns:a="http://schemas.openxmlformats.org/drawingml/2006/main" prst="rect">
            <a:avLst/>
          </a:prstGeom>
          <a:solidFill xmlns:a="http://schemas.openxmlformats.org/drawingml/2006/main">
            <a:srgbClr val="EEF1EC"/>
          </a:solidFill>
          <a:ln xmlns:a="http://schemas.openxmlformats.org/drawingml/2006/main" w="9525">
            <a:solidFill>
              <a:srgbClr val="DCDDD7"/>
            </a:solidFill>
            <a:prstDash val="solid"/>
          </a:ln>
        </p:spPr>
      </p:sp>
      <p:sp>
        <p:nvSpPr>
          <p:cNvPr id="44" name="">
            <a:extLst xmlns:a="http://schemas.openxmlformats.org/drawingml/2006/main">
              <a:ext uri="{FF2B5EF4-FFF2-40B4-BE49-F238E27FC236}">
                <a16:creationId xmlns:a16="http://schemas.microsoft.com/office/drawing/2014/main" id="{770AF6AF-1EFE-43D9-877B-D1EBA2BF6574}"/>
              </a:ext>
            </a:extLst>
          </p:cNvPr>
          <p:cNvSpPr>
            <a:spLocks xmlns:a="http://schemas.openxmlformats.org/drawingml/2006/main" noGrp="1"/>
          </p:cNvSpPr>
          <p:nvPr/>
        </p:nvSpPr>
        <p:spPr>
          <a:xfrm xmlns:a="http://schemas.openxmlformats.org/drawingml/2006/main">
            <a:off x="5581650" y="3514725"/>
            <a:ext cx="11620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123524"/>
                </a:solidFill>
              </a:defRPr>
            </a:pPr>
            <a:r>
              <a:rPr sz="1275" b="1" i="0">
                <a:solidFill>
                  <a:srgbClr val="123524"/>
                </a:solidFill>
              </a:rPr>
              <a:t>Continent</a:t>
            </a:r>
          </a:p>
        </p:txBody>
      </p:sp>
      <p:sp>
        <p:nvSpPr>
          <p:cNvPr id="45" name="">
            <a:extLst xmlns:a="http://schemas.openxmlformats.org/drawingml/2006/main">
              <a:ext uri="{FF2B5EF4-FFF2-40B4-BE49-F238E27FC236}">
                <a16:creationId xmlns:a16="http://schemas.microsoft.com/office/drawing/2014/main" id="{AC594371-6D97-4B70-A66E-619A92CB5C46}"/>
              </a:ext>
            </a:extLst>
          </p:cNvPr>
          <p:cNvSpPr>
            <a:spLocks xmlns:a="http://schemas.openxmlformats.org/drawingml/2006/main" noGrp="1"/>
          </p:cNvSpPr>
          <p:nvPr/>
        </p:nvSpPr>
        <p:spPr>
          <a:xfrm xmlns:a="http://schemas.openxmlformats.org/drawingml/2006/main">
            <a:off x="6896100" y="3314700"/>
            <a:ext cx="1162050" cy="819150"/>
          </a:xfrm>
          <a:prstGeom xmlns:a="http://schemas.openxmlformats.org/drawingml/2006/main" prst="rect">
            <a:avLst/>
          </a:prstGeom>
          <a:solidFill xmlns:a="http://schemas.openxmlformats.org/drawingml/2006/main">
            <a:srgbClr val="EEF1EC"/>
          </a:solidFill>
          <a:ln xmlns:a="http://schemas.openxmlformats.org/drawingml/2006/main" w="9525">
            <a:solidFill>
              <a:srgbClr val="DCDDD7"/>
            </a:solidFill>
            <a:prstDash val="solid"/>
          </a:ln>
        </p:spPr>
      </p:sp>
      <p:sp>
        <p:nvSpPr>
          <p:cNvPr id="46" name="">
            <a:extLst xmlns:a="http://schemas.openxmlformats.org/drawingml/2006/main">
              <a:ext uri="{FF2B5EF4-FFF2-40B4-BE49-F238E27FC236}">
                <a16:creationId xmlns:a16="http://schemas.microsoft.com/office/drawing/2014/main" id="{4BEEE618-ED97-475B-AE4C-6A95AAC58057}"/>
              </a:ext>
            </a:extLst>
          </p:cNvPr>
          <p:cNvSpPr>
            <a:spLocks xmlns:a="http://schemas.openxmlformats.org/drawingml/2006/main" noGrp="1"/>
          </p:cNvSpPr>
          <p:nvPr/>
        </p:nvSpPr>
        <p:spPr>
          <a:xfrm xmlns:a="http://schemas.openxmlformats.org/drawingml/2006/main">
            <a:off x="6972300" y="3514725"/>
            <a:ext cx="10096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17211B"/>
                </a:solidFill>
              </a:defRPr>
            </a:pPr>
            <a:r>
              <a:rPr sz="1050" b="0" i="0">
                <a:solidFill>
                  <a:srgbClr val="17211B"/>
                </a:solidFill>
              </a:rPr>
              <a:t>continent</a:t>
            </a:r>
          </a:p>
        </p:txBody>
      </p:sp>
      <p:sp>
        <p:nvSpPr>
          <p:cNvPr id="47" name="">
            <a:extLst xmlns:a="http://schemas.openxmlformats.org/drawingml/2006/main">
              <a:ext uri="{FF2B5EF4-FFF2-40B4-BE49-F238E27FC236}">
                <a16:creationId xmlns:a16="http://schemas.microsoft.com/office/drawing/2014/main" id="{0A2A9905-E2A1-4705-A4CD-927265A86B4C}"/>
              </a:ext>
            </a:extLst>
          </p:cNvPr>
          <p:cNvSpPr>
            <a:spLocks xmlns:a="http://schemas.openxmlformats.org/drawingml/2006/main" noGrp="1"/>
          </p:cNvSpPr>
          <p:nvPr/>
        </p:nvSpPr>
        <p:spPr>
          <a:xfrm xmlns:a="http://schemas.openxmlformats.org/drawingml/2006/main">
            <a:off x="8134350" y="3314700"/>
            <a:ext cx="1543050" cy="819150"/>
          </a:xfrm>
          <a:prstGeom xmlns:a="http://schemas.openxmlformats.org/drawingml/2006/main" prst="rect">
            <a:avLst/>
          </a:prstGeom>
          <a:solidFill xmlns:a="http://schemas.openxmlformats.org/drawingml/2006/main">
            <a:srgbClr val="EEF1EC"/>
          </a:solidFill>
          <a:ln xmlns:a="http://schemas.openxmlformats.org/drawingml/2006/main" w="9525">
            <a:solidFill>
              <a:srgbClr val="DCDDD7"/>
            </a:solidFill>
            <a:prstDash val="solid"/>
          </a:ln>
        </p:spPr>
      </p:sp>
      <p:sp>
        <p:nvSpPr>
          <p:cNvPr id="48" name="">
            <a:extLst xmlns:a="http://schemas.openxmlformats.org/drawingml/2006/main">
              <a:ext uri="{FF2B5EF4-FFF2-40B4-BE49-F238E27FC236}">
                <a16:creationId xmlns:a16="http://schemas.microsoft.com/office/drawing/2014/main" id="{6793EBF7-755D-4B84-A69B-5D120091EAED}"/>
              </a:ext>
            </a:extLst>
          </p:cNvPr>
          <p:cNvSpPr>
            <a:spLocks xmlns:a="http://schemas.openxmlformats.org/drawingml/2006/main" noGrp="1"/>
          </p:cNvSpPr>
          <p:nvPr/>
        </p:nvSpPr>
        <p:spPr>
          <a:xfrm xmlns:a="http://schemas.openxmlformats.org/drawingml/2006/main">
            <a:off x="8210550" y="3514725"/>
            <a:ext cx="13906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17211B"/>
                </a:solidFill>
              </a:defRPr>
            </a:pPr>
            <a:r>
              <a:rPr sz="1050" b="0" i="0">
                <a:solidFill>
                  <a:srgbClr val="17211B"/>
                </a:solidFill>
              </a:rPr>
              <a:t>continent + formackn</a:t>
            </a:r>
          </a:p>
        </p:txBody>
      </p:sp>
      <p:sp>
        <p:nvSpPr>
          <p:cNvPr id="49" name="">
            <a:extLst xmlns:a="http://schemas.openxmlformats.org/drawingml/2006/main">
              <a:ext uri="{FF2B5EF4-FFF2-40B4-BE49-F238E27FC236}">
                <a16:creationId xmlns:a16="http://schemas.microsoft.com/office/drawing/2014/main" id="{A0070647-30CD-44C2-8808-2ADEFF304A36}"/>
              </a:ext>
            </a:extLst>
          </p:cNvPr>
          <p:cNvSpPr>
            <a:spLocks xmlns:a="http://schemas.openxmlformats.org/drawingml/2006/main" noGrp="1"/>
          </p:cNvSpPr>
          <p:nvPr/>
        </p:nvSpPr>
        <p:spPr>
          <a:xfrm xmlns:a="http://schemas.openxmlformats.org/drawingml/2006/main">
            <a:off x="9753600" y="3314700"/>
            <a:ext cx="1428750" cy="819150"/>
          </a:xfrm>
          <a:prstGeom xmlns:a="http://schemas.openxmlformats.org/drawingml/2006/main" prst="rect">
            <a:avLst/>
          </a:prstGeom>
          <a:solidFill xmlns:a="http://schemas.openxmlformats.org/drawingml/2006/main">
            <a:srgbClr val="EEF1EC"/>
          </a:solidFill>
          <a:ln xmlns:a="http://schemas.openxmlformats.org/drawingml/2006/main" w="9525">
            <a:solidFill>
              <a:srgbClr val="DCDDD7"/>
            </a:solidFill>
            <a:prstDash val="solid"/>
          </a:ln>
        </p:spPr>
      </p:sp>
      <p:sp>
        <p:nvSpPr>
          <p:cNvPr id="50" name="">
            <a:extLst xmlns:a="http://schemas.openxmlformats.org/drawingml/2006/main">
              <a:ext uri="{FF2B5EF4-FFF2-40B4-BE49-F238E27FC236}">
                <a16:creationId xmlns:a16="http://schemas.microsoft.com/office/drawing/2014/main" id="{ECF91B87-4157-49BA-BBBC-8DAEEF20FC9D}"/>
              </a:ext>
            </a:extLst>
          </p:cNvPr>
          <p:cNvSpPr>
            <a:spLocks xmlns:a="http://schemas.openxmlformats.org/drawingml/2006/main" noGrp="1"/>
          </p:cNvSpPr>
          <p:nvPr/>
        </p:nvSpPr>
        <p:spPr>
          <a:xfrm xmlns:a="http://schemas.openxmlformats.org/drawingml/2006/main">
            <a:off x="9829800" y="3514725"/>
            <a:ext cx="12763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17211B"/>
                </a:solidFill>
              </a:defRPr>
            </a:pPr>
            <a:r>
              <a:rPr sz="1050" b="0" i="0">
                <a:solidFill>
                  <a:srgbClr val="17211B"/>
                </a:solidFill>
              </a:rPr>
              <a:t>continent + any_tpi</a:t>
            </a:r>
          </a:p>
        </p:txBody>
      </p:sp>
      <p:sp>
        <p:nvSpPr>
          <p:cNvPr id="51" name="">
            <a:extLst xmlns:a="http://schemas.openxmlformats.org/drawingml/2006/main">
              <a:ext uri="{FF2B5EF4-FFF2-40B4-BE49-F238E27FC236}">
                <a16:creationId xmlns:a16="http://schemas.microsoft.com/office/drawing/2014/main" id="{EE63A898-75CD-455E-BE82-E69427E4CF6F}"/>
              </a:ext>
            </a:extLst>
          </p:cNvPr>
          <p:cNvSpPr>
            <a:spLocks xmlns:a="http://schemas.openxmlformats.org/drawingml/2006/main" noGrp="1"/>
          </p:cNvSpPr>
          <p:nvPr/>
        </p:nvSpPr>
        <p:spPr>
          <a:xfrm xmlns:a="http://schemas.openxmlformats.org/drawingml/2006/main">
            <a:off x="5505450" y="4133850"/>
            <a:ext cx="13144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CDDD7"/>
            </a:solidFill>
            <a:prstDash val="solid"/>
          </a:ln>
        </p:spPr>
      </p:sp>
      <p:sp>
        <p:nvSpPr>
          <p:cNvPr id="52" name="">
            <a:extLst xmlns:a="http://schemas.openxmlformats.org/drawingml/2006/main">
              <a:ext uri="{FF2B5EF4-FFF2-40B4-BE49-F238E27FC236}">
                <a16:creationId xmlns:a16="http://schemas.microsoft.com/office/drawing/2014/main" id="{6E04BB22-E5A9-4D65-9ABF-3DE8EF9A4957}"/>
              </a:ext>
            </a:extLst>
          </p:cNvPr>
          <p:cNvSpPr>
            <a:spLocks xmlns:a="http://schemas.openxmlformats.org/drawingml/2006/main" noGrp="1"/>
          </p:cNvSpPr>
          <p:nvPr/>
        </p:nvSpPr>
        <p:spPr>
          <a:xfrm xmlns:a="http://schemas.openxmlformats.org/drawingml/2006/main">
            <a:off x="5581650" y="4333875"/>
            <a:ext cx="11620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123524"/>
                </a:solidFill>
              </a:defRPr>
            </a:pPr>
            <a:r>
              <a:rPr sz="1275" b="1" i="0">
                <a:solidFill>
                  <a:srgbClr val="123524"/>
                </a:solidFill>
              </a:rPr>
              <a:t>Region</a:t>
            </a:r>
          </a:p>
        </p:txBody>
      </p:sp>
      <p:sp>
        <p:nvSpPr>
          <p:cNvPr id="53" name="">
            <a:extLst xmlns:a="http://schemas.openxmlformats.org/drawingml/2006/main">
              <a:ext uri="{FF2B5EF4-FFF2-40B4-BE49-F238E27FC236}">
                <a16:creationId xmlns:a16="http://schemas.microsoft.com/office/drawing/2014/main" id="{0E26B0E0-4963-46EC-B62D-47DA9012065A}"/>
              </a:ext>
            </a:extLst>
          </p:cNvPr>
          <p:cNvSpPr>
            <a:spLocks xmlns:a="http://schemas.openxmlformats.org/drawingml/2006/main" noGrp="1"/>
          </p:cNvSpPr>
          <p:nvPr/>
        </p:nvSpPr>
        <p:spPr>
          <a:xfrm xmlns:a="http://schemas.openxmlformats.org/drawingml/2006/main">
            <a:off x="6896100" y="4133850"/>
            <a:ext cx="11620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CDDD7"/>
            </a:solidFill>
            <a:prstDash val="solid"/>
          </a:ln>
        </p:spPr>
      </p:sp>
      <p:sp>
        <p:nvSpPr>
          <p:cNvPr id="54" name="">
            <a:extLst xmlns:a="http://schemas.openxmlformats.org/drawingml/2006/main">
              <a:ext uri="{FF2B5EF4-FFF2-40B4-BE49-F238E27FC236}">
                <a16:creationId xmlns:a16="http://schemas.microsoft.com/office/drawing/2014/main" id="{0F8CE7BC-826A-4D68-B296-693D016645FA}"/>
              </a:ext>
            </a:extLst>
          </p:cNvPr>
          <p:cNvSpPr>
            <a:spLocks xmlns:a="http://schemas.openxmlformats.org/drawingml/2006/main" noGrp="1"/>
          </p:cNvSpPr>
          <p:nvPr/>
        </p:nvSpPr>
        <p:spPr>
          <a:xfrm xmlns:a="http://schemas.openxmlformats.org/drawingml/2006/main">
            <a:off x="6972300" y="4333875"/>
            <a:ext cx="10096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17211B"/>
                </a:solidFill>
              </a:defRPr>
            </a:pPr>
            <a:r>
              <a:rPr sz="1050" b="0" i="0">
                <a:solidFill>
                  <a:srgbClr val="17211B"/>
                </a:solidFill>
              </a:rPr>
              <a:t>region</a:t>
            </a:r>
          </a:p>
        </p:txBody>
      </p:sp>
      <p:sp>
        <p:nvSpPr>
          <p:cNvPr id="55" name="">
            <a:extLst xmlns:a="http://schemas.openxmlformats.org/drawingml/2006/main">
              <a:ext uri="{FF2B5EF4-FFF2-40B4-BE49-F238E27FC236}">
                <a16:creationId xmlns:a16="http://schemas.microsoft.com/office/drawing/2014/main" id="{D8185D07-8317-4EDF-9CD3-7A3D20059E12}"/>
              </a:ext>
            </a:extLst>
          </p:cNvPr>
          <p:cNvSpPr>
            <a:spLocks xmlns:a="http://schemas.openxmlformats.org/drawingml/2006/main" noGrp="1"/>
          </p:cNvSpPr>
          <p:nvPr/>
        </p:nvSpPr>
        <p:spPr>
          <a:xfrm xmlns:a="http://schemas.openxmlformats.org/drawingml/2006/main">
            <a:off x="8134350" y="4133850"/>
            <a:ext cx="15430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CDDD7"/>
            </a:solidFill>
            <a:prstDash val="solid"/>
          </a:ln>
        </p:spPr>
      </p:sp>
      <p:sp>
        <p:nvSpPr>
          <p:cNvPr id="56" name="">
            <a:extLst xmlns:a="http://schemas.openxmlformats.org/drawingml/2006/main">
              <a:ext uri="{FF2B5EF4-FFF2-40B4-BE49-F238E27FC236}">
                <a16:creationId xmlns:a16="http://schemas.microsoft.com/office/drawing/2014/main" id="{685221DE-F6DF-425A-84D0-F13D0F6C0957}"/>
              </a:ext>
            </a:extLst>
          </p:cNvPr>
          <p:cNvSpPr>
            <a:spLocks xmlns:a="http://schemas.openxmlformats.org/drawingml/2006/main" noGrp="1"/>
          </p:cNvSpPr>
          <p:nvPr/>
        </p:nvSpPr>
        <p:spPr>
          <a:xfrm xmlns:a="http://schemas.openxmlformats.org/drawingml/2006/main">
            <a:off x="8210550" y="4333875"/>
            <a:ext cx="13906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17211B"/>
                </a:solidFill>
              </a:defRPr>
            </a:pPr>
            <a:r>
              <a:rPr sz="1050" b="0" i="0">
                <a:solidFill>
                  <a:srgbClr val="17211B"/>
                </a:solidFill>
              </a:rPr>
              <a:t>region + formackn</a:t>
            </a:r>
          </a:p>
        </p:txBody>
      </p:sp>
      <p:sp>
        <p:nvSpPr>
          <p:cNvPr id="57" name="">
            <a:extLst xmlns:a="http://schemas.openxmlformats.org/drawingml/2006/main">
              <a:ext uri="{FF2B5EF4-FFF2-40B4-BE49-F238E27FC236}">
                <a16:creationId xmlns:a16="http://schemas.microsoft.com/office/drawing/2014/main" id="{ABA70AB2-9A80-4672-9866-84488B74DD70}"/>
              </a:ext>
            </a:extLst>
          </p:cNvPr>
          <p:cNvSpPr>
            <a:spLocks xmlns:a="http://schemas.openxmlformats.org/drawingml/2006/main" noGrp="1"/>
          </p:cNvSpPr>
          <p:nvPr/>
        </p:nvSpPr>
        <p:spPr>
          <a:xfrm xmlns:a="http://schemas.openxmlformats.org/drawingml/2006/main">
            <a:off x="9753600" y="4133850"/>
            <a:ext cx="1428750" cy="819150"/>
          </a:xfrm>
          <a:prstGeom xmlns:a="http://schemas.openxmlformats.org/drawingml/2006/main" prst="rect">
            <a:avLst/>
          </a:prstGeom>
          <a:solidFill xmlns:a="http://schemas.openxmlformats.org/drawingml/2006/main">
            <a:srgbClr val="FFFFFF"/>
          </a:solidFill>
          <a:ln xmlns:a="http://schemas.openxmlformats.org/drawingml/2006/main" w="9525">
            <a:solidFill>
              <a:srgbClr val="DCDDD7"/>
            </a:solidFill>
            <a:prstDash val="solid"/>
          </a:ln>
        </p:spPr>
      </p:sp>
      <p:sp>
        <p:nvSpPr>
          <p:cNvPr id="58" name="">
            <a:extLst xmlns:a="http://schemas.openxmlformats.org/drawingml/2006/main">
              <a:ext uri="{FF2B5EF4-FFF2-40B4-BE49-F238E27FC236}">
                <a16:creationId xmlns:a16="http://schemas.microsoft.com/office/drawing/2014/main" id="{6977698C-0938-46BD-8ECC-E7DCBBB6434B}"/>
              </a:ext>
            </a:extLst>
          </p:cNvPr>
          <p:cNvSpPr>
            <a:spLocks xmlns:a="http://schemas.openxmlformats.org/drawingml/2006/main" noGrp="1"/>
          </p:cNvSpPr>
          <p:nvPr/>
        </p:nvSpPr>
        <p:spPr>
          <a:xfrm xmlns:a="http://schemas.openxmlformats.org/drawingml/2006/main">
            <a:off x="9829800" y="4333875"/>
            <a:ext cx="12763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i="0">
                <a:solidFill>
                  <a:srgbClr val="17211B"/>
                </a:solidFill>
              </a:defRPr>
            </a:pPr>
            <a:r>
              <a:rPr sz="1050" b="0" i="0">
                <a:solidFill>
                  <a:srgbClr val="17211B"/>
                </a:solidFill>
              </a:rPr>
              <a:t>region + any_tpi</a:t>
            </a:r>
          </a:p>
        </p:txBody>
      </p:sp>
      <p:sp>
        <p:nvSpPr>
          <p:cNvPr id="59" name="">
            <a:extLst xmlns:a="http://schemas.openxmlformats.org/drawingml/2006/main">
              <a:ext uri="{FF2B5EF4-FFF2-40B4-BE49-F238E27FC236}">
                <a16:creationId xmlns:a16="http://schemas.microsoft.com/office/drawing/2014/main" id="{0A07EF5B-4C92-40A5-B893-776878B8C83D}"/>
              </a:ext>
            </a:extLst>
          </p:cNvPr>
          <p:cNvSpPr>
            <a:spLocks xmlns:a="http://schemas.openxmlformats.org/drawingml/2006/main" noGrp="1"/>
          </p:cNvSpPr>
          <p:nvPr/>
        </p:nvSpPr>
        <p:spPr>
          <a:xfrm xmlns:a="http://schemas.openxmlformats.org/drawingml/2006/main">
            <a:off x="5505450" y="5238750"/>
            <a:ext cx="5676900" cy="704850"/>
          </a:xfrm>
          <a:prstGeom xmlns:a="http://schemas.openxmlformats.org/drawingml/2006/main" prst="roundRect">
            <a:avLst>
              <a:gd name="adj" fmla="val 10811"/>
            </a:avLst>
          </a:prstGeom>
          <a:solidFill xmlns:a="http://schemas.openxmlformats.org/drawingml/2006/main">
            <a:srgbClr val="EDE1C8"/>
          </a:solidFill>
          <a:ln xmlns:a="http://schemas.openxmlformats.org/drawingml/2006/main" w="9525">
            <a:solidFill>
              <a:srgbClr val="C8A96A"/>
            </a:solidFill>
            <a:prstDash val="solid"/>
          </a:ln>
        </p:spPr>
      </p:sp>
      <p:sp>
        <p:nvSpPr>
          <p:cNvPr id="60" name="">
            <a:extLst xmlns:a="http://schemas.openxmlformats.org/drawingml/2006/main">
              <a:ext uri="{FF2B5EF4-FFF2-40B4-BE49-F238E27FC236}">
                <a16:creationId xmlns:a16="http://schemas.microsoft.com/office/drawing/2014/main" id="{B9CF0A06-7496-4B73-B7C5-1F05E5701469}"/>
              </a:ext>
            </a:extLst>
          </p:cNvPr>
          <p:cNvSpPr>
            <a:spLocks xmlns:a="http://schemas.openxmlformats.org/drawingml/2006/main" noGrp="1"/>
          </p:cNvSpPr>
          <p:nvPr/>
        </p:nvSpPr>
        <p:spPr>
          <a:xfrm xmlns:a="http://schemas.openxmlformats.org/drawingml/2006/main">
            <a:off x="5695950" y="5410200"/>
            <a:ext cx="5295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123524"/>
                </a:solidFill>
              </a:defRPr>
            </a:pPr>
            <a:r>
              <a:rPr sz="1275" b="1" i="0">
                <a:solidFill>
                  <a:srgbClr val="123524"/>
                </a:solidFill>
              </a:rPr>
              <a:t>Purpose: reduce row scanning and keep filtered analysis responsive as the dataset grows.</a:t>
            </a:r>
          </a:p>
        </p:txBody>
      </p:sp>
    </p:spTree>
    <p:extLst>
      <p:ext uri="{BB962C8B-B14F-4D97-AF65-F5344CB8AC3E}">
        <p14:creationId xmlns:p14="http://schemas.microsoft.com/office/powerpoint/2010/main" val="1945943062"/>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A007130F-034F-4C2F-86EE-747F679E8414}"/>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1EEC96E-55C8-428A-9E21-C091C962B2E2}"/>
              </a:ext>
            </a:extLst>
          </p:cNvPr>
          <p:cNvSpPr>
            <a:spLocks xmlns:a="http://schemas.openxmlformats.org/drawingml/2006/main" noGrp="1"/>
          </p:cNvSpPr>
          <p:nvPr/>
        </p:nvSpPr>
        <p:spPr>
          <a:xfrm xmlns:a="http://schemas.openxmlformats.org/drawingml/2006/main">
            <a:off x="609600" y="523875"/>
            <a:ext cx="66675" cy="476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73F7110-4521-4B34-8B4C-5BA45058B122}"/>
              </a:ext>
            </a:extLst>
          </p:cNvPr>
          <p:cNvSpPr>
            <a:spLocks xmlns:a="http://schemas.openxmlformats.org/drawingml/2006/main" noGrp="1"/>
          </p:cNvSpPr>
          <p:nvPr/>
        </p:nvSpPr>
        <p:spPr>
          <a:xfrm xmlns:a="http://schemas.openxmlformats.org/drawingml/2006/main">
            <a:off x="838200" y="4572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A96A"/>
                </a:solidFill>
              </a:defRPr>
            </a:pPr>
            <a:r>
              <a:rPr sz="975" b="1" i="0">
                <a:solidFill>
                  <a:srgbClr val="C8A96A"/>
                </a:solidFill>
              </a:rPr>
              <a:t>FRONTEND UPDATE</a:t>
            </a:r>
          </a:p>
        </p:txBody>
      </p:sp>
      <p:sp>
        <p:nvSpPr>
          <p:cNvPr id="4" name="">
            <a:extLst xmlns:a="http://schemas.openxmlformats.org/drawingml/2006/main">
              <a:ext uri="{FF2B5EF4-FFF2-40B4-BE49-F238E27FC236}">
                <a16:creationId xmlns:a16="http://schemas.microsoft.com/office/drawing/2014/main" id="{81950F23-BD52-4B5E-958E-A4C6216210BF}"/>
              </a:ext>
            </a:extLst>
          </p:cNvPr>
          <p:cNvSpPr>
            <a:spLocks xmlns:a="http://schemas.openxmlformats.org/drawingml/2006/main" noGrp="1"/>
          </p:cNvSpPr>
          <p:nvPr/>
        </p:nvSpPr>
        <p:spPr>
          <a:xfrm xmlns:a="http://schemas.openxmlformats.org/drawingml/2006/main">
            <a:off x="838200" y="65722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524"/>
                </a:solidFill>
              </a:defRPr>
            </a:pPr>
            <a:r>
              <a:rPr sz="2700" b="1" i="0">
                <a:solidFill>
                  <a:srgbClr val="123524"/>
                </a:solidFill>
              </a:rPr>
              <a:t>The filter panel makes the active scope explicit</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8e4934d2123b41c0"/>
          <a:stretch xmlns:a="http://schemas.openxmlformats.org/drawingml/2006/main"/>
        </p:blipFill>
        <p:spPr>
          <a:xfrm xmlns:a="http://schemas.openxmlformats.org/drawingml/2006/main">
            <a:off x="11125200" y="428625"/>
            <a:ext cx="495300" cy="495300"/>
          </a:xfrm>
          <a:prstGeom xmlns:a="http://schemas.openxmlformats.org/drawingml/2006/main" prst="roundRect">
            <a:avLst>
              <a:gd name="adj" fmla="val 23077"/>
            </a:avLst>
          </a:prstGeom>
        </p:spPr>
      </p:pic>
      <p:sp>
        <p:nvSpPr>
          <p:cNvPr id="6" name="">
            <a:extLst xmlns:a="http://schemas.openxmlformats.org/drawingml/2006/main">
              <a:ext uri="{FF2B5EF4-FFF2-40B4-BE49-F238E27FC236}">
                <a16:creationId xmlns:a16="http://schemas.microsoft.com/office/drawing/2014/main" id="{ED1A44A6-0BE6-4EC3-93C9-6AA917A924E2}"/>
              </a:ext>
            </a:extLst>
          </p:cNvPr>
          <p:cNvSpPr>
            <a:spLocks xmlns:a="http://schemas.openxmlformats.org/drawingml/2006/main" noGrp="1"/>
          </p:cNvSpPr>
          <p:nvPr/>
        </p:nvSpPr>
        <p:spPr>
          <a:xfrm xmlns:a="http://schemas.openxmlformats.org/drawingml/2006/main">
            <a:off x="609600" y="6457950"/>
            <a:ext cx="10972800" cy="9525"/>
          </a:xfrm>
          <a:prstGeom xmlns:a="http://schemas.openxmlformats.org/drawingml/2006/main" prst="rect">
            <a:avLst/>
          </a:prstGeom>
          <a:solidFill xmlns:a="http://schemas.openxmlformats.org/drawingml/2006/main">
            <a:srgbClr val="DCDDD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DBF9AC1-F8AD-423A-ABF3-BF2B1CBFE65F}"/>
              </a:ext>
            </a:extLst>
          </p:cNvPr>
          <p:cNvSpPr>
            <a:spLocks xmlns:a="http://schemas.openxmlformats.org/drawingml/2006/main" noGrp="1"/>
          </p:cNvSpPr>
          <p:nvPr/>
        </p:nvSpPr>
        <p:spPr>
          <a:xfrm xmlns:a="http://schemas.openxmlformats.org/drawingml/2006/main">
            <a:off x="609600" y="6543675"/>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66736B"/>
                </a:solidFill>
              </a:defRPr>
            </a:pPr>
            <a:r>
              <a:rPr sz="825" b="0" i="0">
                <a:solidFill>
                  <a:srgbClr val="66736B"/>
                </a:solidFill>
              </a:rPr>
              <a:t>Traditional Governance  •  Interactive Statistics</a:t>
            </a:r>
          </a:p>
        </p:txBody>
      </p:sp>
      <p:sp>
        <p:nvSpPr>
          <p:cNvPr id="8" name="">
            <a:extLst xmlns:a="http://schemas.openxmlformats.org/drawingml/2006/main">
              <a:ext uri="{FF2B5EF4-FFF2-40B4-BE49-F238E27FC236}">
                <a16:creationId xmlns:a16="http://schemas.microsoft.com/office/drawing/2014/main" id="{50390D57-F22D-4EE7-85FD-9A4DDB1A9F37}"/>
              </a:ext>
            </a:extLst>
          </p:cNvPr>
          <p:cNvSpPr>
            <a:spLocks xmlns:a="http://schemas.openxmlformats.org/drawingml/2006/main" noGrp="1"/>
          </p:cNvSpPr>
          <p:nvPr/>
        </p:nvSpPr>
        <p:spPr>
          <a:xfrm xmlns:a="http://schemas.openxmlformats.org/drawingml/2006/main">
            <a:off x="11068050" y="65246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123524"/>
                </a:solidFill>
              </a:defRPr>
            </a:pPr>
            <a:r>
              <a:rPr sz="900" b="1" i="0">
                <a:solidFill>
                  <a:srgbClr val="123524"/>
                </a:solidFill>
              </a:rPr>
              <a:t>08</a:t>
            </a:r>
          </a:p>
        </p:txBody>
      </p:sp>
      <p:sp>
        <p:nvSpPr>
          <p:cNvPr id="9" name="">
            <a:extLst xmlns:a="http://schemas.openxmlformats.org/drawingml/2006/main">
              <a:ext uri="{FF2B5EF4-FFF2-40B4-BE49-F238E27FC236}">
                <a16:creationId xmlns:a16="http://schemas.microsoft.com/office/drawing/2014/main" id="{32F97A69-70E9-42AC-AB75-DACF8892C7CA}"/>
              </a:ext>
            </a:extLst>
          </p:cNvPr>
          <p:cNvSpPr>
            <a:spLocks xmlns:a="http://schemas.openxmlformats.org/drawingml/2006/main" noGrp="1"/>
          </p:cNvSpPr>
          <p:nvPr/>
        </p:nvSpPr>
        <p:spPr>
          <a:xfrm xmlns:a="http://schemas.openxmlformats.org/drawingml/2006/main">
            <a:off x="666750" y="1466850"/>
            <a:ext cx="7239000" cy="4095750"/>
          </a:xfrm>
          <a:prstGeom xmlns:a="http://schemas.openxmlformats.org/drawingml/2006/main" prst="roundRect">
            <a:avLst>
              <a:gd name="adj" fmla="val 2791"/>
            </a:avLst>
          </a:prstGeom>
          <a:solidFill xmlns:a="http://schemas.openxmlformats.org/drawingml/2006/main">
            <a:srgbClr val="FFFFFF"/>
          </a:solidFill>
          <a:ln xmlns:a="http://schemas.openxmlformats.org/drawingml/2006/main" w="9525">
            <a:solidFill>
              <a:srgbClr val="DCDD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6A643442-F22D-45B9-BF35-6B3881BEC777}"/>
              </a:ext>
            </a:extLst>
          </p:cNvPr>
          <p:cNvSpPr>
            <a:spLocks xmlns:a="http://schemas.openxmlformats.org/drawingml/2006/main" noGrp="1"/>
          </p:cNvSpPr>
          <p:nvPr/>
        </p:nvSpPr>
        <p:spPr>
          <a:xfrm xmlns:a="http://schemas.openxmlformats.org/drawingml/2006/main">
            <a:off x="933450" y="17335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A96A"/>
                </a:solidFill>
              </a:defRPr>
            </a:pPr>
            <a:r>
              <a:rPr sz="975" b="1" i="0">
                <a:solidFill>
                  <a:srgbClr val="C8A96A"/>
                </a:solidFill>
              </a:rPr>
              <a:t>INTERACTIVE ANALYSIS</a:t>
            </a:r>
          </a:p>
        </p:txBody>
      </p:sp>
      <p:sp>
        <p:nvSpPr>
          <p:cNvPr id="11" name="">
            <a:extLst xmlns:a="http://schemas.openxmlformats.org/drawingml/2006/main">
              <a:ext uri="{FF2B5EF4-FFF2-40B4-BE49-F238E27FC236}">
                <a16:creationId xmlns:a16="http://schemas.microsoft.com/office/drawing/2014/main" id="{0194D024-CBBF-4073-AC15-BF3CC798248B}"/>
              </a:ext>
            </a:extLst>
          </p:cNvPr>
          <p:cNvSpPr>
            <a:spLocks xmlns:a="http://schemas.openxmlformats.org/drawingml/2006/main" noGrp="1"/>
          </p:cNvSpPr>
          <p:nvPr/>
        </p:nvSpPr>
        <p:spPr>
          <a:xfrm xmlns:a="http://schemas.openxmlformats.org/drawingml/2006/main">
            <a:off x="933450" y="20288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123524"/>
                </a:solidFill>
              </a:defRPr>
            </a:pPr>
            <a:r>
              <a:rPr sz="2100" b="1" i="0">
                <a:solidFill>
                  <a:srgbClr val="123524"/>
                </a:solidFill>
              </a:rPr>
              <a:t>Analyze by</a:t>
            </a:r>
          </a:p>
        </p:txBody>
      </p:sp>
      <p:sp>
        <p:nvSpPr>
          <p:cNvPr id="12" name="">
            <a:extLst xmlns:a="http://schemas.openxmlformats.org/drawingml/2006/main">
              <a:ext uri="{FF2B5EF4-FFF2-40B4-BE49-F238E27FC236}">
                <a16:creationId xmlns:a16="http://schemas.microsoft.com/office/drawing/2014/main" id="{9F0F4689-EEA3-4076-87E8-DCDEA0971F12}"/>
              </a:ext>
            </a:extLst>
          </p:cNvPr>
          <p:cNvSpPr>
            <a:spLocks xmlns:a="http://schemas.openxmlformats.org/drawingml/2006/main" noGrp="1"/>
          </p:cNvSpPr>
          <p:nvPr/>
        </p:nvSpPr>
        <p:spPr>
          <a:xfrm xmlns:a="http://schemas.openxmlformats.org/drawingml/2006/main">
            <a:off x="5476875" y="1781175"/>
            <a:ext cx="1866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i="0">
                <a:solidFill>
                  <a:srgbClr val="66736B"/>
                </a:solidFill>
              </a:defRPr>
            </a:pPr>
            <a:r>
              <a:rPr sz="1050" b="0" i="0">
                <a:solidFill>
                  <a:srgbClr val="66736B"/>
                </a:solidFill>
              </a:rPr>
              <a:t>Current scope</a:t>
            </a:r>
          </a:p>
        </p:txBody>
      </p:sp>
      <p:sp>
        <p:nvSpPr>
          <p:cNvPr id="13" name="">
            <a:extLst xmlns:a="http://schemas.openxmlformats.org/drawingml/2006/main">
              <a:ext uri="{FF2B5EF4-FFF2-40B4-BE49-F238E27FC236}">
                <a16:creationId xmlns:a16="http://schemas.microsoft.com/office/drawing/2014/main" id="{718E8658-FED9-4C3F-9061-AF1DE2A29DF8}"/>
              </a:ext>
            </a:extLst>
          </p:cNvPr>
          <p:cNvSpPr>
            <a:spLocks xmlns:a="http://schemas.openxmlformats.org/drawingml/2006/main" noGrp="1"/>
          </p:cNvSpPr>
          <p:nvPr/>
        </p:nvSpPr>
        <p:spPr>
          <a:xfrm xmlns:a="http://schemas.openxmlformats.org/drawingml/2006/main">
            <a:off x="4953000" y="20574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500" b="1" i="0">
                <a:solidFill>
                  <a:srgbClr val="123524"/>
                </a:solidFill>
              </a:defRPr>
            </a:pPr>
            <a:r>
              <a:rPr sz="1500" b="1" i="0">
                <a:solidFill>
                  <a:srgbClr val="123524"/>
                </a:solidFill>
              </a:rPr>
              <a:t>Continent: Africa</a:t>
            </a:r>
          </a:p>
        </p:txBody>
      </p:sp>
      <p:sp>
        <p:nvSpPr>
          <p:cNvPr id="14" name="">
            <a:extLst xmlns:a="http://schemas.openxmlformats.org/drawingml/2006/main">
              <a:ext uri="{FF2B5EF4-FFF2-40B4-BE49-F238E27FC236}">
                <a16:creationId xmlns:a16="http://schemas.microsoft.com/office/drawing/2014/main" id="{FEDEC342-E810-46D0-A775-46CCDB08C966}"/>
              </a:ext>
            </a:extLst>
          </p:cNvPr>
          <p:cNvSpPr>
            <a:spLocks xmlns:a="http://schemas.openxmlformats.org/drawingml/2006/main" noGrp="1"/>
          </p:cNvSpPr>
          <p:nvPr/>
        </p:nvSpPr>
        <p:spPr>
          <a:xfrm xmlns:a="http://schemas.openxmlformats.org/drawingml/2006/main">
            <a:off x="933450" y="27241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7211B"/>
                </a:solidFill>
              </a:defRPr>
            </a:pPr>
            <a:r>
              <a:rPr sz="1200" b="1" i="0">
                <a:solidFill>
                  <a:srgbClr val="17211B"/>
                </a:solidFill>
              </a:rPr>
              <a:t>Analyze by</a:t>
            </a:r>
          </a:p>
        </p:txBody>
      </p:sp>
      <p:sp>
        <p:nvSpPr>
          <p:cNvPr id="15" name="">
            <a:extLst xmlns:a="http://schemas.openxmlformats.org/drawingml/2006/main">
              <a:ext uri="{FF2B5EF4-FFF2-40B4-BE49-F238E27FC236}">
                <a16:creationId xmlns:a16="http://schemas.microsoft.com/office/drawing/2014/main" id="{4CFE7035-D08E-439A-8584-9B1AE46F8AB3}"/>
              </a:ext>
            </a:extLst>
          </p:cNvPr>
          <p:cNvSpPr>
            <a:spLocks xmlns:a="http://schemas.openxmlformats.org/drawingml/2006/main" noGrp="1"/>
          </p:cNvSpPr>
          <p:nvPr/>
        </p:nvSpPr>
        <p:spPr>
          <a:xfrm xmlns:a="http://schemas.openxmlformats.org/drawingml/2006/main">
            <a:off x="933450" y="3038475"/>
            <a:ext cx="2857500" cy="552450"/>
          </a:xfrm>
          <a:prstGeom xmlns:a="http://schemas.openxmlformats.org/drawingml/2006/main" prst="roundRect">
            <a:avLst>
              <a:gd name="adj" fmla="val 13793"/>
            </a:avLst>
          </a:prstGeom>
          <a:solidFill xmlns:a="http://schemas.openxmlformats.org/drawingml/2006/main">
            <a:srgbClr val="F8F7F3"/>
          </a:solidFill>
          <a:ln xmlns:a="http://schemas.openxmlformats.org/drawingml/2006/main" w="9525">
            <a:solidFill>
              <a:srgbClr val="DCDDD7"/>
            </a:solidFill>
            <a:prstDash val="solid"/>
          </a:ln>
        </p:spPr>
      </p:sp>
      <p:sp>
        <p:nvSpPr>
          <p:cNvPr id="16" name="">
            <a:extLst xmlns:a="http://schemas.openxmlformats.org/drawingml/2006/main">
              <a:ext uri="{FF2B5EF4-FFF2-40B4-BE49-F238E27FC236}">
                <a16:creationId xmlns:a16="http://schemas.microsoft.com/office/drawing/2014/main" id="{DA787697-4F5B-410B-BE44-6E37838BA713}"/>
              </a:ext>
            </a:extLst>
          </p:cNvPr>
          <p:cNvSpPr>
            <a:spLocks xmlns:a="http://schemas.openxmlformats.org/drawingml/2006/main" noGrp="1"/>
          </p:cNvSpPr>
          <p:nvPr/>
        </p:nvSpPr>
        <p:spPr>
          <a:xfrm xmlns:a="http://schemas.openxmlformats.org/drawingml/2006/main">
            <a:off x="1123950" y="31908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17211B"/>
                </a:solidFill>
              </a:defRPr>
            </a:pPr>
            <a:r>
              <a:rPr sz="1350" b="0" i="0">
                <a:solidFill>
                  <a:srgbClr val="17211B"/>
                </a:solidFill>
              </a:rPr>
              <a:t>Continent                     ▾</a:t>
            </a:r>
          </a:p>
        </p:txBody>
      </p:sp>
      <p:sp>
        <p:nvSpPr>
          <p:cNvPr id="17" name="">
            <a:extLst xmlns:a="http://schemas.openxmlformats.org/drawingml/2006/main">
              <a:ext uri="{FF2B5EF4-FFF2-40B4-BE49-F238E27FC236}">
                <a16:creationId xmlns:a16="http://schemas.microsoft.com/office/drawing/2014/main" id="{36A20308-F83A-40BB-99E7-C2EF273727EC}"/>
              </a:ext>
            </a:extLst>
          </p:cNvPr>
          <p:cNvSpPr>
            <a:spLocks xmlns:a="http://schemas.openxmlformats.org/drawingml/2006/main" noGrp="1"/>
          </p:cNvSpPr>
          <p:nvPr/>
        </p:nvSpPr>
        <p:spPr>
          <a:xfrm xmlns:a="http://schemas.openxmlformats.org/drawingml/2006/main">
            <a:off x="4114800" y="27241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17211B"/>
                </a:solidFill>
              </a:defRPr>
            </a:pPr>
            <a:r>
              <a:rPr sz="1200" b="1" i="0">
                <a:solidFill>
                  <a:srgbClr val="17211B"/>
                </a:solidFill>
              </a:rPr>
              <a:t>Select continent</a:t>
            </a:r>
          </a:p>
        </p:txBody>
      </p:sp>
      <p:sp>
        <p:nvSpPr>
          <p:cNvPr id="18" name="">
            <a:extLst xmlns:a="http://schemas.openxmlformats.org/drawingml/2006/main">
              <a:ext uri="{FF2B5EF4-FFF2-40B4-BE49-F238E27FC236}">
                <a16:creationId xmlns:a16="http://schemas.microsoft.com/office/drawing/2014/main" id="{E507CA49-B1DD-471D-A159-7EF1A0EC2E0B}"/>
              </a:ext>
            </a:extLst>
          </p:cNvPr>
          <p:cNvSpPr>
            <a:spLocks xmlns:a="http://schemas.openxmlformats.org/drawingml/2006/main" noGrp="1"/>
          </p:cNvSpPr>
          <p:nvPr/>
        </p:nvSpPr>
        <p:spPr>
          <a:xfrm xmlns:a="http://schemas.openxmlformats.org/drawingml/2006/main">
            <a:off x="4114800" y="3038475"/>
            <a:ext cx="2857500" cy="552450"/>
          </a:xfrm>
          <a:prstGeom xmlns:a="http://schemas.openxmlformats.org/drawingml/2006/main" prst="roundRect">
            <a:avLst>
              <a:gd name="adj" fmla="val 13793"/>
            </a:avLst>
          </a:prstGeom>
          <a:solidFill xmlns:a="http://schemas.openxmlformats.org/drawingml/2006/main">
            <a:srgbClr val="F8F7F3"/>
          </a:solidFill>
          <a:ln xmlns:a="http://schemas.openxmlformats.org/drawingml/2006/main" w="9525">
            <a:solidFill>
              <a:srgbClr val="DCDDD7"/>
            </a:solidFill>
            <a:prstDash val="solid"/>
          </a:ln>
        </p:spPr>
      </p:sp>
      <p:sp>
        <p:nvSpPr>
          <p:cNvPr id="19" name="">
            <a:extLst xmlns:a="http://schemas.openxmlformats.org/drawingml/2006/main">
              <a:ext uri="{FF2B5EF4-FFF2-40B4-BE49-F238E27FC236}">
                <a16:creationId xmlns:a16="http://schemas.microsoft.com/office/drawing/2014/main" id="{EAB83AB6-CF19-4BF2-94DA-92478DEB5729}"/>
              </a:ext>
            </a:extLst>
          </p:cNvPr>
          <p:cNvSpPr>
            <a:spLocks xmlns:a="http://schemas.openxmlformats.org/drawingml/2006/main" noGrp="1"/>
          </p:cNvSpPr>
          <p:nvPr/>
        </p:nvSpPr>
        <p:spPr>
          <a:xfrm xmlns:a="http://schemas.openxmlformats.org/drawingml/2006/main">
            <a:off x="4305300" y="319087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17211B"/>
                </a:solidFill>
              </a:defRPr>
            </a:pPr>
            <a:r>
              <a:rPr sz="1350" b="0" i="0">
                <a:solidFill>
                  <a:srgbClr val="17211B"/>
                </a:solidFill>
              </a:rPr>
              <a:t>Africa                          ▾</a:t>
            </a:r>
          </a:p>
        </p:txBody>
      </p:sp>
      <p:sp>
        <p:nvSpPr>
          <p:cNvPr id="20" name="">
            <a:extLst xmlns:a="http://schemas.openxmlformats.org/drawingml/2006/main">
              <a:ext uri="{FF2B5EF4-FFF2-40B4-BE49-F238E27FC236}">
                <a16:creationId xmlns:a16="http://schemas.microsoft.com/office/drawing/2014/main" id="{83874649-289D-4D30-A932-9C3C183A61A6}"/>
              </a:ext>
            </a:extLst>
          </p:cNvPr>
          <p:cNvSpPr>
            <a:spLocks xmlns:a="http://schemas.openxmlformats.org/drawingml/2006/main" noGrp="1"/>
          </p:cNvSpPr>
          <p:nvPr/>
        </p:nvSpPr>
        <p:spPr>
          <a:xfrm xmlns:a="http://schemas.openxmlformats.org/drawingml/2006/main">
            <a:off x="933450" y="4019550"/>
            <a:ext cx="2095500" cy="514350"/>
          </a:xfrm>
          <a:prstGeom xmlns:a="http://schemas.openxmlformats.org/drawingml/2006/main" prst="roundRect">
            <a:avLst>
              <a:gd name="adj" fmla="val 14815"/>
            </a:avLst>
          </a:prstGeom>
          <a:solidFill xmlns:a="http://schemas.openxmlformats.org/drawingml/2006/main">
            <a:srgbClr val="EDE1C8"/>
          </a:solidFill>
          <a:ln xmlns:a="http://schemas.openxmlformats.org/drawingml/2006/main" w="9525">
            <a:solidFill>
              <a:srgbClr val="C8A96A"/>
            </a:solidFill>
            <a:prstDash val="solid"/>
          </a:ln>
        </p:spPr>
      </p:sp>
      <p:sp>
        <p:nvSpPr>
          <p:cNvPr id="21" name="">
            <a:extLst xmlns:a="http://schemas.openxmlformats.org/drawingml/2006/main">
              <a:ext uri="{FF2B5EF4-FFF2-40B4-BE49-F238E27FC236}">
                <a16:creationId xmlns:a16="http://schemas.microsoft.com/office/drawing/2014/main" id="{A669ED9F-53DB-4DEB-8DAF-1EE7FC00C73B}"/>
              </a:ext>
            </a:extLst>
          </p:cNvPr>
          <p:cNvSpPr>
            <a:spLocks xmlns:a="http://schemas.openxmlformats.org/drawingml/2006/main" noGrp="1"/>
          </p:cNvSpPr>
          <p:nvPr/>
        </p:nvSpPr>
        <p:spPr>
          <a:xfrm xmlns:a="http://schemas.openxmlformats.org/drawingml/2006/main">
            <a:off x="933450" y="41529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123524"/>
                </a:solidFill>
              </a:defRPr>
            </a:pPr>
            <a:r>
              <a:rPr sz="1275" b="1" i="0">
                <a:solidFill>
                  <a:srgbClr val="123524"/>
                </a:solidFill>
              </a:rPr>
              <a:t>↻  Reset filters</a:t>
            </a:r>
          </a:p>
        </p:txBody>
      </p:sp>
      <p:sp>
        <p:nvSpPr>
          <p:cNvPr id="22" name="">
            <a:extLst xmlns:a="http://schemas.openxmlformats.org/drawingml/2006/main">
              <a:ext uri="{FF2B5EF4-FFF2-40B4-BE49-F238E27FC236}">
                <a16:creationId xmlns:a16="http://schemas.microsoft.com/office/drawing/2014/main" id="{6FC5DE35-28C6-4404-BC4E-41E7D2A12644}"/>
              </a:ext>
            </a:extLst>
          </p:cNvPr>
          <p:cNvSpPr>
            <a:spLocks xmlns:a="http://schemas.openxmlformats.org/drawingml/2006/main" noGrp="1"/>
          </p:cNvSpPr>
          <p:nvPr/>
        </p:nvSpPr>
        <p:spPr>
          <a:xfrm xmlns:a="http://schemas.openxmlformats.org/drawingml/2006/main">
            <a:off x="933450" y="4876800"/>
            <a:ext cx="6038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66736B"/>
                </a:solidFill>
              </a:defRPr>
            </a:pPr>
            <a:r>
              <a:rPr sz="1275" b="0" i="0">
                <a:solidFill>
                  <a:srgbClr val="66736B"/>
                </a:solidFill>
              </a:rPr>
              <a:t>The URL is updated, so the selected scope can be shared or restored.</a:t>
            </a:r>
          </a:p>
        </p:txBody>
      </p:sp>
      <p:sp>
        <p:nvSpPr>
          <p:cNvPr id="23" name="">
            <a:extLst xmlns:a="http://schemas.openxmlformats.org/drawingml/2006/main">
              <a:ext uri="{FF2B5EF4-FFF2-40B4-BE49-F238E27FC236}">
                <a16:creationId xmlns:a16="http://schemas.microsoft.com/office/drawing/2014/main" id="{295A7533-C5BD-4B18-A7B3-27BA7CE7EF56}"/>
              </a:ext>
            </a:extLst>
          </p:cNvPr>
          <p:cNvSpPr>
            <a:spLocks xmlns:a="http://schemas.openxmlformats.org/drawingml/2006/main" noGrp="1"/>
          </p:cNvSpPr>
          <p:nvPr/>
        </p:nvSpPr>
        <p:spPr>
          <a:xfrm xmlns:a="http://schemas.openxmlformats.org/drawingml/2006/main">
            <a:off x="8420100" y="152400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23524"/>
                </a:solidFill>
              </a:defRPr>
            </a:pPr>
            <a:r>
              <a:rPr sz="1725" b="1" i="0">
                <a:solidFill>
                  <a:srgbClr val="123524"/>
                </a:solidFill>
              </a:rPr>
              <a:t>What changed</a:t>
            </a:r>
          </a:p>
        </p:txBody>
      </p:sp>
      <p:sp>
        <p:nvSpPr>
          <p:cNvPr id="24" name="">
            <a:extLst xmlns:a="http://schemas.openxmlformats.org/drawingml/2006/main">
              <a:ext uri="{FF2B5EF4-FFF2-40B4-BE49-F238E27FC236}">
                <a16:creationId xmlns:a16="http://schemas.microsoft.com/office/drawing/2014/main" id="{8E83E5FA-04F8-4864-AEEB-827BD8B0A4B0}"/>
              </a:ext>
            </a:extLst>
          </p:cNvPr>
          <p:cNvSpPr>
            <a:spLocks xmlns:a="http://schemas.openxmlformats.org/drawingml/2006/main" noGrp="1"/>
          </p:cNvSpPr>
          <p:nvPr/>
        </p:nvSpPr>
        <p:spPr>
          <a:xfrm xmlns:a="http://schemas.openxmlformats.org/drawingml/2006/main">
            <a:off x="8458200" y="2152650"/>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BC14352-968B-4979-970B-15ECCC0E3A24}"/>
              </a:ext>
            </a:extLst>
          </p:cNvPr>
          <p:cNvSpPr>
            <a:spLocks xmlns:a="http://schemas.openxmlformats.org/drawingml/2006/main" noGrp="1"/>
          </p:cNvSpPr>
          <p:nvPr/>
        </p:nvSpPr>
        <p:spPr>
          <a:xfrm xmlns:a="http://schemas.openxmlformats.org/drawingml/2006/main">
            <a:off x="8686800" y="207645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17211B"/>
                </a:solidFill>
              </a:defRPr>
            </a:pPr>
            <a:r>
              <a:rPr sz="1350" b="0" i="0">
                <a:solidFill>
                  <a:srgbClr val="17211B"/>
                </a:solidFill>
              </a:rPr>
              <a:t>Analyze by control</a:t>
            </a:r>
          </a:p>
        </p:txBody>
      </p:sp>
      <p:sp>
        <p:nvSpPr>
          <p:cNvPr id="26" name="">
            <a:extLst xmlns:a="http://schemas.openxmlformats.org/drawingml/2006/main">
              <a:ext uri="{FF2B5EF4-FFF2-40B4-BE49-F238E27FC236}">
                <a16:creationId xmlns:a16="http://schemas.microsoft.com/office/drawing/2014/main" id="{F6D9DCBB-AADD-4618-B235-5F65EDE969BA}"/>
              </a:ext>
            </a:extLst>
          </p:cNvPr>
          <p:cNvSpPr>
            <a:spLocks xmlns:a="http://schemas.openxmlformats.org/drawingml/2006/main" noGrp="1"/>
          </p:cNvSpPr>
          <p:nvPr/>
        </p:nvSpPr>
        <p:spPr>
          <a:xfrm xmlns:a="http://schemas.openxmlformats.org/drawingml/2006/main">
            <a:off x="8458200" y="2705100"/>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27A7754-ECC1-4A8D-9B66-C064FFF8EC3B}"/>
              </a:ext>
            </a:extLst>
          </p:cNvPr>
          <p:cNvSpPr>
            <a:spLocks xmlns:a="http://schemas.openxmlformats.org/drawingml/2006/main" noGrp="1"/>
          </p:cNvSpPr>
          <p:nvPr/>
        </p:nvSpPr>
        <p:spPr>
          <a:xfrm xmlns:a="http://schemas.openxmlformats.org/drawingml/2006/main">
            <a:off x="8686800" y="262890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17211B"/>
                </a:solidFill>
              </a:defRPr>
            </a:pPr>
            <a:r>
              <a:rPr sz="1350" b="0" i="0">
                <a:solidFill>
                  <a:srgbClr val="17211B"/>
                </a:solidFill>
              </a:rPr>
              <a:t>Country / continent / region value</a:t>
            </a:r>
          </a:p>
        </p:txBody>
      </p:sp>
      <p:sp>
        <p:nvSpPr>
          <p:cNvPr id="28" name="">
            <a:extLst xmlns:a="http://schemas.openxmlformats.org/drawingml/2006/main">
              <a:ext uri="{FF2B5EF4-FFF2-40B4-BE49-F238E27FC236}">
                <a16:creationId xmlns:a16="http://schemas.microsoft.com/office/drawing/2014/main" id="{7A73AC24-AD9C-4476-BD72-5232DAC2D6F6}"/>
              </a:ext>
            </a:extLst>
          </p:cNvPr>
          <p:cNvSpPr>
            <a:spLocks xmlns:a="http://schemas.openxmlformats.org/drawingml/2006/main" noGrp="1"/>
          </p:cNvSpPr>
          <p:nvPr/>
        </p:nvSpPr>
        <p:spPr>
          <a:xfrm xmlns:a="http://schemas.openxmlformats.org/drawingml/2006/main">
            <a:off x="8458200" y="3257550"/>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578BB7B-7196-45B7-9DD2-54728259B4AC}"/>
              </a:ext>
            </a:extLst>
          </p:cNvPr>
          <p:cNvSpPr>
            <a:spLocks xmlns:a="http://schemas.openxmlformats.org/drawingml/2006/main" noGrp="1"/>
          </p:cNvSpPr>
          <p:nvPr/>
        </p:nvSpPr>
        <p:spPr>
          <a:xfrm xmlns:a="http://schemas.openxmlformats.org/drawingml/2006/main">
            <a:off x="8686800" y="318135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17211B"/>
                </a:solidFill>
              </a:defRPr>
            </a:pPr>
            <a:r>
              <a:rPr sz="1350" b="0" i="0">
                <a:solidFill>
                  <a:srgbClr val="17211B"/>
                </a:solidFill>
              </a:rPr>
              <a:t>Reset filters</a:t>
            </a:r>
          </a:p>
        </p:txBody>
      </p:sp>
      <p:sp>
        <p:nvSpPr>
          <p:cNvPr id="30" name="">
            <a:extLst xmlns:a="http://schemas.openxmlformats.org/drawingml/2006/main">
              <a:ext uri="{FF2B5EF4-FFF2-40B4-BE49-F238E27FC236}">
                <a16:creationId xmlns:a16="http://schemas.microsoft.com/office/drawing/2014/main" id="{D4DDB4B3-1EE0-4C36-9FC4-B39F14F6A3DE}"/>
              </a:ext>
            </a:extLst>
          </p:cNvPr>
          <p:cNvSpPr>
            <a:spLocks xmlns:a="http://schemas.openxmlformats.org/drawingml/2006/main" noGrp="1"/>
          </p:cNvSpPr>
          <p:nvPr/>
        </p:nvSpPr>
        <p:spPr>
          <a:xfrm xmlns:a="http://schemas.openxmlformats.org/drawingml/2006/main">
            <a:off x="8458200" y="3810000"/>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2759055-41EF-4126-AE69-DC80CC3A984D}"/>
              </a:ext>
            </a:extLst>
          </p:cNvPr>
          <p:cNvSpPr>
            <a:spLocks xmlns:a="http://schemas.openxmlformats.org/drawingml/2006/main" noGrp="1"/>
          </p:cNvSpPr>
          <p:nvPr/>
        </p:nvSpPr>
        <p:spPr>
          <a:xfrm xmlns:a="http://schemas.openxmlformats.org/drawingml/2006/main">
            <a:off x="8686800" y="373380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17211B"/>
                </a:solidFill>
              </a:defRPr>
            </a:pPr>
            <a:r>
              <a:rPr sz="1350" b="0" i="0">
                <a:solidFill>
                  <a:srgbClr val="17211B"/>
                </a:solidFill>
              </a:rPr>
              <a:t>Current scope label</a:t>
            </a:r>
          </a:p>
        </p:txBody>
      </p:sp>
      <p:sp>
        <p:nvSpPr>
          <p:cNvPr id="32" name="">
            <a:extLst xmlns:a="http://schemas.openxmlformats.org/drawingml/2006/main">
              <a:ext uri="{FF2B5EF4-FFF2-40B4-BE49-F238E27FC236}">
                <a16:creationId xmlns:a16="http://schemas.microsoft.com/office/drawing/2014/main" id="{2758EEEF-8DDC-44C6-BB70-A0CA11785489}"/>
              </a:ext>
            </a:extLst>
          </p:cNvPr>
          <p:cNvSpPr>
            <a:spLocks xmlns:a="http://schemas.openxmlformats.org/drawingml/2006/main" noGrp="1"/>
          </p:cNvSpPr>
          <p:nvPr/>
        </p:nvSpPr>
        <p:spPr>
          <a:xfrm xmlns:a="http://schemas.openxmlformats.org/drawingml/2006/main">
            <a:off x="8458200" y="4362450"/>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6A6B62B-4923-4778-A897-0728C4AA8F4F}"/>
              </a:ext>
            </a:extLst>
          </p:cNvPr>
          <p:cNvSpPr>
            <a:spLocks xmlns:a="http://schemas.openxmlformats.org/drawingml/2006/main" noGrp="1"/>
          </p:cNvSpPr>
          <p:nvPr/>
        </p:nvSpPr>
        <p:spPr>
          <a:xfrm xmlns:a="http://schemas.openxmlformats.org/drawingml/2006/main">
            <a:off x="8686800" y="428625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17211B"/>
                </a:solidFill>
              </a:defRPr>
            </a:pPr>
            <a:r>
              <a:rPr sz="1350" b="0" i="0">
                <a:solidFill>
                  <a:srgbClr val="17211B"/>
                </a:solidFill>
              </a:rPr>
              <a:t>Loading and error state</a:t>
            </a:r>
          </a:p>
        </p:txBody>
      </p:sp>
      <p:sp>
        <p:nvSpPr>
          <p:cNvPr id="34" name="">
            <a:extLst xmlns:a="http://schemas.openxmlformats.org/drawingml/2006/main">
              <a:ext uri="{FF2B5EF4-FFF2-40B4-BE49-F238E27FC236}">
                <a16:creationId xmlns:a16="http://schemas.microsoft.com/office/drawing/2014/main" id="{1FC05CD0-BFC0-4E6E-9D72-7A434192CB31}"/>
              </a:ext>
            </a:extLst>
          </p:cNvPr>
          <p:cNvSpPr>
            <a:spLocks xmlns:a="http://schemas.openxmlformats.org/drawingml/2006/main" noGrp="1"/>
          </p:cNvSpPr>
          <p:nvPr/>
        </p:nvSpPr>
        <p:spPr>
          <a:xfrm xmlns:a="http://schemas.openxmlformats.org/drawingml/2006/main">
            <a:off x="8458200" y="4914900"/>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E280C29-BC28-434A-BBA6-B4AD7CADAA1F}"/>
              </a:ext>
            </a:extLst>
          </p:cNvPr>
          <p:cNvSpPr>
            <a:spLocks xmlns:a="http://schemas.openxmlformats.org/drawingml/2006/main" noGrp="1"/>
          </p:cNvSpPr>
          <p:nvPr/>
        </p:nvSpPr>
        <p:spPr>
          <a:xfrm xmlns:a="http://schemas.openxmlformats.org/drawingml/2006/main">
            <a:off x="8686800" y="4838700"/>
            <a:ext cx="2686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17211B"/>
                </a:solidFill>
              </a:defRPr>
            </a:pPr>
            <a:r>
              <a:rPr sz="1350" b="0" i="0">
                <a:solidFill>
                  <a:srgbClr val="17211B"/>
                </a:solidFill>
              </a:rPr>
              <a:t>URL synchronization</a:t>
            </a:r>
          </a:p>
        </p:txBody>
      </p:sp>
    </p:spTree>
    <p:extLst>
      <p:ext uri="{BB962C8B-B14F-4D97-AF65-F5344CB8AC3E}">
        <p14:creationId xmlns:p14="http://schemas.microsoft.com/office/powerpoint/2010/main" val="1782730638"/>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9E9992D-D17E-4CA7-B9AA-A87C897535F4}"/>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3A09A29-643C-4DDD-A38B-9AD6462CE9CF}"/>
              </a:ext>
            </a:extLst>
          </p:cNvPr>
          <p:cNvSpPr>
            <a:spLocks xmlns:a="http://schemas.openxmlformats.org/drawingml/2006/main" noGrp="1"/>
          </p:cNvSpPr>
          <p:nvPr/>
        </p:nvSpPr>
        <p:spPr>
          <a:xfrm xmlns:a="http://schemas.openxmlformats.org/drawingml/2006/main">
            <a:off x="609600" y="523875"/>
            <a:ext cx="66675" cy="476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8614F90-2783-4915-9BBD-3708E40C46CF}"/>
              </a:ext>
            </a:extLst>
          </p:cNvPr>
          <p:cNvSpPr>
            <a:spLocks xmlns:a="http://schemas.openxmlformats.org/drawingml/2006/main" noGrp="1"/>
          </p:cNvSpPr>
          <p:nvPr/>
        </p:nvSpPr>
        <p:spPr>
          <a:xfrm xmlns:a="http://schemas.openxmlformats.org/drawingml/2006/main">
            <a:off x="838200" y="4572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A96A"/>
                </a:solidFill>
              </a:defRPr>
            </a:pPr>
            <a:r>
              <a:rPr sz="975" b="1" i="0">
                <a:solidFill>
                  <a:srgbClr val="C8A96A"/>
                </a:solidFill>
              </a:rPr>
              <a:t>CHART.JS UPDATE</a:t>
            </a:r>
          </a:p>
        </p:txBody>
      </p:sp>
      <p:sp>
        <p:nvSpPr>
          <p:cNvPr id="4" name="">
            <a:extLst xmlns:a="http://schemas.openxmlformats.org/drawingml/2006/main">
              <a:ext uri="{FF2B5EF4-FFF2-40B4-BE49-F238E27FC236}">
                <a16:creationId xmlns:a16="http://schemas.microsoft.com/office/drawing/2014/main" id="{06744806-5EC5-456F-9086-1CB87D66DB8E}"/>
              </a:ext>
            </a:extLst>
          </p:cNvPr>
          <p:cNvSpPr>
            <a:spLocks xmlns:a="http://schemas.openxmlformats.org/drawingml/2006/main" noGrp="1"/>
          </p:cNvSpPr>
          <p:nvPr/>
        </p:nvSpPr>
        <p:spPr>
          <a:xfrm xmlns:a="http://schemas.openxmlformats.org/drawingml/2006/main">
            <a:off x="838200" y="65722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524"/>
                </a:solidFill>
              </a:defRPr>
            </a:pPr>
            <a:r>
              <a:rPr sz="2700" b="1" i="0">
                <a:solidFill>
                  <a:srgbClr val="123524"/>
                </a:solidFill>
              </a:rPr>
              <a:t>Existing chart objects are updated, not recreated</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352c5146817c4390"/>
          <a:stretch xmlns:a="http://schemas.openxmlformats.org/drawingml/2006/main"/>
        </p:blipFill>
        <p:spPr>
          <a:xfrm xmlns:a="http://schemas.openxmlformats.org/drawingml/2006/main">
            <a:off x="11125200" y="428625"/>
            <a:ext cx="495300" cy="495300"/>
          </a:xfrm>
          <a:prstGeom xmlns:a="http://schemas.openxmlformats.org/drawingml/2006/main" prst="roundRect">
            <a:avLst>
              <a:gd name="adj" fmla="val 23077"/>
            </a:avLst>
          </a:prstGeom>
        </p:spPr>
      </p:pic>
      <p:sp>
        <p:nvSpPr>
          <p:cNvPr id="6" name="">
            <a:extLst xmlns:a="http://schemas.openxmlformats.org/drawingml/2006/main">
              <a:ext uri="{FF2B5EF4-FFF2-40B4-BE49-F238E27FC236}">
                <a16:creationId xmlns:a16="http://schemas.microsoft.com/office/drawing/2014/main" id="{BA4EDD64-D557-416A-A21F-A76D480B29BE}"/>
              </a:ext>
            </a:extLst>
          </p:cNvPr>
          <p:cNvSpPr>
            <a:spLocks xmlns:a="http://schemas.openxmlformats.org/drawingml/2006/main" noGrp="1"/>
          </p:cNvSpPr>
          <p:nvPr/>
        </p:nvSpPr>
        <p:spPr>
          <a:xfrm xmlns:a="http://schemas.openxmlformats.org/drawingml/2006/main">
            <a:off x="609600" y="6457950"/>
            <a:ext cx="10972800" cy="9525"/>
          </a:xfrm>
          <a:prstGeom xmlns:a="http://schemas.openxmlformats.org/drawingml/2006/main" prst="rect">
            <a:avLst/>
          </a:prstGeom>
          <a:solidFill xmlns:a="http://schemas.openxmlformats.org/drawingml/2006/main">
            <a:srgbClr val="DCDDD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DFA46A8-E8BE-4299-BDD7-2616A117C009}"/>
              </a:ext>
            </a:extLst>
          </p:cNvPr>
          <p:cNvSpPr>
            <a:spLocks xmlns:a="http://schemas.openxmlformats.org/drawingml/2006/main" noGrp="1"/>
          </p:cNvSpPr>
          <p:nvPr/>
        </p:nvSpPr>
        <p:spPr>
          <a:xfrm xmlns:a="http://schemas.openxmlformats.org/drawingml/2006/main">
            <a:off x="609600" y="6543675"/>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66736B"/>
                </a:solidFill>
              </a:defRPr>
            </a:pPr>
            <a:r>
              <a:rPr sz="825" b="0" i="0">
                <a:solidFill>
                  <a:srgbClr val="66736B"/>
                </a:solidFill>
              </a:rPr>
              <a:t>Traditional Governance  •  Interactive Statistics</a:t>
            </a:r>
          </a:p>
        </p:txBody>
      </p:sp>
      <p:sp>
        <p:nvSpPr>
          <p:cNvPr id="8" name="">
            <a:extLst xmlns:a="http://schemas.openxmlformats.org/drawingml/2006/main">
              <a:ext uri="{FF2B5EF4-FFF2-40B4-BE49-F238E27FC236}">
                <a16:creationId xmlns:a16="http://schemas.microsoft.com/office/drawing/2014/main" id="{862CB43D-87F5-48AA-B4E7-C8BDD7B0DD68}"/>
              </a:ext>
            </a:extLst>
          </p:cNvPr>
          <p:cNvSpPr>
            <a:spLocks xmlns:a="http://schemas.openxmlformats.org/drawingml/2006/main" noGrp="1"/>
          </p:cNvSpPr>
          <p:nvPr/>
        </p:nvSpPr>
        <p:spPr>
          <a:xfrm xmlns:a="http://schemas.openxmlformats.org/drawingml/2006/main">
            <a:off x="11068050" y="65246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123524"/>
                </a:solidFill>
              </a:defRPr>
            </a:pPr>
            <a:r>
              <a:rPr sz="900" b="1" i="0">
                <a:solidFill>
                  <a:srgbClr val="123524"/>
                </a:solidFill>
              </a:rPr>
              <a:t>09</a:t>
            </a:r>
          </a:p>
        </p:txBody>
      </p:sp>
      <p:sp>
        <p:nvSpPr>
          <p:cNvPr id="9" name="">
            <a:extLst xmlns:a="http://schemas.openxmlformats.org/drawingml/2006/main">
              <a:ext uri="{FF2B5EF4-FFF2-40B4-BE49-F238E27FC236}">
                <a16:creationId xmlns:a16="http://schemas.microsoft.com/office/drawing/2014/main" id="{89168FD2-4456-4818-B650-436D42F45EAB}"/>
              </a:ext>
            </a:extLst>
          </p:cNvPr>
          <p:cNvSpPr>
            <a:spLocks xmlns:a="http://schemas.openxmlformats.org/drawingml/2006/main" noGrp="1"/>
          </p:cNvSpPr>
          <p:nvPr/>
        </p:nvSpPr>
        <p:spPr>
          <a:xfrm xmlns:a="http://schemas.openxmlformats.org/drawingml/2006/main">
            <a:off x="781050" y="1619250"/>
            <a:ext cx="704850" cy="70485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F39C6A8-40ED-4231-81AB-4FAB3A6900D3}"/>
              </a:ext>
            </a:extLst>
          </p:cNvPr>
          <p:cNvSpPr>
            <a:spLocks xmlns:a="http://schemas.openxmlformats.org/drawingml/2006/main" noGrp="1"/>
          </p:cNvSpPr>
          <p:nvPr/>
        </p:nvSpPr>
        <p:spPr>
          <a:xfrm xmlns:a="http://schemas.openxmlformats.org/drawingml/2006/main">
            <a:off x="781050" y="1790700"/>
            <a:ext cx="70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i="0">
                <a:solidFill>
                  <a:srgbClr val="FFFFFF"/>
                </a:solidFill>
              </a:defRPr>
            </a:pPr>
            <a:r>
              <a:rPr sz="1875" b="1" i="0">
                <a:solidFill>
                  <a:srgbClr val="FFFFFF"/>
                </a:solidFill>
              </a:rPr>
              <a:t>1</a:t>
            </a:r>
          </a:p>
        </p:txBody>
      </p:sp>
      <p:sp>
        <p:nvSpPr>
          <p:cNvPr id="11" name="">
            <a:extLst xmlns:a="http://schemas.openxmlformats.org/drawingml/2006/main">
              <a:ext uri="{FF2B5EF4-FFF2-40B4-BE49-F238E27FC236}">
                <a16:creationId xmlns:a16="http://schemas.microsoft.com/office/drawing/2014/main" id="{25DD3804-5ADD-41FE-A5B8-312E51320142}"/>
              </a:ext>
            </a:extLst>
          </p:cNvPr>
          <p:cNvSpPr>
            <a:spLocks xmlns:a="http://schemas.openxmlformats.org/drawingml/2006/main" noGrp="1"/>
          </p:cNvSpPr>
          <p:nvPr/>
        </p:nvSpPr>
        <p:spPr>
          <a:xfrm xmlns:a="http://schemas.openxmlformats.org/drawingml/2006/main">
            <a:off x="1809750" y="1628775"/>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23524"/>
                </a:solidFill>
              </a:defRPr>
            </a:pPr>
            <a:r>
              <a:rPr sz="1800" b="1" i="0">
                <a:solidFill>
                  <a:srgbClr val="123524"/>
                </a:solidFill>
              </a:rPr>
              <a:t>Keep the chart instance</a:t>
            </a:r>
          </a:p>
        </p:txBody>
      </p:sp>
      <p:sp>
        <p:nvSpPr>
          <p:cNvPr id="12" name="">
            <a:extLst xmlns:a="http://schemas.openxmlformats.org/drawingml/2006/main">
              <a:ext uri="{FF2B5EF4-FFF2-40B4-BE49-F238E27FC236}">
                <a16:creationId xmlns:a16="http://schemas.microsoft.com/office/drawing/2014/main" id="{4751E9A1-F30C-44C9-ACA3-6AFED70D65C6}"/>
              </a:ext>
            </a:extLst>
          </p:cNvPr>
          <p:cNvSpPr>
            <a:spLocks xmlns:a="http://schemas.openxmlformats.org/drawingml/2006/main" noGrp="1"/>
          </p:cNvSpPr>
          <p:nvPr/>
        </p:nvSpPr>
        <p:spPr>
          <a:xfrm xmlns:a="http://schemas.openxmlformats.org/drawingml/2006/main">
            <a:off x="1809750" y="2028825"/>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66736B"/>
                </a:solidFill>
              </a:defRPr>
            </a:pPr>
            <a:r>
              <a:rPr sz="1350" b="0" i="0">
                <a:solidFill>
                  <a:srgbClr val="66736B"/>
                </a:solidFill>
              </a:rPr>
              <a:t>Leadership, functions, recognition, distribution, largest groups, top countries</a:t>
            </a:r>
          </a:p>
        </p:txBody>
      </p:sp>
      <p:sp>
        <p:nvSpPr>
          <p:cNvPr id="13" name="">
            <a:extLst xmlns:a="http://schemas.openxmlformats.org/drawingml/2006/main">
              <a:ext uri="{FF2B5EF4-FFF2-40B4-BE49-F238E27FC236}">
                <a16:creationId xmlns:a16="http://schemas.microsoft.com/office/drawing/2014/main" id="{8479A731-00F1-4910-8022-85F6C8FB0622}"/>
              </a:ext>
            </a:extLst>
          </p:cNvPr>
          <p:cNvSpPr>
            <a:spLocks xmlns:a="http://schemas.openxmlformats.org/drawingml/2006/main" noGrp="1"/>
          </p:cNvSpPr>
          <p:nvPr/>
        </p:nvSpPr>
        <p:spPr>
          <a:xfrm xmlns:a="http://schemas.openxmlformats.org/drawingml/2006/main">
            <a:off x="962025" y="2457450"/>
            <a:ext cx="34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C8A96A"/>
                </a:solidFill>
              </a:defRPr>
            </a:pPr>
            <a:r>
              <a:rPr sz="2100" b="1" i="0">
                <a:solidFill>
                  <a:srgbClr val="C8A96A"/>
                </a:solidFill>
              </a:rPr>
              <a:t>↓</a:t>
            </a:r>
          </a:p>
        </p:txBody>
      </p:sp>
      <p:sp>
        <p:nvSpPr>
          <p:cNvPr id="14" name="">
            <a:extLst xmlns:a="http://schemas.openxmlformats.org/drawingml/2006/main">
              <a:ext uri="{FF2B5EF4-FFF2-40B4-BE49-F238E27FC236}">
                <a16:creationId xmlns:a16="http://schemas.microsoft.com/office/drawing/2014/main" id="{FCFBB59A-1D91-4536-8CAB-D5575773B92D}"/>
              </a:ext>
            </a:extLst>
          </p:cNvPr>
          <p:cNvSpPr>
            <a:spLocks xmlns:a="http://schemas.openxmlformats.org/drawingml/2006/main" noGrp="1"/>
          </p:cNvSpPr>
          <p:nvPr/>
        </p:nvSpPr>
        <p:spPr>
          <a:xfrm xmlns:a="http://schemas.openxmlformats.org/drawingml/2006/main">
            <a:off x="781050" y="3000375"/>
            <a:ext cx="704850" cy="70485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1D1C42E-F91A-41C9-8FE0-45D32F0A4718}"/>
              </a:ext>
            </a:extLst>
          </p:cNvPr>
          <p:cNvSpPr>
            <a:spLocks xmlns:a="http://schemas.openxmlformats.org/drawingml/2006/main" noGrp="1"/>
          </p:cNvSpPr>
          <p:nvPr/>
        </p:nvSpPr>
        <p:spPr>
          <a:xfrm xmlns:a="http://schemas.openxmlformats.org/drawingml/2006/main">
            <a:off x="781050" y="3171825"/>
            <a:ext cx="70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i="0">
                <a:solidFill>
                  <a:srgbClr val="FFFFFF"/>
                </a:solidFill>
              </a:defRPr>
            </a:pPr>
            <a:r>
              <a:rPr sz="1875" b="1" i="0">
                <a:solidFill>
                  <a:srgbClr val="FFFFFF"/>
                </a:solidFill>
              </a:rPr>
              <a:t>2</a:t>
            </a:r>
          </a:p>
        </p:txBody>
      </p:sp>
      <p:sp>
        <p:nvSpPr>
          <p:cNvPr id="16" name="">
            <a:extLst xmlns:a="http://schemas.openxmlformats.org/drawingml/2006/main">
              <a:ext uri="{FF2B5EF4-FFF2-40B4-BE49-F238E27FC236}">
                <a16:creationId xmlns:a16="http://schemas.microsoft.com/office/drawing/2014/main" id="{99878B48-B40B-47B9-B430-49BF5A94FC0D}"/>
              </a:ext>
            </a:extLst>
          </p:cNvPr>
          <p:cNvSpPr>
            <a:spLocks xmlns:a="http://schemas.openxmlformats.org/drawingml/2006/main" noGrp="1"/>
          </p:cNvSpPr>
          <p:nvPr/>
        </p:nvSpPr>
        <p:spPr>
          <a:xfrm xmlns:a="http://schemas.openxmlformats.org/drawingml/2006/main">
            <a:off x="1809750" y="3009900"/>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23524"/>
                </a:solidFill>
              </a:defRPr>
            </a:pPr>
            <a:r>
              <a:rPr sz="1800" b="1" i="0">
                <a:solidFill>
                  <a:srgbClr val="123524"/>
                </a:solidFill>
              </a:rPr>
              <a:t>Replace labels and values</a:t>
            </a:r>
          </a:p>
        </p:txBody>
      </p:sp>
      <p:sp>
        <p:nvSpPr>
          <p:cNvPr id="17" name="">
            <a:extLst xmlns:a="http://schemas.openxmlformats.org/drawingml/2006/main">
              <a:ext uri="{FF2B5EF4-FFF2-40B4-BE49-F238E27FC236}">
                <a16:creationId xmlns:a16="http://schemas.microsoft.com/office/drawing/2014/main" id="{6402943B-3AFA-4BFA-A287-562522B60E1F}"/>
              </a:ext>
            </a:extLst>
          </p:cNvPr>
          <p:cNvSpPr>
            <a:spLocks xmlns:a="http://schemas.openxmlformats.org/drawingml/2006/main" noGrp="1"/>
          </p:cNvSpPr>
          <p:nvPr/>
        </p:nvSpPr>
        <p:spPr>
          <a:xfrm xmlns:a="http://schemas.openxmlformats.org/drawingml/2006/main">
            <a:off x="1809750" y="340995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66736B"/>
                </a:solidFill>
              </a:defRPr>
            </a:pPr>
            <a:r>
              <a:rPr sz="1350" b="0" i="0">
                <a:solidFill>
                  <a:srgbClr val="66736B"/>
                </a:solidFill>
              </a:rPr>
              <a:t>The JSON response becomes the next chart.data object</a:t>
            </a:r>
          </a:p>
        </p:txBody>
      </p:sp>
      <p:sp>
        <p:nvSpPr>
          <p:cNvPr id="18" name="">
            <a:extLst xmlns:a="http://schemas.openxmlformats.org/drawingml/2006/main">
              <a:ext uri="{FF2B5EF4-FFF2-40B4-BE49-F238E27FC236}">
                <a16:creationId xmlns:a16="http://schemas.microsoft.com/office/drawing/2014/main" id="{A148A251-8DDD-4710-BA82-3A17F69EF8C0}"/>
              </a:ext>
            </a:extLst>
          </p:cNvPr>
          <p:cNvSpPr>
            <a:spLocks xmlns:a="http://schemas.openxmlformats.org/drawingml/2006/main" noGrp="1"/>
          </p:cNvSpPr>
          <p:nvPr/>
        </p:nvSpPr>
        <p:spPr>
          <a:xfrm xmlns:a="http://schemas.openxmlformats.org/drawingml/2006/main">
            <a:off x="962025" y="3838575"/>
            <a:ext cx="342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i="0">
                <a:solidFill>
                  <a:srgbClr val="C8A96A"/>
                </a:solidFill>
              </a:defRPr>
            </a:pPr>
            <a:r>
              <a:rPr sz="2100" b="1" i="0">
                <a:solidFill>
                  <a:srgbClr val="C8A96A"/>
                </a:solidFill>
              </a:rPr>
              <a:t>↓</a:t>
            </a:r>
          </a:p>
        </p:txBody>
      </p:sp>
      <p:sp>
        <p:nvSpPr>
          <p:cNvPr id="19" name="">
            <a:extLst xmlns:a="http://schemas.openxmlformats.org/drawingml/2006/main">
              <a:ext uri="{FF2B5EF4-FFF2-40B4-BE49-F238E27FC236}">
                <a16:creationId xmlns:a16="http://schemas.microsoft.com/office/drawing/2014/main" id="{A54C5030-783D-450A-84A4-93FC33416B54}"/>
              </a:ext>
            </a:extLst>
          </p:cNvPr>
          <p:cNvSpPr>
            <a:spLocks xmlns:a="http://schemas.openxmlformats.org/drawingml/2006/main" noGrp="1"/>
          </p:cNvSpPr>
          <p:nvPr/>
        </p:nvSpPr>
        <p:spPr>
          <a:xfrm xmlns:a="http://schemas.openxmlformats.org/drawingml/2006/main">
            <a:off x="781050" y="4381500"/>
            <a:ext cx="704850" cy="704850"/>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A4075A3-F9D6-432A-AF9A-BA8EBF31C73D}"/>
              </a:ext>
            </a:extLst>
          </p:cNvPr>
          <p:cNvSpPr>
            <a:spLocks xmlns:a="http://schemas.openxmlformats.org/drawingml/2006/main" noGrp="1"/>
          </p:cNvSpPr>
          <p:nvPr/>
        </p:nvSpPr>
        <p:spPr>
          <a:xfrm xmlns:a="http://schemas.openxmlformats.org/drawingml/2006/main">
            <a:off x="781050" y="4552950"/>
            <a:ext cx="704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i="0">
                <a:solidFill>
                  <a:srgbClr val="0B2A1D"/>
                </a:solidFill>
              </a:defRPr>
            </a:pPr>
            <a:r>
              <a:rPr sz="1875" b="1" i="0">
                <a:solidFill>
                  <a:srgbClr val="0B2A1D"/>
                </a:solidFill>
              </a:rPr>
              <a:t>3</a:t>
            </a:r>
          </a:p>
        </p:txBody>
      </p:sp>
      <p:sp>
        <p:nvSpPr>
          <p:cNvPr id="21" name="">
            <a:extLst xmlns:a="http://schemas.openxmlformats.org/drawingml/2006/main">
              <a:ext uri="{FF2B5EF4-FFF2-40B4-BE49-F238E27FC236}">
                <a16:creationId xmlns:a16="http://schemas.microsoft.com/office/drawing/2014/main" id="{BD1906A9-E752-4CAE-83B6-A27CE908E9DD}"/>
              </a:ext>
            </a:extLst>
          </p:cNvPr>
          <p:cNvSpPr>
            <a:spLocks xmlns:a="http://schemas.openxmlformats.org/drawingml/2006/main" noGrp="1"/>
          </p:cNvSpPr>
          <p:nvPr/>
        </p:nvSpPr>
        <p:spPr>
          <a:xfrm xmlns:a="http://schemas.openxmlformats.org/drawingml/2006/main">
            <a:off x="1809750" y="4391025"/>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123524"/>
                </a:solidFill>
              </a:defRPr>
            </a:pPr>
            <a:r>
              <a:rPr sz="1800" b="1" i="0">
                <a:solidFill>
                  <a:srgbClr val="123524"/>
                </a:solidFill>
              </a:rPr>
              <a:t>Call chart.update()</a:t>
            </a:r>
          </a:p>
        </p:txBody>
      </p:sp>
      <p:sp>
        <p:nvSpPr>
          <p:cNvPr id="22" name="">
            <a:extLst xmlns:a="http://schemas.openxmlformats.org/drawingml/2006/main">
              <a:ext uri="{FF2B5EF4-FFF2-40B4-BE49-F238E27FC236}">
                <a16:creationId xmlns:a16="http://schemas.microsoft.com/office/drawing/2014/main" id="{B3110077-49F4-4843-9D8A-AF68AB007F9D}"/>
              </a:ext>
            </a:extLst>
          </p:cNvPr>
          <p:cNvSpPr>
            <a:spLocks xmlns:a="http://schemas.openxmlformats.org/drawingml/2006/main" noGrp="1"/>
          </p:cNvSpPr>
          <p:nvPr/>
        </p:nvSpPr>
        <p:spPr>
          <a:xfrm xmlns:a="http://schemas.openxmlformats.org/drawingml/2006/main">
            <a:off x="1809750" y="4791075"/>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66736B"/>
                </a:solidFill>
              </a:defRPr>
            </a:pPr>
            <a:r>
              <a:rPr sz="1350" b="0" i="0">
                <a:solidFill>
                  <a:srgbClr val="66736B"/>
                </a:solidFill>
              </a:rPr>
              <a:t>Chart.js redraws the same canvas smoothly</a:t>
            </a:r>
          </a:p>
        </p:txBody>
      </p:sp>
      <p:sp>
        <p:nvSpPr>
          <p:cNvPr id="23" name="">
            <a:extLst xmlns:a="http://schemas.openxmlformats.org/drawingml/2006/main">
              <a:ext uri="{FF2B5EF4-FFF2-40B4-BE49-F238E27FC236}">
                <a16:creationId xmlns:a16="http://schemas.microsoft.com/office/drawing/2014/main" id="{9060263B-BF28-4A66-B32C-B3783A3C079D}"/>
              </a:ext>
            </a:extLst>
          </p:cNvPr>
          <p:cNvSpPr>
            <a:spLocks xmlns:a="http://schemas.openxmlformats.org/drawingml/2006/main" noGrp="1"/>
          </p:cNvSpPr>
          <p:nvPr/>
        </p:nvSpPr>
        <p:spPr>
          <a:xfrm xmlns:a="http://schemas.openxmlformats.org/drawingml/2006/main">
            <a:off x="7086600" y="1676400"/>
            <a:ext cx="4191000" cy="3409950"/>
          </a:xfrm>
          <a:prstGeom xmlns:a="http://schemas.openxmlformats.org/drawingml/2006/main" prst="roundRect">
            <a:avLst>
              <a:gd name="adj" fmla="val 3352"/>
            </a:avLst>
          </a:prstGeom>
          <a:solidFill xmlns:a="http://schemas.openxmlformats.org/drawingml/2006/main">
            <a:srgbClr val="0B2A1D"/>
          </a:solidFill>
          <a:ln xmlns:a="http://schemas.openxmlformats.org/drawingml/2006/main" w="9525">
            <a:solidFill>
              <a:srgbClr val="0B2A1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0B55032F-C272-4102-BFF6-754A9389C150}"/>
              </a:ext>
            </a:extLst>
          </p:cNvPr>
          <p:cNvSpPr>
            <a:spLocks xmlns:a="http://schemas.openxmlformats.org/drawingml/2006/main" noGrp="1"/>
          </p:cNvSpPr>
          <p:nvPr/>
        </p:nvSpPr>
        <p:spPr>
          <a:xfrm xmlns:a="http://schemas.openxmlformats.org/drawingml/2006/main">
            <a:off x="7448550" y="2038350"/>
            <a:ext cx="3467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C8A96A"/>
                </a:solidFill>
              </a:defRPr>
            </a:pPr>
            <a:r>
              <a:rPr sz="1500" b="1" i="0">
                <a:solidFill>
                  <a:srgbClr val="C8A96A"/>
                </a:solidFill>
              </a:rPr>
              <a:t>Existing instance</a:t>
            </a:r>
          </a:p>
        </p:txBody>
      </p:sp>
      <p:sp>
        <p:nvSpPr>
          <p:cNvPr id="25" name="">
            <a:extLst xmlns:a="http://schemas.openxmlformats.org/drawingml/2006/main">
              <a:ext uri="{FF2B5EF4-FFF2-40B4-BE49-F238E27FC236}">
                <a16:creationId xmlns:a16="http://schemas.microsoft.com/office/drawing/2014/main" id="{4DB3897F-5D7A-49F3-91EC-2D217F62C2E9}"/>
              </a:ext>
            </a:extLst>
          </p:cNvPr>
          <p:cNvSpPr>
            <a:spLocks xmlns:a="http://schemas.openxmlformats.org/drawingml/2006/main" noGrp="1"/>
          </p:cNvSpPr>
          <p:nvPr/>
        </p:nvSpPr>
        <p:spPr>
          <a:xfrm xmlns:a="http://schemas.openxmlformats.org/drawingml/2006/main">
            <a:off x="7524750" y="2705100"/>
            <a:ext cx="3333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i="0">
                <a:solidFill>
                  <a:srgbClr val="FFFFFF"/>
                </a:solidFill>
              </a:defRPr>
            </a:pPr>
            <a:r>
              <a:rPr sz="1800" b="0" i="0">
                <a:solidFill>
                  <a:srgbClr val="FFFFFF"/>
                </a:solidFill>
              </a:rPr>
              <a:t>chart.data = nextData;</a:t>
            </a:r>
          </a:p>
          <a:p xmlns:a="http://schemas.openxmlformats.org/drawingml/2006/main">
            <a:pPr algn="l">
              <a:defRPr sz="1800" b="0" i="0">
                <a:solidFill>
                  <a:srgbClr val="FFFFFF"/>
                </a:solidFill>
              </a:defRPr>
            </a:pPr>
            <a:r>
              <a:rPr sz="1800" b="0" i="0">
                <a:solidFill>
                  <a:srgbClr val="FFFFFF"/>
                </a:solidFill>
              </a:rPr>
              <a:t>chart.options = nextOptions;</a:t>
            </a:r>
          </a:p>
          <a:p xmlns:a="http://schemas.openxmlformats.org/drawingml/2006/main">
            <a:pPr algn="l">
              <a:defRPr sz="1800" b="0" i="0">
                <a:solidFill>
                  <a:srgbClr val="FFFFFF"/>
                </a:solidFill>
              </a:defRPr>
            </a:pPr>
            <a:r>
              <a:rPr sz="1800" b="0" i="0">
                <a:solidFill>
                  <a:srgbClr val="FFFFFF"/>
                </a:solidFill>
              </a:rPr>
              <a:t>chart.update();</a:t>
            </a:r>
          </a:p>
        </p:txBody>
      </p:sp>
      <p:sp>
        <p:nvSpPr>
          <p:cNvPr id="26" name="">
            <a:extLst xmlns:a="http://schemas.openxmlformats.org/drawingml/2006/main">
              <a:ext uri="{FF2B5EF4-FFF2-40B4-BE49-F238E27FC236}">
                <a16:creationId xmlns:a16="http://schemas.microsoft.com/office/drawing/2014/main" id="{FAB190D0-DAB4-4834-ABAC-6CD2EA82A0D2}"/>
              </a:ext>
            </a:extLst>
          </p:cNvPr>
          <p:cNvSpPr>
            <a:spLocks xmlns:a="http://schemas.openxmlformats.org/drawingml/2006/main" noGrp="1"/>
          </p:cNvSpPr>
          <p:nvPr/>
        </p:nvSpPr>
        <p:spPr>
          <a:xfrm xmlns:a="http://schemas.openxmlformats.org/drawingml/2006/main">
            <a:off x="7886700" y="4267200"/>
            <a:ext cx="2647950" cy="438150"/>
          </a:xfrm>
          <a:prstGeom xmlns:a="http://schemas.openxmlformats.org/drawingml/2006/main" prst="roundRect">
            <a:avLst>
              <a:gd name="adj" fmla="val 17391"/>
            </a:avLst>
          </a:prstGeom>
          <a:solidFill xmlns:a="http://schemas.openxmlformats.org/drawingml/2006/main">
            <a:srgbClr val="C8A96A"/>
          </a:solidFill>
          <a:ln xmlns:a="http://schemas.openxmlformats.org/drawingml/2006/main" w="0">
            <a:solidFill>
              <a:srgbClr val="C8A96A"/>
            </a:solidFill>
            <a:prstDash val="solid"/>
          </a:ln>
        </p:spPr>
      </p:sp>
      <p:sp>
        <p:nvSpPr>
          <p:cNvPr id="27" name="">
            <a:extLst xmlns:a="http://schemas.openxmlformats.org/drawingml/2006/main">
              <a:ext uri="{FF2B5EF4-FFF2-40B4-BE49-F238E27FC236}">
                <a16:creationId xmlns:a16="http://schemas.microsoft.com/office/drawing/2014/main" id="{0E2C840A-A02F-48BD-90A6-0EF7C59E4B8A}"/>
              </a:ext>
            </a:extLst>
          </p:cNvPr>
          <p:cNvSpPr>
            <a:spLocks xmlns:a="http://schemas.openxmlformats.org/drawingml/2006/main" noGrp="1"/>
          </p:cNvSpPr>
          <p:nvPr/>
        </p:nvSpPr>
        <p:spPr>
          <a:xfrm xmlns:a="http://schemas.openxmlformats.org/drawingml/2006/main">
            <a:off x="7886700" y="4371975"/>
            <a:ext cx="2647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0B2A1D"/>
                </a:solidFill>
              </a:defRPr>
            </a:pPr>
            <a:r>
              <a:rPr sz="1275" b="1" i="0">
                <a:solidFill>
                  <a:srgbClr val="0B2A1D"/>
                </a:solidFill>
              </a:rPr>
              <a:t>No destroy → no rebuild</a:t>
            </a:r>
          </a:p>
        </p:txBody>
      </p:sp>
      <p:sp>
        <p:nvSpPr>
          <p:cNvPr id="28" name="">
            <a:extLst xmlns:a="http://schemas.openxmlformats.org/drawingml/2006/main">
              <a:ext uri="{FF2B5EF4-FFF2-40B4-BE49-F238E27FC236}">
                <a16:creationId xmlns:a16="http://schemas.microsoft.com/office/drawing/2014/main" id="{5ACE9A78-1277-42E5-A70D-E5D255EC6818}"/>
              </a:ext>
            </a:extLst>
          </p:cNvPr>
          <p:cNvSpPr>
            <a:spLocks xmlns:a="http://schemas.openxmlformats.org/drawingml/2006/main" noGrp="1"/>
          </p:cNvSpPr>
          <p:nvPr/>
        </p:nvSpPr>
        <p:spPr>
          <a:xfrm xmlns:a="http://schemas.openxmlformats.org/drawingml/2006/main">
            <a:off x="7086600" y="5257800"/>
            <a:ext cx="4191000" cy="647700"/>
          </a:xfrm>
          <a:prstGeom xmlns:a="http://schemas.openxmlformats.org/drawingml/2006/main" prst="roundRect">
            <a:avLst>
              <a:gd name="adj" fmla="val 11765"/>
            </a:avLst>
          </a:prstGeom>
          <a:solidFill xmlns:a="http://schemas.openxmlformats.org/drawingml/2006/main">
            <a:srgbClr val="EDE1C8"/>
          </a:solidFill>
          <a:ln xmlns:a="http://schemas.openxmlformats.org/drawingml/2006/main" w="9525">
            <a:solidFill>
              <a:srgbClr val="C8A96A"/>
            </a:solidFill>
            <a:prstDash val="solid"/>
          </a:ln>
        </p:spPr>
      </p:sp>
      <p:sp>
        <p:nvSpPr>
          <p:cNvPr id="29" name="">
            <a:extLst xmlns:a="http://schemas.openxmlformats.org/drawingml/2006/main">
              <a:ext uri="{FF2B5EF4-FFF2-40B4-BE49-F238E27FC236}">
                <a16:creationId xmlns:a16="http://schemas.microsoft.com/office/drawing/2014/main" id="{5FD131CC-7909-4490-A4BB-E0E1EC55C75E}"/>
              </a:ext>
            </a:extLst>
          </p:cNvPr>
          <p:cNvSpPr>
            <a:spLocks xmlns:a="http://schemas.openxmlformats.org/drawingml/2006/main" noGrp="1"/>
          </p:cNvSpPr>
          <p:nvPr/>
        </p:nvSpPr>
        <p:spPr>
          <a:xfrm xmlns:a="http://schemas.openxmlformats.org/drawingml/2006/main">
            <a:off x="7334250" y="5400675"/>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i="0">
                <a:solidFill>
                  <a:srgbClr val="123524"/>
                </a:solidFill>
              </a:defRPr>
            </a:pPr>
            <a:r>
              <a:rPr sz="1275" b="1" i="0">
                <a:solidFill>
                  <a:srgbClr val="123524"/>
                </a:solidFill>
              </a:rPr>
              <a:t>Benefit: less memory churn and a smoother visual transition.</a:t>
            </a:r>
          </a:p>
        </p:txBody>
      </p:sp>
    </p:spTree>
    <p:extLst>
      <p:ext uri="{BB962C8B-B14F-4D97-AF65-F5344CB8AC3E}">
        <p14:creationId xmlns:p14="http://schemas.microsoft.com/office/powerpoint/2010/main" val="1150556089"/>
      </p:ext>
    </p:extLst>
  </p:cSld>
</p:sld>
</file>

<file path=ppt/slides/slide10.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3546BA2-25C4-4F2F-96F7-6F526B879E54}"/>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D4E5586-CD5D-4EE4-B969-6F9C9AB7F079}"/>
              </a:ext>
            </a:extLst>
          </p:cNvPr>
          <p:cNvSpPr>
            <a:spLocks xmlns:a="http://schemas.openxmlformats.org/drawingml/2006/main" noGrp="1"/>
          </p:cNvSpPr>
          <p:nvPr/>
        </p:nvSpPr>
        <p:spPr>
          <a:xfrm xmlns:a="http://schemas.openxmlformats.org/drawingml/2006/main">
            <a:off x="609600" y="523875"/>
            <a:ext cx="66675" cy="476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A04C764-0789-46DC-B0D1-D6C13A2CDEE0}"/>
              </a:ext>
            </a:extLst>
          </p:cNvPr>
          <p:cNvSpPr>
            <a:spLocks xmlns:a="http://schemas.openxmlformats.org/drawingml/2006/main" noGrp="1"/>
          </p:cNvSpPr>
          <p:nvPr/>
        </p:nvSpPr>
        <p:spPr>
          <a:xfrm xmlns:a="http://schemas.openxmlformats.org/drawingml/2006/main">
            <a:off x="838200" y="4572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A96A"/>
                </a:solidFill>
              </a:defRPr>
            </a:pPr>
            <a:r>
              <a:rPr sz="975" b="1" i="0">
                <a:solidFill>
                  <a:srgbClr val="C8A96A"/>
                </a:solidFill>
              </a:rPr>
              <a:t>CODE EXAMPLES</a:t>
            </a:r>
          </a:p>
        </p:txBody>
      </p:sp>
      <p:sp>
        <p:nvSpPr>
          <p:cNvPr id="4" name="">
            <a:extLst xmlns:a="http://schemas.openxmlformats.org/drawingml/2006/main">
              <a:ext uri="{FF2B5EF4-FFF2-40B4-BE49-F238E27FC236}">
                <a16:creationId xmlns:a16="http://schemas.microsoft.com/office/drawing/2014/main" id="{E2FC4333-B050-4E1C-BB3C-B80EA7046C63}"/>
              </a:ext>
            </a:extLst>
          </p:cNvPr>
          <p:cNvSpPr>
            <a:spLocks xmlns:a="http://schemas.openxmlformats.org/drawingml/2006/main" noGrp="1"/>
          </p:cNvSpPr>
          <p:nvPr/>
        </p:nvSpPr>
        <p:spPr>
          <a:xfrm xmlns:a="http://schemas.openxmlformats.org/drawingml/2006/main">
            <a:off x="838200" y="65722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524"/>
                </a:solidFill>
              </a:defRPr>
            </a:pPr>
            <a:r>
              <a:rPr sz="2700" b="1" i="0">
                <a:solidFill>
                  <a:srgbClr val="123524"/>
                </a:solidFill>
              </a:rPr>
              <a:t>Three small snippets show the complete update</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b7b1249aa394c99"/>
          <a:stretch xmlns:a="http://schemas.openxmlformats.org/drawingml/2006/main"/>
        </p:blipFill>
        <p:spPr>
          <a:xfrm xmlns:a="http://schemas.openxmlformats.org/drawingml/2006/main">
            <a:off x="11125200" y="428625"/>
            <a:ext cx="495300" cy="495300"/>
          </a:xfrm>
          <a:prstGeom xmlns:a="http://schemas.openxmlformats.org/drawingml/2006/main" prst="roundRect">
            <a:avLst>
              <a:gd name="adj" fmla="val 23077"/>
            </a:avLst>
          </a:prstGeom>
        </p:spPr>
      </p:pic>
      <p:sp>
        <p:nvSpPr>
          <p:cNvPr id="6" name="">
            <a:extLst xmlns:a="http://schemas.openxmlformats.org/drawingml/2006/main">
              <a:ext uri="{FF2B5EF4-FFF2-40B4-BE49-F238E27FC236}">
                <a16:creationId xmlns:a16="http://schemas.microsoft.com/office/drawing/2014/main" id="{002231F7-01AA-4400-9980-0C3CC825B27F}"/>
              </a:ext>
            </a:extLst>
          </p:cNvPr>
          <p:cNvSpPr>
            <a:spLocks xmlns:a="http://schemas.openxmlformats.org/drawingml/2006/main" noGrp="1"/>
          </p:cNvSpPr>
          <p:nvPr/>
        </p:nvSpPr>
        <p:spPr>
          <a:xfrm xmlns:a="http://schemas.openxmlformats.org/drawingml/2006/main">
            <a:off x="609600" y="6457950"/>
            <a:ext cx="10972800" cy="9525"/>
          </a:xfrm>
          <a:prstGeom xmlns:a="http://schemas.openxmlformats.org/drawingml/2006/main" prst="rect">
            <a:avLst/>
          </a:prstGeom>
          <a:solidFill xmlns:a="http://schemas.openxmlformats.org/drawingml/2006/main">
            <a:srgbClr val="DCDDD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A9376FE-A361-429A-9524-C6B99CD5F088}"/>
              </a:ext>
            </a:extLst>
          </p:cNvPr>
          <p:cNvSpPr>
            <a:spLocks xmlns:a="http://schemas.openxmlformats.org/drawingml/2006/main" noGrp="1"/>
          </p:cNvSpPr>
          <p:nvPr/>
        </p:nvSpPr>
        <p:spPr>
          <a:xfrm xmlns:a="http://schemas.openxmlformats.org/drawingml/2006/main">
            <a:off x="609600" y="6543675"/>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66736B"/>
                </a:solidFill>
              </a:defRPr>
            </a:pPr>
            <a:r>
              <a:rPr sz="825" b="0" i="0">
                <a:solidFill>
                  <a:srgbClr val="66736B"/>
                </a:solidFill>
              </a:rPr>
              <a:t>Traditional Governance  •  Interactive Statistics</a:t>
            </a:r>
          </a:p>
        </p:txBody>
      </p:sp>
      <p:sp>
        <p:nvSpPr>
          <p:cNvPr id="8" name="">
            <a:extLst xmlns:a="http://schemas.openxmlformats.org/drawingml/2006/main">
              <a:ext uri="{FF2B5EF4-FFF2-40B4-BE49-F238E27FC236}">
                <a16:creationId xmlns:a16="http://schemas.microsoft.com/office/drawing/2014/main" id="{066BB41B-E366-40D5-815C-74BAF66D3BB6}"/>
              </a:ext>
            </a:extLst>
          </p:cNvPr>
          <p:cNvSpPr>
            <a:spLocks xmlns:a="http://schemas.openxmlformats.org/drawingml/2006/main" noGrp="1"/>
          </p:cNvSpPr>
          <p:nvPr/>
        </p:nvSpPr>
        <p:spPr>
          <a:xfrm xmlns:a="http://schemas.openxmlformats.org/drawingml/2006/main">
            <a:off x="11068050" y="65246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123524"/>
                </a:solidFill>
              </a:defRPr>
            </a:pPr>
            <a:r>
              <a:rPr sz="900" b="1" i="0">
                <a:solidFill>
                  <a:srgbClr val="123524"/>
                </a:solidFill>
              </a:rPr>
              <a:t>10</a:t>
            </a:r>
          </a:p>
        </p:txBody>
      </p:sp>
      <p:sp>
        <p:nvSpPr>
          <p:cNvPr id="9" name="">
            <a:extLst xmlns:a="http://schemas.openxmlformats.org/drawingml/2006/main">
              <a:ext uri="{FF2B5EF4-FFF2-40B4-BE49-F238E27FC236}">
                <a16:creationId xmlns:a16="http://schemas.microsoft.com/office/drawing/2014/main" id="{8FA65836-064A-412F-A655-8F799553FE39}"/>
              </a:ext>
            </a:extLst>
          </p:cNvPr>
          <p:cNvSpPr>
            <a:spLocks xmlns:a="http://schemas.openxmlformats.org/drawingml/2006/main" noGrp="1"/>
          </p:cNvSpPr>
          <p:nvPr/>
        </p:nvSpPr>
        <p:spPr>
          <a:xfrm xmlns:a="http://schemas.openxmlformats.org/drawingml/2006/main">
            <a:off x="590550" y="1524000"/>
            <a:ext cx="3505200" cy="4095750"/>
          </a:xfrm>
          <a:prstGeom xmlns:a="http://schemas.openxmlformats.org/drawingml/2006/main" prst="roundRect">
            <a:avLst>
              <a:gd name="adj" fmla="val 3261"/>
            </a:avLst>
          </a:prstGeom>
          <a:solidFill xmlns:a="http://schemas.openxmlformats.org/drawingml/2006/main">
            <a:srgbClr val="0B2A1D"/>
          </a:solidFill>
          <a:ln xmlns:a="http://schemas.openxmlformats.org/drawingml/2006/main" w="9525">
            <a:solidFill>
              <a:srgbClr val="0B2A1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57F4C8B8-05C7-4414-B685-DAD1E763FDEA}"/>
              </a:ext>
            </a:extLst>
          </p:cNvPr>
          <p:cNvSpPr>
            <a:spLocks xmlns:a="http://schemas.openxmlformats.org/drawingml/2006/main" noGrp="1"/>
          </p:cNvSpPr>
          <p:nvPr/>
        </p:nvSpPr>
        <p:spPr>
          <a:xfrm xmlns:a="http://schemas.openxmlformats.org/drawingml/2006/main">
            <a:off x="800100" y="1685925"/>
            <a:ext cx="3086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C8A96A"/>
                </a:solidFill>
              </a:defRPr>
            </a:pPr>
            <a:r>
              <a:rPr sz="1275" b="1" i="0">
                <a:solidFill>
                  <a:srgbClr val="C8A96A"/>
                </a:solidFill>
              </a:rPr>
              <a:t>1  API request</a:t>
            </a:r>
          </a:p>
        </p:txBody>
      </p:sp>
      <p:sp>
        <p:nvSpPr>
          <p:cNvPr id="11" name="">
            <a:extLst xmlns:a="http://schemas.openxmlformats.org/drawingml/2006/main">
              <a:ext uri="{FF2B5EF4-FFF2-40B4-BE49-F238E27FC236}">
                <a16:creationId xmlns:a16="http://schemas.microsoft.com/office/drawing/2014/main" id="{81CDBF5C-9EB1-4151-A100-1BE2E8E975B0}"/>
              </a:ext>
            </a:extLst>
          </p:cNvPr>
          <p:cNvSpPr>
            <a:spLocks xmlns:a="http://schemas.openxmlformats.org/drawingml/2006/main" noGrp="1"/>
          </p:cNvSpPr>
          <p:nvPr/>
        </p:nvSpPr>
        <p:spPr>
          <a:xfrm xmlns:a="http://schemas.openxmlformats.org/drawingml/2006/main">
            <a:off x="800100" y="2038350"/>
            <a:ext cx="3086100" cy="9525"/>
          </a:xfrm>
          <a:prstGeom xmlns:a="http://schemas.openxmlformats.org/drawingml/2006/main" prst="rect">
            <a:avLst/>
          </a:prstGeom>
          <a:solidFill xmlns:a="http://schemas.openxmlformats.org/drawingml/2006/main">
            <a:srgbClr val="234D3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F0E52C2-5DD5-4F26-9172-E893AAEC3604}"/>
              </a:ext>
            </a:extLst>
          </p:cNvPr>
          <p:cNvSpPr>
            <a:spLocks xmlns:a="http://schemas.openxmlformats.org/drawingml/2006/main" noGrp="1"/>
          </p:cNvSpPr>
          <p:nvPr/>
        </p:nvSpPr>
        <p:spPr>
          <a:xfrm xmlns:a="http://schemas.openxmlformats.org/drawingml/2006/main">
            <a:off x="800100" y="2190750"/>
            <a:ext cx="3086100" cy="3257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FFFFFF"/>
                </a:solidFill>
              </a:defRPr>
            </a:pPr>
            <a:r>
              <a:rPr sz="1163" b="0" i="0">
                <a:solidFill>
                  <a:srgbClr val="FFFFFF"/>
                </a:solidFill>
              </a:rPr>
              <a:t>const params = new URLSearchParams();</a:t>
            </a:r>
          </a:p>
          <a:p xmlns:a="http://schemas.openxmlformats.org/drawingml/2006/main">
            <a:pPr algn="l">
              <a:defRPr sz="1163" b="0" i="0">
                <a:solidFill>
                  <a:srgbClr val="FFFFFF"/>
                </a:solidFill>
              </a:defRPr>
            </a:pPr>
            <a:r>
              <a:rPr sz="1163" b="0" i="0">
                <a:solidFill>
                  <a:srgbClr val="FFFFFF"/>
                </a:solidFill>
              </a:rPr>
              <a:t>params.set(scope, value);</a:t>
            </a:r>
          </a:p>
          <a:p xmlns:a="http://schemas.openxmlformats.org/drawingml/2006/main">
            <a:r>
              <a:t/>
            </a:r>
          </a:p>
          <a:p xmlns:a="http://schemas.openxmlformats.org/drawingml/2006/main">
            <a:pPr algn="l">
              <a:defRPr sz="1163" b="0" i="0">
                <a:solidFill>
                  <a:srgbClr val="FFFFFF"/>
                </a:solidFill>
              </a:defRPr>
            </a:pPr>
            <a:r>
              <a:rPr sz="1163" b="0" i="0">
                <a:solidFill>
                  <a:srgbClr val="FFFFFF"/>
                </a:solidFill>
              </a:rPr>
              <a:t>const data = await loadApiData(</a:t>
            </a:r>
          </a:p>
          <a:p xmlns:a="http://schemas.openxmlformats.org/drawingml/2006/main">
            <a:pPr algn="l">
              <a:defRPr sz="1163" b="0" i="0">
                <a:solidFill>
                  <a:srgbClr val="FFFFFF"/>
                </a:solidFill>
              </a:defRPr>
            </a:pPr>
            <a:r>
              <a:rPr sz="1163" b="0" i="0">
                <a:solidFill>
                  <a:srgbClr val="FFFFFF"/>
                </a:solidFill>
              </a:rPr>
              <a:t>  `statistics?${params}`</a:t>
            </a:r>
          </a:p>
          <a:p xmlns:a="http://schemas.openxmlformats.org/drawingml/2006/main">
            <a:pPr algn="l">
              <a:defRPr sz="1163" b="0" i="0">
                <a:solidFill>
                  <a:srgbClr val="FFFFFF"/>
                </a:solidFill>
              </a:defRPr>
            </a:pPr>
            <a:r>
              <a:rPr sz="1163" b="0" i="0">
                <a:solidFill>
                  <a:srgbClr val="FFFFFF"/>
                </a:solidFill>
              </a:rPr>
              <a:t>);</a:t>
            </a:r>
          </a:p>
        </p:txBody>
      </p:sp>
      <p:sp>
        <p:nvSpPr>
          <p:cNvPr id="13" name="">
            <a:extLst xmlns:a="http://schemas.openxmlformats.org/drawingml/2006/main">
              <a:ext uri="{FF2B5EF4-FFF2-40B4-BE49-F238E27FC236}">
                <a16:creationId xmlns:a16="http://schemas.microsoft.com/office/drawing/2014/main" id="{E390D8A7-B689-4AED-B91D-977E0F2305AC}"/>
              </a:ext>
            </a:extLst>
          </p:cNvPr>
          <p:cNvSpPr>
            <a:spLocks xmlns:a="http://schemas.openxmlformats.org/drawingml/2006/main" noGrp="1"/>
          </p:cNvSpPr>
          <p:nvPr/>
        </p:nvSpPr>
        <p:spPr>
          <a:xfrm xmlns:a="http://schemas.openxmlformats.org/drawingml/2006/main">
            <a:off x="4343400" y="1524000"/>
            <a:ext cx="3505200" cy="4095750"/>
          </a:xfrm>
          <a:prstGeom xmlns:a="http://schemas.openxmlformats.org/drawingml/2006/main" prst="roundRect">
            <a:avLst>
              <a:gd name="adj" fmla="val 3261"/>
            </a:avLst>
          </a:prstGeom>
          <a:solidFill xmlns:a="http://schemas.openxmlformats.org/drawingml/2006/main">
            <a:srgbClr val="0B2A1D"/>
          </a:solidFill>
          <a:ln xmlns:a="http://schemas.openxmlformats.org/drawingml/2006/main" w="9525">
            <a:solidFill>
              <a:srgbClr val="0B2A1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2D7659F6-311F-42CF-A4C0-C802A96835D9}"/>
              </a:ext>
            </a:extLst>
          </p:cNvPr>
          <p:cNvSpPr>
            <a:spLocks xmlns:a="http://schemas.openxmlformats.org/drawingml/2006/main" noGrp="1"/>
          </p:cNvSpPr>
          <p:nvPr/>
        </p:nvSpPr>
        <p:spPr>
          <a:xfrm xmlns:a="http://schemas.openxmlformats.org/drawingml/2006/main">
            <a:off x="4552950" y="1685925"/>
            <a:ext cx="3086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C8A96A"/>
                </a:solidFill>
              </a:defRPr>
            </a:pPr>
            <a:r>
              <a:rPr sz="1275" b="1" i="0">
                <a:solidFill>
                  <a:srgbClr val="C8A96A"/>
                </a:solidFill>
              </a:rPr>
              <a:t>2  SQL aggregation</a:t>
            </a:r>
          </a:p>
        </p:txBody>
      </p:sp>
      <p:sp>
        <p:nvSpPr>
          <p:cNvPr id="15" name="">
            <a:extLst xmlns:a="http://schemas.openxmlformats.org/drawingml/2006/main">
              <a:ext uri="{FF2B5EF4-FFF2-40B4-BE49-F238E27FC236}">
                <a16:creationId xmlns:a16="http://schemas.microsoft.com/office/drawing/2014/main" id="{8B1FFC9D-1183-4AFD-B50B-3572DC8EB67C}"/>
              </a:ext>
            </a:extLst>
          </p:cNvPr>
          <p:cNvSpPr>
            <a:spLocks xmlns:a="http://schemas.openxmlformats.org/drawingml/2006/main" noGrp="1"/>
          </p:cNvSpPr>
          <p:nvPr/>
        </p:nvSpPr>
        <p:spPr>
          <a:xfrm xmlns:a="http://schemas.openxmlformats.org/drawingml/2006/main">
            <a:off x="4552950" y="2038350"/>
            <a:ext cx="3086100" cy="9525"/>
          </a:xfrm>
          <a:prstGeom xmlns:a="http://schemas.openxmlformats.org/drawingml/2006/main" prst="rect">
            <a:avLst/>
          </a:prstGeom>
          <a:solidFill xmlns:a="http://schemas.openxmlformats.org/drawingml/2006/main">
            <a:srgbClr val="234D3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441D7B8-6F95-4C37-A6CF-E324CF25D12B}"/>
              </a:ext>
            </a:extLst>
          </p:cNvPr>
          <p:cNvSpPr>
            <a:spLocks xmlns:a="http://schemas.openxmlformats.org/drawingml/2006/main" noGrp="1"/>
          </p:cNvSpPr>
          <p:nvPr/>
        </p:nvSpPr>
        <p:spPr>
          <a:xfrm xmlns:a="http://schemas.openxmlformats.org/drawingml/2006/main">
            <a:off x="4552950" y="2190750"/>
            <a:ext cx="3086100" cy="3257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FFFFFF"/>
                </a:solidFill>
              </a:defRPr>
            </a:pPr>
            <a:r>
              <a:rPr sz="1163" b="0" i="0">
                <a:solidFill>
                  <a:srgbClr val="FFFFFF"/>
                </a:solidFill>
              </a:rPr>
              <a:t>SELECT</a:t>
            </a:r>
          </a:p>
          <a:p xmlns:a="http://schemas.openxmlformats.org/drawingml/2006/main">
            <a:pPr algn="l">
              <a:defRPr sz="1163" b="0" i="0">
                <a:solidFill>
                  <a:srgbClr val="FFFFFF"/>
                </a:solidFill>
              </a:defRPr>
            </a:pPr>
            <a:r>
              <a:rPr sz="1163" b="0" i="0">
                <a:solidFill>
                  <a:srgbClr val="FFFFFF"/>
                </a:solidFill>
              </a:rPr>
              <a:t>  COUNT(*) AS total_groups,</a:t>
            </a:r>
          </a:p>
          <a:p xmlns:a="http://schemas.openxmlformats.org/drawingml/2006/main">
            <a:pPr algn="l">
              <a:defRPr sz="1163" b="0" i="0">
                <a:solidFill>
                  <a:srgbClr val="FFFFFF"/>
                </a:solidFill>
              </a:defRPr>
            </a:pPr>
            <a:r>
              <a:rPr sz="1163" b="0" i="0">
                <a:solidFill>
                  <a:srgbClr val="FFFFFF"/>
                </a:solidFill>
              </a:rPr>
              <a:t>  SUM(formackn = 1) AS recognized</a:t>
            </a:r>
          </a:p>
          <a:p xmlns:a="http://schemas.openxmlformats.org/drawingml/2006/main">
            <a:pPr algn="l">
              <a:defRPr sz="1163" b="0" i="0">
                <a:solidFill>
                  <a:srgbClr val="FFFFFF"/>
                </a:solidFill>
              </a:defRPr>
            </a:pPr>
            <a:r>
              <a:rPr sz="1163" b="0" i="0">
                <a:solidFill>
                  <a:srgbClr val="FFFFFF"/>
                </a:solidFill>
              </a:rPr>
              <a:t>FROM tradgov_groups</a:t>
            </a:r>
          </a:p>
          <a:p xmlns:a="http://schemas.openxmlformats.org/drawingml/2006/main">
            <a:pPr algn="l">
              <a:defRPr sz="1163" b="0" i="0">
                <a:solidFill>
                  <a:srgbClr val="FFFFFF"/>
                </a:solidFill>
              </a:defRPr>
            </a:pPr>
            <a:r>
              <a:rPr sz="1163" b="0" i="0">
                <a:solidFill>
                  <a:srgbClr val="FFFFFF"/>
                </a:solidFill>
              </a:rPr>
              <a:t>WHERE continent = %s;</a:t>
            </a:r>
          </a:p>
        </p:txBody>
      </p:sp>
      <p:sp>
        <p:nvSpPr>
          <p:cNvPr id="17" name="">
            <a:extLst xmlns:a="http://schemas.openxmlformats.org/drawingml/2006/main">
              <a:ext uri="{FF2B5EF4-FFF2-40B4-BE49-F238E27FC236}">
                <a16:creationId xmlns:a16="http://schemas.microsoft.com/office/drawing/2014/main" id="{174FB0DC-701E-4D9F-88E3-111DF069155C}"/>
              </a:ext>
            </a:extLst>
          </p:cNvPr>
          <p:cNvSpPr>
            <a:spLocks xmlns:a="http://schemas.openxmlformats.org/drawingml/2006/main" noGrp="1"/>
          </p:cNvSpPr>
          <p:nvPr/>
        </p:nvSpPr>
        <p:spPr>
          <a:xfrm xmlns:a="http://schemas.openxmlformats.org/drawingml/2006/main">
            <a:off x="8096250" y="1524000"/>
            <a:ext cx="3505200" cy="4095750"/>
          </a:xfrm>
          <a:prstGeom xmlns:a="http://schemas.openxmlformats.org/drawingml/2006/main" prst="roundRect">
            <a:avLst>
              <a:gd name="adj" fmla="val 3261"/>
            </a:avLst>
          </a:prstGeom>
          <a:solidFill xmlns:a="http://schemas.openxmlformats.org/drawingml/2006/main">
            <a:srgbClr val="0B2A1D"/>
          </a:solidFill>
          <a:ln xmlns:a="http://schemas.openxmlformats.org/drawingml/2006/main" w="9525">
            <a:solidFill>
              <a:srgbClr val="0B2A1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6FCCA8D2-20A8-438C-A95B-80F8BEC37D85}"/>
              </a:ext>
            </a:extLst>
          </p:cNvPr>
          <p:cNvSpPr>
            <a:spLocks xmlns:a="http://schemas.openxmlformats.org/drawingml/2006/main" noGrp="1"/>
          </p:cNvSpPr>
          <p:nvPr/>
        </p:nvSpPr>
        <p:spPr>
          <a:xfrm xmlns:a="http://schemas.openxmlformats.org/drawingml/2006/main">
            <a:off x="8305800" y="1685925"/>
            <a:ext cx="3086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i="0">
                <a:solidFill>
                  <a:srgbClr val="C8A96A"/>
                </a:solidFill>
              </a:defRPr>
            </a:pPr>
            <a:r>
              <a:rPr sz="1275" b="1" i="0">
                <a:solidFill>
                  <a:srgbClr val="C8A96A"/>
                </a:solidFill>
              </a:rPr>
              <a:t>3  Chart update</a:t>
            </a:r>
          </a:p>
        </p:txBody>
      </p:sp>
      <p:sp>
        <p:nvSpPr>
          <p:cNvPr id="19" name="">
            <a:extLst xmlns:a="http://schemas.openxmlformats.org/drawingml/2006/main">
              <a:ext uri="{FF2B5EF4-FFF2-40B4-BE49-F238E27FC236}">
                <a16:creationId xmlns:a16="http://schemas.microsoft.com/office/drawing/2014/main" id="{E1939FFF-D7D7-48AD-8D10-E0AF3C3BAEEA}"/>
              </a:ext>
            </a:extLst>
          </p:cNvPr>
          <p:cNvSpPr>
            <a:spLocks xmlns:a="http://schemas.openxmlformats.org/drawingml/2006/main" noGrp="1"/>
          </p:cNvSpPr>
          <p:nvPr/>
        </p:nvSpPr>
        <p:spPr>
          <a:xfrm xmlns:a="http://schemas.openxmlformats.org/drawingml/2006/main">
            <a:off x="8305800" y="2038350"/>
            <a:ext cx="3086100" cy="9525"/>
          </a:xfrm>
          <a:prstGeom xmlns:a="http://schemas.openxmlformats.org/drawingml/2006/main" prst="rect">
            <a:avLst/>
          </a:prstGeom>
          <a:solidFill xmlns:a="http://schemas.openxmlformats.org/drawingml/2006/main">
            <a:srgbClr val="234D3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92F72F8-9972-4269-8760-B9356BD4441B}"/>
              </a:ext>
            </a:extLst>
          </p:cNvPr>
          <p:cNvSpPr>
            <a:spLocks xmlns:a="http://schemas.openxmlformats.org/drawingml/2006/main" noGrp="1"/>
          </p:cNvSpPr>
          <p:nvPr/>
        </p:nvSpPr>
        <p:spPr>
          <a:xfrm xmlns:a="http://schemas.openxmlformats.org/drawingml/2006/main">
            <a:off x="8305800" y="2190750"/>
            <a:ext cx="3086100" cy="3257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63" b="0" i="0">
                <a:solidFill>
                  <a:srgbClr val="FFFFFF"/>
                </a:solidFill>
              </a:defRPr>
            </a:pPr>
            <a:r>
              <a:rPr sz="1163" b="0" i="0">
                <a:solidFill>
                  <a:srgbClr val="FFFFFF"/>
                </a:solidFill>
              </a:rPr>
              <a:t>const chart = charts.get(id);</a:t>
            </a:r>
          </a:p>
          <a:p xmlns:a="http://schemas.openxmlformats.org/drawingml/2006/main">
            <a:r>
              <a:t/>
            </a:r>
          </a:p>
          <a:p xmlns:a="http://schemas.openxmlformats.org/drawingml/2006/main">
            <a:pPr algn="l">
              <a:defRPr sz="1163" b="0" i="0">
                <a:solidFill>
                  <a:srgbClr val="FFFFFF"/>
                </a:solidFill>
              </a:defRPr>
            </a:pPr>
            <a:r>
              <a:rPr sz="1163" b="0" i="0">
                <a:solidFill>
                  <a:srgbClr val="FFFFFF"/>
                </a:solidFill>
              </a:rPr>
              <a:t>chart.data = nextData;</a:t>
            </a:r>
          </a:p>
          <a:p xmlns:a="http://schemas.openxmlformats.org/drawingml/2006/main">
            <a:pPr algn="l">
              <a:defRPr sz="1163" b="0" i="0">
                <a:solidFill>
                  <a:srgbClr val="FFFFFF"/>
                </a:solidFill>
              </a:defRPr>
            </a:pPr>
            <a:r>
              <a:rPr sz="1163" b="0" i="0">
                <a:solidFill>
                  <a:srgbClr val="FFFFFF"/>
                </a:solidFill>
              </a:rPr>
              <a:t>chart.options = nextOptions;</a:t>
            </a:r>
          </a:p>
          <a:p xmlns:a="http://schemas.openxmlformats.org/drawingml/2006/main">
            <a:pPr algn="l">
              <a:defRPr sz="1163" b="0" i="0">
                <a:solidFill>
                  <a:srgbClr val="FFFFFF"/>
                </a:solidFill>
              </a:defRPr>
            </a:pPr>
            <a:r>
              <a:rPr sz="1163" b="0" i="0">
                <a:solidFill>
                  <a:srgbClr val="FFFFFF"/>
                </a:solidFill>
              </a:rPr>
              <a:t>chart.update();</a:t>
            </a:r>
          </a:p>
        </p:txBody>
      </p:sp>
      <p:sp>
        <p:nvSpPr>
          <p:cNvPr id="21" name="">
            <a:extLst xmlns:a="http://schemas.openxmlformats.org/drawingml/2006/main">
              <a:ext uri="{FF2B5EF4-FFF2-40B4-BE49-F238E27FC236}">
                <a16:creationId xmlns:a16="http://schemas.microsoft.com/office/drawing/2014/main" id="{8B1FD1CA-34D9-4EEA-84A9-8F5620E729DF}"/>
              </a:ext>
            </a:extLst>
          </p:cNvPr>
          <p:cNvSpPr>
            <a:spLocks xmlns:a="http://schemas.openxmlformats.org/drawingml/2006/main" noGrp="1"/>
          </p:cNvSpPr>
          <p:nvPr/>
        </p:nvSpPr>
        <p:spPr>
          <a:xfrm xmlns:a="http://schemas.openxmlformats.org/drawingml/2006/main">
            <a:off x="1352550" y="58483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123524"/>
                </a:solidFill>
              </a:defRPr>
            </a:pPr>
            <a:r>
              <a:rPr sz="1200" b="1" i="0">
                <a:solidFill>
                  <a:srgbClr val="123524"/>
                </a:solidFill>
              </a:rPr>
              <a:t>Selection</a:t>
            </a:r>
          </a:p>
        </p:txBody>
      </p:sp>
      <p:sp>
        <p:nvSpPr>
          <p:cNvPr id="22" name="">
            <a:extLst xmlns:a="http://schemas.openxmlformats.org/drawingml/2006/main">
              <a:ext uri="{FF2B5EF4-FFF2-40B4-BE49-F238E27FC236}">
                <a16:creationId xmlns:a16="http://schemas.microsoft.com/office/drawing/2014/main" id="{035A7FA3-87DF-4B2F-9A72-DABB74ABAC87}"/>
              </a:ext>
            </a:extLst>
          </p:cNvPr>
          <p:cNvSpPr>
            <a:spLocks xmlns:a="http://schemas.openxmlformats.org/drawingml/2006/main" noGrp="1"/>
          </p:cNvSpPr>
          <p:nvPr/>
        </p:nvSpPr>
        <p:spPr>
          <a:xfrm xmlns:a="http://schemas.openxmlformats.org/drawingml/2006/main">
            <a:off x="3943350" y="580072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C8A96A"/>
                </a:solidFill>
              </a:defRPr>
            </a:pPr>
            <a:r>
              <a:rPr sz="1800" b="1" i="0">
                <a:solidFill>
                  <a:srgbClr val="C8A96A"/>
                </a:solidFill>
              </a:rPr>
              <a:t>→</a:t>
            </a:r>
          </a:p>
        </p:txBody>
      </p:sp>
      <p:sp>
        <p:nvSpPr>
          <p:cNvPr id="23" name="">
            <a:extLst xmlns:a="http://schemas.openxmlformats.org/drawingml/2006/main">
              <a:ext uri="{FF2B5EF4-FFF2-40B4-BE49-F238E27FC236}">
                <a16:creationId xmlns:a16="http://schemas.microsoft.com/office/drawing/2014/main" id="{4F0ACABC-3164-4C2B-9C00-DD0CC5231EB4}"/>
              </a:ext>
            </a:extLst>
          </p:cNvPr>
          <p:cNvSpPr>
            <a:spLocks xmlns:a="http://schemas.openxmlformats.org/drawingml/2006/main" noGrp="1"/>
          </p:cNvSpPr>
          <p:nvPr/>
        </p:nvSpPr>
        <p:spPr>
          <a:xfrm xmlns:a="http://schemas.openxmlformats.org/drawingml/2006/main">
            <a:off x="5124450" y="58483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123524"/>
                </a:solidFill>
              </a:defRPr>
            </a:pPr>
            <a:r>
              <a:rPr sz="1200" b="1" i="0">
                <a:solidFill>
                  <a:srgbClr val="123524"/>
                </a:solidFill>
              </a:rPr>
              <a:t>Calculation</a:t>
            </a:r>
          </a:p>
        </p:txBody>
      </p:sp>
      <p:sp>
        <p:nvSpPr>
          <p:cNvPr id="24" name="">
            <a:extLst xmlns:a="http://schemas.openxmlformats.org/drawingml/2006/main">
              <a:ext uri="{FF2B5EF4-FFF2-40B4-BE49-F238E27FC236}">
                <a16:creationId xmlns:a16="http://schemas.microsoft.com/office/drawing/2014/main" id="{80A5C051-478E-48D6-8709-608039303B25}"/>
              </a:ext>
            </a:extLst>
          </p:cNvPr>
          <p:cNvSpPr>
            <a:spLocks xmlns:a="http://schemas.openxmlformats.org/drawingml/2006/main" noGrp="1"/>
          </p:cNvSpPr>
          <p:nvPr/>
        </p:nvSpPr>
        <p:spPr>
          <a:xfrm xmlns:a="http://schemas.openxmlformats.org/drawingml/2006/main">
            <a:off x="7696200" y="5800725"/>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C8A96A"/>
                </a:solidFill>
              </a:defRPr>
            </a:pPr>
            <a:r>
              <a:rPr sz="1800" b="1" i="0">
                <a:solidFill>
                  <a:srgbClr val="C8A96A"/>
                </a:solidFill>
              </a:rPr>
              <a:t>→</a:t>
            </a:r>
          </a:p>
        </p:txBody>
      </p:sp>
      <p:sp>
        <p:nvSpPr>
          <p:cNvPr id="25" name="">
            <a:extLst xmlns:a="http://schemas.openxmlformats.org/drawingml/2006/main">
              <a:ext uri="{FF2B5EF4-FFF2-40B4-BE49-F238E27FC236}">
                <a16:creationId xmlns:a16="http://schemas.microsoft.com/office/drawing/2014/main" id="{398B7145-19F8-4943-A70D-07A3747E99C4}"/>
              </a:ext>
            </a:extLst>
          </p:cNvPr>
          <p:cNvSpPr>
            <a:spLocks xmlns:a="http://schemas.openxmlformats.org/drawingml/2006/main" noGrp="1"/>
          </p:cNvSpPr>
          <p:nvPr/>
        </p:nvSpPr>
        <p:spPr>
          <a:xfrm xmlns:a="http://schemas.openxmlformats.org/drawingml/2006/main">
            <a:off x="8896350" y="58483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123524"/>
                </a:solidFill>
              </a:defRPr>
            </a:pPr>
            <a:r>
              <a:rPr sz="1200" b="1" i="0">
                <a:solidFill>
                  <a:srgbClr val="123524"/>
                </a:solidFill>
              </a:rPr>
              <a:t>Visualization</a:t>
            </a:r>
          </a:p>
        </p:txBody>
      </p:sp>
    </p:spTree>
    <p:extLst>
      <p:ext uri="{BB962C8B-B14F-4D97-AF65-F5344CB8AC3E}">
        <p14:creationId xmlns:p14="http://schemas.microsoft.com/office/powerpoint/2010/main" val="578881304"/>
      </p:ext>
    </p:extLst>
  </p:cSld>
</p:sld>
</file>

<file path=ppt/slides/slide11.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69AFC08-E361-4994-B113-00CCDFDDB77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1269AD9-EF13-4F98-A768-EA80B7FCB28A}"/>
              </a:ext>
            </a:extLst>
          </p:cNvPr>
          <p:cNvSpPr>
            <a:spLocks xmlns:a="http://schemas.openxmlformats.org/drawingml/2006/main" noGrp="1"/>
          </p:cNvSpPr>
          <p:nvPr/>
        </p:nvSpPr>
        <p:spPr>
          <a:xfrm xmlns:a="http://schemas.openxmlformats.org/drawingml/2006/main">
            <a:off x="609600" y="523875"/>
            <a:ext cx="66675" cy="476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14D9625-DEDD-423C-BB18-DC56E4D93A83}"/>
              </a:ext>
            </a:extLst>
          </p:cNvPr>
          <p:cNvSpPr>
            <a:spLocks xmlns:a="http://schemas.openxmlformats.org/drawingml/2006/main" noGrp="1"/>
          </p:cNvSpPr>
          <p:nvPr/>
        </p:nvSpPr>
        <p:spPr>
          <a:xfrm xmlns:a="http://schemas.openxmlformats.org/drawingml/2006/main">
            <a:off x="838200" y="4572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A96A"/>
                </a:solidFill>
              </a:defRPr>
            </a:pPr>
            <a:r>
              <a:rPr sz="975" b="1" i="0">
                <a:solidFill>
                  <a:srgbClr val="C8A96A"/>
                </a:solidFill>
              </a:rPr>
              <a:t>PERFORMANCE</a:t>
            </a:r>
          </a:p>
        </p:txBody>
      </p:sp>
      <p:sp>
        <p:nvSpPr>
          <p:cNvPr id="4" name="">
            <a:extLst xmlns:a="http://schemas.openxmlformats.org/drawingml/2006/main">
              <a:ext uri="{FF2B5EF4-FFF2-40B4-BE49-F238E27FC236}">
                <a16:creationId xmlns:a16="http://schemas.microsoft.com/office/drawing/2014/main" id="{EF47D95E-1220-4AEE-88D5-B89BBCEC4704}"/>
              </a:ext>
            </a:extLst>
          </p:cNvPr>
          <p:cNvSpPr>
            <a:spLocks xmlns:a="http://schemas.openxmlformats.org/drawingml/2006/main" noGrp="1"/>
          </p:cNvSpPr>
          <p:nvPr/>
        </p:nvSpPr>
        <p:spPr>
          <a:xfrm xmlns:a="http://schemas.openxmlformats.org/drawingml/2006/main">
            <a:off x="838200" y="65722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524"/>
                </a:solidFill>
              </a:defRPr>
            </a:pPr>
            <a:r>
              <a:rPr sz="2700" b="1" i="0">
                <a:solidFill>
                  <a:srgbClr val="123524"/>
                </a:solidFill>
              </a:rPr>
              <a:t>A filter change produces one focused API request</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b07f427f1bce4f92"/>
          <a:stretch xmlns:a="http://schemas.openxmlformats.org/drawingml/2006/main"/>
        </p:blipFill>
        <p:spPr>
          <a:xfrm xmlns:a="http://schemas.openxmlformats.org/drawingml/2006/main">
            <a:off x="11125200" y="428625"/>
            <a:ext cx="495300" cy="495300"/>
          </a:xfrm>
          <a:prstGeom xmlns:a="http://schemas.openxmlformats.org/drawingml/2006/main" prst="roundRect">
            <a:avLst>
              <a:gd name="adj" fmla="val 23077"/>
            </a:avLst>
          </a:prstGeom>
        </p:spPr>
      </p:pic>
      <p:sp>
        <p:nvSpPr>
          <p:cNvPr id="6" name="">
            <a:extLst xmlns:a="http://schemas.openxmlformats.org/drawingml/2006/main">
              <a:ext uri="{FF2B5EF4-FFF2-40B4-BE49-F238E27FC236}">
                <a16:creationId xmlns:a16="http://schemas.microsoft.com/office/drawing/2014/main" id="{16A0D6EF-189A-466C-A7CC-AA162729FAAB}"/>
              </a:ext>
            </a:extLst>
          </p:cNvPr>
          <p:cNvSpPr>
            <a:spLocks xmlns:a="http://schemas.openxmlformats.org/drawingml/2006/main" noGrp="1"/>
          </p:cNvSpPr>
          <p:nvPr/>
        </p:nvSpPr>
        <p:spPr>
          <a:xfrm xmlns:a="http://schemas.openxmlformats.org/drawingml/2006/main">
            <a:off x="609600" y="6457950"/>
            <a:ext cx="10972800" cy="9525"/>
          </a:xfrm>
          <a:prstGeom xmlns:a="http://schemas.openxmlformats.org/drawingml/2006/main" prst="rect">
            <a:avLst/>
          </a:prstGeom>
          <a:solidFill xmlns:a="http://schemas.openxmlformats.org/drawingml/2006/main">
            <a:srgbClr val="DCDDD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C83B548-0C69-4EE9-8F26-9F5C82190E28}"/>
              </a:ext>
            </a:extLst>
          </p:cNvPr>
          <p:cNvSpPr>
            <a:spLocks xmlns:a="http://schemas.openxmlformats.org/drawingml/2006/main" noGrp="1"/>
          </p:cNvSpPr>
          <p:nvPr/>
        </p:nvSpPr>
        <p:spPr>
          <a:xfrm xmlns:a="http://schemas.openxmlformats.org/drawingml/2006/main">
            <a:off x="609600" y="6543675"/>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66736B"/>
                </a:solidFill>
              </a:defRPr>
            </a:pPr>
            <a:r>
              <a:rPr sz="825" b="0" i="0">
                <a:solidFill>
                  <a:srgbClr val="66736B"/>
                </a:solidFill>
              </a:rPr>
              <a:t>Traditional Governance  •  Interactive Statistics</a:t>
            </a:r>
          </a:p>
        </p:txBody>
      </p:sp>
      <p:sp>
        <p:nvSpPr>
          <p:cNvPr id="8" name="">
            <a:extLst xmlns:a="http://schemas.openxmlformats.org/drawingml/2006/main">
              <a:ext uri="{FF2B5EF4-FFF2-40B4-BE49-F238E27FC236}">
                <a16:creationId xmlns:a16="http://schemas.microsoft.com/office/drawing/2014/main" id="{A00C9D57-6998-4FB6-B348-458ED15A29DB}"/>
              </a:ext>
            </a:extLst>
          </p:cNvPr>
          <p:cNvSpPr>
            <a:spLocks xmlns:a="http://schemas.openxmlformats.org/drawingml/2006/main" noGrp="1"/>
          </p:cNvSpPr>
          <p:nvPr/>
        </p:nvSpPr>
        <p:spPr>
          <a:xfrm xmlns:a="http://schemas.openxmlformats.org/drawingml/2006/main">
            <a:off x="11068050" y="65246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123524"/>
                </a:solidFill>
              </a:defRPr>
            </a:pPr>
            <a:r>
              <a:rPr sz="900" b="1" i="0">
                <a:solidFill>
                  <a:srgbClr val="123524"/>
                </a:solidFill>
              </a:rPr>
              <a:t>11</a:t>
            </a:r>
          </a:p>
        </p:txBody>
      </p:sp>
      <p:sp>
        <p:nvSpPr>
          <p:cNvPr id="9" name="">
            <a:extLst xmlns:a="http://schemas.openxmlformats.org/drawingml/2006/main">
              <a:ext uri="{FF2B5EF4-FFF2-40B4-BE49-F238E27FC236}">
                <a16:creationId xmlns:a16="http://schemas.microsoft.com/office/drawing/2014/main" id="{2428EB08-9866-4BEB-965C-39396C9AD6CD}"/>
              </a:ext>
            </a:extLst>
          </p:cNvPr>
          <p:cNvSpPr>
            <a:spLocks xmlns:a="http://schemas.openxmlformats.org/drawingml/2006/main" noGrp="1"/>
          </p:cNvSpPr>
          <p:nvPr/>
        </p:nvSpPr>
        <p:spPr>
          <a:xfrm xmlns:a="http://schemas.openxmlformats.org/drawingml/2006/main">
            <a:off x="838200" y="1676400"/>
            <a:ext cx="2381250" cy="238125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30DF58E-ED73-4433-AA47-D2D500A88AFA}"/>
              </a:ext>
            </a:extLst>
          </p:cNvPr>
          <p:cNvSpPr>
            <a:spLocks xmlns:a="http://schemas.openxmlformats.org/drawingml/2006/main" noGrp="1"/>
          </p:cNvSpPr>
          <p:nvPr/>
        </p:nvSpPr>
        <p:spPr>
          <a:xfrm xmlns:a="http://schemas.openxmlformats.org/drawingml/2006/main">
            <a:off x="838200" y="1914525"/>
            <a:ext cx="2381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900" b="1" i="0">
                <a:solidFill>
                  <a:srgbClr val="C8A96A"/>
                </a:solidFill>
              </a:defRPr>
            </a:pPr>
            <a:r>
              <a:rPr sz="6900" b="1" i="0">
                <a:solidFill>
                  <a:srgbClr val="C8A96A"/>
                </a:solidFill>
              </a:rPr>
              <a:t>1</a:t>
            </a:r>
          </a:p>
        </p:txBody>
      </p:sp>
      <p:sp>
        <p:nvSpPr>
          <p:cNvPr id="11" name="">
            <a:extLst xmlns:a="http://schemas.openxmlformats.org/drawingml/2006/main">
              <a:ext uri="{FF2B5EF4-FFF2-40B4-BE49-F238E27FC236}">
                <a16:creationId xmlns:a16="http://schemas.microsoft.com/office/drawing/2014/main" id="{51866E74-2030-40E3-9BC5-C472DCB1B659}"/>
              </a:ext>
            </a:extLst>
          </p:cNvPr>
          <p:cNvSpPr>
            <a:spLocks xmlns:a="http://schemas.openxmlformats.org/drawingml/2006/main" noGrp="1"/>
          </p:cNvSpPr>
          <p:nvPr/>
        </p:nvSpPr>
        <p:spPr>
          <a:xfrm xmlns:a="http://schemas.openxmlformats.org/drawingml/2006/main">
            <a:off x="838200" y="31051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i="0">
                <a:solidFill>
                  <a:srgbClr val="FFFFFF"/>
                </a:solidFill>
              </a:defRPr>
            </a:pPr>
            <a:r>
              <a:rPr sz="1875" b="1" i="0">
                <a:solidFill>
                  <a:srgbClr val="FFFFFF"/>
                </a:solidFill>
              </a:rPr>
              <a:t>API request</a:t>
            </a:r>
          </a:p>
        </p:txBody>
      </p:sp>
      <p:sp>
        <p:nvSpPr>
          <p:cNvPr id="12" name="">
            <a:extLst xmlns:a="http://schemas.openxmlformats.org/drawingml/2006/main">
              <a:ext uri="{FF2B5EF4-FFF2-40B4-BE49-F238E27FC236}">
                <a16:creationId xmlns:a16="http://schemas.microsoft.com/office/drawing/2014/main" id="{6111AE92-2D56-4D35-B658-C570FD33C2C5}"/>
              </a:ext>
            </a:extLst>
          </p:cNvPr>
          <p:cNvSpPr>
            <a:spLocks xmlns:a="http://schemas.openxmlformats.org/drawingml/2006/main" noGrp="1"/>
          </p:cNvSpPr>
          <p:nvPr/>
        </p:nvSpPr>
        <p:spPr>
          <a:xfrm xmlns:a="http://schemas.openxmlformats.org/drawingml/2006/main">
            <a:off x="838200" y="35242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i="0">
                <a:solidFill>
                  <a:srgbClr val="EDE1C8"/>
                </a:solidFill>
              </a:defRPr>
            </a:pPr>
            <a:r>
              <a:rPr sz="1275" b="0" i="0">
                <a:solidFill>
                  <a:srgbClr val="EDE1C8"/>
                </a:solidFill>
              </a:rPr>
              <a:t>per filter change</a:t>
            </a:r>
          </a:p>
        </p:txBody>
      </p:sp>
      <p:sp>
        <p:nvSpPr>
          <p:cNvPr id="13" name="">
            <a:extLst xmlns:a="http://schemas.openxmlformats.org/drawingml/2006/main">
              <a:ext uri="{FF2B5EF4-FFF2-40B4-BE49-F238E27FC236}">
                <a16:creationId xmlns:a16="http://schemas.microsoft.com/office/drawing/2014/main" id="{C52FD584-E570-4278-B859-19ED3885B8A1}"/>
              </a:ext>
            </a:extLst>
          </p:cNvPr>
          <p:cNvSpPr>
            <a:spLocks xmlns:a="http://schemas.openxmlformats.org/drawingml/2006/main" noGrp="1"/>
          </p:cNvSpPr>
          <p:nvPr/>
        </p:nvSpPr>
        <p:spPr>
          <a:xfrm xmlns:a="http://schemas.openxmlformats.org/drawingml/2006/main">
            <a:off x="3943350" y="15621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123524"/>
                </a:solidFill>
              </a:defRPr>
            </a:pPr>
            <a:r>
              <a:rPr sz="2025" b="1" i="0">
                <a:solidFill>
                  <a:srgbClr val="123524"/>
                </a:solidFill>
              </a:rPr>
              <a:t>Why it is faster</a:t>
            </a:r>
          </a:p>
        </p:txBody>
      </p:sp>
      <p:sp>
        <p:nvSpPr>
          <p:cNvPr id="14" name="">
            <a:extLst xmlns:a="http://schemas.openxmlformats.org/drawingml/2006/main">
              <a:ext uri="{FF2B5EF4-FFF2-40B4-BE49-F238E27FC236}">
                <a16:creationId xmlns:a16="http://schemas.microsoft.com/office/drawing/2014/main" id="{93863180-4692-439E-BD8E-408CEC38E36D}"/>
              </a:ext>
            </a:extLst>
          </p:cNvPr>
          <p:cNvSpPr>
            <a:spLocks xmlns:a="http://schemas.openxmlformats.org/drawingml/2006/main" noGrp="1"/>
          </p:cNvSpPr>
          <p:nvPr/>
        </p:nvSpPr>
        <p:spPr>
          <a:xfrm xmlns:a="http://schemas.openxmlformats.org/drawingml/2006/main">
            <a:off x="4000500" y="2219325"/>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C33A347-0124-4DB5-986C-1B0CD4E67FCF}"/>
              </a:ext>
            </a:extLst>
          </p:cNvPr>
          <p:cNvSpPr>
            <a:spLocks xmlns:a="http://schemas.openxmlformats.org/drawingml/2006/main" noGrp="1"/>
          </p:cNvSpPr>
          <p:nvPr/>
        </p:nvSpPr>
        <p:spPr>
          <a:xfrm xmlns:a="http://schemas.openxmlformats.org/drawingml/2006/main">
            <a:off x="4229100" y="2143125"/>
            <a:ext cx="6629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17211B"/>
                </a:solidFill>
              </a:defRPr>
            </a:pPr>
            <a:r>
              <a:rPr sz="1500" b="0" i="0">
                <a:solidFill>
                  <a:srgbClr val="17211B"/>
                </a:solidFill>
              </a:rPr>
              <a:t>No loading of all group records</a:t>
            </a:r>
          </a:p>
        </p:txBody>
      </p:sp>
      <p:sp>
        <p:nvSpPr>
          <p:cNvPr id="16" name="">
            <a:extLst xmlns:a="http://schemas.openxmlformats.org/drawingml/2006/main">
              <a:ext uri="{FF2B5EF4-FFF2-40B4-BE49-F238E27FC236}">
                <a16:creationId xmlns:a16="http://schemas.microsoft.com/office/drawing/2014/main" id="{08DC8723-2D32-42E3-9C4F-333A9C736BE2}"/>
              </a:ext>
            </a:extLst>
          </p:cNvPr>
          <p:cNvSpPr>
            <a:spLocks xmlns:a="http://schemas.openxmlformats.org/drawingml/2006/main" noGrp="1"/>
          </p:cNvSpPr>
          <p:nvPr/>
        </p:nvSpPr>
        <p:spPr>
          <a:xfrm xmlns:a="http://schemas.openxmlformats.org/drawingml/2006/main">
            <a:off x="4000500" y="2809875"/>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2E0EB7A-2A59-430D-AE54-54EB04A9B7C8}"/>
              </a:ext>
            </a:extLst>
          </p:cNvPr>
          <p:cNvSpPr>
            <a:spLocks xmlns:a="http://schemas.openxmlformats.org/drawingml/2006/main" noGrp="1"/>
          </p:cNvSpPr>
          <p:nvPr/>
        </p:nvSpPr>
        <p:spPr>
          <a:xfrm xmlns:a="http://schemas.openxmlformats.org/drawingml/2006/main">
            <a:off x="4229100" y="2733675"/>
            <a:ext cx="6629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17211B"/>
                </a:solidFill>
              </a:defRPr>
            </a:pPr>
            <a:r>
              <a:rPr sz="1500" b="0" i="0">
                <a:solidFill>
                  <a:srgbClr val="17211B"/>
                </a:solidFill>
              </a:rPr>
              <a:t>Filtering and aggregation happen in MySQL</a:t>
            </a:r>
          </a:p>
        </p:txBody>
      </p:sp>
      <p:sp>
        <p:nvSpPr>
          <p:cNvPr id="18" name="">
            <a:extLst xmlns:a="http://schemas.openxmlformats.org/drawingml/2006/main">
              <a:ext uri="{FF2B5EF4-FFF2-40B4-BE49-F238E27FC236}">
                <a16:creationId xmlns:a16="http://schemas.microsoft.com/office/drawing/2014/main" id="{B311FCD1-67C8-4222-AADE-6415B8D1C4EC}"/>
              </a:ext>
            </a:extLst>
          </p:cNvPr>
          <p:cNvSpPr>
            <a:spLocks xmlns:a="http://schemas.openxmlformats.org/drawingml/2006/main" noGrp="1"/>
          </p:cNvSpPr>
          <p:nvPr/>
        </p:nvSpPr>
        <p:spPr>
          <a:xfrm xmlns:a="http://schemas.openxmlformats.org/drawingml/2006/main">
            <a:off x="4000500" y="3400425"/>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CDEC671-DB06-4132-9062-EA7319291CEE}"/>
              </a:ext>
            </a:extLst>
          </p:cNvPr>
          <p:cNvSpPr>
            <a:spLocks xmlns:a="http://schemas.openxmlformats.org/drawingml/2006/main" noGrp="1"/>
          </p:cNvSpPr>
          <p:nvPr/>
        </p:nvSpPr>
        <p:spPr>
          <a:xfrm xmlns:a="http://schemas.openxmlformats.org/drawingml/2006/main">
            <a:off x="4229100" y="3324225"/>
            <a:ext cx="6629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17211B"/>
                </a:solidFill>
              </a:defRPr>
            </a:pPr>
            <a:r>
              <a:rPr sz="1500" b="0" i="0">
                <a:solidFill>
                  <a:srgbClr val="17211B"/>
                </a:solidFill>
              </a:rPr>
              <a:t>Lower browser memory usage</a:t>
            </a:r>
          </a:p>
        </p:txBody>
      </p:sp>
      <p:sp>
        <p:nvSpPr>
          <p:cNvPr id="20" name="">
            <a:extLst xmlns:a="http://schemas.openxmlformats.org/drawingml/2006/main">
              <a:ext uri="{FF2B5EF4-FFF2-40B4-BE49-F238E27FC236}">
                <a16:creationId xmlns:a16="http://schemas.microsoft.com/office/drawing/2014/main" id="{5982C27C-5F31-4F4B-8059-FB85E8740DB6}"/>
              </a:ext>
            </a:extLst>
          </p:cNvPr>
          <p:cNvSpPr>
            <a:spLocks xmlns:a="http://schemas.openxmlformats.org/drawingml/2006/main" noGrp="1"/>
          </p:cNvSpPr>
          <p:nvPr/>
        </p:nvSpPr>
        <p:spPr>
          <a:xfrm xmlns:a="http://schemas.openxmlformats.org/drawingml/2006/main">
            <a:off x="4000500" y="3990975"/>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A4CE8D0-8501-4419-BDEF-54AF5D4BA3BA}"/>
              </a:ext>
            </a:extLst>
          </p:cNvPr>
          <p:cNvSpPr>
            <a:spLocks xmlns:a="http://schemas.openxmlformats.org/drawingml/2006/main" noGrp="1"/>
          </p:cNvSpPr>
          <p:nvPr/>
        </p:nvSpPr>
        <p:spPr>
          <a:xfrm xmlns:a="http://schemas.openxmlformats.org/drawingml/2006/main">
            <a:off x="4229100" y="3914775"/>
            <a:ext cx="6629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17211B"/>
                </a:solidFill>
              </a:defRPr>
            </a:pPr>
            <a:r>
              <a:rPr sz="1500" b="0" i="0">
                <a:solidFill>
                  <a:srgbClr val="17211B"/>
                </a:solidFill>
              </a:rPr>
              <a:t>No duplicate statistics requests</a:t>
            </a:r>
          </a:p>
        </p:txBody>
      </p:sp>
      <p:sp>
        <p:nvSpPr>
          <p:cNvPr id="22" name="">
            <a:extLst xmlns:a="http://schemas.openxmlformats.org/drawingml/2006/main">
              <a:ext uri="{FF2B5EF4-FFF2-40B4-BE49-F238E27FC236}">
                <a16:creationId xmlns:a16="http://schemas.microsoft.com/office/drawing/2014/main" id="{1E8E48E3-B5EF-4DCC-B594-266E330F47BD}"/>
              </a:ext>
            </a:extLst>
          </p:cNvPr>
          <p:cNvSpPr>
            <a:spLocks xmlns:a="http://schemas.openxmlformats.org/drawingml/2006/main" noGrp="1"/>
          </p:cNvSpPr>
          <p:nvPr/>
        </p:nvSpPr>
        <p:spPr>
          <a:xfrm xmlns:a="http://schemas.openxmlformats.org/drawingml/2006/main">
            <a:off x="4000500" y="4581525"/>
            <a:ext cx="104775" cy="104775"/>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146152C-00AC-45C7-9DF6-0616E0D3489A}"/>
              </a:ext>
            </a:extLst>
          </p:cNvPr>
          <p:cNvSpPr>
            <a:spLocks xmlns:a="http://schemas.openxmlformats.org/drawingml/2006/main" noGrp="1"/>
          </p:cNvSpPr>
          <p:nvPr/>
        </p:nvSpPr>
        <p:spPr>
          <a:xfrm xmlns:a="http://schemas.openxmlformats.org/drawingml/2006/main">
            <a:off x="4229100" y="4505325"/>
            <a:ext cx="6629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17211B"/>
                </a:solidFill>
              </a:defRPr>
            </a:pPr>
            <a:r>
              <a:rPr sz="1500" b="0" i="0">
                <a:solidFill>
                  <a:srgbClr val="17211B"/>
                </a:solidFill>
              </a:rPr>
              <a:t>A previous request can be cancelled</a:t>
            </a:r>
          </a:p>
        </p:txBody>
      </p:sp>
      <p:sp>
        <p:nvSpPr>
          <p:cNvPr id="24" name="">
            <a:extLst xmlns:a="http://schemas.openxmlformats.org/drawingml/2006/main">
              <a:ext uri="{FF2B5EF4-FFF2-40B4-BE49-F238E27FC236}">
                <a16:creationId xmlns:a16="http://schemas.microsoft.com/office/drawing/2014/main" id="{E98B949E-6B81-4F38-B3A8-7511494FA941}"/>
              </a:ext>
            </a:extLst>
          </p:cNvPr>
          <p:cNvSpPr>
            <a:spLocks xmlns:a="http://schemas.openxmlformats.org/drawingml/2006/main" noGrp="1"/>
          </p:cNvSpPr>
          <p:nvPr/>
        </p:nvSpPr>
        <p:spPr>
          <a:xfrm xmlns:a="http://schemas.openxmlformats.org/drawingml/2006/main">
            <a:off x="3924300" y="5219700"/>
            <a:ext cx="6934200" cy="723900"/>
          </a:xfrm>
          <a:prstGeom xmlns:a="http://schemas.openxmlformats.org/drawingml/2006/main" prst="roundRect">
            <a:avLst>
              <a:gd name="adj" fmla="val 10526"/>
            </a:avLst>
          </a:prstGeom>
          <a:solidFill xmlns:a="http://schemas.openxmlformats.org/drawingml/2006/main">
            <a:srgbClr val="EDE1C8"/>
          </a:solidFill>
          <a:ln xmlns:a="http://schemas.openxmlformats.org/drawingml/2006/main" w="9525">
            <a:solidFill>
              <a:srgbClr val="C8A96A"/>
            </a:solidFill>
            <a:prstDash val="solid"/>
          </a:ln>
        </p:spPr>
      </p:sp>
      <p:sp>
        <p:nvSpPr>
          <p:cNvPr id="25" name="">
            <a:extLst xmlns:a="http://schemas.openxmlformats.org/drawingml/2006/main">
              <a:ext uri="{FF2B5EF4-FFF2-40B4-BE49-F238E27FC236}">
                <a16:creationId xmlns:a16="http://schemas.microsoft.com/office/drawing/2014/main" id="{DB7D4317-75D8-4C4B-AEC0-179578E839C2}"/>
              </a:ext>
            </a:extLst>
          </p:cNvPr>
          <p:cNvSpPr>
            <a:spLocks xmlns:a="http://schemas.openxmlformats.org/drawingml/2006/main" noGrp="1"/>
          </p:cNvSpPr>
          <p:nvPr/>
        </p:nvSpPr>
        <p:spPr>
          <a:xfrm xmlns:a="http://schemas.openxmlformats.org/drawingml/2006/main">
            <a:off x="4191000" y="5410200"/>
            <a:ext cx="6400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23524"/>
                </a:solidFill>
              </a:defRPr>
            </a:pPr>
            <a:r>
              <a:rPr sz="1350" b="1" i="0">
                <a:solidFill>
                  <a:srgbClr val="123524"/>
                </a:solidFill>
              </a:rPr>
              <a:t>The browser receives only the aggregated results required by the dashboard.</a:t>
            </a:r>
          </a:p>
        </p:txBody>
      </p:sp>
    </p:spTree>
    <p:extLst>
      <p:ext uri="{BB962C8B-B14F-4D97-AF65-F5344CB8AC3E}">
        <p14:creationId xmlns:p14="http://schemas.microsoft.com/office/powerpoint/2010/main" val="113970113"/>
      </p:ext>
    </p:extLst>
  </p:cSld>
</p:sld>
</file>

<file path=ppt/slides/slide1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466C04B-7EBB-4013-BB13-CE5758AAB87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C78DED5-9683-4380-9E8D-ABFC5B6BA3BF}"/>
              </a:ext>
            </a:extLst>
          </p:cNvPr>
          <p:cNvSpPr>
            <a:spLocks xmlns:a="http://schemas.openxmlformats.org/drawingml/2006/main" noGrp="1"/>
          </p:cNvSpPr>
          <p:nvPr/>
        </p:nvSpPr>
        <p:spPr>
          <a:xfrm xmlns:a="http://schemas.openxmlformats.org/drawingml/2006/main">
            <a:off x="609600" y="523875"/>
            <a:ext cx="66675" cy="476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8989A50-0FE6-425E-870D-9CE033CA4D3E}"/>
              </a:ext>
            </a:extLst>
          </p:cNvPr>
          <p:cNvSpPr>
            <a:spLocks xmlns:a="http://schemas.openxmlformats.org/drawingml/2006/main" noGrp="1"/>
          </p:cNvSpPr>
          <p:nvPr/>
        </p:nvSpPr>
        <p:spPr>
          <a:xfrm xmlns:a="http://schemas.openxmlformats.org/drawingml/2006/main">
            <a:off x="838200" y="4572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A96A"/>
                </a:solidFill>
              </a:defRPr>
            </a:pPr>
            <a:r>
              <a:rPr sz="975" b="1" i="0">
                <a:solidFill>
                  <a:srgbClr val="C8A96A"/>
                </a:solidFill>
              </a:rPr>
              <a:t>SECURITY</a:t>
            </a:r>
          </a:p>
        </p:txBody>
      </p:sp>
      <p:sp>
        <p:nvSpPr>
          <p:cNvPr id="4" name="">
            <a:extLst xmlns:a="http://schemas.openxmlformats.org/drawingml/2006/main">
              <a:ext uri="{FF2B5EF4-FFF2-40B4-BE49-F238E27FC236}">
                <a16:creationId xmlns:a16="http://schemas.microsoft.com/office/drawing/2014/main" id="{F8AD3E7F-E735-42EF-8218-3703A59231FA}"/>
              </a:ext>
            </a:extLst>
          </p:cNvPr>
          <p:cNvSpPr>
            <a:spLocks xmlns:a="http://schemas.openxmlformats.org/drawingml/2006/main" noGrp="1"/>
          </p:cNvSpPr>
          <p:nvPr/>
        </p:nvSpPr>
        <p:spPr>
          <a:xfrm xmlns:a="http://schemas.openxmlformats.org/drawingml/2006/main">
            <a:off x="838200" y="65722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524"/>
                </a:solidFill>
              </a:defRPr>
            </a:pPr>
            <a:r>
              <a:rPr sz="2700" b="1" i="0">
                <a:solidFill>
                  <a:srgbClr val="123524"/>
                </a:solidFill>
              </a:rPr>
              <a:t>Invalid filters are rejected before SQL aggregation</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955fdb584400462b"/>
          <a:stretch xmlns:a="http://schemas.openxmlformats.org/drawingml/2006/main"/>
        </p:blipFill>
        <p:spPr>
          <a:xfrm xmlns:a="http://schemas.openxmlformats.org/drawingml/2006/main">
            <a:off x="11125200" y="428625"/>
            <a:ext cx="495300" cy="495300"/>
          </a:xfrm>
          <a:prstGeom xmlns:a="http://schemas.openxmlformats.org/drawingml/2006/main" prst="roundRect">
            <a:avLst>
              <a:gd name="adj" fmla="val 23077"/>
            </a:avLst>
          </a:prstGeom>
        </p:spPr>
      </p:pic>
      <p:sp>
        <p:nvSpPr>
          <p:cNvPr id="6" name="">
            <a:extLst xmlns:a="http://schemas.openxmlformats.org/drawingml/2006/main">
              <a:ext uri="{FF2B5EF4-FFF2-40B4-BE49-F238E27FC236}">
                <a16:creationId xmlns:a16="http://schemas.microsoft.com/office/drawing/2014/main" id="{7097237F-9401-4FF6-A272-0779407FC9F5}"/>
              </a:ext>
            </a:extLst>
          </p:cNvPr>
          <p:cNvSpPr>
            <a:spLocks xmlns:a="http://schemas.openxmlformats.org/drawingml/2006/main" noGrp="1"/>
          </p:cNvSpPr>
          <p:nvPr/>
        </p:nvSpPr>
        <p:spPr>
          <a:xfrm xmlns:a="http://schemas.openxmlformats.org/drawingml/2006/main">
            <a:off x="609600" y="6457950"/>
            <a:ext cx="10972800" cy="9525"/>
          </a:xfrm>
          <a:prstGeom xmlns:a="http://schemas.openxmlformats.org/drawingml/2006/main" prst="rect">
            <a:avLst/>
          </a:prstGeom>
          <a:solidFill xmlns:a="http://schemas.openxmlformats.org/drawingml/2006/main">
            <a:srgbClr val="DCDDD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41525E5-B775-4F38-94C9-7248523B69FA}"/>
              </a:ext>
            </a:extLst>
          </p:cNvPr>
          <p:cNvSpPr>
            <a:spLocks xmlns:a="http://schemas.openxmlformats.org/drawingml/2006/main" noGrp="1"/>
          </p:cNvSpPr>
          <p:nvPr/>
        </p:nvSpPr>
        <p:spPr>
          <a:xfrm xmlns:a="http://schemas.openxmlformats.org/drawingml/2006/main">
            <a:off x="609600" y="6543675"/>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66736B"/>
                </a:solidFill>
              </a:defRPr>
            </a:pPr>
            <a:r>
              <a:rPr sz="825" b="0" i="0">
                <a:solidFill>
                  <a:srgbClr val="66736B"/>
                </a:solidFill>
              </a:rPr>
              <a:t>Traditional Governance  •  Interactive Statistics</a:t>
            </a:r>
          </a:p>
        </p:txBody>
      </p:sp>
      <p:sp>
        <p:nvSpPr>
          <p:cNvPr id="8" name="">
            <a:extLst xmlns:a="http://schemas.openxmlformats.org/drawingml/2006/main">
              <a:ext uri="{FF2B5EF4-FFF2-40B4-BE49-F238E27FC236}">
                <a16:creationId xmlns:a16="http://schemas.microsoft.com/office/drawing/2014/main" id="{459B131C-0F7A-4392-9F41-97DC4F1FAD36}"/>
              </a:ext>
            </a:extLst>
          </p:cNvPr>
          <p:cNvSpPr>
            <a:spLocks xmlns:a="http://schemas.openxmlformats.org/drawingml/2006/main" noGrp="1"/>
          </p:cNvSpPr>
          <p:nvPr/>
        </p:nvSpPr>
        <p:spPr>
          <a:xfrm xmlns:a="http://schemas.openxmlformats.org/drawingml/2006/main">
            <a:off x="11068050" y="65246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123524"/>
                </a:solidFill>
              </a:defRPr>
            </a:pPr>
            <a:r>
              <a:rPr sz="900" b="1" i="0">
                <a:solidFill>
                  <a:srgbClr val="123524"/>
                </a:solidFill>
              </a:rPr>
              <a:t>12</a:t>
            </a:r>
          </a:p>
        </p:txBody>
      </p:sp>
      <p:sp>
        <p:nvSpPr>
          <p:cNvPr id="9" name="">
            <a:extLst xmlns:a="http://schemas.openxmlformats.org/drawingml/2006/main">
              <a:ext uri="{FF2B5EF4-FFF2-40B4-BE49-F238E27FC236}">
                <a16:creationId xmlns:a16="http://schemas.microsoft.com/office/drawing/2014/main" id="{CC19A720-5228-4D8C-8462-AA6DE849F367}"/>
              </a:ext>
            </a:extLst>
          </p:cNvPr>
          <p:cNvSpPr>
            <a:spLocks xmlns:a="http://schemas.openxmlformats.org/drawingml/2006/main" noGrp="1"/>
          </p:cNvSpPr>
          <p:nvPr/>
        </p:nvSpPr>
        <p:spPr>
          <a:xfrm xmlns:a="http://schemas.openxmlformats.org/drawingml/2006/main">
            <a:off x="914400" y="1676400"/>
            <a:ext cx="2381250" cy="2381250"/>
          </a:xfrm>
          <a:prstGeom xmlns:a="http://schemas.openxmlformats.org/drawingml/2006/main" prst="ellipse">
            <a:avLst/>
          </a:prstGeom>
          <a:solidFill xmlns:a="http://schemas.openxmlformats.org/drawingml/2006/main">
            <a:srgbClr val="0B2A1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4E5E31B-C5D4-4E9F-B1FA-8D4F2BCCCD0D}"/>
              </a:ext>
            </a:extLst>
          </p:cNvPr>
          <p:cNvSpPr>
            <a:spLocks xmlns:a="http://schemas.openxmlformats.org/drawingml/2006/main" noGrp="1"/>
          </p:cNvSpPr>
          <p:nvPr/>
        </p:nvSpPr>
        <p:spPr>
          <a:xfrm xmlns:a="http://schemas.openxmlformats.org/drawingml/2006/main">
            <a:off x="1590675" y="2247900"/>
            <a:ext cx="1028700" cy="1123950"/>
          </a:xfrm>
          <a:prstGeom xmlns:a="http://schemas.openxmlformats.org/drawingml/2006/main" prst="roundRect">
            <a:avLst>
              <a:gd name="adj" fmla="val 7407"/>
            </a:avLst>
          </a:prstGeom>
          <a:solidFill xmlns:a="http://schemas.openxmlformats.org/drawingml/2006/main">
            <a:srgbClr val="C8A96A"/>
          </a:solidFill>
          <a:ln xmlns:a="http://schemas.openxmlformats.org/drawingml/2006/main" w="0">
            <a:solidFill>
              <a:srgbClr val="C8A96A"/>
            </a:solidFill>
            <a:prstDash val="solid"/>
          </a:ln>
        </p:spPr>
      </p:sp>
      <p:sp>
        <p:nvSpPr>
          <p:cNvPr id="11" name="">
            <a:extLst xmlns:a="http://schemas.openxmlformats.org/drawingml/2006/main">
              <a:ext uri="{FF2B5EF4-FFF2-40B4-BE49-F238E27FC236}">
                <a16:creationId xmlns:a16="http://schemas.microsoft.com/office/drawing/2014/main" id="{F4C9F608-678A-46C1-95E6-162D09920359}"/>
              </a:ext>
            </a:extLst>
          </p:cNvPr>
          <p:cNvSpPr>
            <a:spLocks xmlns:a="http://schemas.openxmlformats.org/drawingml/2006/main" noGrp="1"/>
          </p:cNvSpPr>
          <p:nvPr/>
        </p:nvSpPr>
        <p:spPr>
          <a:xfrm xmlns:a="http://schemas.openxmlformats.org/drawingml/2006/main">
            <a:off x="1800225" y="1990725"/>
            <a:ext cx="609600" cy="609600"/>
          </a:xfrm>
          <a:prstGeom xmlns:a="http://schemas.openxmlformats.org/drawingml/2006/main" prst="ellipse">
            <a:avLst/>
          </a:prstGeom>
          <a:solidFill xmlns:a="http://schemas.openxmlformats.org/drawingml/2006/main">
            <a:srgbClr val="0B2A1D"/>
          </a:solidFill>
          <a:ln xmlns:a="http://schemas.openxmlformats.org/drawingml/2006/main" w="76200">
            <a:solidFill>
              <a:srgbClr val="C8A96A"/>
            </a:solidFill>
            <a:prstDash val="solid"/>
          </a:ln>
        </p:spPr>
      </p:sp>
      <p:sp>
        <p:nvSpPr>
          <p:cNvPr id="12" name="">
            <a:extLst xmlns:a="http://schemas.openxmlformats.org/drawingml/2006/main">
              <a:ext uri="{FF2B5EF4-FFF2-40B4-BE49-F238E27FC236}">
                <a16:creationId xmlns:a16="http://schemas.microsoft.com/office/drawing/2014/main" id="{BB401ED2-209D-4088-B420-F57D81FC7F5F}"/>
              </a:ext>
            </a:extLst>
          </p:cNvPr>
          <p:cNvSpPr>
            <a:spLocks xmlns:a="http://schemas.openxmlformats.org/drawingml/2006/main" noGrp="1"/>
          </p:cNvSpPr>
          <p:nvPr/>
        </p:nvSpPr>
        <p:spPr>
          <a:xfrm xmlns:a="http://schemas.openxmlformats.org/drawingml/2006/main">
            <a:off x="1590675" y="2590800"/>
            <a:ext cx="1028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75" b="1" i="0">
                <a:solidFill>
                  <a:srgbClr val="0B2A1D"/>
                </a:solidFill>
              </a:defRPr>
            </a:pPr>
            <a:r>
              <a:rPr sz="2475" b="1" i="0">
                <a:solidFill>
                  <a:srgbClr val="0B2A1D"/>
                </a:solidFill>
              </a:rPr>
              <a:t>✓</a:t>
            </a:r>
          </a:p>
        </p:txBody>
      </p:sp>
      <p:sp>
        <p:nvSpPr>
          <p:cNvPr id="13" name="">
            <a:extLst xmlns:a="http://schemas.openxmlformats.org/drawingml/2006/main">
              <a:ext uri="{FF2B5EF4-FFF2-40B4-BE49-F238E27FC236}">
                <a16:creationId xmlns:a16="http://schemas.microsoft.com/office/drawing/2014/main" id="{2C196A31-B12E-416D-8D9A-4619CCF2ACAE}"/>
              </a:ext>
            </a:extLst>
          </p:cNvPr>
          <p:cNvSpPr>
            <a:spLocks xmlns:a="http://schemas.openxmlformats.org/drawingml/2006/main" noGrp="1"/>
          </p:cNvSpPr>
          <p:nvPr/>
        </p:nvSpPr>
        <p:spPr>
          <a:xfrm xmlns:a="http://schemas.openxmlformats.org/drawingml/2006/main">
            <a:off x="914400" y="43338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123524"/>
                </a:solidFill>
              </a:defRPr>
            </a:pPr>
            <a:r>
              <a:rPr sz="1500" b="1" i="0">
                <a:solidFill>
                  <a:srgbClr val="123524"/>
                </a:solidFill>
              </a:rPr>
              <a:t>VALIDATED</a:t>
            </a:r>
          </a:p>
        </p:txBody>
      </p:sp>
      <p:sp>
        <p:nvSpPr>
          <p:cNvPr id="14" name="">
            <a:extLst xmlns:a="http://schemas.openxmlformats.org/drawingml/2006/main">
              <a:ext uri="{FF2B5EF4-FFF2-40B4-BE49-F238E27FC236}">
                <a16:creationId xmlns:a16="http://schemas.microsoft.com/office/drawing/2014/main" id="{05D85EE3-2C8C-42FD-965B-A7788FD7459C}"/>
              </a:ext>
            </a:extLst>
          </p:cNvPr>
          <p:cNvSpPr>
            <a:spLocks xmlns:a="http://schemas.openxmlformats.org/drawingml/2006/main" noGrp="1"/>
          </p:cNvSpPr>
          <p:nvPr/>
        </p:nvSpPr>
        <p:spPr>
          <a:xfrm xmlns:a="http://schemas.openxmlformats.org/drawingml/2006/main">
            <a:off x="4000500" y="1647825"/>
            <a:ext cx="361950" cy="36195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1E575F0-E7DE-4908-A4E2-42D1A9B87FFE}"/>
              </a:ext>
            </a:extLst>
          </p:cNvPr>
          <p:cNvSpPr>
            <a:spLocks xmlns:a="http://schemas.openxmlformats.org/drawingml/2006/main" noGrp="1"/>
          </p:cNvSpPr>
          <p:nvPr/>
        </p:nvSpPr>
        <p:spPr>
          <a:xfrm xmlns:a="http://schemas.openxmlformats.org/drawingml/2006/main">
            <a:off x="4000500" y="1724025"/>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a:t>
            </a:r>
          </a:p>
        </p:txBody>
      </p:sp>
      <p:sp>
        <p:nvSpPr>
          <p:cNvPr id="16" name="">
            <a:extLst xmlns:a="http://schemas.openxmlformats.org/drawingml/2006/main">
              <a:ext uri="{FF2B5EF4-FFF2-40B4-BE49-F238E27FC236}">
                <a16:creationId xmlns:a16="http://schemas.microsoft.com/office/drawing/2014/main" id="{2FD8A8AA-58BB-4588-AEA0-670EB8F619D4}"/>
              </a:ext>
            </a:extLst>
          </p:cNvPr>
          <p:cNvSpPr>
            <a:spLocks xmlns:a="http://schemas.openxmlformats.org/drawingml/2006/main" noGrp="1"/>
          </p:cNvSpPr>
          <p:nvPr/>
        </p:nvSpPr>
        <p:spPr>
          <a:xfrm xmlns:a="http://schemas.openxmlformats.org/drawingml/2006/main">
            <a:off x="4610100" y="15811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23524"/>
                </a:solidFill>
              </a:defRPr>
            </a:pPr>
            <a:r>
              <a:rPr sz="1650" b="1" i="0">
                <a:solidFill>
                  <a:srgbClr val="123524"/>
                </a:solidFill>
              </a:rPr>
              <a:t>Parameterized SQL</a:t>
            </a:r>
          </a:p>
        </p:txBody>
      </p:sp>
      <p:sp>
        <p:nvSpPr>
          <p:cNvPr id="17" name="">
            <a:extLst xmlns:a="http://schemas.openxmlformats.org/drawingml/2006/main">
              <a:ext uri="{FF2B5EF4-FFF2-40B4-BE49-F238E27FC236}">
                <a16:creationId xmlns:a16="http://schemas.microsoft.com/office/drawing/2014/main" id="{B00D18BE-139F-477A-B7DA-5C7916994C0D}"/>
              </a:ext>
            </a:extLst>
          </p:cNvPr>
          <p:cNvSpPr>
            <a:spLocks xmlns:a="http://schemas.openxmlformats.org/drawingml/2006/main" noGrp="1"/>
          </p:cNvSpPr>
          <p:nvPr/>
        </p:nvSpPr>
        <p:spPr>
          <a:xfrm xmlns:a="http://schemas.openxmlformats.org/drawingml/2006/main">
            <a:off x="4610100" y="194310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66736B"/>
                </a:solidFill>
              </a:defRPr>
            </a:pPr>
            <a:r>
              <a:rPr sz="1275" b="0" i="0">
                <a:solidFill>
                  <a:srgbClr val="66736B"/>
                </a:solidFill>
              </a:rPr>
              <a:t>User values are separate from SQL instructions.</a:t>
            </a:r>
          </a:p>
        </p:txBody>
      </p:sp>
      <p:sp>
        <p:nvSpPr>
          <p:cNvPr id="18" name="">
            <a:extLst xmlns:a="http://schemas.openxmlformats.org/drawingml/2006/main">
              <a:ext uri="{FF2B5EF4-FFF2-40B4-BE49-F238E27FC236}">
                <a16:creationId xmlns:a16="http://schemas.microsoft.com/office/drawing/2014/main" id="{1CA5F899-E529-4193-934B-E0783E53A9AE}"/>
              </a:ext>
            </a:extLst>
          </p:cNvPr>
          <p:cNvSpPr>
            <a:spLocks xmlns:a="http://schemas.openxmlformats.org/drawingml/2006/main" noGrp="1"/>
          </p:cNvSpPr>
          <p:nvPr/>
        </p:nvSpPr>
        <p:spPr>
          <a:xfrm xmlns:a="http://schemas.openxmlformats.org/drawingml/2006/main">
            <a:off x="4000500" y="2724150"/>
            <a:ext cx="361950" cy="361950"/>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EC6969E-E2E8-4BBE-BA69-7310D5CF6041}"/>
              </a:ext>
            </a:extLst>
          </p:cNvPr>
          <p:cNvSpPr>
            <a:spLocks xmlns:a="http://schemas.openxmlformats.org/drawingml/2006/main" noGrp="1"/>
          </p:cNvSpPr>
          <p:nvPr/>
        </p:nvSpPr>
        <p:spPr>
          <a:xfrm xmlns:a="http://schemas.openxmlformats.org/drawingml/2006/main">
            <a:off x="4000500" y="28003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0B2A1D"/>
                </a:solidFill>
              </a:defRPr>
            </a:pPr>
            <a:r>
              <a:rPr sz="1125" b="1" i="0">
                <a:solidFill>
                  <a:srgbClr val="0B2A1D"/>
                </a:solidFill>
              </a:rPr>
              <a:t>✓</a:t>
            </a:r>
          </a:p>
        </p:txBody>
      </p:sp>
      <p:sp>
        <p:nvSpPr>
          <p:cNvPr id="20" name="">
            <a:extLst xmlns:a="http://schemas.openxmlformats.org/drawingml/2006/main">
              <a:ext uri="{FF2B5EF4-FFF2-40B4-BE49-F238E27FC236}">
                <a16:creationId xmlns:a16="http://schemas.microsoft.com/office/drawing/2014/main" id="{AF7C8426-7CDF-45CC-8B16-3A1FDECF81B4}"/>
              </a:ext>
            </a:extLst>
          </p:cNvPr>
          <p:cNvSpPr>
            <a:spLocks xmlns:a="http://schemas.openxmlformats.org/drawingml/2006/main" noGrp="1"/>
          </p:cNvSpPr>
          <p:nvPr/>
        </p:nvSpPr>
        <p:spPr>
          <a:xfrm xmlns:a="http://schemas.openxmlformats.org/drawingml/2006/main">
            <a:off x="4610100" y="2657475"/>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23524"/>
                </a:solidFill>
              </a:defRPr>
            </a:pPr>
            <a:r>
              <a:rPr sz="1650" b="1" i="0">
                <a:solidFill>
                  <a:srgbClr val="123524"/>
                </a:solidFill>
              </a:rPr>
              <a:t>Input validation</a:t>
            </a:r>
          </a:p>
        </p:txBody>
      </p:sp>
      <p:sp>
        <p:nvSpPr>
          <p:cNvPr id="21" name="">
            <a:extLst xmlns:a="http://schemas.openxmlformats.org/drawingml/2006/main">
              <a:ext uri="{FF2B5EF4-FFF2-40B4-BE49-F238E27FC236}">
                <a16:creationId xmlns:a16="http://schemas.microsoft.com/office/drawing/2014/main" id="{E8D81D89-39EA-4E00-8242-AD137A955D1D}"/>
              </a:ext>
            </a:extLst>
          </p:cNvPr>
          <p:cNvSpPr>
            <a:spLocks xmlns:a="http://schemas.openxmlformats.org/drawingml/2006/main" noGrp="1"/>
          </p:cNvSpPr>
          <p:nvPr/>
        </p:nvSpPr>
        <p:spPr>
          <a:xfrm xmlns:a="http://schemas.openxmlformats.org/drawingml/2006/main">
            <a:off x="4610100" y="301942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66736B"/>
                </a:solidFill>
              </a:defRPr>
            </a:pPr>
            <a:r>
              <a:rPr sz="1275" b="0" i="0">
                <a:solidFill>
                  <a:srgbClr val="66736B"/>
                </a:solidFill>
              </a:rPr>
              <a:t>Empty and unknown scope values are rejected.</a:t>
            </a:r>
          </a:p>
        </p:txBody>
      </p:sp>
      <p:sp>
        <p:nvSpPr>
          <p:cNvPr id="22" name="">
            <a:extLst xmlns:a="http://schemas.openxmlformats.org/drawingml/2006/main">
              <a:ext uri="{FF2B5EF4-FFF2-40B4-BE49-F238E27FC236}">
                <a16:creationId xmlns:a16="http://schemas.microsoft.com/office/drawing/2014/main" id="{CD21B25C-B1AD-4297-BF43-6F99EF4EA13F}"/>
              </a:ext>
            </a:extLst>
          </p:cNvPr>
          <p:cNvSpPr>
            <a:spLocks xmlns:a="http://schemas.openxmlformats.org/drawingml/2006/main" noGrp="1"/>
          </p:cNvSpPr>
          <p:nvPr/>
        </p:nvSpPr>
        <p:spPr>
          <a:xfrm xmlns:a="http://schemas.openxmlformats.org/drawingml/2006/main">
            <a:off x="4000500" y="3800475"/>
            <a:ext cx="361950" cy="36195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3858CA0-CEC9-49D7-81D3-141E6BA7AB4B}"/>
              </a:ext>
            </a:extLst>
          </p:cNvPr>
          <p:cNvSpPr>
            <a:spLocks xmlns:a="http://schemas.openxmlformats.org/drawingml/2006/main" noGrp="1"/>
          </p:cNvSpPr>
          <p:nvPr/>
        </p:nvSpPr>
        <p:spPr>
          <a:xfrm xmlns:a="http://schemas.openxmlformats.org/drawingml/2006/main">
            <a:off x="4000500" y="3876675"/>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FFFFFF"/>
                </a:solidFill>
              </a:defRPr>
            </a:pPr>
            <a:r>
              <a:rPr sz="1125" b="1" i="0">
                <a:solidFill>
                  <a:srgbClr val="FFFFFF"/>
                </a:solidFill>
              </a:rPr>
              <a:t>✓</a:t>
            </a:r>
          </a:p>
        </p:txBody>
      </p:sp>
      <p:sp>
        <p:nvSpPr>
          <p:cNvPr id="24" name="">
            <a:extLst xmlns:a="http://schemas.openxmlformats.org/drawingml/2006/main">
              <a:ext uri="{FF2B5EF4-FFF2-40B4-BE49-F238E27FC236}">
                <a16:creationId xmlns:a16="http://schemas.microsoft.com/office/drawing/2014/main" id="{DEE9022D-0AFA-4D3B-B21F-3FDAF97EB683}"/>
              </a:ext>
            </a:extLst>
          </p:cNvPr>
          <p:cNvSpPr>
            <a:spLocks xmlns:a="http://schemas.openxmlformats.org/drawingml/2006/main" noGrp="1"/>
          </p:cNvSpPr>
          <p:nvPr/>
        </p:nvSpPr>
        <p:spPr>
          <a:xfrm xmlns:a="http://schemas.openxmlformats.org/drawingml/2006/main">
            <a:off x="4610100" y="373380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23524"/>
                </a:solidFill>
              </a:defRPr>
            </a:pPr>
            <a:r>
              <a:rPr sz="1650" b="1" i="0">
                <a:solidFill>
                  <a:srgbClr val="123524"/>
                </a:solidFill>
              </a:rPr>
              <a:t>One filter at a time</a:t>
            </a:r>
          </a:p>
        </p:txBody>
      </p:sp>
      <p:sp>
        <p:nvSpPr>
          <p:cNvPr id="25" name="">
            <a:extLst xmlns:a="http://schemas.openxmlformats.org/drawingml/2006/main">
              <a:ext uri="{FF2B5EF4-FFF2-40B4-BE49-F238E27FC236}">
                <a16:creationId xmlns:a16="http://schemas.microsoft.com/office/drawing/2014/main" id="{DCBFCA0D-3D5A-4190-B01C-E491818AAB01}"/>
              </a:ext>
            </a:extLst>
          </p:cNvPr>
          <p:cNvSpPr>
            <a:spLocks xmlns:a="http://schemas.openxmlformats.org/drawingml/2006/main" noGrp="1"/>
          </p:cNvSpPr>
          <p:nvPr/>
        </p:nvSpPr>
        <p:spPr>
          <a:xfrm xmlns:a="http://schemas.openxmlformats.org/drawingml/2006/main">
            <a:off x="4610100" y="40957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66736B"/>
                </a:solidFill>
              </a:defRPr>
            </a:pPr>
            <a:r>
              <a:rPr sz="1275" b="0" i="0">
                <a:solidFill>
                  <a:srgbClr val="66736B"/>
                </a:solidFill>
              </a:rPr>
              <a:t>Country, continent, and region cannot be combined.</a:t>
            </a:r>
          </a:p>
        </p:txBody>
      </p:sp>
      <p:sp>
        <p:nvSpPr>
          <p:cNvPr id="26" name="">
            <a:extLst xmlns:a="http://schemas.openxmlformats.org/drawingml/2006/main">
              <a:ext uri="{FF2B5EF4-FFF2-40B4-BE49-F238E27FC236}">
                <a16:creationId xmlns:a16="http://schemas.microsoft.com/office/drawing/2014/main" id="{CCA21A91-1CE8-4081-868A-E36863F3A9F7}"/>
              </a:ext>
            </a:extLst>
          </p:cNvPr>
          <p:cNvSpPr>
            <a:spLocks xmlns:a="http://schemas.openxmlformats.org/drawingml/2006/main" noGrp="1"/>
          </p:cNvSpPr>
          <p:nvPr/>
        </p:nvSpPr>
        <p:spPr>
          <a:xfrm xmlns:a="http://schemas.openxmlformats.org/drawingml/2006/main">
            <a:off x="4000500" y="4876800"/>
            <a:ext cx="361950" cy="361950"/>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011202E-724A-485D-8E3D-27C7675553C7}"/>
              </a:ext>
            </a:extLst>
          </p:cNvPr>
          <p:cNvSpPr>
            <a:spLocks xmlns:a="http://schemas.openxmlformats.org/drawingml/2006/main" noGrp="1"/>
          </p:cNvSpPr>
          <p:nvPr/>
        </p:nvSpPr>
        <p:spPr>
          <a:xfrm xmlns:a="http://schemas.openxmlformats.org/drawingml/2006/main">
            <a:off x="4000500" y="495300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0B2A1D"/>
                </a:solidFill>
              </a:defRPr>
            </a:pPr>
            <a:r>
              <a:rPr sz="1125" b="1" i="0">
                <a:solidFill>
                  <a:srgbClr val="0B2A1D"/>
                </a:solidFill>
              </a:rPr>
              <a:t>✓</a:t>
            </a:r>
          </a:p>
        </p:txBody>
      </p:sp>
      <p:sp>
        <p:nvSpPr>
          <p:cNvPr id="28" name="">
            <a:extLst xmlns:a="http://schemas.openxmlformats.org/drawingml/2006/main">
              <a:ext uri="{FF2B5EF4-FFF2-40B4-BE49-F238E27FC236}">
                <a16:creationId xmlns:a16="http://schemas.microsoft.com/office/drawing/2014/main" id="{53E49EA8-2A2A-44B9-AA57-6AB4A41901E1}"/>
              </a:ext>
            </a:extLst>
          </p:cNvPr>
          <p:cNvSpPr>
            <a:spLocks xmlns:a="http://schemas.openxmlformats.org/drawingml/2006/main" noGrp="1"/>
          </p:cNvSpPr>
          <p:nvPr/>
        </p:nvSpPr>
        <p:spPr>
          <a:xfrm xmlns:a="http://schemas.openxmlformats.org/drawingml/2006/main">
            <a:off x="4610100" y="4810125"/>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123524"/>
                </a:solidFill>
              </a:defRPr>
            </a:pPr>
            <a:r>
              <a:rPr sz="1650" b="1" i="0">
                <a:solidFill>
                  <a:srgbClr val="123524"/>
                </a:solidFill>
              </a:rPr>
              <a:t>HTTP 400</a:t>
            </a:r>
          </a:p>
        </p:txBody>
      </p:sp>
      <p:sp>
        <p:nvSpPr>
          <p:cNvPr id="29" name="">
            <a:extLst xmlns:a="http://schemas.openxmlformats.org/drawingml/2006/main">
              <a:ext uri="{FF2B5EF4-FFF2-40B4-BE49-F238E27FC236}">
                <a16:creationId xmlns:a16="http://schemas.microsoft.com/office/drawing/2014/main" id="{83CB7AA9-693B-4DE2-A4DE-8BB7D8EA33DF}"/>
              </a:ext>
            </a:extLst>
          </p:cNvPr>
          <p:cNvSpPr>
            <a:spLocks xmlns:a="http://schemas.openxmlformats.org/drawingml/2006/main" noGrp="1"/>
          </p:cNvSpPr>
          <p:nvPr/>
        </p:nvSpPr>
        <p:spPr>
          <a:xfrm xmlns:a="http://schemas.openxmlformats.org/drawingml/2006/main">
            <a:off x="4610100" y="51720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66736B"/>
                </a:solidFill>
              </a:defRPr>
            </a:pPr>
            <a:r>
              <a:rPr sz="1275" b="0" i="0">
                <a:solidFill>
                  <a:srgbClr val="66736B"/>
                </a:solidFill>
              </a:rPr>
              <a:t>Invalid requests receive a clear client error.</a:t>
            </a:r>
          </a:p>
        </p:txBody>
      </p:sp>
      <p:sp>
        <p:nvSpPr>
          <p:cNvPr id="30" name="">
            <a:extLst xmlns:a="http://schemas.openxmlformats.org/drawingml/2006/main">
              <a:ext uri="{FF2B5EF4-FFF2-40B4-BE49-F238E27FC236}">
                <a16:creationId xmlns:a16="http://schemas.microsoft.com/office/drawing/2014/main" id="{CE9E7FA2-7D20-478B-8A94-DE2EFC1414CC}"/>
              </a:ext>
            </a:extLst>
          </p:cNvPr>
          <p:cNvSpPr>
            <a:spLocks xmlns:a="http://schemas.openxmlformats.org/drawingml/2006/main" noGrp="1"/>
          </p:cNvSpPr>
          <p:nvPr/>
        </p:nvSpPr>
        <p:spPr>
          <a:xfrm xmlns:a="http://schemas.openxmlformats.org/drawingml/2006/main">
            <a:off x="4000500" y="5772150"/>
            <a:ext cx="6858000" cy="361950"/>
          </a:xfrm>
          <a:prstGeom xmlns:a="http://schemas.openxmlformats.org/drawingml/2006/main" prst="roundRect">
            <a:avLst>
              <a:gd name="adj" fmla="val 21053"/>
            </a:avLst>
          </a:prstGeom>
          <a:solidFill xmlns:a="http://schemas.openxmlformats.org/drawingml/2006/main">
            <a:srgbClr val="EDE1C8"/>
          </a:solidFill>
          <a:ln xmlns:a="http://schemas.openxmlformats.org/drawingml/2006/main" w="9525">
            <a:solidFill>
              <a:srgbClr val="C8A96A"/>
            </a:solidFill>
            <a:prstDash val="solid"/>
          </a:ln>
        </p:spPr>
      </p:sp>
      <p:sp>
        <p:nvSpPr>
          <p:cNvPr id="31" name="">
            <a:extLst xmlns:a="http://schemas.openxmlformats.org/drawingml/2006/main">
              <a:ext uri="{FF2B5EF4-FFF2-40B4-BE49-F238E27FC236}">
                <a16:creationId xmlns:a16="http://schemas.microsoft.com/office/drawing/2014/main" id="{E5543922-94BC-4682-AAF8-16CB46A861D4}"/>
              </a:ext>
            </a:extLst>
          </p:cNvPr>
          <p:cNvSpPr>
            <a:spLocks xmlns:a="http://schemas.openxmlformats.org/drawingml/2006/main" noGrp="1"/>
          </p:cNvSpPr>
          <p:nvPr/>
        </p:nvSpPr>
        <p:spPr>
          <a:xfrm xmlns:a="http://schemas.openxmlformats.org/drawingml/2006/main">
            <a:off x="4095750" y="585787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123524"/>
                </a:solidFill>
              </a:defRPr>
            </a:pPr>
            <a:r>
              <a:rPr sz="1200" b="1" i="0">
                <a:solidFill>
                  <a:srgbClr val="123524"/>
                </a:solidFill>
              </a:rPr>
              <a:t>Column names come from a fixed server-side allow-list.</a:t>
            </a:r>
          </a:p>
        </p:txBody>
      </p:sp>
    </p:spTree>
    <p:extLst>
      <p:ext uri="{BB962C8B-B14F-4D97-AF65-F5344CB8AC3E}">
        <p14:creationId xmlns:p14="http://schemas.microsoft.com/office/powerpoint/2010/main" val="1210523864"/>
      </p:ext>
    </p:extLst>
  </p:cSld>
</p:sld>
</file>

<file path=ppt/slides/slide1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E7B188B3-5998-4EF8-8EC3-084E7E25421B}"/>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7BB60F-BF6A-4951-B6FA-76E91F79BEA9}"/>
              </a:ext>
            </a:extLst>
          </p:cNvPr>
          <p:cNvSpPr>
            <a:spLocks xmlns:a="http://schemas.openxmlformats.org/drawingml/2006/main" noGrp="1"/>
          </p:cNvSpPr>
          <p:nvPr/>
        </p:nvSpPr>
        <p:spPr>
          <a:xfrm xmlns:a="http://schemas.openxmlformats.org/drawingml/2006/main">
            <a:off x="609600" y="523875"/>
            <a:ext cx="66675" cy="476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945EAD2-49F2-4470-8325-1C05EE32033B}"/>
              </a:ext>
            </a:extLst>
          </p:cNvPr>
          <p:cNvSpPr>
            <a:spLocks xmlns:a="http://schemas.openxmlformats.org/drawingml/2006/main" noGrp="1"/>
          </p:cNvSpPr>
          <p:nvPr/>
        </p:nvSpPr>
        <p:spPr>
          <a:xfrm xmlns:a="http://schemas.openxmlformats.org/drawingml/2006/main">
            <a:off x="838200" y="4572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A96A"/>
                </a:solidFill>
              </a:defRPr>
            </a:pPr>
            <a:r>
              <a:rPr sz="975" b="1" i="0">
                <a:solidFill>
                  <a:srgbClr val="C8A96A"/>
                </a:solidFill>
              </a:rPr>
              <a:t>VERIFICATION</a:t>
            </a:r>
          </a:p>
        </p:txBody>
      </p:sp>
      <p:sp>
        <p:nvSpPr>
          <p:cNvPr id="4" name="">
            <a:extLst xmlns:a="http://schemas.openxmlformats.org/drawingml/2006/main">
              <a:ext uri="{FF2B5EF4-FFF2-40B4-BE49-F238E27FC236}">
                <a16:creationId xmlns:a16="http://schemas.microsoft.com/office/drawing/2014/main" id="{29637544-1FBF-4896-8053-B60BE14247F8}"/>
              </a:ext>
            </a:extLst>
          </p:cNvPr>
          <p:cNvSpPr>
            <a:spLocks xmlns:a="http://schemas.openxmlformats.org/drawingml/2006/main" noGrp="1"/>
          </p:cNvSpPr>
          <p:nvPr/>
        </p:nvSpPr>
        <p:spPr>
          <a:xfrm xmlns:a="http://schemas.openxmlformats.org/drawingml/2006/main">
            <a:off x="838200" y="65722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524"/>
                </a:solidFill>
              </a:defRPr>
            </a:pPr>
            <a:r>
              <a:rPr sz="2700" b="1" i="0">
                <a:solidFill>
                  <a:srgbClr val="123524"/>
                </a:solidFill>
              </a:rPr>
              <a:t>The feature passed automated and live checks</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070c1201177a46a4"/>
          <a:stretch xmlns:a="http://schemas.openxmlformats.org/drawingml/2006/main"/>
        </p:blipFill>
        <p:spPr>
          <a:xfrm xmlns:a="http://schemas.openxmlformats.org/drawingml/2006/main">
            <a:off x="11125200" y="428625"/>
            <a:ext cx="495300" cy="495300"/>
          </a:xfrm>
          <a:prstGeom xmlns:a="http://schemas.openxmlformats.org/drawingml/2006/main" prst="roundRect">
            <a:avLst>
              <a:gd name="adj" fmla="val 23077"/>
            </a:avLst>
          </a:prstGeom>
        </p:spPr>
      </p:pic>
      <p:sp>
        <p:nvSpPr>
          <p:cNvPr id="6" name="">
            <a:extLst xmlns:a="http://schemas.openxmlformats.org/drawingml/2006/main">
              <a:ext uri="{FF2B5EF4-FFF2-40B4-BE49-F238E27FC236}">
                <a16:creationId xmlns:a16="http://schemas.microsoft.com/office/drawing/2014/main" id="{F6C0C926-7BD2-4FF9-813B-D0E0FBE556BF}"/>
              </a:ext>
            </a:extLst>
          </p:cNvPr>
          <p:cNvSpPr>
            <a:spLocks xmlns:a="http://schemas.openxmlformats.org/drawingml/2006/main" noGrp="1"/>
          </p:cNvSpPr>
          <p:nvPr/>
        </p:nvSpPr>
        <p:spPr>
          <a:xfrm xmlns:a="http://schemas.openxmlformats.org/drawingml/2006/main">
            <a:off x="609600" y="6457950"/>
            <a:ext cx="10972800" cy="9525"/>
          </a:xfrm>
          <a:prstGeom xmlns:a="http://schemas.openxmlformats.org/drawingml/2006/main" prst="rect">
            <a:avLst/>
          </a:prstGeom>
          <a:solidFill xmlns:a="http://schemas.openxmlformats.org/drawingml/2006/main">
            <a:srgbClr val="DCDDD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169C4D8-9960-4AD4-9645-E65006570589}"/>
              </a:ext>
            </a:extLst>
          </p:cNvPr>
          <p:cNvSpPr>
            <a:spLocks xmlns:a="http://schemas.openxmlformats.org/drawingml/2006/main" noGrp="1"/>
          </p:cNvSpPr>
          <p:nvPr/>
        </p:nvSpPr>
        <p:spPr>
          <a:xfrm xmlns:a="http://schemas.openxmlformats.org/drawingml/2006/main">
            <a:off x="609600" y="6543675"/>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66736B"/>
                </a:solidFill>
              </a:defRPr>
            </a:pPr>
            <a:r>
              <a:rPr sz="825" b="0" i="0">
                <a:solidFill>
                  <a:srgbClr val="66736B"/>
                </a:solidFill>
              </a:rPr>
              <a:t>Traditional Governance  •  Interactive Statistics</a:t>
            </a:r>
          </a:p>
        </p:txBody>
      </p:sp>
      <p:sp>
        <p:nvSpPr>
          <p:cNvPr id="8" name="">
            <a:extLst xmlns:a="http://schemas.openxmlformats.org/drawingml/2006/main">
              <a:ext uri="{FF2B5EF4-FFF2-40B4-BE49-F238E27FC236}">
                <a16:creationId xmlns:a16="http://schemas.microsoft.com/office/drawing/2014/main" id="{DECF1DB2-B588-4C3C-B3C2-EFF001B9CF45}"/>
              </a:ext>
            </a:extLst>
          </p:cNvPr>
          <p:cNvSpPr>
            <a:spLocks xmlns:a="http://schemas.openxmlformats.org/drawingml/2006/main" noGrp="1"/>
          </p:cNvSpPr>
          <p:nvPr/>
        </p:nvSpPr>
        <p:spPr>
          <a:xfrm xmlns:a="http://schemas.openxmlformats.org/drawingml/2006/main">
            <a:off x="11068050" y="65246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123524"/>
                </a:solidFill>
              </a:defRPr>
            </a:pPr>
            <a:r>
              <a:rPr sz="900" b="1" i="0">
                <a:solidFill>
                  <a:srgbClr val="123524"/>
                </a:solidFill>
              </a:rPr>
              <a:t>13</a:t>
            </a:r>
          </a:p>
        </p:txBody>
      </p:sp>
      <p:sp>
        <p:nvSpPr>
          <p:cNvPr id="9" name="">
            <a:extLst xmlns:a="http://schemas.openxmlformats.org/drawingml/2006/main">
              <a:ext uri="{FF2B5EF4-FFF2-40B4-BE49-F238E27FC236}">
                <a16:creationId xmlns:a16="http://schemas.microsoft.com/office/drawing/2014/main" id="{0E409E8A-6D14-4035-B568-8664BD827A3C}"/>
              </a:ext>
            </a:extLst>
          </p:cNvPr>
          <p:cNvSpPr>
            <a:spLocks xmlns:a="http://schemas.openxmlformats.org/drawingml/2006/main" noGrp="1"/>
          </p:cNvSpPr>
          <p:nvPr/>
        </p:nvSpPr>
        <p:spPr>
          <a:xfrm xmlns:a="http://schemas.openxmlformats.org/drawingml/2006/main">
            <a:off x="704850" y="1562100"/>
            <a:ext cx="2571750" cy="2571750"/>
          </a:xfrm>
          <a:prstGeom xmlns:a="http://schemas.openxmlformats.org/drawingml/2006/main" prst="ellipse">
            <a:avLst/>
          </a:prstGeom>
          <a:solidFill xmlns:a="http://schemas.openxmlformats.org/drawingml/2006/main">
            <a:srgbClr val="12352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DC4F420-F2B1-42E4-BC87-60A921BBF88E}"/>
              </a:ext>
            </a:extLst>
          </p:cNvPr>
          <p:cNvSpPr>
            <a:spLocks xmlns:a="http://schemas.openxmlformats.org/drawingml/2006/main" noGrp="1"/>
          </p:cNvSpPr>
          <p:nvPr/>
        </p:nvSpPr>
        <p:spPr>
          <a:xfrm xmlns:a="http://schemas.openxmlformats.org/drawingml/2006/main">
            <a:off x="704850" y="1914525"/>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600" b="1" i="0">
                <a:solidFill>
                  <a:srgbClr val="C8A96A"/>
                </a:solidFill>
              </a:defRPr>
            </a:pPr>
            <a:r>
              <a:rPr sz="6600" b="1" i="0">
                <a:solidFill>
                  <a:srgbClr val="C8A96A"/>
                </a:solidFill>
              </a:rPr>
              <a:t>17</a:t>
            </a:r>
          </a:p>
        </p:txBody>
      </p:sp>
      <p:sp>
        <p:nvSpPr>
          <p:cNvPr id="11" name="">
            <a:extLst xmlns:a="http://schemas.openxmlformats.org/drawingml/2006/main">
              <a:ext uri="{FF2B5EF4-FFF2-40B4-BE49-F238E27FC236}">
                <a16:creationId xmlns:a16="http://schemas.microsoft.com/office/drawing/2014/main" id="{93E73821-5ACB-4A36-BD86-F97472849EB0}"/>
              </a:ext>
            </a:extLst>
          </p:cNvPr>
          <p:cNvSpPr>
            <a:spLocks xmlns:a="http://schemas.openxmlformats.org/drawingml/2006/main" noGrp="1"/>
          </p:cNvSpPr>
          <p:nvPr/>
        </p:nvSpPr>
        <p:spPr>
          <a:xfrm xmlns:a="http://schemas.openxmlformats.org/drawingml/2006/main">
            <a:off x="704850" y="295275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i="0">
                <a:solidFill>
                  <a:srgbClr val="FFFFFF"/>
                </a:solidFill>
              </a:defRPr>
            </a:pPr>
            <a:r>
              <a:rPr sz="1875" b="1" i="0">
                <a:solidFill>
                  <a:srgbClr val="FFFFFF"/>
                </a:solidFill>
              </a:rPr>
              <a:t>Flask tests</a:t>
            </a:r>
          </a:p>
        </p:txBody>
      </p:sp>
      <p:sp>
        <p:nvSpPr>
          <p:cNvPr id="12" name="">
            <a:extLst xmlns:a="http://schemas.openxmlformats.org/drawingml/2006/main">
              <a:ext uri="{FF2B5EF4-FFF2-40B4-BE49-F238E27FC236}">
                <a16:creationId xmlns:a16="http://schemas.microsoft.com/office/drawing/2014/main" id="{6BB89AD9-D7E3-4203-846F-556E4852994C}"/>
              </a:ext>
            </a:extLst>
          </p:cNvPr>
          <p:cNvSpPr>
            <a:spLocks xmlns:a="http://schemas.openxmlformats.org/drawingml/2006/main" noGrp="1"/>
          </p:cNvSpPr>
          <p:nvPr/>
        </p:nvSpPr>
        <p:spPr>
          <a:xfrm xmlns:a="http://schemas.openxmlformats.org/drawingml/2006/main">
            <a:off x="704850" y="34861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EDE1C8"/>
                </a:solidFill>
              </a:defRPr>
            </a:pPr>
            <a:r>
              <a:rPr sz="1350" b="1" i="0">
                <a:solidFill>
                  <a:srgbClr val="EDE1C8"/>
                </a:solidFill>
              </a:rPr>
              <a:t>PASSED</a:t>
            </a:r>
          </a:p>
        </p:txBody>
      </p:sp>
      <p:sp>
        <p:nvSpPr>
          <p:cNvPr id="13" name="">
            <a:extLst xmlns:a="http://schemas.openxmlformats.org/drawingml/2006/main">
              <a:ext uri="{FF2B5EF4-FFF2-40B4-BE49-F238E27FC236}">
                <a16:creationId xmlns:a16="http://schemas.microsoft.com/office/drawing/2014/main" id="{BD1DD08C-F7A7-4DD7-8DE9-5ED47230EF4D}"/>
              </a:ext>
            </a:extLst>
          </p:cNvPr>
          <p:cNvSpPr>
            <a:spLocks xmlns:a="http://schemas.openxmlformats.org/drawingml/2006/main" noGrp="1"/>
          </p:cNvSpPr>
          <p:nvPr/>
        </p:nvSpPr>
        <p:spPr>
          <a:xfrm xmlns:a="http://schemas.openxmlformats.org/drawingml/2006/main">
            <a:off x="3981450" y="1524000"/>
            <a:ext cx="323850" cy="323850"/>
          </a:xfrm>
          <a:prstGeom xmlns:a="http://schemas.openxmlformats.org/drawingml/2006/main" prst="ellipse">
            <a:avLst/>
          </a:prstGeom>
          <a:solidFill xmlns:a="http://schemas.openxmlformats.org/drawingml/2006/main">
            <a:srgbClr val="26734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93506FD-3357-4D29-AAA3-E57FAD491CE7}"/>
              </a:ext>
            </a:extLst>
          </p:cNvPr>
          <p:cNvSpPr>
            <a:spLocks xmlns:a="http://schemas.openxmlformats.org/drawingml/2006/main" noGrp="1"/>
          </p:cNvSpPr>
          <p:nvPr/>
        </p:nvSpPr>
        <p:spPr>
          <a:xfrm xmlns:a="http://schemas.openxmlformats.org/drawingml/2006/main">
            <a:off x="3981450" y="15811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a:t>
            </a:r>
          </a:p>
        </p:txBody>
      </p:sp>
      <p:sp>
        <p:nvSpPr>
          <p:cNvPr id="15" name="">
            <a:extLst xmlns:a="http://schemas.openxmlformats.org/drawingml/2006/main">
              <a:ext uri="{FF2B5EF4-FFF2-40B4-BE49-F238E27FC236}">
                <a16:creationId xmlns:a16="http://schemas.microsoft.com/office/drawing/2014/main" id="{5D94999C-F54B-4290-9ECC-A4450D1331ED}"/>
              </a:ext>
            </a:extLst>
          </p:cNvPr>
          <p:cNvSpPr>
            <a:spLocks xmlns:a="http://schemas.openxmlformats.org/drawingml/2006/main" noGrp="1"/>
          </p:cNvSpPr>
          <p:nvPr/>
        </p:nvSpPr>
        <p:spPr>
          <a:xfrm xmlns:a="http://schemas.openxmlformats.org/drawingml/2006/main">
            <a:off x="4514850" y="1504950"/>
            <a:ext cx="657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17211B"/>
                </a:solidFill>
              </a:defRPr>
            </a:pPr>
            <a:r>
              <a:rPr sz="1500" b="0" i="0">
                <a:solidFill>
                  <a:srgbClr val="17211B"/>
                </a:solidFill>
              </a:rPr>
              <a:t>JavaScript syntax check passed</a:t>
            </a:r>
          </a:p>
        </p:txBody>
      </p:sp>
      <p:sp>
        <p:nvSpPr>
          <p:cNvPr id="16" name="">
            <a:extLst xmlns:a="http://schemas.openxmlformats.org/drawingml/2006/main">
              <a:ext uri="{FF2B5EF4-FFF2-40B4-BE49-F238E27FC236}">
                <a16:creationId xmlns:a16="http://schemas.microsoft.com/office/drawing/2014/main" id="{EE265FD2-C268-4BCC-91FC-248304C07ED2}"/>
              </a:ext>
            </a:extLst>
          </p:cNvPr>
          <p:cNvSpPr>
            <a:spLocks xmlns:a="http://schemas.openxmlformats.org/drawingml/2006/main" noGrp="1"/>
          </p:cNvSpPr>
          <p:nvPr/>
        </p:nvSpPr>
        <p:spPr>
          <a:xfrm xmlns:a="http://schemas.openxmlformats.org/drawingml/2006/main">
            <a:off x="3981450" y="2047875"/>
            <a:ext cx="323850" cy="323850"/>
          </a:xfrm>
          <a:prstGeom xmlns:a="http://schemas.openxmlformats.org/drawingml/2006/main" prst="ellipse">
            <a:avLst/>
          </a:prstGeom>
          <a:solidFill xmlns:a="http://schemas.openxmlformats.org/drawingml/2006/main">
            <a:srgbClr val="26734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0EA33DC-A189-4BEC-A27E-12B57198071E}"/>
              </a:ext>
            </a:extLst>
          </p:cNvPr>
          <p:cNvSpPr>
            <a:spLocks xmlns:a="http://schemas.openxmlformats.org/drawingml/2006/main" noGrp="1"/>
          </p:cNvSpPr>
          <p:nvPr/>
        </p:nvSpPr>
        <p:spPr>
          <a:xfrm xmlns:a="http://schemas.openxmlformats.org/drawingml/2006/main">
            <a:off x="3981450" y="2105025"/>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a:t>
            </a:r>
          </a:p>
        </p:txBody>
      </p:sp>
      <p:sp>
        <p:nvSpPr>
          <p:cNvPr id="18" name="">
            <a:extLst xmlns:a="http://schemas.openxmlformats.org/drawingml/2006/main">
              <a:ext uri="{FF2B5EF4-FFF2-40B4-BE49-F238E27FC236}">
                <a16:creationId xmlns:a16="http://schemas.microsoft.com/office/drawing/2014/main" id="{3BBAFEBF-BAF0-4AC0-82C1-B26304E66C8E}"/>
              </a:ext>
            </a:extLst>
          </p:cNvPr>
          <p:cNvSpPr>
            <a:spLocks xmlns:a="http://schemas.openxmlformats.org/drawingml/2006/main" noGrp="1"/>
          </p:cNvSpPr>
          <p:nvPr/>
        </p:nvSpPr>
        <p:spPr>
          <a:xfrm xmlns:a="http://schemas.openxmlformats.org/drawingml/2006/main">
            <a:off x="4514850" y="2028825"/>
            <a:ext cx="657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17211B"/>
                </a:solidFill>
              </a:defRPr>
            </a:pPr>
            <a:r>
              <a:rPr sz="1500" b="0" i="0">
                <a:solidFill>
                  <a:srgbClr val="17211B"/>
                </a:solidFill>
              </a:rPr>
              <a:t>Python syntax check passed</a:t>
            </a:r>
          </a:p>
        </p:txBody>
      </p:sp>
      <p:sp>
        <p:nvSpPr>
          <p:cNvPr id="19" name="">
            <a:extLst xmlns:a="http://schemas.openxmlformats.org/drawingml/2006/main">
              <a:ext uri="{FF2B5EF4-FFF2-40B4-BE49-F238E27FC236}">
                <a16:creationId xmlns:a16="http://schemas.microsoft.com/office/drawing/2014/main" id="{F96643F0-80A2-4378-9CFD-3ABCD184D5B3}"/>
              </a:ext>
            </a:extLst>
          </p:cNvPr>
          <p:cNvSpPr>
            <a:spLocks xmlns:a="http://schemas.openxmlformats.org/drawingml/2006/main" noGrp="1"/>
          </p:cNvSpPr>
          <p:nvPr/>
        </p:nvSpPr>
        <p:spPr>
          <a:xfrm xmlns:a="http://schemas.openxmlformats.org/drawingml/2006/main">
            <a:off x="3981450" y="2571750"/>
            <a:ext cx="323850" cy="323850"/>
          </a:xfrm>
          <a:prstGeom xmlns:a="http://schemas.openxmlformats.org/drawingml/2006/main" prst="ellipse">
            <a:avLst/>
          </a:prstGeom>
          <a:solidFill xmlns:a="http://schemas.openxmlformats.org/drawingml/2006/main">
            <a:srgbClr val="26734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9C246D3-C6DB-4C69-AFAB-27D5CEBE1876}"/>
              </a:ext>
            </a:extLst>
          </p:cNvPr>
          <p:cNvSpPr>
            <a:spLocks xmlns:a="http://schemas.openxmlformats.org/drawingml/2006/main" noGrp="1"/>
          </p:cNvSpPr>
          <p:nvPr/>
        </p:nvSpPr>
        <p:spPr>
          <a:xfrm xmlns:a="http://schemas.openxmlformats.org/drawingml/2006/main">
            <a:off x="3981450" y="26289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a:t>
            </a:r>
          </a:p>
        </p:txBody>
      </p:sp>
      <p:sp>
        <p:nvSpPr>
          <p:cNvPr id="21" name="">
            <a:extLst xmlns:a="http://schemas.openxmlformats.org/drawingml/2006/main">
              <a:ext uri="{FF2B5EF4-FFF2-40B4-BE49-F238E27FC236}">
                <a16:creationId xmlns:a16="http://schemas.microsoft.com/office/drawing/2014/main" id="{626B69B9-8060-4BE7-8FEF-69809A29580C}"/>
              </a:ext>
            </a:extLst>
          </p:cNvPr>
          <p:cNvSpPr>
            <a:spLocks xmlns:a="http://schemas.openxmlformats.org/drawingml/2006/main" noGrp="1"/>
          </p:cNvSpPr>
          <p:nvPr/>
        </p:nvSpPr>
        <p:spPr>
          <a:xfrm xmlns:a="http://schemas.openxmlformats.org/drawingml/2006/main">
            <a:off x="4514850" y="2552700"/>
            <a:ext cx="657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17211B"/>
                </a:solidFill>
              </a:defRPr>
            </a:pPr>
            <a:r>
              <a:rPr sz="1500" b="0" i="0">
                <a:solidFill>
                  <a:srgbClr val="17211B"/>
                </a:solidFill>
              </a:rPr>
              <a:t>Arabic and RTL tested</a:t>
            </a:r>
          </a:p>
        </p:txBody>
      </p:sp>
      <p:sp>
        <p:nvSpPr>
          <p:cNvPr id="22" name="">
            <a:extLst xmlns:a="http://schemas.openxmlformats.org/drawingml/2006/main">
              <a:ext uri="{FF2B5EF4-FFF2-40B4-BE49-F238E27FC236}">
                <a16:creationId xmlns:a16="http://schemas.microsoft.com/office/drawing/2014/main" id="{B7E517E9-5D44-42E7-A913-13DFE3F092ED}"/>
              </a:ext>
            </a:extLst>
          </p:cNvPr>
          <p:cNvSpPr>
            <a:spLocks xmlns:a="http://schemas.openxmlformats.org/drawingml/2006/main" noGrp="1"/>
          </p:cNvSpPr>
          <p:nvPr/>
        </p:nvSpPr>
        <p:spPr>
          <a:xfrm xmlns:a="http://schemas.openxmlformats.org/drawingml/2006/main">
            <a:off x="3981450" y="3095625"/>
            <a:ext cx="323850" cy="323850"/>
          </a:xfrm>
          <a:prstGeom xmlns:a="http://schemas.openxmlformats.org/drawingml/2006/main" prst="ellipse">
            <a:avLst/>
          </a:prstGeom>
          <a:solidFill xmlns:a="http://schemas.openxmlformats.org/drawingml/2006/main">
            <a:srgbClr val="26734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A5417BC-A050-4235-BABE-B2A5BB32BF3D}"/>
              </a:ext>
            </a:extLst>
          </p:cNvPr>
          <p:cNvSpPr>
            <a:spLocks xmlns:a="http://schemas.openxmlformats.org/drawingml/2006/main" noGrp="1"/>
          </p:cNvSpPr>
          <p:nvPr/>
        </p:nvSpPr>
        <p:spPr>
          <a:xfrm xmlns:a="http://schemas.openxmlformats.org/drawingml/2006/main">
            <a:off x="3981450" y="3152775"/>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a:t>
            </a:r>
          </a:p>
        </p:txBody>
      </p:sp>
      <p:sp>
        <p:nvSpPr>
          <p:cNvPr id="24" name="">
            <a:extLst xmlns:a="http://schemas.openxmlformats.org/drawingml/2006/main">
              <a:ext uri="{FF2B5EF4-FFF2-40B4-BE49-F238E27FC236}">
                <a16:creationId xmlns:a16="http://schemas.microsoft.com/office/drawing/2014/main" id="{A3CE5600-FC95-4F8D-A70C-02D8373D7F11}"/>
              </a:ext>
            </a:extLst>
          </p:cNvPr>
          <p:cNvSpPr>
            <a:spLocks xmlns:a="http://schemas.openxmlformats.org/drawingml/2006/main" noGrp="1"/>
          </p:cNvSpPr>
          <p:nvPr/>
        </p:nvSpPr>
        <p:spPr>
          <a:xfrm xmlns:a="http://schemas.openxmlformats.org/drawingml/2006/main">
            <a:off x="4514850" y="3076575"/>
            <a:ext cx="657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17211B"/>
                </a:solidFill>
              </a:defRPr>
            </a:pPr>
            <a:r>
              <a:rPr sz="1500" b="0" i="0">
                <a:solidFill>
                  <a:srgbClr val="17211B"/>
                </a:solidFill>
              </a:rPr>
              <a:t>Dark mode tested</a:t>
            </a:r>
          </a:p>
        </p:txBody>
      </p:sp>
      <p:sp>
        <p:nvSpPr>
          <p:cNvPr id="25" name="">
            <a:extLst xmlns:a="http://schemas.openxmlformats.org/drawingml/2006/main">
              <a:ext uri="{FF2B5EF4-FFF2-40B4-BE49-F238E27FC236}">
                <a16:creationId xmlns:a16="http://schemas.microsoft.com/office/drawing/2014/main" id="{40E38B3B-C8AA-46A9-8239-5E3F81A4E780}"/>
              </a:ext>
            </a:extLst>
          </p:cNvPr>
          <p:cNvSpPr>
            <a:spLocks xmlns:a="http://schemas.openxmlformats.org/drawingml/2006/main" noGrp="1"/>
          </p:cNvSpPr>
          <p:nvPr/>
        </p:nvSpPr>
        <p:spPr>
          <a:xfrm xmlns:a="http://schemas.openxmlformats.org/drawingml/2006/main">
            <a:off x="3981450" y="3619500"/>
            <a:ext cx="323850" cy="323850"/>
          </a:xfrm>
          <a:prstGeom xmlns:a="http://schemas.openxmlformats.org/drawingml/2006/main" prst="ellipse">
            <a:avLst/>
          </a:prstGeom>
          <a:solidFill xmlns:a="http://schemas.openxmlformats.org/drawingml/2006/main">
            <a:srgbClr val="26734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FE93D5C-56D3-4FF9-A46B-4E857C322B6F}"/>
              </a:ext>
            </a:extLst>
          </p:cNvPr>
          <p:cNvSpPr>
            <a:spLocks xmlns:a="http://schemas.openxmlformats.org/drawingml/2006/main" noGrp="1"/>
          </p:cNvSpPr>
          <p:nvPr/>
        </p:nvSpPr>
        <p:spPr>
          <a:xfrm xmlns:a="http://schemas.openxmlformats.org/drawingml/2006/main">
            <a:off x="3981450" y="36766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a:t>
            </a:r>
          </a:p>
        </p:txBody>
      </p:sp>
      <p:sp>
        <p:nvSpPr>
          <p:cNvPr id="27" name="">
            <a:extLst xmlns:a="http://schemas.openxmlformats.org/drawingml/2006/main">
              <a:ext uri="{FF2B5EF4-FFF2-40B4-BE49-F238E27FC236}">
                <a16:creationId xmlns:a16="http://schemas.microsoft.com/office/drawing/2014/main" id="{910CE343-6DB6-4916-99EC-5F84F5064532}"/>
              </a:ext>
            </a:extLst>
          </p:cNvPr>
          <p:cNvSpPr>
            <a:spLocks xmlns:a="http://schemas.openxmlformats.org/drawingml/2006/main" noGrp="1"/>
          </p:cNvSpPr>
          <p:nvPr/>
        </p:nvSpPr>
        <p:spPr>
          <a:xfrm xmlns:a="http://schemas.openxmlformats.org/drawingml/2006/main">
            <a:off x="4514850" y="3600450"/>
            <a:ext cx="657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7211B"/>
                </a:solidFill>
              </a:defRPr>
            </a:pPr>
            <a:r>
              <a:rPr sz="1500" b="1" i="0">
                <a:solidFill>
                  <a:srgbClr val="17211B"/>
                </a:solidFill>
              </a:rPr>
              <a:t>Global, Kenya, and Africa scopes verified</a:t>
            </a:r>
          </a:p>
        </p:txBody>
      </p:sp>
      <p:sp>
        <p:nvSpPr>
          <p:cNvPr id="28" name="">
            <a:extLst xmlns:a="http://schemas.openxmlformats.org/drawingml/2006/main">
              <a:ext uri="{FF2B5EF4-FFF2-40B4-BE49-F238E27FC236}">
                <a16:creationId xmlns:a16="http://schemas.microsoft.com/office/drawing/2014/main" id="{BEF7EF37-FF52-4E6A-9038-9350F7EB955F}"/>
              </a:ext>
            </a:extLst>
          </p:cNvPr>
          <p:cNvSpPr>
            <a:spLocks xmlns:a="http://schemas.openxmlformats.org/drawingml/2006/main" noGrp="1"/>
          </p:cNvSpPr>
          <p:nvPr/>
        </p:nvSpPr>
        <p:spPr>
          <a:xfrm xmlns:a="http://schemas.openxmlformats.org/drawingml/2006/main">
            <a:off x="3981450" y="4143375"/>
            <a:ext cx="323850" cy="323850"/>
          </a:xfrm>
          <a:prstGeom xmlns:a="http://schemas.openxmlformats.org/drawingml/2006/main" prst="ellipse">
            <a:avLst/>
          </a:prstGeom>
          <a:solidFill xmlns:a="http://schemas.openxmlformats.org/drawingml/2006/main">
            <a:srgbClr val="26734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2CBBA0C-BA48-4CB1-A0F8-0E3A7D970A1F}"/>
              </a:ext>
            </a:extLst>
          </p:cNvPr>
          <p:cNvSpPr>
            <a:spLocks xmlns:a="http://schemas.openxmlformats.org/drawingml/2006/main" noGrp="1"/>
          </p:cNvSpPr>
          <p:nvPr/>
        </p:nvSpPr>
        <p:spPr>
          <a:xfrm xmlns:a="http://schemas.openxmlformats.org/drawingml/2006/main">
            <a:off x="3981450" y="4200525"/>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FFFFFF"/>
                </a:solidFill>
              </a:defRPr>
            </a:pPr>
            <a:r>
              <a:rPr sz="1050" b="1" i="0">
                <a:solidFill>
                  <a:srgbClr val="FFFFFF"/>
                </a:solidFill>
              </a:rPr>
              <a:t>✓</a:t>
            </a:r>
          </a:p>
        </p:txBody>
      </p:sp>
      <p:sp>
        <p:nvSpPr>
          <p:cNvPr id="30" name="">
            <a:extLst xmlns:a="http://schemas.openxmlformats.org/drawingml/2006/main">
              <a:ext uri="{FF2B5EF4-FFF2-40B4-BE49-F238E27FC236}">
                <a16:creationId xmlns:a16="http://schemas.microsoft.com/office/drawing/2014/main" id="{41AC17F8-32EE-432F-931C-923D08F3BD9E}"/>
              </a:ext>
            </a:extLst>
          </p:cNvPr>
          <p:cNvSpPr>
            <a:spLocks xmlns:a="http://schemas.openxmlformats.org/drawingml/2006/main" noGrp="1"/>
          </p:cNvSpPr>
          <p:nvPr/>
        </p:nvSpPr>
        <p:spPr>
          <a:xfrm xmlns:a="http://schemas.openxmlformats.org/drawingml/2006/main">
            <a:off x="4514850" y="4124325"/>
            <a:ext cx="657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7211B"/>
                </a:solidFill>
              </a:defRPr>
            </a:pPr>
            <a:r>
              <a:rPr sz="1500" b="1" i="0">
                <a:solidFill>
                  <a:srgbClr val="17211B"/>
                </a:solidFill>
              </a:rPr>
              <a:t>No console errors on the deployed page</a:t>
            </a:r>
          </a:p>
        </p:txBody>
      </p:sp>
      <p:sp>
        <p:nvSpPr>
          <p:cNvPr id="31" name="">
            <a:extLst xmlns:a="http://schemas.openxmlformats.org/drawingml/2006/main">
              <a:ext uri="{FF2B5EF4-FFF2-40B4-BE49-F238E27FC236}">
                <a16:creationId xmlns:a16="http://schemas.microsoft.com/office/drawing/2014/main" id="{9F07CAA2-C34B-49C6-B477-43B2A77162CC}"/>
              </a:ext>
            </a:extLst>
          </p:cNvPr>
          <p:cNvSpPr>
            <a:spLocks xmlns:a="http://schemas.openxmlformats.org/drawingml/2006/main" noGrp="1"/>
          </p:cNvSpPr>
          <p:nvPr/>
        </p:nvSpPr>
        <p:spPr>
          <a:xfrm xmlns:a="http://schemas.openxmlformats.org/drawingml/2006/main">
            <a:off x="685800" y="4914900"/>
            <a:ext cx="28575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CDDD7"/>
            </a:solidFill>
            <a:prstDash val="solid"/>
          </a:ln>
        </p:spPr>
      </p:sp>
      <p:sp>
        <p:nvSpPr>
          <p:cNvPr id="32" name="">
            <a:extLst xmlns:a="http://schemas.openxmlformats.org/drawingml/2006/main">
              <a:ext uri="{FF2B5EF4-FFF2-40B4-BE49-F238E27FC236}">
                <a16:creationId xmlns:a16="http://schemas.microsoft.com/office/drawing/2014/main" id="{73F5F2B3-B413-4738-9C8D-DC7928B193A3}"/>
              </a:ext>
            </a:extLst>
          </p:cNvPr>
          <p:cNvSpPr>
            <a:spLocks xmlns:a="http://schemas.openxmlformats.org/drawingml/2006/main" noGrp="1"/>
          </p:cNvSpPr>
          <p:nvPr/>
        </p:nvSpPr>
        <p:spPr>
          <a:xfrm xmlns:a="http://schemas.openxmlformats.org/drawingml/2006/main">
            <a:off x="685800" y="4914900"/>
            <a:ext cx="76200" cy="114300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1BFB3A3B-D4D8-416C-9556-ADDDB5A5C4EA}"/>
              </a:ext>
            </a:extLst>
          </p:cNvPr>
          <p:cNvSpPr>
            <a:spLocks xmlns:a="http://schemas.openxmlformats.org/drawingml/2006/main" noGrp="1"/>
          </p:cNvSpPr>
          <p:nvPr/>
        </p:nvSpPr>
        <p:spPr>
          <a:xfrm xmlns:a="http://schemas.openxmlformats.org/drawingml/2006/main">
            <a:off x="952500" y="5067300"/>
            <a:ext cx="2419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524"/>
                </a:solidFill>
              </a:defRPr>
            </a:pPr>
            <a:r>
              <a:rPr sz="2700" b="1" i="0">
                <a:solidFill>
                  <a:srgbClr val="123524"/>
                </a:solidFill>
              </a:rPr>
              <a:t>1,557</a:t>
            </a:r>
          </a:p>
        </p:txBody>
      </p:sp>
      <p:sp>
        <p:nvSpPr>
          <p:cNvPr id="34" name="">
            <a:extLst xmlns:a="http://schemas.openxmlformats.org/drawingml/2006/main">
              <a:ext uri="{FF2B5EF4-FFF2-40B4-BE49-F238E27FC236}">
                <a16:creationId xmlns:a16="http://schemas.microsoft.com/office/drawing/2014/main" id="{236ACDD2-98AA-4AB9-A1E5-221323B45EEF}"/>
              </a:ext>
            </a:extLst>
          </p:cNvPr>
          <p:cNvSpPr>
            <a:spLocks xmlns:a="http://schemas.openxmlformats.org/drawingml/2006/main" noGrp="1"/>
          </p:cNvSpPr>
          <p:nvPr/>
        </p:nvSpPr>
        <p:spPr>
          <a:xfrm xmlns:a="http://schemas.openxmlformats.org/drawingml/2006/main">
            <a:off x="952500" y="5581650"/>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66736B"/>
                </a:solidFill>
              </a:defRPr>
            </a:pPr>
            <a:r>
              <a:rPr sz="1200" b="0" i="0">
                <a:solidFill>
                  <a:srgbClr val="66736B"/>
                </a:solidFill>
              </a:rPr>
              <a:t>Groups in All Data</a:t>
            </a:r>
          </a:p>
        </p:txBody>
      </p:sp>
      <p:sp>
        <p:nvSpPr>
          <p:cNvPr id="35" name="">
            <a:extLst xmlns:a="http://schemas.openxmlformats.org/drawingml/2006/main">
              <a:ext uri="{FF2B5EF4-FFF2-40B4-BE49-F238E27FC236}">
                <a16:creationId xmlns:a16="http://schemas.microsoft.com/office/drawing/2014/main" id="{B3F89887-F131-4AF1-832C-5D8821430BD5}"/>
              </a:ext>
            </a:extLst>
          </p:cNvPr>
          <p:cNvSpPr>
            <a:spLocks xmlns:a="http://schemas.openxmlformats.org/drawingml/2006/main" noGrp="1"/>
          </p:cNvSpPr>
          <p:nvPr/>
        </p:nvSpPr>
        <p:spPr>
          <a:xfrm xmlns:a="http://schemas.openxmlformats.org/drawingml/2006/main">
            <a:off x="3810000" y="4914900"/>
            <a:ext cx="28575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CDDD7"/>
            </a:solidFill>
            <a:prstDash val="solid"/>
          </a:ln>
        </p:spPr>
      </p:sp>
      <p:sp>
        <p:nvSpPr>
          <p:cNvPr id="36" name="">
            <a:extLst xmlns:a="http://schemas.openxmlformats.org/drawingml/2006/main">
              <a:ext uri="{FF2B5EF4-FFF2-40B4-BE49-F238E27FC236}">
                <a16:creationId xmlns:a16="http://schemas.microsoft.com/office/drawing/2014/main" id="{659A475A-823B-4491-B00B-CE6E53152345}"/>
              </a:ext>
            </a:extLst>
          </p:cNvPr>
          <p:cNvSpPr>
            <a:spLocks xmlns:a="http://schemas.openxmlformats.org/drawingml/2006/main" noGrp="1"/>
          </p:cNvSpPr>
          <p:nvPr/>
        </p:nvSpPr>
        <p:spPr>
          <a:xfrm xmlns:a="http://schemas.openxmlformats.org/drawingml/2006/main">
            <a:off x="3810000" y="4914900"/>
            <a:ext cx="76200" cy="114300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C9942A8C-A382-46E9-8CB8-B482951EE828}"/>
              </a:ext>
            </a:extLst>
          </p:cNvPr>
          <p:cNvSpPr>
            <a:spLocks xmlns:a="http://schemas.openxmlformats.org/drawingml/2006/main" noGrp="1"/>
          </p:cNvSpPr>
          <p:nvPr/>
        </p:nvSpPr>
        <p:spPr>
          <a:xfrm xmlns:a="http://schemas.openxmlformats.org/drawingml/2006/main">
            <a:off x="4076700" y="5067300"/>
            <a:ext cx="2419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C8A96A"/>
                </a:solidFill>
              </a:defRPr>
            </a:pPr>
            <a:r>
              <a:rPr sz="2700" b="1" i="0">
                <a:solidFill>
                  <a:srgbClr val="C8A96A"/>
                </a:solidFill>
              </a:rPr>
              <a:t>28</a:t>
            </a:r>
          </a:p>
        </p:txBody>
      </p:sp>
      <p:sp>
        <p:nvSpPr>
          <p:cNvPr id="38" name="">
            <a:extLst xmlns:a="http://schemas.openxmlformats.org/drawingml/2006/main">
              <a:ext uri="{FF2B5EF4-FFF2-40B4-BE49-F238E27FC236}">
                <a16:creationId xmlns:a16="http://schemas.microsoft.com/office/drawing/2014/main" id="{B157D0EC-E660-4462-BF66-B5CB21AE7D40}"/>
              </a:ext>
            </a:extLst>
          </p:cNvPr>
          <p:cNvSpPr>
            <a:spLocks xmlns:a="http://schemas.openxmlformats.org/drawingml/2006/main" noGrp="1"/>
          </p:cNvSpPr>
          <p:nvPr/>
        </p:nvSpPr>
        <p:spPr>
          <a:xfrm xmlns:a="http://schemas.openxmlformats.org/drawingml/2006/main">
            <a:off x="4076700" y="5581650"/>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66736B"/>
                </a:solidFill>
              </a:defRPr>
            </a:pPr>
            <a:r>
              <a:rPr sz="1200" b="0" i="0">
                <a:solidFill>
                  <a:srgbClr val="66736B"/>
                </a:solidFill>
              </a:rPr>
              <a:t>Groups in Country: Kenya</a:t>
            </a:r>
          </a:p>
        </p:txBody>
      </p:sp>
      <p:sp>
        <p:nvSpPr>
          <p:cNvPr id="39" name="">
            <a:extLst xmlns:a="http://schemas.openxmlformats.org/drawingml/2006/main">
              <a:ext uri="{FF2B5EF4-FFF2-40B4-BE49-F238E27FC236}">
                <a16:creationId xmlns:a16="http://schemas.microsoft.com/office/drawing/2014/main" id="{8C3C3A3D-C985-41E6-8E75-731F27AE704D}"/>
              </a:ext>
            </a:extLst>
          </p:cNvPr>
          <p:cNvSpPr>
            <a:spLocks xmlns:a="http://schemas.openxmlformats.org/drawingml/2006/main" noGrp="1"/>
          </p:cNvSpPr>
          <p:nvPr/>
        </p:nvSpPr>
        <p:spPr>
          <a:xfrm xmlns:a="http://schemas.openxmlformats.org/drawingml/2006/main">
            <a:off x="6934200" y="4914900"/>
            <a:ext cx="2857500" cy="1143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9525">
            <a:solidFill>
              <a:srgbClr val="DCDDD7"/>
            </a:solidFill>
            <a:prstDash val="solid"/>
          </a:ln>
        </p:spPr>
      </p:sp>
      <p:sp>
        <p:nvSpPr>
          <p:cNvPr id="40" name="">
            <a:extLst xmlns:a="http://schemas.openxmlformats.org/drawingml/2006/main">
              <a:ext uri="{FF2B5EF4-FFF2-40B4-BE49-F238E27FC236}">
                <a16:creationId xmlns:a16="http://schemas.microsoft.com/office/drawing/2014/main" id="{448F10A9-964D-45A3-B83E-F4C41BDBC30E}"/>
              </a:ext>
            </a:extLst>
          </p:cNvPr>
          <p:cNvSpPr>
            <a:spLocks xmlns:a="http://schemas.openxmlformats.org/drawingml/2006/main" noGrp="1"/>
          </p:cNvSpPr>
          <p:nvPr/>
        </p:nvSpPr>
        <p:spPr>
          <a:xfrm xmlns:a="http://schemas.openxmlformats.org/drawingml/2006/main">
            <a:off x="6934200" y="4914900"/>
            <a:ext cx="76200" cy="1143000"/>
          </a:xfrm>
          <a:prstGeom xmlns:a="http://schemas.openxmlformats.org/drawingml/2006/main" prst="rect">
            <a:avLst/>
          </a:prstGeom>
          <a:solidFill xmlns:a="http://schemas.openxmlformats.org/drawingml/2006/main">
            <a:srgbClr val="234D38"/>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D9CC311C-9F8D-498F-8E32-B327278B888F}"/>
              </a:ext>
            </a:extLst>
          </p:cNvPr>
          <p:cNvSpPr>
            <a:spLocks xmlns:a="http://schemas.openxmlformats.org/drawingml/2006/main" noGrp="1"/>
          </p:cNvSpPr>
          <p:nvPr/>
        </p:nvSpPr>
        <p:spPr>
          <a:xfrm xmlns:a="http://schemas.openxmlformats.org/drawingml/2006/main">
            <a:off x="7200900" y="5067300"/>
            <a:ext cx="2419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234D38"/>
                </a:solidFill>
              </a:defRPr>
            </a:pPr>
            <a:r>
              <a:rPr sz="2700" b="1" i="0">
                <a:solidFill>
                  <a:srgbClr val="234D38"/>
                </a:solidFill>
              </a:rPr>
              <a:t>726</a:t>
            </a:r>
          </a:p>
        </p:txBody>
      </p:sp>
      <p:sp>
        <p:nvSpPr>
          <p:cNvPr id="42" name="">
            <a:extLst xmlns:a="http://schemas.openxmlformats.org/drawingml/2006/main">
              <a:ext uri="{FF2B5EF4-FFF2-40B4-BE49-F238E27FC236}">
                <a16:creationId xmlns:a16="http://schemas.microsoft.com/office/drawing/2014/main" id="{193BBCFC-2303-46D1-9C28-ECE432407776}"/>
              </a:ext>
            </a:extLst>
          </p:cNvPr>
          <p:cNvSpPr>
            <a:spLocks xmlns:a="http://schemas.openxmlformats.org/drawingml/2006/main" noGrp="1"/>
          </p:cNvSpPr>
          <p:nvPr/>
        </p:nvSpPr>
        <p:spPr>
          <a:xfrm xmlns:a="http://schemas.openxmlformats.org/drawingml/2006/main">
            <a:off x="7200900" y="5581650"/>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66736B"/>
                </a:solidFill>
              </a:defRPr>
            </a:pPr>
            <a:r>
              <a:rPr sz="1200" b="0" i="0">
                <a:solidFill>
                  <a:srgbClr val="66736B"/>
                </a:solidFill>
              </a:rPr>
              <a:t>Groups in Continent: Africa</a:t>
            </a:r>
          </a:p>
        </p:txBody>
      </p:sp>
    </p:spTree>
    <p:extLst>
      <p:ext uri="{BB962C8B-B14F-4D97-AF65-F5344CB8AC3E}">
        <p14:creationId xmlns:p14="http://schemas.microsoft.com/office/powerpoint/2010/main" val="1928315255"/>
      </p:ext>
    </p:extLst>
  </p:cSld>
</p:sld>
</file>

<file path=ppt/slides/slide1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26BD762B-D827-47C5-8D5D-4DB1BFEE7B3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12DF3E4-3BD0-4AAD-9059-71BEEE0AFC23}"/>
              </a:ext>
            </a:extLst>
          </p:cNvPr>
          <p:cNvSpPr>
            <a:spLocks xmlns:a="http://schemas.openxmlformats.org/drawingml/2006/main" noGrp="1"/>
          </p:cNvSpPr>
          <p:nvPr/>
        </p:nvSpPr>
        <p:spPr>
          <a:xfrm xmlns:a="http://schemas.openxmlformats.org/drawingml/2006/main">
            <a:off x="609600" y="523875"/>
            <a:ext cx="66675" cy="476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3523ED1-6ADB-4C70-AB9C-AE01844A4734}"/>
              </a:ext>
            </a:extLst>
          </p:cNvPr>
          <p:cNvSpPr>
            <a:spLocks xmlns:a="http://schemas.openxmlformats.org/drawingml/2006/main" noGrp="1"/>
          </p:cNvSpPr>
          <p:nvPr/>
        </p:nvSpPr>
        <p:spPr>
          <a:xfrm xmlns:a="http://schemas.openxmlformats.org/drawingml/2006/main">
            <a:off x="838200" y="4572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A96A"/>
                </a:solidFill>
              </a:defRPr>
            </a:pPr>
            <a:r>
              <a:rPr sz="975" b="1" i="0">
                <a:solidFill>
                  <a:srgbClr val="C8A96A"/>
                </a:solidFill>
              </a:rPr>
              <a:t>VISUAL EVIDENCE</a:t>
            </a:r>
          </a:p>
        </p:txBody>
      </p:sp>
      <p:sp>
        <p:nvSpPr>
          <p:cNvPr id="4" name="">
            <a:extLst xmlns:a="http://schemas.openxmlformats.org/drawingml/2006/main">
              <a:ext uri="{FF2B5EF4-FFF2-40B4-BE49-F238E27FC236}">
                <a16:creationId xmlns:a16="http://schemas.microsoft.com/office/drawing/2014/main" id="{BF904F88-7DB0-4BB8-B0E5-14FF0B298EC7}"/>
              </a:ext>
            </a:extLst>
          </p:cNvPr>
          <p:cNvSpPr>
            <a:spLocks xmlns:a="http://schemas.openxmlformats.org/drawingml/2006/main" noGrp="1"/>
          </p:cNvSpPr>
          <p:nvPr/>
        </p:nvSpPr>
        <p:spPr>
          <a:xfrm xmlns:a="http://schemas.openxmlformats.org/drawingml/2006/main">
            <a:off x="838200" y="65722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524"/>
                </a:solidFill>
              </a:defRPr>
            </a:pPr>
            <a:r>
              <a:rPr sz="2700" b="1" i="0">
                <a:solidFill>
                  <a:srgbClr val="123524"/>
                </a:solidFill>
              </a:rPr>
              <a:t>Live screenshot frames for the defense</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0cf03114adde4c17"/>
          <a:stretch xmlns:a="http://schemas.openxmlformats.org/drawingml/2006/main"/>
        </p:blipFill>
        <p:spPr>
          <a:xfrm xmlns:a="http://schemas.openxmlformats.org/drawingml/2006/main">
            <a:off x="11125200" y="428625"/>
            <a:ext cx="495300" cy="495300"/>
          </a:xfrm>
          <a:prstGeom xmlns:a="http://schemas.openxmlformats.org/drawingml/2006/main" prst="roundRect">
            <a:avLst>
              <a:gd name="adj" fmla="val 23077"/>
            </a:avLst>
          </a:prstGeom>
        </p:spPr>
      </p:pic>
      <p:sp>
        <p:nvSpPr>
          <p:cNvPr id="6" name="">
            <a:extLst xmlns:a="http://schemas.openxmlformats.org/drawingml/2006/main">
              <a:ext uri="{FF2B5EF4-FFF2-40B4-BE49-F238E27FC236}">
                <a16:creationId xmlns:a16="http://schemas.microsoft.com/office/drawing/2014/main" id="{457E084F-2291-4376-A28A-D44BC68A6289}"/>
              </a:ext>
            </a:extLst>
          </p:cNvPr>
          <p:cNvSpPr>
            <a:spLocks xmlns:a="http://schemas.openxmlformats.org/drawingml/2006/main" noGrp="1"/>
          </p:cNvSpPr>
          <p:nvPr/>
        </p:nvSpPr>
        <p:spPr>
          <a:xfrm xmlns:a="http://schemas.openxmlformats.org/drawingml/2006/main">
            <a:off x="609600" y="6457950"/>
            <a:ext cx="10972800" cy="9525"/>
          </a:xfrm>
          <a:prstGeom xmlns:a="http://schemas.openxmlformats.org/drawingml/2006/main" prst="rect">
            <a:avLst/>
          </a:prstGeom>
          <a:solidFill xmlns:a="http://schemas.openxmlformats.org/drawingml/2006/main">
            <a:srgbClr val="DCDDD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4F07B1C-6899-493F-893D-E19ECD114EF8}"/>
              </a:ext>
            </a:extLst>
          </p:cNvPr>
          <p:cNvSpPr>
            <a:spLocks xmlns:a="http://schemas.openxmlformats.org/drawingml/2006/main" noGrp="1"/>
          </p:cNvSpPr>
          <p:nvPr/>
        </p:nvSpPr>
        <p:spPr>
          <a:xfrm xmlns:a="http://schemas.openxmlformats.org/drawingml/2006/main">
            <a:off x="609600" y="6543675"/>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66736B"/>
                </a:solidFill>
              </a:defRPr>
            </a:pPr>
            <a:r>
              <a:rPr sz="825" b="0" i="0">
                <a:solidFill>
                  <a:srgbClr val="66736B"/>
                </a:solidFill>
              </a:rPr>
              <a:t>Traditional Governance  •  Interactive Statistics</a:t>
            </a:r>
          </a:p>
        </p:txBody>
      </p:sp>
      <p:sp>
        <p:nvSpPr>
          <p:cNvPr id="8" name="">
            <a:extLst xmlns:a="http://schemas.openxmlformats.org/drawingml/2006/main">
              <a:ext uri="{FF2B5EF4-FFF2-40B4-BE49-F238E27FC236}">
                <a16:creationId xmlns:a16="http://schemas.microsoft.com/office/drawing/2014/main" id="{10DEF49A-74C2-4AD1-8FD5-5F6875316901}"/>
              </a:ext>
            </a:extLst>
          </p:cNvPr>
          <p:cNvSpPr>
            <a:spLocks xmlns:a="http://schemas.openxmlformats.org/drawingml/2006/main" noGrp="1"/>
          </p:cNvSpPr>
          <p:nvPr/>
        </p:nvSpPr>
        <p:spPr>
          <a:xfrm xmlns:a="http://schemas.openxmlformats.org/drawingml/2006/main">
            <a:off x="11068050" y="65246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123524"/>
                </a:solidFill>
              </a:defRPr>
            </a:pPr>
            <a:r>
              <a:rPr sz="900" b="1" i="0">
                <a:solidFill>
                  <a:srgbClr val="123524"/>
                </a:solidFill>
              </a:rPr>
              <a:t>14</a:t>
            </a:r>
          </a:p>
        </p:txBody>
      </p:sp>
      <p:sp>
        <p:nvSpPr>
          <p:cNvPr id="9" name="">
            <a:extLst xmlns:a="http://schemas.openxmlformats.org/drawingml/2006/main">
              <a:ext uri="{FF2B5EF4-FFF2-40B4-BE49-F238E27FC236}">
                <a16:creationId xmlns:a16="http://schemas.microsoft.com/office/drawing/2014/main" id="{E218F493-0D4F-4417-8D98-1474671D9594}"/>
              </a:ext>
            </a:extLst>
          </p:cNvPr>
          <p:cNvSpPr>
            <a:spLocks xmlns:a="http://schemas.openxmlformats.org/drawingml/2006/main" noGrp="1"/>
          </p:cNvSpPr>
          <p:nvPr/>
        </p:nvSpPr>
        <p:spPr>
          <a:xfrm xmlns:a="http://schemas.openxmlformats.org/drawingml/2006/main">
            <a:off x="685800" y="1409700"/>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66736B"/>
                </a:solidFill>
              </a:defRPr>
            </a:pPr>
            <a:r>
              <a:rPr sz="1350" b="0" i="0">
                <a:solidFill>
                  <a:srgbClr val="66736B"/>
                </a:solidFill>
              </a:rPr>
              <a:t>Replace each frame with a clean 1440×900 browser capture before presenting.</a:t>
            </a:r>
          </a:p>
        </p:txBody>
      </p:sp>
      <p:sp>
        <p:nvSpPr>
          <p:cNvPr id="10" name="">
            <a:extLst xmlns:a="http://schemas.openxmlformats.org/drawingml/2006/main">
              <a:ext uri="{FF2B5EF4-FFF2-40B4-BE49-F238E27FC236}">
                <a16:creationId xmlns:a16="http://schemas.microsoft.com/office/drawing/2014/main" id="{472A9FD6-E3CA-4680-88E9-C2CEF68DA5C7}"/>
              </a:ext>
            </a:extLst>
          </p:cNvPr>
          <p:cNvSpPr>
            <a:spLocks xmlns:a="http://schemas.openxmlformats.org/drawingml/2006/main" noGrp="1"/>
          </p:cNvSpPr>
          <p:nvPr/>
        </p:nvSpPr>
        <p:spPr>
          <a:xfrm xmlns:a="http://schemas.openxmlformats.org/drawingml/2006/main">
            <a:off x="685800" y="1924050"/>
            <a:ext cx="5143500" cy="1733550"/>
          </a:xfrm>
          <a:prstGeom xmlns:a="http://schemas.openxmlformats.org/drawingml/2006/main" prst="roundRect">
            <a:avLst>
              <a:gd name="adj" fmla="val 6593"/>
            </a:avLst>
          </a:prstGeom>
          <a:solidFill xmlns:a="http://schemas.openxmlformats.org/drawingml/2006/main">
            <a:srgbClr val="EEF1EC"/>
          </a:solidFill>
          <a:ln xmlns:a="http://schemas.openxmlformats.org/drawingml/2006/main" w="9525">
            <a:solidFill>
              <a:srgbClr val="C8A96A"/>
            </a:solidFill>
            <a:prstDash val="solid"/>
          </a:ln>
        </p:spPr>
      </p:sp>
      <p:sp>
        <p:nvSpPr>
          <p:cNvPr id="11" name="">
            <a:extLst xmlns:a="http://schemas.openxmlformats.org/drawingml/2006/main">
              <a:ext uri="{FF2B5EF4-FFF2-40B4-BE49-F238E27FC236}">
                <a16:creationId xmlns:a16="http://schemas.microsoft.com/office/drawing/2014/main" id="{CC079322-0673-4EFC-B36C-860F113DF493}"/>
              </a:ext>
            </a:extLst>
          </p:cNvPr>
          <p:cNvSpPr>
            <a:spLocks xmlns:a="http://schemas.openxmlformats.org/drawingml/2006/main" noGrp="1"/>
          </p:cNvSpPr>
          <p:nvPr/>
        </p:nvSpPr>
        <p:spPr>
          <a:xfrm xmlns:a="http://schemas.openxmlformats.org/drawingml/2006/main">
            <a:off x="895350" y="2133600"/>
            <a:ext cx="381000" cy="381000"/>
          </a:xfrm>
          <a:prstGeom xmlns:a="http://schemas.openxmlformats.org/drawingml/2006/main" prst="ellipse">
            <a:avLst/>
          </a:prstGeom>
          <a:solidFill xmlns:a="http://schemas.openxmlformats.org/drawingml/2006/main">
            <a:srgbClr val="EDE1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1A64DC4-7C85-4413-B838-741D49D3CBB2}"/>
              </a:ext>
            </a:extLst>
          </p:cNvPr>
          <p:cNvSpPr>
            <a:spLocks xmlns:a="http://schemas.openxmlformats.org/drawingml/2006/main" noGrp="1"/>
          </p:cNvSpPr>
          <p:nvPr/>
        </p:nvSpPr>
        <p:spPr>
          <a:xfrm xmlns:a="http://schemas.openxmlformats.org/drawingml/2006/main">
            <a:off x="895350" y="2171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23524"/>
                </a:solidFill>
              </a:defRPr>
            </a:pPr>
            <a:r>
              <a:rPr sz="1350" b="1" i="0">
                <a:solidFill>
                  <a:srgbClr val="123524"/>
                </a:solidFill>
              </a:rPr>
              <a:t>▣</a:t>
            </a:r>
          </a:p>
        </p:txBody>
      </p:sp>
      <p:sp>
        <p:nvSpPr>
          <p:cNvPr id="13" name="">
            <a:extLst xmlns:a="http://schemas.openxmlformats.org/drawingml/2006/main">
              <a:ext uri="{FF2B5EF4-FFF2-40B4-BE49-F238E27FC236}">
                <a16:creationId xmlns:a16="http://schemas.microsoft.com/office/drawing/2014/main" id="{C84259F4-2FF0-4252-9C40-EE0E3BCA1040}"/>
              </a:ext>
            </a:extLst>
          </p:cNvPr>
          <p:cNvSpPr>
            <a:spLocks xmlns:a="http://schemas.openxmlformats.org/drawingml/2006/main" noGrp="1"/>
          </p:cNvSpPr>
          <p:nvPr/>
        </p:nvSpPr>
        <p:spPr>
          <a:xfrm xmlns:a="http://schemas.openxmlformats.org/drawingml/2006/main">
            <a:off x="1428750" y="21336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23524"/>
                </a:solidFill>
              </a:defRPr>
            </a:pPr>
            <a:r>
              <a:rPr sz="1425" b="1" i="0">
                <a:solidFill>
                  <a:srgbClr val="123524"/>
                </a:solidFill>
              </a:rPr>
              <a:t>Statistics — All Data</a:t>
            </a:r>
          </a:p>
        </p:txBody>
      </p:sp>
      <p:sp>
        <p:nvSpPr>
          <p:cNvPr id="14" name="">
            <a:extLst xmlns:a="http://schemas.openxmlformats.org/drawingml/2006/main">
              <a:ext uri="{FF2B5EF4-FFF2-40B4-BE49-F238E27FC236}">
                <a16:creationId xmlns:a16="http://schemas.microsoft.com/office/drawing/2014/main" id="{D77320E5-6E3B-4CAE-8BF4-F36477A57A3A}"/>
              </a:ext>
            </a:extLst>
          </p:cNvPr>
          <p:cNvSpPr>
            <a:spLocks xmlns:a="http://schemas.openxmlformats.org/drawingml/2006/main" noGrp="1"/>
          </p:cNvSpPr>
          <p:nvPr/>
        </p:nvSpPr>
        <p:spPr>
          <a:xfrm xmlns:a="http://schemas.openxmlformats.org/drawingml/2006/main">
            <a:off x="895350" y="2667000"/>
            <a:ext cx="4724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66736B"/>
                </a:solidFill>
              </a:defRPr>
            </a:pPr>
            <a:r>
              <a:rPr sz="1200" b="0" i="0">
                <a:solidFill>
                  <a:srgbClr val="66736B"/>
                </a:solidFill>
              </a:rPr>
              <a:t>Capture the filter panel, summary cards, and the first chart row.</a:t>
            </a:r>
          </a:p>
        </p:txBody>
      </p:sp>
      <p:sp>
        <p:nvSpPr>
          <p:cNvPr id="15" name="">
            <a:extLst xmlns:a="http://schemas.openxmlformats.org/drawingml/2006/main">
              <a:ext uri="{FF2B5EF4-FFF2-40B4-BE49-F238E27FC236}">
                <a16:creationId xmlns:a16="http://schemas.microsoft.com/office/drawing/2014/main" id="{C56BDCE7-5F37-4C42-AC3D-A1393D355521}"/>
              </a:ext>
            </a:extLst>
          </p:cNvPr>
          <p:cNvSpPr>
            <a:spLocks xmlns:a="http://schemas.openxmlformats.org/drawingml/2006/main" noGrp="1"/>
          </p:cNvSpPr>
          <p:nvPr/>
        </p:nvSpPr>
        <p:spPr>
          <a:xfrm xmlns:a="http://schemas.openxmlformats.org/drawingml/2006/main">
            <a:off x="990600" y="3143250"/>
            <a:ext cx="4533900"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CDDD7"/>
            </a:solidFill>
            <a:prstDash val="solid"/>
          </a:ln>
        </p:spPr>
      </p:sp>
      <p:sp>
        <p:nvSpPr>
          <p:cNvPr id="16" name="">
            <a:extLst xmlns:a="http://schemas.openxmlformats.org/drawingml/2006/main">
              <a:ext uri="{FF2B5EF4-FFF2-40B4-BE49-F238E27FC236}">
                <a16:creationId xmlns:a16="http://schemas.microsoft.com/office/drawing/2014/main" id="{06E6E0B5-2605-4B64-BFEC-DB7E738953A7}"/>
              </a:ext>
            </a:extLst>
          </p:cNvPr>
          <p:cNvSpPr>
            <a:spLocks xmlns:a="http://schemas.openxmlformats.org/drawingml/2006/main" noGrp="1"/>
          </p:cNvSpPr>
          <p:nvPr/>
        </p:nvSpPr>
        <p:spPr>
          <a:xfrm xmlns:a="http://schemas.openxmlformats.org/drawingml/2006/main">
            <a:off x="1085850" y="3200400"/>
            <a:ext cx="434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26734D"/>
                </a:solidFill>
              </a:defRPr>
            </a:pPr>
            <a:r>
              <a:rPr sz="1050" b="1" i="0">
                <a:solidFill>
                  <a:srgbClr val="26734D"/>
                </a:solidFill>
              </a:rPr>
              <a:t>Live verified: 1,557 groups</a:t>
            </a:r>
          </a:p>
        </p:txBody>
      </p:sp>
      <p:sp>
        <p:nvSpPr>
          <p:cNvPr id="17" name="">
            <a:extLst xmlns:a="http://schemas.openxmlformats.org/drawingml/2006/main">
              <a:ext uri="{FF2B5EF4-FFF2-40B4-BE49-F238E27FC236}">
                <a16:creationId xmlns:a16="http://schemas.microsoft.com/office/drawing/2014/main" id="{5F3A4752-F040-4C1F-87BB-9F1E52C5B76C}"/>
              </a:ext>
            </a:extLst>
          </p:cNvPr>
          <p:cNvSpPr>
            <a:spLocks xmlns:a="http://schemas.openxmlformats.org/drawingml/2006/main" noGrp="1"/>
          </p:cNvSpPr>
          <p:nvPr/>
        </p:nvSpPr>
        <p:spPr>
          <a:xfrm xmlns:a="http://schemas.openxmlformats.org/drawingml/2006/main">
            <a:off x="6191250" y="1924050"/>
            <a:ext cx="5143500" cy="1733550"/>
          </a:xfrm>
          <a:prstGeom xmlns:a="http://schemas.openxmlformats.org/drawingml/2006/main" prst="roundRect">
            <a:avLst>
              <a:gd name="adj" fmla="val 6593"/>
            </a:avLst>
          </a:prstGeom>
          <a:solidFill xmlns:a="http://schemas.openxmlformats.org/drawingml/2006/main">
            <a:srgbClr val="EEF1EC"/>
          </a:solidFill>
          <a:ln xmlns:a="http://schemas.openxmlformats.org/drawingml/2006/main" w="9525">
            <a:solidFill>
              <a:srgbClr val="C8A96A"/>
            </a:solidFill>
            <a:prstDash val="solid"/>
          </a:ln>
        </p:spPr>
      </p:sp>
      <p:sp>
        <p:nvSpPr>
          <p:cNvPr id="18" name="">
            <a:extLst xmlns:a="http://schemas.openxmlformats.org/drawingml/2006/main">
              <a:ext uri="{FF2B5EF4-FFF2-40B4-BE49-F238E27FC236}">
                <a16:creationId xmlns:a16="http://schemas.microsoft.com/office/drawing/2014/main" id="{D38582E0-0162-48C1-A014-048CA4B54007}"/>
              </a:ext>
            </a:extLst>
          </p:cNvPr>
          <p:cNvSpPr>
            <a:spLocks xmlns:a="http://schemas.openxmlformats.org/drawingml/2006/main" noGrp="1"/>
          </p:cNvSpPr>
          <p:nvPr/>
        </p:nvSpPr>
        <p:spPr>
          <a:xfrm xmlns:a="http://schemas.openxmlformats.org/drawingml/2006/main">
            <a:off x="6400800" y="2133600"/>
            <a:ext cx="381000" cy="381000"/>
          </a:xfrm>
          <a:prstGeom xmlns:a="http://schemas.openxmlformats.org/drawingml/2006/main" prst="ellipse">
            <a:avLst/>
          </a:prstGeom>
          <a:solidFill xmlns:a="http://schemas.openxmlformats.org/drawingml/2006/main">
            <a:srgbClr val="EDE1C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39D92ED-4F7C-4508-A73B-519722F2CCBA}"/>
              </a:ext>
            </a:extLst>
          </p:cNvPr>
          <p:cNvSpPr>
            <a:spLocks xmlns:a="http://schemas.openxmlformats.org/drawingml/2006/main" noGrp="1"/>
          </p:cNvSpPr>
          <p:nvPr/>
        </p:nvSpPr>
        <p:spPr>
          <a:xfrm xmlns:a="http://schemas.openxmlformats.org/drawingml/2006/main">
            <a:off x="6400800" y="2171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23524"/>
                </a:solidFill>
              </a:defRPr>
            </a:pPr>
            <a:r>
              <a:rPr sz="1350" b="1" i="0">
                <a:solidFill>
                  <a:srgbClr val="123524"/>
                </a:solidFill>
              </a:rPr>
              <a:t>▣</a:t>
            </a:r>
          </a:p>
        </p:txBody>
      </p:sp>
      <p:sp>
        <p:nvSpPr>
          <p:cNvPr id="20" name="">
            <a:extLst xmlns:a="http://schemas.openxmlformats.org/drawingml/2006/main">
              <a:ext uri="{FF2B5EF4-FFF2-40B4-BE49-F238E27FC236}">
                <a16:creationId xmlns:a16="http://schemas.microsoft.com/office/drawing/2014/main" id="{581770E0-82E8-4D9C-8A02-CD5A4F199D4F}"/>
              </a:ext>
            </a:extLst>
          </p:cNvPr>
          <p:cNvSpPr>
            <a:spLocks xmlns:a="http://schemas.openxmlformats.org/drawingml/2006/main" noGrp="1"/>
          </p:cNvSpPr>
          <p:nvPr/>
        </p:nvSpPr>
        <p:spPr>
          <a:xfrm xmlns:a="http://schemas.openxmlformats.org/drawingml/2006/main">
            <a:off x="6934200" y="21336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23524"/>
                </a:solidFill>
              </a:defRPr>
            </a:pPr>
            <a:r>
              <a:rPr sz="1425" b="1" i="0">
                <a:solidFill>
                  <a:srgbClr val="123524"/>
                </a:solidFill>
              </a:rPr>
              <a:t>Country filter — Kenya</a:t>
            </a:r>
          </a:p>
        </p:txBody>
      </p:sp>
      <p:sp>
        <p:nvSpPr>
          <p:cNvPr id="21" name="">
            <a:extLst xmlns:a="http://schemas.openxmlformats.org/drawingml/2006/main">
              <a:ext uri="{FF2B5EF4-FFF2-40B4-BE49-F238E27FC236}">
                <a16:creationId xmlns:a16="http://schemas.microsoft.com/office/drawing/2014/main" id="{591B71A0-D0BC-4948-8214-D9CA01129861}"/>
              </a:ext>
            </a:extLst>
          </p:cNvPr>
          <p:cNvSpPr>
            <a:spLocks xmlns:a="http://schemas.openxmlformats.org/drawingml/2006/main" noGrp="1"/>
          </p:cNvSpPr>
          <p:nvPr/>
        </p:nvSpPr>
        <p:spPr>
          <a:xfrm xmlns:a="http://schemas.openxmlformats.org/drawingml/2006/main">
            <a:off x="6400800" y="2667000"/>
            <a:ext cx="4724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66736B"/>
                </a:solidFill>
              </a:defRPr>
            </a:pPr>
            <a:r>
              <a:rPr sz="1200" b="0" i="0">
                <a:solidFill>
                  <a:srgbClr val="66736B"/>
                </a:solidFill>
              </a:rPr>
              <a:t>Select Country → Kenya and capture the updated current-scope label and totals.</a:t>
            </a:r>
          </a:p>
        </p:txBody>
      </p:sp>
      <p:sp>
        <p:nvSpPr>
          <p:cNvPr id="22" name="">
            <a:extLst xmlns:a="http://schemas.openxmlformats.org/drawingml/2006/main">
              <a:ext uri="{FF2B5EF4-FFF2-40B4-BE49-F238E27FC236}">
                <a16:creationId xmlns:a16="http://schemas.microsoft.com/office/drawing/2014/main" id="{10B357B1-64FF-4DC0-A804-3CBAE6CC94B7}"/>
              </a:ext>
            </a:extLst>
          </p:cNvPr>
          <p:cNvSpPr>
            <a:spLocks xmlns:a="http://schemas.openxmlformats.org/drawingml/2006/main" noGrp="1"/>
          </p:cNvSpPr>
          <p:nvPr/>
        </p:nvSpPr>
        <p:spPr>
          <a:xfrm xmlns:a="http://schemas.openxmlformats.org/drawingml/2006/main">
            <a:off x="6496050" y="3143250"/>
            <a:ext cx="4533900"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CDDD7"/>
            </a:solidFill>
            <a:prstDash val="solid"/>
          </a:ln>
        </p:spPr>
      </p:sp>
      <p:sp>
        <p:nvSpPr>
          <p:cNvPr id="23" name="">
            <a:extLst xmlns:a="http://schemas.openxmlformats.org/drawingml/2006/main">
              <a:ext uri="{FF2B5EF4-FFF2-40B4-BE49-F238E27FC236}">
                <a16:creationId xmlns:a16="http://schemas.microsoft.com/office/drawing/2014/main" id="{92D706FA-3B2C-4E1A-8515-BA6346E24274}"/>
              </a:ext>
            </a:extLst>
          </p:cNvPr>
          <p:cNvSpPr>
            <a:spLocks xmlns:a="http://schemas.openxmlformats.org/drawingml/2006/main" noGrp="1"/>
          </p:cNvSpPr>
          <p:nvPr/>
        </p:nvSpPr>
        <p:spPr>
          <a:xfrm xmlns:a="http://schemas.openxmlformats.org/drawingml/2006/main">
            <a:off x="6591300" y="3200400"/>
            <a:ext cx="434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26734D"/>
                </a:solidFill>
              </a:defRPr>
            </a:pPr>
            <a:r>
              <a:rPr sz="1050" b="1" i="0">
                <a:solidFill>
                  <a:srgbClr val="26734D"/>
                </a:solidFill>
              </a:rPr>
              <a:t>Live verified: 28 groups</a:t>
            </a:r>
          </a:p>
        </p:txBody>
      </p:sp>
      <p:sp>
        <p:nvSpPr>
          <p:cNvPr id="24" name="">
            <a:extLst xmlns:a="http://schemas.openxmlformats.org/drawingml/2006/main">
              <a:ext uri="{FF2B5EF4-FFF2-40B4-BE49-F238E27FC236}">
                <a16:creationId xmlns:a16="http://schemas.microsoft.com/office/drawing/2014/main" id="{D5257D27-E7B4-41C2-8FAD-27E192FF98B6}"/>
              </a:ext>
            </a:extLst>
          </p:cNvPr>
          <p:cNvSpPr>
            <a:spLocks xmlns:a="http://schemas.openxmlformats.org/drawingml/2006/main" noGrp="1"/>
          </p:cNvSpPr>
          <p:nvPr/>
        </p:nvSpPr>
        <p:spPr>
          <a:xfrm xmlns:a="http://schemas.openxmlformats.org/drawingml/2006/main">
            <a:off x="685800" y="3962400"/>
            <a:ext cx="5143500" cy="1733550"/>
          </a:xfrm>
          <a:prstGeom xmlns:a="http://schemas.openxmlformats.org/drawingml/2006/main" prst="roundRect">
            <a:avLst>
              <a:gd name="adj" fmla="val 6593"/>
            </a:avLst>
          </a:prstGeom>
          <a:solidFill xmlns:a="http://schemas.openxmlformats.org/drawingml/2006/main">
            <a:srgbClr val="EEF1EC"/>
          </a:solidFill>
          <a:ln xmlns:a="http://schemas.openxmlformats.org/drawingml/2006/main" w="9525">
            <a:solidFill>
              <a:srgbClr val="C8A96A"/>
            </a:solidFill>
            <a:prstDash val="solid"/>
          </a:ln>
        </p:spPr>
      </p:sp>
      <p:sp>
        <p:nvSpPr>
          <p:cNvPr id="25" name="">
            <a:extLst xmlns:a="http://schemas.openxmlformats.org/drawingml/2006/main">
              <a:ext uri="{FF2B5EF4-FFF2-40B4-BE49-F238E27FC236}">
                <a16:creationId xmlns:a16="http://schemas.microsoft.com/office/drawing/2014/main" id="{815D51EE-04DB-4A61-8D18-751707FBD68D}"/>
              </a:ext>
            </a:extLst>
          </p:cNvPr>
          <p:cNvSpPr>
            <a:spLocks xmlns:a="http://schemas.openxmlformats.org/drawingml/2006/main" noGrp="1"/>
          </p:cNvSpPr>
          <p:nvPr/>
        </p:nvSpPr>
        <p:spPr>
          <a:xfrm xmlns:a="http://schemas.openxmlformats.org/drawingml/2006/main">
            <a:off x="895350" y="4171950"/>
            <a:ext cx="381000" cy="381000"/>
          </a:xfrm>
          <a:prstGeom xmlns:a="http://schemas.openxmlformats.org/drawingml/2006/main" prst="ellipse">
            <a:avLst/>
          </a:prstGeom>
          <a:solidFill xmlns:a="http://schemas.openxmlformats.org/drawingml/2006/main">
            <a:srgbClr val="EDE1C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B90F01C-3D19-42F7-B1BB-A2C978C9B638}"/>
              </a:ext>
            </a:extLst>
          </p:cNvPr>
          <p:cNvSpPr>
            <a:spLocks xmlns:a="http://schemas.openxmlformats.org/drawingml/2006/main" noGrp="1"/>
          </p:cNvSpPr>
          <p:nvPr/>
        </p:nvSpPr>
        <p:spPr>
          <a:xfrm xmlns:a="http://schemas.openxmlformats.org/drawingml/2006/main">
            <a:off x="895350" y="42100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23524"/>
                </a:solidFill>
              </a:defRPr>
            </a:pPr>
            <a:r>
              <a:rPr sz="1350" b="1" i="0">
                <a:solidFill>
                  <a:srgbClr val="123524"/>
                </a:solidFill>
              </a:rPr>
              <a:t>▣</a:t>
            </a:r>
          </a:p>
        </p:txBody>
      </p:sp>
      <p:sp>
        <p:nvSpPr>
          <p:cNvPr id="27" name="">
            <a:extLst xmlns:a="http://schemas.openxmlformats.org/drawingml/2006/main">
              <a:ext uri="{FF2B5EF4-FFF2-40B4-BE49-F238E27FC236}">
                <a16:creationId xmlns:a16="http://schemas.microsoft.com/office/drawing/2014/main" id="{ED8FFD51-8AAA-46AE-958B-FA586B694627}"/>
              </a:ext>
            </a:extLst>
          </p:cNvPr>
          <p:cNvSpPr>
            <a:spLocks xmlns:a="http://schemas.openxmlformats.org/drawingml/2006/main" noGrp="1"/>
          </p:cNvSpPr>
          <p:nvPr/>
        </p:nvSpPr>
        <p:spPr>
          <a:xfrm xmlns:a="http://schemas.openxmlformats.org/drawingml/2006/main">
            <a:off x="1428750" y="41719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23524"/>
                </a:solidFill>
              </a:defRPr>
            </a:pPr>
            <a:r>
              <a:rPr sz="1425" b="1" i="0">
                <a:solidFill>
                  <a:srgbClr val="123524"/>
                </a:solidFill>
              </a:rPr>
              <a:t>Continent filter — Africa</a:t>
            </a:r>
          </a:p>
        </p:txBody>
      </p:sp>
      <p:sp>
        <p:nvSpPr>
          <p:cNvPr id="28" name="">
            <a:extLst xmlns:a="http://schemas.openxmlformats.org/drawingml/2006/main">
              <a:ext uri="{FF2B5EF4-FFF2-40B4-BE49-F238E27FC236}">
                <a16:creationId xmlns:a16="http://schemas.microsoft.com/office/drawing/2014/main" id="{D30C3398-BA28-48D7-AF38-332457CF7198}"/>
              </a:ext>
            </a:extLst>
          </p:cNvPr>
          <p:cNvSpPr>
            <a:spLocks xmlns:a="http://schemas.openxmlformats.org/drawingml/2006/main" noGrp="1"/>
          </p:cNvSpPr>
          <p:nvPr/>
        </p:nvSpPr>
        <p:spPr>
          <a:xfrm xmlns:a="http://schemas.openxmlformats.org/drawingml/2006/main">
            <a:off x="895350" y="4705350"/>
            <a:ext cx="4724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66736B"/>
                </a:solidFill>
              </a:defRPr>
            </a:pPr>
            <a:r>
              <a:rPr sz="1200" b="0" i="0">
                <a:solidFill>
                  <a:srgbClr val="66736B"/>
                </a:solidFill>
              </a:rPr>
              <a:t>Select Continent → Africa and capture the updated charts and totals.</a:t>
            </a:r>
          </a:p>
        </p:txBody>
      </p:sp>
      <p:sp>
        <p:nvSpPr>
          <p:cNvPr id="29" name="">
            <a:extLst xmlns:a="http://schemas.openxmlformats.org/drawingml/2006/main">
              <a:ext uri="{FF2B5EF4-FFF2-40B4-BE49-F238E27FC236}">
                <a16:creationId xmlns:a16="http://schemas.microsoft.com/office/drawing/2014/main" id="{947621F7-6AB2-4E0C-A65D-DC0344BD476E}"/>
              </a:ext>
            </a:extLst>
          </p:cNvPr>
          <p:cNvSpPr>
            <a:spLocks xmlns:a="http://schemas.openxmlformats.org/drawingml/2006/main" noGrp="1"/>
          </p:cNvSpPr>
          <p:nvPr/>
        </p:nvSpPr>
        <p:spPr>
          <a:xfrm xmlns:a="http://schemas.openxmlformats.org/drawingml/2006/main">
            <a:off x="990600" y="5181600"/>
            <a:ext cx="4533900"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CDDD7"/>
            </a:solidFill>
            <a:prstDash val="solid"/>
          </a:ln>
        </p:spPr>
      </p:sp>
      <p:sp>
        <p:nvSpPr>
          <p:cNvPr id="30" name="">
            <a:extLst xmlns:a="http://schemas.openxmlformats.org/drawingml/2006/main">
              <a:ext uri="{FF2B5EF4-FFF2-40B4-BE49-F238E27FC236}">
                <a16:creationId xmlns:a16="http://schemas.microsoft.com/office/drawing/2014/main" id="{A78C4EF5-4C4E-4AEA-B364-959A5C7FFF09}"/>
              </a:ext>
            </a:extLst>
          </p:cNvPr>
          <p:cNvSpPr>
            <a:spLocks xmlns:a="http://schemas.openxmlformats.org/drawingml/2006/main" noGrp="1"/>
          </p:cNvSpPr>
          <p:nvPr/>
        </p:nvSpPr>
        <p:spPr>
          <a:xfrm xmlns:a="http://schemas.openxmlformats.org/drawingml/2006/main">
            <a:off x="1085850" y="5238750"/>
            <a:ext cx="434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26734D"/>
                </a:solidFill>
              </a:defRPr>
            </a:pPr>
            <a:r>
              <a:rPr sz="1050" b="1" i="0">
                <a:solidFill>
                  <a:srgbClr val="26734D"/>
                </a:solidFill>
              </a:rPr>
              <a:t>Live verified: 726 groups</a:t>
            </a:r>
          </a:p>
        </p:txBody>
      </p:sp>
      <p:sp>
        <p:nvSpPr>
          <p:cNvPr id="31" name="">
            <a:extLst xmlns:a="http://schemas.openxmlformats.org/drawingml/2006/main">
              <a:ext uri="{FF2B5EF4-FFF2-40B4-BE49-F238E27FC236}">
                <a16:creationId xmlns:a16="http://schemas.microsoft.com/office/drawing/2014/main" id="{E070F48A-8D68-4CD4-A735-9B8870E5EB8C}"/>
              </a:ext>
            </a:extLst>
          </p:cNvPr>
          <p:cNvSpPr>
            <a:spLocks xmlns:a="http://schemas.openxmlformats.org/drawingml/2006/main" noGrp="1"/>
          </p:cNvSpPr>
          <p:nvPr/>
        </p:nvSpPr>
        <p:spPr>
          <a:xfrm xmlns:a="http://schemas.openxmlformats.org/drawingml/2006/main">
            <a:off x="6191250" y="3962400"/>
            <a:ext cx="5143500" cy="1733550"/>
          </a:xfrm>
          <a:prstGeom xmlns:a="http://schemas.openxmlformats.org/drawingml/2006/main" prst="roundRect">
            <a:avLst>
              <a:gd name="adj" fmla="val 6593"/>
            </a:avLst>
          </a:prstGeom>
          <a:solidFill xmlns:a="http://schemas.openxmlformats.org/drawingml/2006/main">
            <a:srgbClr val="EEF1EC"/>
          </a:solidFill>
          <a:ln xmlns:a="http://schemas.openxmlformats.org/drawingml/2006/main" w="9525">
            <a:solidFill>
              <a:srgbClr val="C8A96A"/>
            </a:solidFill>
            <a:prstDash val="solid"/>
          </a:ln>
        </p:spPr>
      </p:sp>
      <p:sp>
        <p:nvSpPr>
          <p:cNvPr id="32" name="">
            <a:extLst xmlns:a="http://schemas.openxmlformats.org/drawingml/2006/main">
              <a:ext uri="{FF2B5EF4-FFF2-40B4-BE49-F238E27FC236}">
                <a16:creationId xmlns:a16="http://schemas.microsoft.com/office/drawing/2014/main" id="{2DC2E65C-AC6E-46EF-9EE5-F6FC40A00731}"/>
              </a:ext>
            </a:extLst>
          </p:cNvPr>
          <p:cNvSpPr>
            <a:spLocks xmlns:a="http://schemas.openxmlformats.org/drawingml/2006/main" noGrp="1"/>
          </p:cNvSpPr>
          <p:nvPr/>
        </p:nvSpPr>
        <p:spPr>
          <a:xfrm xmlns:a="http://schemas.openxmlformats.org/drawingml/2006/main">
            <a:off x="6400800" y="4171950"/>
            <a:ext cx="381000" cy="381000"/>
          </a:xfrm>
          <a:prstGeom xmlns:a="http://schemas.openxmlformats.org/drawingml/2006/main" prst="ellipse">
            <a:avLst/>
          </a:prstGeom>
          <a:solidFill xmlns:a="http://schemas.openxmlformats.org/drawingml/2006/main">
            <a:srgbClr val="EDE1C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3BF94D1-9B87-44B8-89EE-2B959DA13AED}"/>
              </a:ext>
            </a:extLst>
          </p:cNvPr>
          <p:cNvSpPr>
            <a:spLocks xmlns:a="http://schemas.openxmlformats.org/drawingml/2006/main" noGrp="1"/>
          </p:cNvSpPr>
          <p:nvPr/>
        </p:nvSpPr>
        <p:spPr>
          <a:xfrm xmlns:a="http://schemas.openxmlformats.org/drawingml/2006/main">
            <a:off x="6400800" y="42100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23524"/>
                </a:solidFill>
              </a:defRPr>
            </a:pPr>
            <a:r>
              <a:rPr sz="1350" b="1" i="0">
                <a:solidFill>
                  <a:srgbClr val="123524"/>
                </a:solidFill>
              </a:rPr>
              <a:t>▣</a:t>
            </a:r>
          </a:p>
        </p:txBody>
      </p:sp>
      <p:sp>
        <p:nvSpPr>
          <p:cNvPr id="34" name="">
            <a:extLst xmlns:a="http://schemas.openxmlformats.org/drawingml/2006/main">
              <a:ext uri="{FF2B5EF4-FFF2-40B4-BE49-F238E27FC236}">
                <a16:creationId xmlns:a16="http://schemas.microsoft.com/office/drawing/2014/main" id="{E6E5536D-CFBC-47B1-8EAB-5FECAE08B5BA}"/>
              </a:ext>
            </a:extLst>
          </p:cNvPr>
          <p:cNvSpPr>
            <a:spLocks xmlns:a="http://schemas.openxmlformats.org/drawingml/2006/main" noGrp="1"/>
          </p:cNvSpPr>
          <p:nvPr/>
        </p:nvSpPr>
        <p:spPr>
          <a:xfrm xmlns:a="http://schemas.openxmlformats.org/drawingml/2006/main">
            <a:off x="6934200" y="41719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i="0">
                <a:solidFill>
                  <a:srgbClr val="123524"/>
                </a:solidFill>
              </a:defRPr>
            </a:pPr>
            <a:r>
              <a:rPr sz="1425" b="1" i="0">
                <a:solidFill>
                  <a:srgbClr val="123524"/>
                </a:solidFill>
              </a:rPr>
              <a:t>Arabic RTL interface</a:t>
            </a:r>
          </a:p>
        </p:txBody>
      </p:sp>
      <p:sp>
        <p:nvSpPr>
          <p:cNvPr id="35" name="">
            <a:extLst xmlns:a="http://schemas.openxmlformats.org/drawingml/2006/main">
              <a:ext uri="{FF2B5EF4-FFF2-40B4-BE49-F238E27FC236}">
                <a16:creationId xmlns:a16="http://schemas.microsoft.com/office/drawing/2014/main" id="{1747443B-C880-42D0-91E1-9E975B8D4F15}"/>
              </a:ext>
            </a:extLst>
          </p:cNvPr>
          <p:cNvSpPr>
            <a:spLocks xmlns:a="http://schemas.openxmlformats.org/drawingml/2006/main" noGrp="1"/>
          </p:cNvSpPr>
          <p:nvPr/>
        </p:nvSpPr>
        <p:spPr>
          <a:xfrm xmlns:a="http://schemas.openxmlformats.org/drawingml/2006/main">
            <a:off x="6400800" y="4705350"/>
            <a:ext cx="4724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0" i="0">
                <a:solidFill>
                  <a:srgbClr val="66736B"/>
                </a:solidFill>
              </a:defRPr>
            </a:pPr>
            <a:r>
              <a:rPr sz="1200" b="0" i="0">
                <a:solidFill>
                  <a:srgbClr val="66736B"/>
                </a:solidFill>
              </a:rPr>
              <a:t>Switch to Arabic and capture the Statistics page in right-to-left layout.</a:t>
            </a:r>
          </a:p>
        </p:txBody>
      </p:sp>
      <p:sp>
        <p:nvSpPr>
          <p:cNvPr id="36" name="">
            <a:extLst xmlns:a="http://schemas.openxmlformats.org/drawingml/2006/main">
              <a:ext uri="{FF2B5EF4-FFF2-40B4-BE49-F238E27FC236}">
                <a16:creationId xmlns:a16="http://schemas.microsoft.com/office/drawing/2014/main" id="{9096ED3A-6589-4F76-A24B-677F22CBBDBD}"/>
              </a:ext>
            </a:extLst>
          </p:cNvPr>
          <p:cNvSpPr>
            <a:spLocks xmlns:a="http://schemas.openxmlformats.org/drawingml/2006/main" noGrp="1"/>
          </p:cNvSpPr>
          <p:nvPr/>
        </p:nvSpPr>
        <p:spPr>
          <a:xfrm xmlns:a="http://schemas.openxmlformats.org/drawingml/2006/main">
            <a:off x="6496050" y="5181600"/>
            <a:ext cx="4533900" cy="304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CDDD7"/>
            </a:solidFill>
            <a:prstDash val="solid"/>
          </a:ln>
        </p:spPr>
      </p:sp>
      <p:sp>
        <p:nvSpPr>
          <p:cNvPr id="37" name="">
            <a:extLst xmlns:a="http://schemas.openxmlformats.org/drawingml/2006/main">
              <a:ext uri="{FF2B5EF4-FFF2-40B4-BE49-F238E27FC236}">
                <a16:creationId xmlns:a16="http://schemas.microsoft.com/office/drawing/2014/main" id="{AF6BFB8B-AFA1-4FEF-A7FB-14743AE39FE5}"/>
              </a:ext>
            </a:extLst>
          </p:cNvPr>
          <p:cNvSpPr>
            <a:spLocks xmlns:a="http://schemas.openxmlformats.org/drawingml/2006/main" noGrp="1"/>
          </p:cNvSpPr>
          <p:nvPr/>
        </p:nvSpPr>
        <p:spPr>
          <a:xfrm xmlns:a="http://schemas.openxmlformats.org/drawingml/2006/main">
            <a:off x="6591300" y="5238750"/>
            <a:ext cx="434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i="0">
                <a:solidFill>
                  <a:srgbClr val="26734D"/>
                </a:solidFill>
              </a:defRPr>
            </a:pPr>
            <a:r>
              <a:rPr sz="1050" b="1" i="0">
                <a:solidFill>
                  <a:srgbClr val="26734D"/>
                </a:solidFill>
              </a:rPr>
              <a:t>Live verified: lang=ar • dir=rtl</a:t>
            </a:r>
          </a:p>
        </p:txBody>
      </p:sp>
    </p:spTree>
    <p:extLst>
      <p:ext uri="{BB962C8B-B14F-4D97-AF65-F5344CB8AC3E}">
        <p14:creationId xmlns:p14="http://schemas.microsoft.com/office/powerpoint/2010/main" val="1380336080"/>
      </p:ext>
    </p:extLst>
  </p:cSld>
</p:sld>
</file>

<file path=ppt/slides/slide1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26711A2-B28F-472B-8BA3-9E145763727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3E1011F-8605-442C-8529-2B0F3A800A43}"/>
              </a:ext>
            </a:extLst>
          </p:cNvPr>
          <p:cNvSpPr>
            <a:spLocks xmlns:a="http://schemas.openxmlformats.org/drawingml/2006/main" noGrp="1"/>
          </p:cNvSpPr>
          <p:nvPr/>
        </p:nvSpPr>
        <p:spPr>
          <a:xfrm xmlns:a="http://schemas.openxmlformats.org/drawingml/2006/main">
            <a:off x="609600" y="523875"/>
            <a:ext cx="66675" cy="476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F3BC16B-103C-4E1D-B76F-8F1ABD5D7DCF}"/>
              </a:ext>
            </a:extLst>
          </p:cNvPr>
          <p:cNvSpPr>
            <a:spLocks xmlns:a="http://schemas.openxmlformats.org/drawingml/2006/main" noGrp="1"/>
          </p:cNvSpPr>
          <p:nvPr/>
        </p:nvSpPr>
        <p:spPr>
          <a:xfrm xmlns:a="http://schemas.openxmlformats.org/drawingml/2006/main">
            <a:off x="838200" y="4572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A96A"/>
                </a:solidFill>
              </a:defRPr>
            </a:pPr>
            <a:r>
              <a:rPr sz="975" b="1" i="0">
                <a:solidFill>
                  <a:srgbClr val="C8A96A"/>
                </a:solidFill>
              </a:rPr>
              <a:t>NETWORK VERIFICATION</a:t>
            </a:r>
          </a:p>
        </p:txBody>
      </p:sp>
      <p:sp>
        <p:nvSpPr>
          <p:cNvPr id="4" name="">
            <a:extLst xmlns:a="http://schemas.openxmlformats.org/drawingml/2006/main">
              <a:ext uri="{FF2B5EF4-FFF2-40B4-BE49-F238E27FC236}">
                <a16:creationId xmlns:a16="http://schemas.microsoft.com/office/drawing/2014/main" id="{44FECD2C-56D7-4CF0-8396-0F69E5640BD2}"/>
              </a:ext>
            </a:extLst>
          </p:cNvPr>
          <p:cNvSpPr>
            <a:spLocks xmlns:a="http://schemas.openxmlformats.org/drawingml/2006/main" noGrp="1"/>
          </p:cNvSpPr>
          <p:nvPr/>
        </p:nvSpPr>
        <p:spPr>
          <a:xfrm xmlns:a="http://schemas.openxmlformats.org/drawingml/2006/main">
            <a:off x="838200" y="65722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524"/>
                </a:solidFill>
              </a:defRPr>
            </a:pPr>
            <a:r>
              <a:rPr sz="2700" b="1" i="0">
                <a:solidFill>
                  <a:srgbClr val="123524"/>
                </a:solidFill>
              </a:rPr>
              <a:t>One filter change should show one statistics request</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f362536fd70f4eeb"/>
          <a:stretch xmlns:a="http://schemas.openxmlformats.org/drawingml/2006/main"/>
        </p:blipFill>
        <p:spPr>
          <a:xfrm xmlns:a="http://schemas.openxmlformats.org/drawingml/2006/main">
            <a:off x="11125200" y="428625"/>
            <a:ext cx="495300" cy="495300"/>
          </a:xfrm>
          <a:prstGeom xmlns:a="http://schemas.openxmlformats.org/drawingml/2006/main" prst="roundRect">
            <a:avLst>
              <a:gd name="adj" fmla="val 23077"/>
            </a:avLst>
          </a:prstGeom>
        </p:spPr>
      </p:pic>
      <p:sp>
        <p:nvSpPr>
          <p:cNvPr id="6" name="">
            <a:extLst xmlns:a="http://schemas.openxmlformats.org/drawingml/2006/main">
              <a:ext uri="{FF2B5EF4-FFF2-40B4-BE49-F238E27FC236}">
                <a16:creationId xmlns:a16="http://schemas.microsoft.com/office/drawing/2014/main" id="{8CF4380F-8CE8-4902-AFD4-982CAB7DDB28}"/>
              </a:ext>
            </a:extLst>
          </p:cNvPr>
          <p:cNvSpPr>
            <a:spLocks xmlns:a="http://schemas.openxmlformats.org/drawingml/2006/main" noGrp="1"/>
          </p:cNvSpPr>
          <p:nvPr/>
        </p:nvSpPr>
        <p:spPr>
          <a:xfrm xmlns:a="http://schemas.openxmlformats.org/drawingml/2006/main">
            <a:off x="609600" y="6457950"/>
            <a:ext cx="10972800" cy="9525"/>
          </a:xfrm>
          <a:prstGeom xmlns:a="http://schemas.openxmlformats.org/drawingml/2006/main" prst="rect">
            <a:avLst/>
          </a:prstGeom>
          <a:solidFill xmlns:a="http://schemas.openxmlformats.org/drawingml/2006/main">
            <a:srgbClr val="DCDDD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09149E9-9291-48C5-BF8C-DC5F7307D6F0}"/>
              </a:ext>
            </a:extLst>
          </p:cNvPr>
          <p:cNvSpPr>
            <a:spLocks xmlns:a="http://schemas.openxmlformats.org/drawingml/2006/main" noGrp="1"/>
          </p:cNvSpPr>
          <p:nvPr/>
        </p:nvSpPr>
        <p:spPr>
          <a:xfrm xmlns:a="http://schemas.openxmlformats.org/drawingml/2006/main">
            <a:off x="609600" y="6543675"/>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66736B"/>
                </a:solidFill>
              </a:defRPr>
            </a:pPr>
            <a:r>
              <a:rPr sz="825" b="0" i="0">
                <a:solidFill>
                  <a:srgbClr val="66736B"/>
                </a:solidFill>
              </a:rPr>
              <a:t>Traditional Governance  •  Interactive Statistics</a:t>
            </a:r>
          </a:p>
        </p:txBody>
      </p:sp>
      <p:sp>
        <p:nvSpPr>
          <p:cNvPr id="8" name="">
            <a:extLst xmlns:a="http://schemas.openxmlformats.org/drawingml/2006/main">
              <a:ext uri="{FF2B5EF4-FFF2-40B4-BE49-F238E27FC236}">
                <a16:creationId xmlns:a16="http://schemas.microsoft.com/office/drawing/2014/main" id="{7626BD79-C161-455B-B21C-3B943530BA1F}"/>
              </a:ext>
            </a:extLst>
          </p:cNvPr>
          <p:cNvSpPr>
            <a:spLocks xmlns:a="http://schemas.openxmlformats.org/drawingml/2006/main" noGrp="1"/>
          </p:cNvSpPr>
          <p:nvPr/>
        </p:nvSpPr>
        <p:spPr>
          <a:xfrm xmlns:a="http://schemas.openxmlformats.org/drawingml/2006/main">
            <a:off x="11068050" y="65246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123524"/>
                </a:solidFill>
              </a:defRPr>
            </a:pPr>
            <a:r>
              <a:rPr sz="900" b="1" i="0">
                <a:solidFill>
                  <a:srgbClr val="123524"/>
                </a:solidFill>
              </a:rPr>
              <a:t>15</a:t>
            </a:r>
          </a:p>
        </p:txBody>
      </p:sp>
      <p:sp>
        <p:nvSpPr>
          <p:cNvPr id="9" name="">
            <a:extLst xmlns:a="http://schemas.openxmlformats.org/drawingml/2006/main">
              <a:ext uri="{FF2B5EF4-FFF2-40B4-BE49-F238E27FC236}">
                <a16:creationId xmlns:a16="http://schemas.microsoft.com/office/drawing/2014/main" id="{EB2DF095-BA01-4CF8-8984-BBD4A0AE306C}"/>
              </a:ext>
            </a:extLst>
          </p:cNvPr>
          <p:cNvSpPr>
            <a:spLocks xmlns:a="http://schemas.openxmlformats.org/drawingml/2006/main" noGrp="1"/>
          </p:cNvSpPr>
          <p:nvPr/>
        </p:nvSpPr>
        <p:spPr>
          <a:xfrm xmlns:a="http://schemas.openxmlformats.org/drawingml/2006/main">
            <a:off x="666750" y="1504950"/>
            <a:ext cx="7429500" cy="4210050"/>
          </a:xfrm>
          <a:prstGeom xmlns:a="http://schemas.openxmlformats.org/drawingml/2006/main" prst="roundRect">
            <a:avLst>
              <a:gd name="adj" fmla="val 2715"/>
            </a:avLst>
          </a:prstGeom>
          <a:solidFill xmlns:a="http://schemas.openxmlformats.org/drawingml/2006/main">
            <a:srgbClr val="FFFFFF"/>
          </a:solidFill>
          <a:ln xmlns:a="http://schemas.openxmlformats.org/drawingml/2006/main" w="9525">
            <a:solidFill>
              <a:srgbClr val="C8A96A"/>
            </a:solidFill>
            <a:prstDash val="solid"/>
          </a:ln>
        </p:spPr>
      </p:sp>
      <p:sp>
        <p:nvSpPr>
          <p:cNvPr id="10" name="">
            <a:extLst xmlns:a="http://schemas.openxmlformats.org/drawingml/2006/main">
              <a:ext uri="{FF2B5EF4-FFF2-40B4-BE49-F238E27FC236}">
                <a16:creationId xmlns:a16="http://schemas.microsoft.com/office/drawing/2014/main" id="{267CEC94-5A1D-4061-9CED-1EACD2D78AFC}"/>
              </a:ext>
            </a:extLst>
          </p:cNvPr>
          <p:cNvSpPr>
            <a:spLocks xmlns:a="http://schemas.openxmlformats.org/drawingml/2006/main" noGrp="1"/>
          </p:cNvSpPr>
          <p:nvPr/>
        </p:nvSpPr>
        <p:spPr>
          <a:xfrm xmlns:a="http://schemas.openxmlformats.org/drawingml/2006/main">
            <a:off x="666750" y="1504950"/>
            <a:ext cx="7429500" cy="495300"/>
          </a:xfrm>
          <a:prstGeom xmlns:a="http://schemas.openxmlformats.org/drawingml/2006/main" prst="rect">
            <a:avLst/>
          </a:prstGeom>
          <a:solidFill xmlns:a="http://schemas.openxmlformats.org/drawingml/2006/main">
            <a:srgbClr val="0B2A1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5E07B02-CB30-4F91-9D93-B718C5E47501}"/>
              </a:ext>
            </a:extLst>
          </p:cNvPr>
          <p:cNvSpPr>
            <a:spLocks xmlns:a="http://schemas.openxmlformats.org/drawingml/2006/main" noGrp="1"/>
          </p:cNvSpPr>
          <p:nvPr/>
        </p:nvSpPr>
        <p:spPr>
          <a:xfrm xmlns:a="http://schemas.openxmlformats.org/drawingml/2006/main">
            <a:off x="876300" y="163830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FFFFFF"/>
                </a:solidFill>
              </a:defRPr>
            </a:pPr>
            <a:r>
              <a:rPr sz="1350" b="1" i="0">
                <a:solidFill>
                  <a:srgbClr val="FFFFFF"/>
                </a:solidFill>
              </a:rPr>
              <a:t>Network  |  Filter: statistics</a:t>
            </a:r>
          </a:p>
        </p:txBody>
      </p:sp>
      <p:sp>
        <p:nvSpPr>
          <p:cNvPr id="12" name="">
            <a:extLst xmlns:a="http://schemas.openxmlformats.org/drawingml/2006/main">
              <a:ext uri="{FF2B5EF4-FFF2-40B4-BE49-F238E27FC236}">
                <a16:creationId xmlns:a16="http://schemas.microsoft.com/office/drawing/2014/main" id="{9396D250-D1DC-4D3D-9253-160C911FD1AC}"/>
              </a:ext>
            </a:extLst>
          </p:cNvPr>
          <p:cNvSpPr>
            <a:spLocks xmlns:a="http://schemas.openxmlformats.org/drawingml/2006/main" noGrp="1"/>
          </p:cNvSpPr>
          <p:nvPr/>
        </p:nvSpPr>
        <p:spPr>
          <a:xfrm xmlns:a="http://schemas.openxmlformats.org/drawingml/2006/main">
            <a:off x="1066800" y="2647950"/>
            <a:ext cx="6629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123524"/>
                </a:solidFill>
              </a:defRPr>
            </a:pPr>
            <a:r>
              <a:rPr sz="1800" b="1" i="0">
                <a:solidFill>
                  <a:srgbClr val="123524"/>
                </a:solidFill>
              </a:rPr>
              <a:t>Insert a browser DevTools Network screenshot here</a:t>
            </a:r>
          </a:p>
        </p:txBody>
      </p:sp>
      <p:sp>
        <p:nvSpPr>
          <p:cNvPr id="13" name="">
            <a:extLst xmlns:a="http://schemas.openxmlformats.org/drawingml/2006/main">
              <a:ext uri="{FF2B5EF4-FFF2-40B4-BE49-F238E27FC236}">
                <a16:creationId xmlns:a16="http://schemas.microsoft.com/office/drawing/2014/main" id="{047E5BB2-1AFA-46C9-9531-36F2212C6916}"/>
              </a:ext>
            </a:extLst>
          </p:cNvPr>
          <p:cNvSpPr>
            <a:spLocks xmlns:a="http://schemas.openxmlformats.org/drawingml/2006/main" noGrp="1"/>
          </p:cNvSpPr>
          <p:nvPr/>
        </p:nvSpPr>
        <p:spPr>
          <a:xfrm xmlns:a="http://schemas.openxmlformats.org/drawingml/2006/main">
            <a:off x="1562100" y="3314700"/>
            <a:ext cx="56197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66736B"/>
                </a:solidFill>
              </a:defRPr>
            </a:pPr>
            <a:r>
              <a:rPr sz="1425" b="0" i="0">
                <a:solidFill>
                  <a:srgbClr val="66736B"/>
                </a:solidFill>
              </a:rPr>
              <a:t>Required evidence:</a:t>
            </a:r>
          </a:p>
          <a:p xmlns:a="http://schemas.openxmlformats.org/drawingml/2006/main">
            <a:pPr algn="l">
              <a:defRPr sz="1425" b="0" i="0">
                <a:solidFill>
                  <a:srgbClr val="66736B"/>
                </a:solidFill>
              </a:defRPr>
            </a:pPr>
            <a:r>
              <a:rPr sz="1425" b="0" i="0">
                <a:solidFill>
                  <a:srgbClr val="66736B"/>
                </a:solidFill>
              </a:rPr>
              <a:t>• Change one geographic filter</a:t>
            </a:r>
          </a:p>
          <a:p xmlns:a="http://schemas.openxmlformats.org/drawingml/2006/main">
            <a:pPr algn="l">
              <a:defRPr sz="1425" b="0" i="0">
                <a:solidFill>
                  <a:srgbClr val="66736B"/>
                </a:solidFill>
              </a:defRPr>
            </a:pPr>
            <a:r>
              <a:rPr sz="1425" b="0" i="0">
                <a:solidFill>
                  <a:srgbClr val="66736B"/>
                </a:solidFill>
              </a:rPr>
              <a:t>• Show one GET /api/statistics?... request</a:t>
            </a:r>
          </a:p>
          <a:p xmlns:a="http://schemas.openxmlformats.org/drawingml/2006/main">
            <a:pPr algn="l">
              <a:defRPr sz="1425" b="0" i="0">
                <a:solidFill>
                  <a:srgbClr val="66736B"/>
                </a:solidFill>
              </a:defRPr>
            </a:pPr>
            <a:r>
              <a:rPr sz="1425" b="0" i="0">
                <a:solidFill>
                  <a:srgbClr val="66736B"/>
                </a:solidFill>
              </a:rPr>
              <a:t>• Show HTTP 200</a:t>
            </a:r>
          </a:p>
          <a:p xmlns:a="http://schemas.openxmlformats.org/drawingml/2006/main">
            <a:pPr algn="l">
              <a:defRPr sz="1425" b="0" i="0">
                <a:solidFill>
                  <a:srgbClr val="66736B"/>
                </a:solidFill>
              </a:defRPr>
            </a:pPr>
            <a:r>
              <a:rPr sz="1425" b="0" i="0">
                <a:solidFill>
                  <a:srgbClr val="66736B"/>
                </a:solidFill>
              </a:rPr>
              <a:t>• Keep the request list clear</a:t>
            </a:r>
          </a:p>
        </p:txBody>
      </p:sp>
      <p:sp>
        <p:nvSpPr>
          <p:cNvPr id="14" name="">
            <a:extLst xmlns:a="http://schemas.openxmlformats.org/drawingml/2006/main">
              <a:ext uri="{FF2B5EF4-FFF2-40B4-BE49-F238E27FC236}">
                <a16:creationId xmlns:a16="http://schemas.microsoft.com/office/drawing/2014/main" id="{52DF00F4-C949-49D6-842E-A8A834507682}"/>
              </a:ext>
            </a:extLst>
          </p:cNvPr>
          <p:cNvSpPr>
            <a:spLocks xmlns:a="http://schemas.openxmlformats.org/drawingml/2006/main" noGrp="1"/>
          </p:cNvSpPr>
          <p:nvPr/>
        </p:nvSpPr>
        <p:spPr>
          <a:xfrm xmlns:a="http://schemas.openxmlformats.org/drawingml/2006/main">
            <a:off x="8610600" y="1666875"/>
            <a:ext cx="2876550" cy="781050"/>
          </a:xfrm>
          <a:prstGeom xmlns:a="http://schemas.openxmlformats.org/drawingml/2006/main" prst="roundRect">
            <a:avLst>
              <a:gd name="adj" fmla="val 9756"/>
            </a:avLst>
          </a:prstGeom>
          <a:solidFill xmlns:a="http://schemas.openxmlformats.org/drawingml/2006/main">
            <a:srgbClr val="123524"/>
          </a:solidFill>
          <a:ln xmlns:a="http://schemas.openxmlformats.org/drawingml/2006/main" w="0">
            <a:solidFill>
              <a:srgbClr val="123524"/>
            </a:solidFill>
            <a:prstDash val="solid"/>
          </a:ln>
        </p:spPr>
      </p:sp>
      <p:sp>
        <p:nvSpPr>
          <p:cNvPr id="15" name="">
            <a:extLst xmlns:a="http://schemas.openxmlformats.org/drawingml/2006/main">
              <a:ext uri="{FF2B5EF4-FFF2-40B4-BE49-F238E27FC236}">
                <a16:creationId xmlns:a16="http://schemas.microsoft.com/office/drawing/2014/main" id="{266528D8-D476-4AB0-8596-2218C3B57E32}"/>
              </a:ext>
            </a:extLst>
          </p:cNvPr>
          <p:cNvSpPr>
            <a:spLocks xmlns:a="http://schemas.openxmlformats.org/drawingml/2006/main" noGrp="1"/>
          </p:cNvSpPr>
          <p:nvPr/>
        </p:nvSpPr>
        <p:spPr>
          <a:xfrm xmlns:a="http://schemas.openxmlformats.org/drawingml/2006/main">
            <a:off x="8610600" y="1809750"/>
            <a:ext cx="2876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i="0">
                <a:solidFill>
                  <a:srgbClr val="C8A96A"/>
                </a:solidFill>
              </a:defRPr>
            </a:pPr>
            <a:r>
              <a:rPr sz="1125" b="1" i="0">
                <a:solidFill>
                  <a:srgbClr val="C8A96A"/>
                </a:solidFill>
              </a:rPr>
              <a:t>Expected request</a:t>
            </a:r>
          </a:p>
        </p:txBody>
      </p:sp>
      <p:sp>
        <p:nvSpPr>
          <p:cNvPr id="16" name="">
            <a:extLst xmlns:a="http://schemas.openxmlformats.org/drawingml/2006/main">
              <a:ext uri="{FF2B5EF4-FFF2-40B4-BE49-F238E27FC236}">
                <a16:creationId xmlns:a16="http://schemas.microsoft.com/office/drawing/2014/main" id="{BF9F8EFB-FCEF-4B9B-A6DA-5B22DA4EF7C6}"/>
              </a:ext>
            </a:extLst>
          </p:cNvPr>
          <p:cNvSpPr>
            <a:spLocks xmlns:a="http://schemas.openxmlformats.org/drawingml/2006/main" noGrp="1"/>
          </p:cNvSpPr>
          <p:nvPr/>
        </p:nvSpPr>
        <p:spPr>
          <a:xfrm xmlns:a="http://schemas.openxmlformats.org/drawingml/2006/main">
            <a:off x="8610600" y="2057400"/>
            <a:ext cx="2876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i="0">
                <a:solidFill>
                  <a:srgbClr val="FFFFFF"/>
                </a:solidFill>
              </a:defRPr>
            </a:pPr>
            <a:r>
              <a:rPr sz="1725" b="1" i="0">
                <a:solidFill>
                  <a:srgbClr val="FFFFFF"/>
                </a:solidFill>
              </a:rPr>
              <a:t>1 × GET</a:t>
            </a:r>
          </a:p>
        </p:txBody>
      </p:sp>
      <p:sp>
        <p:nvSpPr>
          <p:cNvPr id="17" name="">
            <a:extLst xmlns:a="http://schemas.openxmlformats.org/drawingml/2006/main">
              <a:ext uri="{FF2B5EF4-FFF2-40B4-BE49-F238E27FC236}">
                <a16:creationId xmlns:a16="http://schemas.microsoft.com/office/drawing/2014/main" id="{C7B453ED-C778-42E9-9ECE-854F51C35F61}"/>
              </a:ext>
            </a:extLst>
          </p:cNvPr>
          <p:cNvSpPr>
            <a:spLocks xmlns:a="http://schemas.openxmlformats.org/drawingml/2006/main" noGrp="1"/>
          </p:cNvSpPr>
          <p:nvPr/>
        </p:nvSpPr>
        <p:spPr>
          <a:xfrm xmlns:a="http://schemas.openxmlformats.org/drawingml/2006/main">
            <a:off x="8610600" y="2876550"/>
            <a:ext cx="2876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123524"/>
                </a:solidFill>
              </a:defRPr>
            </a:pPr>
            <a:r>
              <a:rPr sz="1500" b="1" i="0">
                <a:solidFill>
                  <a:srgbClr val="123524"/>
                </a:solidFill>
              </a:rPr>
              <a:t>Example</a:t>
            </a:r>
          </a:p>
        </p:txBody>
      </p:sp>
      <p:sp>
        <p:nvSpPr>
          <p:cNvPr id="18" name="">
            <a:extLst xmlns:a="http://schemas.openxmlformats.org/drawingml/2006/main">
              <a:ext uri="{FF2B5EF4-FFF2-40B4-BE49-F238E27FC236}">
                <a16:creationId xmlns:a16="http://schemas.microsoft.com/office/drawing/2014/main" id="{5D185EFD-879B-4CF3-B1E4-08A4E6E01E09}"/>
              </a:ext>
            </a:extLst>
          </p:cNvPr>
          <p:cNvSpPr>
            <a:spLocks xmlns:a="http://schemas.openxmlformats.org/drawingml/2006/main" noGrp="1"/>
          </p:cNvSpPr>
          <p:nvPr/>
        </p:nvSpPr>
        <p:spPr>
          <a:xfrm xmlns:a="http://schemas.openxmlformats.org/drawingml/2006/main">
            <a:off x="8610600" y="3305175"/>
            <a:ext cx="2876550" cy="1104900"/>
          </a:xfrm>
          <a:prstGeom xmlns:a="http://schemas.openxmlformats.org/drawingml/2006/main" prst="roundRect">
            <a:avLst>
              <a:gd name="adj" fmla="val 6897"/>
            </a:avLst>
          </a:prstGeom>
          <a:solidFill xmlns:a="http://schemas.openxmlformats.org/drawingml/2006/main">
            <a:srgbClr val="EEF1EC"/>
          </a:solidFill>
          <a:ln xmlns:a="http://schemas.openxmlformats.org/drawingml/2006/main" w="9525">
            <a:solidFill>
              <a:srgbClr val="DCDDD7"/>
            </a:solidFill>
            <a:prstDash val="solid"/>
          </a:ln>
        </p:spPr>
      </p:sp>
      <p:sp>
        <p:nvSpPr>
          <p:cNvPr id="19" name="">
            <a:extLst xmlns:a="http://schemas.openxmlformats.org/drawingml/2006/main">
              <a:ext uri="{FF2B5EF4-FFF2-40B4-BE49-F238E27FC236}">
                <a16:creationId xmlns:a16="http://schemas.microsoft.com/office/drawing/2014/main" id="{38B4E5FA-E69B-4153-9AF5-24921D6A167F}"/>
              </a:ext>
            </a:extLst>
          </p:cNvPr>
          <p:cNvSpPr>
            <a:spLocks xmlns:a="http://schemas.openxmlformats.org/drawingml/2006/main" noGrp="1"/>
          </p:cNvSpPr>
          <p:nvPr/>
        </p:nvSpPr>
        <p:spPr>
          <a:xfrm xmlns:a="http://schemas.openxmlformats.org/drawingml/2006/main">
            <a:off x="8810625" y="3571875"/>
            <a:ext cx="2476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17211B"/>
                </a:solidFill>
              </a:defRPr>
            </a:pPr>
            <a:r>
              <a:rPr sz="1350" b="1" i="0">
                <a:solidFill>
                  <a:srgbClr val="17211B"/>
                </a:solidFill>
              </a:rPr>
              <a:t>/api/statistics?</a:t>
            </a:r>
          </a:p>
          <a:p xmlns:a="http://schemas.openxmlformats.org/drawingml/2006/main">
            <a:pPr algn="ctr">
              <a:defRPr sz="1350" b="1" i="0">
                <a:solidFill>
                  <a:srgbClr val="17211B"/>
                </a:solidFill>
              </a:defRPr>
            </a:pPr>
            <a:r>
              <a:rPr sz="1350" b="1" i="0">
                <a:solidFill>
                  <a:srgbClr val="17211B"/>
                </a:solidFill>
              </a:rPr>
              <a:t>continent=Africa</a:t>
            </a:r>
          </a:p>
        </p:txBody>
      </p:sp>
      <p:sp>
        <p:nvSpPr>
          <p:cNvPr id="20" name="">
            <a:extLst xmlns:a="http://schemas.openxmlformats.org/drawingml/2006/main">
              <a:ext uri="{FF2B5EF4-FFF2-40B4-BE49-F238E27FC236}">
                <a16:creationId xmlns:a16="http://schemas.microsoft.com/office/drawing/2014/main" id="{384B6199-BD07-4AAE-8FC8-647AFFE7F1CB}"/>
              </a:ext>
            </a:extLst>
          </p:cNvPr>
          <p:cNvSpPr>
            <a:spLocks xmlns:a="http://schemas.openxmlformats.org/drawingml/2006/main" noGrp="1"/>
          </p:cNvSpPr>
          <p:nvPr/>
        </p:nvSpPr>
        <p:spPr>
          <a:xfrm xmlns:a="http://schemas.openxmlformats.org/drawingml/2006/main">
            <a:off x="8610600" y="4810125"/>
            <a:ext cx="2876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i="0">
                <a:solidFill>
                  <a:srgbClr val="26734D"/>
                </a:solidFill>
              </a:defRPr>
            </a:pPr>
            <a:r>
              <a:rPr sz="1650" b="1" i="0">
                <a:solidFill>
                  <a:srgbClr val="26734D"/>
                </a:solidFill>
              </a:rPr>
              <a:t>200 OK</a:t>
            </a:r>
          </a:p>
        </p:txBody>
      </p:sp>
      <p:sp>
        <p:nvSpPr>
          <p:cNvPr id="21" name="">
            <a:extLst xmlns:a="http://schemas.openxmlformats.org/drawingml/2006/main">
              <a:ext uri="{FF2B5EF4-FFF2-40B4-BE49-F238E27FC236}">
                <a16:creationId xmlns:a16="http://schemas.microsoft.com/office/drawing/2014/main" id="{061B34DE-25AB-452E-9E9C-712FAD60761A}"/>
              </a:ext>
            </a:extLst>
          </p:cNvPr>
          <p:cNvSpPr>
            <a:spLocks xmlns:a="http://schemas.openxmlformats.org/drawingml/2006/main" noGrp="1"/>
          </p:cNvSpPr>
          <p:nvPr/>
        </p:nvSpPr>
        <p:spPr>
          <a:xfrm xmlns:a="http://schemas.openxmlformats.org/drawingml/2006/main">
            <a:off x="8382000" y="5362575"/>
            <a:ext cx="3314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i="0">
                <a:solidFill>
                  <a:srgbClr val="66736B"/>
                </a:solidFill>
              </a:defRPr>
            </a:pPr>
            <a:r>
              <a:rPr sz="1125" b="0" i="0">
                <a:solidFill>
                  <a:srgbClr val="66736B"/>
                </a:solidFill>
              </a:rPr>
              <a:t>This screenshot requires a visible DevTools Network panel.</a:t>
            </a:r>
          </a:p>
        </p:txBody>
      </p:sp>
    </p:spTree>
    <p:extLst>
      <p:ext uri="{BB962C8B-B14F-4D97-AF65-F5344CB8AC3E}">
        <p14:creationId xmlns:p14="http://schemas.microsoft.com/office/powerpoint/2010/main" val="1733096078"/>
      </p:ext>
    </p:extLst>
  </p:cSld>
</p:sld>
</file>

<file path=ppt/slides/slide16.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DF7A15F-E38A-4272-BAAF-BBE39AC57663}"/>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12352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BF45DE0-0B17-45F9-8914-F22E05A3094B}"/>
              </a:ext>
            </a:extLst>
          </p:cNvPr>
          <p:cNvSpPr>
            <a:spLocks xmlns:a="http://schemas.openxmlformats.org/drawingml/2006/main" noGrp="1"/>
          </p:cNvSpPr>
          <p:nvPr/>
        </p:nvSpPr>
        <p:spPr>
          <a:xfrm xmlns:a="http://schemas.openxmlformats.org/drawingml/2006/main">
            <a:off x="609600" y="523875"/>
            <a:ext cx="66675" cy="476250"/>
          </a:xfrm>
          <a:prstGeom xmlns:a="http://schemas.openxmlformats.org/drawingml/2006/main" prst="rect">
            <a:avLst/>
          </a:prstGeom>
          <a:solidFill xmlns:a="http://schemas.openxmlformats.org/drawingml/2006/main">
            <a:srgbClr val="C8A96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AB23979-A14E-4DD0-BCD4-43D38DAF7D6D}"/>
              </a:ext>
            </a:extLst>
          </p:cNvPr>
          <p:cNvSpPr>
            <a:spLocks xmlns:a="http://schemas.openxmlformats.org/drawingml/2006/main" noGrp="1"/>
          </p:cNvSpPr>
          <p:nvPr/>
        </p:nvSpPr>
        <p:spPr>
          <a:xfrm xmlns:a="http://schemas.openxmlformats.org/drawingml/2006/main">
            <a:off x="838200" y="45720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i="0">
                <a:solidFill>
                  <a:srgbClr val="C8A96A"/>
                </a:solidFill>
              </a:defRPr>
            </a:pPr>
            <a:r>
              <a:rPr sz="975" b="1" i="0">
                <a:solidFill>
                  <a:srgbClr val="C8A96A"/>
                </a:solidFill>
              </a:rPr>
              <a:t>WHAT THE FEATURE ENABLES</a:t>
            </a:r>
          </a:p>
        </p:txBody>
      </p:sp>
      <p:sp>
        <p:nvSpPr>
          <p:cNvPr id="4" name="">
            <a:extLst xmlns:a="http://schemas.openxmlformats.org/drawingml/2006/main">
              <a:ext uri="{FF2B5EF4-FFF2-40B4-BE49-F238E27FC236}">
                <a16:creationId xmlns:a16="http://schemas.microsoft.com/office/drawing/2014/main" id="{6E988565-2750-4C24-A250-F1DA55A2EC82}"/>
              </a:ext>
            </a:extLst>
          </p:cNvPr>
          <p:cNvSpPr>
            <a:spLocks xmlns:a="http://schemas.openxmlformats.org/drawingml/2006/main" noGrp="1"/>
          </p:cNvSpPr>
          <p:nvPr/>
        </p:nvSpPr>
        <p:spPr>
          <a:xfrm xmlns:a="http://schemas.openxmlformats.org/drawingml/2006/main">
            <a:off x="838200" y="657225"/>
            <a:ext cx="1000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i="0">
                <a:solidFill>
                  <a:srgbClr val="123524"/>
                </a:solidFill>
              </a:defRPr>
            </a:pPr>
            <a:r>
              <a:rPr sz="2700" b="1" i="0">
                <a:solidFill>
                  <a:srgbClr val="123524"/>
                </a:solidFill>
              </a:rPr>
              <a:t>The same dashboard now answers focused research questions</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b00c9621b7264ea4"/>
          <a:stretch xmlns:a="http://schemas.openxmlformats.org/drawingml/2006/main"/>
        </p:blipFill>
        <p:spPr>
          <a:xfrm xmlns:a="http://schemas.openxmlformats.org/drawingml/2006/main">
            <a:off x="11125200" y="428625"/>
            <a:ext cx="495300" cy="495300"/>
          </a:xfrm>
          <a:prstGeom xmlns:a="http://schemas.openxmlformats.org/drawingml/2006/main" prst="roundRect">
            <a:avLst>
              <a:gd name="adj" fmla="val 23077"/>
            </a:avLst>
          </a:prstGeom>
        </p:spPr>
      </p:pic>
      <p:sp>
        <p:nvSpPr>
          <p:cNvPr id="6" name="">
            <a:extLst xmlns:a="http://schemas.openxmlformats.org/drawingml/2006/main">
              <a:ext uri="{FF2B5EF4-FFF2-40B4-BE49-F238E27FC236}">
                <a16:creationId xmlns:a16="http://schemas.microsoft.com/office/drawing/2014/main" id="{265161CE-8A9C-45E9-86A4-A8953BF600A2}"/>
              </a:ext>
            </a:extLst>
          </p:cNvPr>
          <p:cNvSpPr>
            <a:spLocks xmlns:a="http://schemas.openxmlformats.org/drawingml/2006/main" noGrp="1"/>
          </p:cNvSpPr>
          <p:nvPr/>
        </p:nvSpPr>
        <p:spPr>
          <a:xfrm xmlns:a="http://schemas.openxmlformats.org/drawingml/2006/main">
            <a:off x="609600" y="6457950"/>
            <a:ext cx="10972800" cy="9525"/>
          </a:xfrm>
          <a:prstGeom xmlns:a="http://schemas.openxmlformats.org/drawingml/2006/main" prst="rect">
            <a:avLst/>
          </a:prstGeom>
          <a:solidFill xmlns:a="http://schemas.openxmlformats.org/drawingml/2006/main">
            <a:srgbClr val="DCDDD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D856802-14C1-4708-BE33-760E41D9B8E5}"/>
              </a:ext>
            </a:extLst>
          </p:cNvPr>
          <p:cNvSpPr>
            <a:spLocks xmlns:a="http://schemas.openxmlformats.org/drawingml/2006/main" noGrp="1"/>
          </p:cNvSpPr>
          <p:nvPr/>
        </p:nvSpPr>
        <p:spPr>
          <a:xfrm xmlns:a="http://schemas.openxmlformats.org/drawingml/2006/main">
            <a:off x="609600" y="6543675"/>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i="0">
                <a:solidFill>
                  <a:srgbClr val="66736B"/>
                </a:solidFill>
              </a:defRPr>
            </a:pPr>
            <a:r>
              <a:rPr sz="825" b="0" i="0">
                <a:solidFill>
                  <a:srgbClr val="66736B"/>
                </a:solidFill>
              </a:rPr>
              <a:t>Traditional Governance  •  Interactive Statistics</a:t>
            </a:r>
          </a:p>
        </p:txBody>
      </p:sp>
      <p:sp>
        <p:nvSpPr>
          <p:cNvPr id="8" name="">
            <a:extLst xmlns:a="http://schemas.openxmlformats.org/drawingml/2006/main">
              <a:ext uri="{FF2B5EF4-FFF2-40B4-BE49-F238E27FC236}">
                <a16:creationId xmlns:a16="http://schemas.microsoft.com/office/drawing/2014/main" id="{EBF37856-767E-4314-9F73-E1697023A27B}"/>
              </a:ext>
            </a:extLst>
          </p:cNvPr>
          <p:cNvSpPr>
            <a:spLocks xmlns:a="http://schemas.openxmlformats.org/drawingml/2006/main" noGrp="1"/>
          </p:cNvSpPr>
          <p:nvPr/>
        </p:nvSpPr>
        <p:spPr>
          <a:xfrm xmlns:a="http://schemas.openxmlformats.org/drawingml/2006/main">
            <a:off x="11068050" y="6524625"/>
            <a:ext cx="514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i="0">
                <a:solidFill>
                  <a:srgbClr val="123524"/>
                </a:solidFill>
              </a:defRPr>
            </a:pPr>
            <a:r>
              <a:rPr sz="900" b="1" i="0">
                <a:solidFill>
                  <a:srgbClr val="123524"/>
                </a:solidFill>
              </a:rPr>
              <a:t>16</a:t>
            </a:r>
          </a:p>
        </p:txBody>
      </p:sp>
      <p:sp>
        <p:nvSpPr>
          <p:cNvPr id="9" name="">
            <a:extLst xmlns:a="http://schemas.openxmlformats.org/drawingml/2006/main">
              <a:ext uri="{FF2B5EF4-FFF2-40B4-BE49-F238E27FC236}">
                <a16:creationId xmlns:a16="http://schemas.microsoft.com/office/drawing/2014/main" id="{CA5B3F7F-D602-4ED0-A665-1B742182B8BC}"/>
              </a:ext>
            </a:extLst>
          </p:cNvPr>
          <p:cNvSpPr>
            <a:spLocks xmlns:a="http://schemas.openxmlformats.org/drawingml/2006/main" noGrp="1"/>
          </p:cNvSpPr>
          <p:nvPr/>
        </p:nvSpPr>
        <p:spPr>
          <a:xfrm xmlns:a="http://schemas.openxmlformats.org/drawingml/2006/main">
            <a:off x="685800" y="14668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123524"/>
                </a:solidFill>
              </a:defRPr>
            </a:pPr>
            <a:r>
              <a:rPr sz="1875" b="1" i="0">
                <a:solidFill>
                  <a:srgbClr val="123524"/>
                </a:solidFill>
              </a:rPr>
              <a:t>Example analysis path</a:t>
            </a:r>
          </a:p>
        </p:txBody>
      </p:sp>
      <p:sp>
        <p:nvSpPr>
          <p:cNvPr id="10" name="">
            <a:extLst xmlns:a="http://schemas.openxmlformats.org/drawingml/2006/main">
              <a:ext uri="{FF2B5EF4-FFF2-40B4-BE49-F238E27FC236}">
                <a16:creationId xmlns:a16="http://schemas.microsoft.com/office/drawing/2014/main" id="{02BD90EF-90F9-45A3-8E40-259071689A85}"/>
              </a:ext>
            </a:extLst>
          </p:cNvPr>
          <p:cNvSpPr>
            <a:spLocks xmlns:a="http://schemas.openxmlformats.org/drawingml/2006/main" noGrp="1"/>
          </p:cNvSpPr>
          <p:nvPr/>
        </p:nvSpPr>
        <p:spPr>
          <a:xfrm xmlns:a="http://schemas.openxmlformats.org/drawingml/2006/main">
            <a:off x="666750" y="2181225"/>
            <a:ext cx="2381250" cy="165735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CDD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6DAFC016-9047-4186-9FC0-B5BBD01EAAFB}"/>
              </a:ext>
            </a:extLst>
          </p:cNvPr>
          <p:cNvSpPr>
            <a:spLocks xmlns:a="http://schemas.openxmlformats.org/drawingml/2006/main" noGrp="1"/>
          </p:cNvSpPr>
          <p:nvPr/>
        </p:nvSpPr>
        <p:spPr>
          <a:xfrm xmlns:a="http://schemas.openxmlformats.org/drawingml/2006/main">
            <a:off x="876300" y="23526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23524"/>
                </a:solidFill>
              </a:defRPr>
            </a:pPr>
            <a:r>
              <a:rPr sz="1350" b="1" i="0">
                <a:solidFill>
                  <a:srgbClr val="123524"/>
                </a:solidFill>
              </a:rPr>
              <a:t>1</a:t>
            </a:r>
          </a:p>
        </p:txBody>
      </p:sp>
      <p:sp>
        <p:nvSpPr>
          <p:cNvPr id="12" name="">
            <a:extLst xmlns:a="http://schemas.openxmlformats.org/drawingml/2006/main">
              <a:ext uri="{FF2B5EF4-FFF2-40B4-BE49-F238E27FC236}">
                <a16:creationId xmlns:a16="http://schemas.microsoft.com/office/drawing/2014/main" id="{AF541872-992E-40AB-9C03-0EE191F841B4}"/>
              </a:ext>
            </a:extLst>
          </p:cNvPr>
          <p:cNvSpPr>
            <a:spLocks xmlns:a="http://schemas.openxmlformats.org/drawingml/2006/main" noGrp="1"/>
          </p:cNvSpPr>
          <p:nvPr/>
        </p:nvSpPr>
        <p:spPr>
          <a:xfrm xmlns:a="http://schemas.openxmlformats.org/drawingml/2006/main">
            <a:off x="876300" y="2714625"/>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23524"/>
                </a:solidFill>
              </a:defRPr>
            </a:pPr>
            <a:r>
              <a:rPr sz="1725" b="1" i="0">
                <a:solidFill>
                  <a:srgbClr val="123524"/>
                </a:solidFill>
              </a:rPr>
              <a:t>All Data</a:t>
            </a:r>
          </a:p>
        </p:txBody>
      </p:sp>
      <p:sp>
        <p:nvSpPr>
          <p:cNvPr id="13" name="">
            <a:extLst xmlns:a="http://schemas.openxmlformats.org/drawingml/2006/main">
              <a:ext uri="{FF2B5EF4-FFF2-40B4-BE49-F238E27FC236}">
                <a16:creationId xmlns:a16="http://schemas.microsoft.com/office/drawing/2014/main" id="{27BA4833-772A-47A7-98A3-F9AD650F7AD3}"/>
              </a:ext>
            </a:extLst>
          </p:cNvPr>
          <p:cNvSpPr>
            <a:spLocks xmlns:a="http://schemas.openxmlformats.org/drawingml/2006/main" noGrp="1"/>
          </p:cNvSpPr>
          <p:nvPr/>
        </p:nvSpPr>
        <p:spPr>
          <a:xfrm xmlns:a="http://schemas.openxmlformats.org/drawingml/2006/main">
            <a:off x="876300" y="3171825"/>
            <a:ext cx="1962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66736B"/>
                </a:solidFill>
              </a:defRPr>
            </a:pPr>
            <a:r>
              <a:rPr sz="1200" b="0" i="0">
                <a:solidFill>
                  <a:srgbClr val="66736B"/>
                </a:solidFill>
              </a:rPr>
              <a:t>Understand the global dataset</a:t>
            </a:r>
          </a:p>
        </p:txBody>
      </p:sp>
      <p:sp>
        <p:nvSpPr>
          <p:cNvPr id="14" name="">
            <a:extLst xmlns:a="http://schemas.openxmlformats.org/drawingml/2006/main">
              <a:ext uri="{FF2B5EF4-FFF2-40B4-BE49-F238E27FC236}">
                <a16:creationId xmlns:a16="http://schemas.microsoft.com/office/drawing/2014/main" id="{818AA57B-B1B5-4436-8AB1-08DFF16BDBFF}"/>
              </a:ext>
            </a:extLst>
          </p:cNvPr>
          <p:cNvSpPr>
            <a:spLocks xmlns:a="http://schemas.openxmlformats.org/drawingml/2006/main" noGrp="1"/>
          </p:cNvSpPr>
          <p:nvPr/>
        </p:nvSpPr>
        <p:spPr>
          <a:xfrm xmlns:a="http://schemas.openxmlformats.org/drawingml/2006/main">
            <a:off x="3067050" y="280035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C8A96A"/>
                </a:solidFill>
              </a:defRPr>
            </a:pPr>
            <a:r>
              <a:rPr sz="1950" b="1" i="0">
                <a:solidFill>
                  <a:srgbClr val="C8A96A"/>
                </a:solidFill>
              </a:rPr>
              <a:t>→</a:t>
            </a:r>
          </a:p>
        </p:txBody>
      </p:sp>
      <p:sp>
        <p:nvSpPr>
          <p:cNvPr id="15" name="">
            <a:extLst xmlns:a="http://schemas.openxmlformats.org/drawingml/2006/main">
              <a:ext uri="{FF2B5EF4-FFF2-40B4-BE49-F238E27FC236}">
                <a16:creationId xmlns:a16="http://schemas.microsoft.com/office/drawing/2014/main" id="{69A7A61E-7815-43F3-B024-53B3AB9BC4AE}"/>
              </a:ext>
            </a:extLst>
          </p:cNvPr>
          <p:cNvSpPr>
            <a:spLocks xmlns:a="http://schemas.openxmlformats.org/drawingml/2006/main" noGrp="1"/>
          </p:cNvSpPr>
          <p:nvPr/>
        </p:nvSpPr>
        <p:spPr>
          <a:xfrm xmlns:a="http://schemas.openxmlformats.org/drawingml/2006/main">
            <a:off x="3457575" y="2181225"/>
            <a:ext cx="2381250" cy="165735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CDD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BFD52CC4-E8AE-4AA5-834D-8E79852CC38D}"/>
              </a:ext>
            </a:extLst>
          </p:cNvPr>
          <p:cNvSpPr>
            <a:spLocks xmlns:a="http://schemas.openxmlformats.org/drawingml/2006/main" noGrp="1"/>
          </p:cNvSpPr>
          <p:nvPr/>
        </p:nvSpPr>
        <p:spPr>
          <a:xfrm xmlns:a="http://schemas.openxmlformats.org/drawingml/2006/main">
            <a:off x="3667125" y="23526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23524"/>
                </a:solidFill>
              </a:defRPr>
            </a:pPr>
            <a:r>
              <a:rPr sz="1350" b="1" i="0">
                <a:solidFill>
                  <a:srgbClr val="123524"/>
                </a:solidFill>
              </a:rPr>
              <a:t>2</a:t>
            </a:r>
          </a:p>
        </p:txBody>
      </p:sp>
      <p:sp>
        <p:nvSpPr>
          <p:cNvPr id="17" name="">
            <a:extLst xmlns:a="http://schemas.openxmlformats.org/drawingml/2006/main">
              <a:ext uri="{FF2B5EF4-FFF2-40B4-BE49-F238E27FC236}">
                <a16:creationId xmlns:a16="http://schemas.microsoft.com/office/drawing/2014/main" id="{ACF9E91E-46E4-473A-954D-28D82A6CAA25}"/>
              </a:ext>
            </a:extLst>
          </p:cNvPr>
          <p:cNvSpPr>
            <a:spLocks xmlns:a="http://schemas.openxmlformats.org/drawingml/2006/main" noGrp="1"/>
          </p:cNvSpPr>
          <p:nvPr/>
        </p:nvSpPr>
        <p:spPr>
          <a:xfrm xmlns:a="http://schemas.openxmlformats.org/drawingml/2006/main">
            <a:off x="3667125" y="2714625"/>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23524"/>
                </a:solidFill>
              </a:defRPr>
            </a:pPr>
            <a:r>
              <a:rPr sz="1725" b="1" i="0">
                <a:solidFill>
                  <a:srgbClr val="123524"/>
                </a:solidFill>
              </a:rPr>
              <a:t>Africa</a:t>
            </a:r>
          </a:p>
        </p:txBody>
      </p:sp>
      <p:sp>
        <p:nvSpPr>
          <p:cNvPr id="18" name="">
            <a:extLst xmlns:a="http://schemas.openxmlformats.org/drawingml/2006/main">
              <a:ext uri="{FF2B5EF4-FFF2-40B4-BE49-F238E27FC236}">
                <a16:creationId xmlns:a16="http://schemas.microsoft.com/office/drawing/2014/main" id="{26E971A6-B7FD-4977-AC7F-6AD45072F580}"/>
              </a:ext>
            </a:extLst>
          </p:cNvPr>
          <p:cNvSpPr>
            <a:spLocks xmlns:a="http://schemas.openxmlformats.org/drawingml/2006/main" noGrp="1"/>
          </p:cNvSpPr>
          <p:nvPr/>
        </p:nvSpPr>
        <p:spPr>
          <a:xfrm xmlns:a="http://schemas.openxmlformats.org/drawingml/2006/main">
            <a:off x="3667125" y="3171825"/>
            <a:ext cx="1962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66736B"/>
                </a:solidFill>
              </a:defRPr>
            </a:pPr>
            <a:r>
              <a:rPr sz="1200" b="0" i="0">
                <a:solidFill>
                  <a:srgbClr val="66736B"/>
                </a:solidFill>
              </a:rPr>
              <a:t>Narrow to one continent</a:t>
            </a:r>
          </a:p>
        </p:txBody>
      </p:sp>
      <p:sp>
        <p:nvSpPr>
          <p:cNvPr id="19" name="">
            <a:extLst xmlns:a="http://schemas.openxmlformats.org/drawingml/2006/main">
              <a:ext uri="{FF2B5EF4-FFF2-40B4-BE49-F238E27FC236}">
                <a16:creationId xmlns:a16="http://schemas.microsoft.com/office/drawing/2014/main" id="{5F83B7C6-6B1F-48FB-A683-1C849456E277}"/>
              </a:ext>
            </a:extLst>
          </p:cNvPr>
          <p:cNvSpPr>
            <a:spLocks xmlns:a="http://schemas.openxmlformats.org/drawingml/2006/main" noGrp="1"/>
          </p:cNvSpPr>
          <p:nvPr/>
        </p:nvSpPr>
        <p:spPr>
          <a:xfrm xmlns:a="http://schemas.openxmlformats.org/drawingml/2006/main">
            <a:off x="5857875" y="280035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C8A96A"/>
                </a:solidFill>
              </a:defRPr>
            </a:pPr>
            <a:r>
              <a:rPr sz="1950" b="1" i="0">
                <a:solidFill>
                  <a:srgbClr val="C8A96A"/>
                </a:solidFill>
              </a:rPr>
              <a:t>→</a:t>
            </a:r>
          </a:p>
        </p:txBody>
      </p:sp>
      <p:sp>
        <p:nvSpPr>
          <p:cNvPr id="20" name="">
            <a:extLst xmlns:a="http://schemas.openxmlformats.org/drawingml/2006/main">
              <a:ext uri="{FF2B5EF4-FFF2-40B4-BE49-F238E27FC236}">
                <a16:creationId xmlns:a16="http://schemas.microsoft.com/office/drawing/2014/main" id="{939F898D-1790-4182-98FF-A310019C04DC}"/>
              </a:ext>
            </a:extLst>
          </p:cNvPr>
          <p:cNvSpPr>
            <a:spLocks xmlns:a="http://schemas.openxmlformats.org/drawingml/2006/main" noGrp="1"/>
          </p:cNvSpPr>
          <p:nvPr/>
        </p:nvSpPr>
        <p:spPr>
          <a:xfrm xmlns:a="http://schemas.openxmlformats.org/drawingml/2006/main">
            <a:off x="6248400" y="2181225"/>
            <a:ext cx="2381250" cy="165735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CDD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9210DB1E-AC3B-40BA-A3AC-1554CFA1C4B9}"/>
              </a:ext>
            </a:extLst>
          </p:cNvPr>
          <p:cNvSpPr>
            <a:spLocks xmlns:a="http://schemas.openxmlformats.org/drawingml/2006/main" noGrp="1"/>
          </p:cNvSpPr>
          <p:nvPr/>
        </p:nvSpPr>
        <p:spPr>
          <a:xfrm xmlns:a="http://schemas.openxmlformats.org/drawingml/2006/main">
            <a:off x="6457950" y="23526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123524"/>
                </a:solidFill>
              </a:defRPr>
            </a:pPr>
            <a:r>
              <a:rPr sz="1350" b="1" i="0">
                <a:solidFill>
                  <a:srgbClr val="123524"/>
                </a:solidFill>
              </a:rPr>
              <a:t>3</a:t>
            </a:r>
          </a:p>
        </p:txBody>
      </p:sp>
      <p:sp>
        <p:nvSpPr>
          <p:cNvPr id="22" name="">
            <a:extLst xmlns:a="http://schemas.openxmlformats.org/drawingml/2006/main">
              <a:ext uri="{FF2B5EF4-FFF2-40B4-BE49-F238E27FC236}">
                <a16:creationId xmlns:a16="http://schemas.microsoft.com/office/drawing/2014/main" id="{9B9E08DE-2E96-4098-B10B-E034D2E23239}"/>
              </a:ext>
            </a:extLst>
          </p:cNvPr>
          <p:cNvSpPr>
            <a:spLocks xmlns:a="http://schemas.openxmlformats.org/drawingml/2006/main" noGrp="1"/>
          </p:cNvSpPr>
          <p:nvPr/>
        </p:nvSpPr>
        <p:spPr>
          <a:xfrm xmlns:a="http://schemas.openxmlformats.org/drawingml/2006/main">
            <a:off x="6457950" y="2714625"/>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123524"/>
                </a:solidFill>
              </a:defRPr>
            </a:pPr>
            <a:r>
              <a:rPr sz="1725" b="1" i="0">
                <a:solidFill>
                  <a:srgbClr val="123524"/>
                </a:solidFill>
              </a:rPr>
              <a:t>Kenya</a:t>
            </a:r>
          </a:p>
        </p:txBody>
      </p:sp>
      <p:sp>
        <p:nvSpPr>
          <p:cNvPr id="23" name="">
            <a:extLst xmlns:a="http://schemas.openxmlformats.org/drawingml/2006/main">
              <a:ext uri="{FF2B5EF4-FFF2-40B4-BE49-F238E27FC236}">
                <a16:creationId xmlns:a16="http://schemas.microsoft.com/office/drawing/2014/main" id="{D106304D-F277-411A-B420-1CD3ABE1436D}"/>
              </a:ext>
            </a:extLst>
          </p:cNvPr>
          <p:cNvSpPr>
            <a:spLocks xmlns:a="http://schemas.openxmlformats.org/drawingml/2006/main" noGrp="1"/>
          </p:cNvSpPr>
          <p:nvPr/>
        </p:nvSpPr>
        <p:spPr>
          <a:xfrm xmlns:a="http://schemas.openxmlformats.org/drawingml/2006/main">
            <a:off x="6457950" y="3171825"/>
            <a:ext cx="1962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66736B"/>
                </a:solidFill>
              </a:defRPr>
            </a:pPr>
            <a:r>
              <a:rPr sz="1200" b="0" i="0">
                <a:solidFill>
                  <a:srgbClr val="66736B"/>
                </a:solidFill>
              </a:rPr>
              <a:t>Inspect one country</a:t>
            </a:r>
          </a:p>
        </p:txBody>
      </p:sp>
      <p:sp>
        <p:nvSpPr>
          <p:cNvPr id="24" name="">
            <a:extLst xmlns:a="http://schemas.openxmlformats.org/drawingml/2006/main">
              <a:ext uri="{FF2B5EF4-FFF2-40B4-BE49-F238E27FC236}">
                <a16:creationId xmlns:a16="http://schemas.microsoft.com/office/drawing/2014/main" id="{94B54821-753C-42A5-A7C8-E22B6FA9CE8D}"/>
              </a:ext>
            </a:extLst>
          </p:cNvPr>
          <p:cNvSpPr>
            <a:spLocks xmlns:a="http://schemas.openxmlformats.org/drawingml/2006/main" noGrp="1"/>
          </p:cNvSpPr>
          <p:nvPr/>
        </p:nvSpPr>
        <p:spPr>
          <a:xfrm xmlns:a="http://schemas.openxmlformats.org/drawingml/2006/main">
            <a:off x="8648700" y="280035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C8A96A"/>
                </a:solidFill>
              </a:defRPr>
            </a:pPr>
            <a:r>
              <a:rPr sz="1950" b="1" i="0">
                <a:solidFill>
                  <a:srgbClr val="C8A96A"/>
                </a:solidFill>
              </a:rPr>
              <a:t>→</a:t>
            </a:r>
          </a:p>
        </p:txBody>
      </p:sp>
      <p:sp>
        <p:nvSpPr>
          <p:cNvPr id="25" name="">
            <a:extLst xmlns:a="http://schemas.openxmlformats.org/drawingml/2006/main">
              <a:ext uri="{FF2B5EF4-FFF2-40B4-BE49-F238E27FC236}">
                <a16:creationId xmlns:a16="http://schemas.microsoft.com/office/drawing/2014/main" id="{F8EF288F-7E12-4D5D-B0AE-2AF47ED65AE4}"/>
              </a:ext>
            </a:extLst>
          </p:cNvPr>
          <p:cNvSpPr>
            <a:spLocks xmlns:a="http://schemas.openxmlformats.org/drawingml/2006/main" noGrp="1"/>
          </p:cNvSpPr>
          <p:nvPr/>
        </p:nvSpPr>
        <p:spPr>
          <a:xfrm xmlns:a="http://schemas.openxmlformats.org/drawingml/2006/main">
            <a:off x="9039225" y="2181225"/>
            <a:ext cx="2381250" cy="1657350"/>
          </a:xfrm>
          <a:prstGeom xmlns:a="http://schemas.openxmlformats.org/drawingml/2006/main" prst="roundRect">
            <a:avLst>
              <a:gd name="adj" fmla="val 6897"/>
            </a:avLst>
          </a:prstGeom>
          <a:solidFill xmlns:a="http://schemas.openxmlformats.org/drawingml/2006/main">
            <a:srgbClr val="123524"/>
          </a:solidFill>
          <a:ln xmlns:a="http://schemas.openxmlformats.org/drawingml/2006/main" w="9525">
            <a:solidFill>
              <a:srgbClr val="123524"/>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4FB40F78-7EB3-4582-AA5E-8DA4FA5B5434}"/>
              </a:ext>
            </a:extLst>
          </p:cNvPr>
          <p:cNvSpPr>
            <a:spLocks xmlns:a="http://schemas.openxmlformats.org/drawingml/2006/main" noGrp="1"/>
          </p:cNvSpPr>
          <p:nvPr/>
        </p:nvSpPr>
        <p:spPr>
          <a:xfrm xmlns:a="http://schemas.openxmlformats.org/drawingml/2006/main">
            <a:off x="9248775" y="23526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i="0">
                <a:solidFill>
                  <a:srgbClr val="C8A96A"/>
                </a:solidFill>
              </a:defRPr>
            </a:pPr>
            <a:r>
              <a:rPr sz="1350" b="1" i="0">
                <a:solidFill>
                  <a:srgbClr val="C8A96A"/>
                </a:solidFill>
              </a:rPr>
              <a:t>4</a:t>
            </a:r>
          </a:p>
        </p:txBody>
      </p:sp>
      <p:sp>
        <p:nvSpPr>
          <p:cNvPr id="27" name="">
            <a:extLst xmlns:a="http://schemas.openxmlformats.org/drawingml/2006/main">
              <a:ext uri="{FF2B5EF4-FFF2-40B4-BE49-F238E27FC236}">
                <a16:creationId xmlns:a16="http://schemas.microsoft.com/office/drawing/2014/main" id="{92ED893D-A596-452D-8F32-3FDBDD4253CA}"/>
              </a:ext>
            </a:extLst>
          </p:cNvPr>
          <p:cNvSpPr>
            <a:spLocks xmlns:a="http://schemas.openxmlformats.org/drawingml/2006/main" noGrp="1"/>
          </p:cNvSpPr>
          <p:nvPr/>
        </p:nvSpPr>
        <p:spPr>
          <a:xfrm xmlns:a="http://schemas.openxmlformats.org/drawingml/2006/main">
            <a:off x="9248775" y="2714625"/>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FFFFFF"/>
                </a:solidFill>
              </a:defRPr>
            </a:pPr>
            <a:r>
              <a:rPr sz="1725" b="1" i="0">
                <a:solidFill>
                  <a:srgbClr val="FFFFFF"/>
                </a:solidFill>
              </a:rPr>
              <a:t>Charts</a:t>
            </a:r>
          </a:p>
        </p:txBody>
      </p:sp>
      <p:sp>
        <p:nvSpPr>
          <p:cNvPr id="28" name="">
            <a:extLst xmlns:a="http://schemas.openxmlformats.org/drawingml/2006/main">
              <a:ext uri="{FF2B5EF4-FFF2-40B4-BE49-F238E27FC236}">
                <a16:creationId xmlns:a16="http://schemas.microsoft.com/office/drawing/2014/main" id="{1B7340B8-3A09-4C22-81C3-F90EAE2A1FAC}"/>
              </a:ext>
            </a:extLst>
          </p:cNvPr>
          <p:cNvSpPr>
            <a:spLocks xmlns:a="http://schemas.openxmlformats.org/drawingml/2006/main" noGrp="1"/>
          </p:cNvSpPr>
          <p:nvPr/>
        </p:nvSpPr>
        <p:spPr>
          <a:xfrm xmlns:a="http://schemas.openxmlformats.org/drawingml/2006/main">
            <a:off x="9248775" y="3171825"/>
            <a:ext cx="1962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i="0">
                <a:solidFill>
                  <a:srgbClr val="EDE1C8"/>
                </a:solidFill>
              </a:defRPr>
            </a:pPr>
            <a:r>
              <a:rPr sz="1200" b="0" i="0">
                <a:solidFill>
                  <a:srgbClr val="EDE1C8"/>
                </a:solidFill>
              </a:rPr>
              <a:t>Compare recognition, leadership, and functions</a:t>
            </a:r>
          </a:p>
        </p:txBody>
      </p:sp>
      <p:sp>
        <p:nvSpPr>
          <p:cNvPr id="29" name="">
            <a:extLst xmlns:a="http://schemas.openxmlformats.org/drawingml/2006/main">
              <a:ext uri="{FF2B5EF4-FFF2-40B4-BE49-F238E27FC236}">
                <a16:creationId xmlns:a16="http://schemas.microsoft.com/office/drawing/2014/main" id="{F9AFCD6B-32AE-41AE-84A9-143E378F93A2}"/>
              </a:ext>
            </a:extLst>
          </p:cNvPr>
          <p:cNvSpPr>
            <a:spLocks xmlns:a="http://schemas.openxmlformats.org/drawingml/2006/main" noGrp="1"/>
          </p:cNvSpPr>
          <p:nvPr/>
        </p:nvSpPr>
        <p:spPr>
          <a:xfrm xmlns:a="http://schemas.openxmlformats.org/drawingml/2006/main">
            <a:off x="1714500" y="4648200"/>
            <a:ext cx="8763000" cy="952500"/>
          </a:xfrm>
          <a:prstGeom xmlns:a="http://schemas.openxmlformats.org/drawingml/2006/main" prst="roundRect">
            <a:avLst>
              <a:gd name="adj" fmla="val 8000"/>
            </a:avLst>
          </a:prstGeom>
          <a:solidFill xmlns:a="http://schemas.openxmlformats.org/drawingml/2006/main">
            <a:srgbClr val="EDE1C8"/>
          </a:solidFill>
          <a:ln xmlns:a="http://schemas.openxmlformats.org/drawingml/2006/main" w="9525">
            <a:solidFill>
              <a:srgbClr val="C8A96A"/>
            </a:solidFill>
            <a:prstDash val="solid"/>
          </a:ln>
        </p:spPr>
      </p:sp>
      <p:sp>
        <p:nvSpPr>
          <p:cNvPr id="30" name="">
            <a:extLst xmlns:a="http://schemas.openxmlformats.org/drawingml/2006/main">
              <a:ext uri="{FF2B5EF4-FFF2-40B4-BE49-F238E27FC236}">
                <a16:creationId xmlns:a16="http://schemas.microsoft.com/office/drawing/2014/main" id="{FED03970-B7A8-41EA-839D-953A1FCBCFBB}"/>
              </a:ext>
            </a:extLst>
          </p:cNvPr>
          <p:cNvSpPr>
            <a:spLocks xmlns:a="http://schemas.openxmlformats.org/drawingml/2006/main" noGrp="1"/>
          </p:cNvSpPr>
          <p:nvPr/>
        </p:nvSpPr>
        <p:spPr>
          <a:xfrm xmlns:a="http://schemas.openxmlformats.org/drawingml/2006/main">
            <a:off x="2095500" y="4876800"/>
            <a:ext cx="8001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123524"/>
                </a:solidFill>
              </a:defRPr>
            </a:pPr>
            <a:r>
              <a:rPr sz="1800" b="1" i="0">
                <a:solidFill>
                  <a:srgbClr val="123524"/>
                </a:solidFill>
              </a:rPr>
              <a:t>The update changes the Statistics page from a static report into an interactive geographic analytics tool.</a:t>
            </a:r>
          </a:p>
        </p:txBody>
      </p:sp>
    </p:spTree>
    <p:extLst>
      <p:ext uri="{BB962C8B-B14F-4D97-AF65-F5344CB8AC3E}">
        <p14:creationId xmlns:p14="http://schemas.microsoft.com/office/powerpoint/2010/main" val="1822067332"/>
      </p:ext>
    </p:extLst>
  </p:cSld>
</p:sld>
</file>

<file path=ppt/slides/slide17.xml><?xml version="1.0" encoding="utf-8"?>
<p:sld xmlns:p="http://schemas.openxmlformats.org/presentationml/2006/main">
  <p:cSld>
    <p:bg>
      <p:bgPr>
        <a:solidFill xmlns:a="http://schemas.openxmlformats.org/drawingml/2006/main">
          <a:srgbClr val="0B2A1D"/>
        </a:solidFill>
      </p:bgPr>
    </p:bg>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4f6927160e3a4d80"/>
          <a:stretch xmlns:a="http://schemas.openxmlformats.org/drawingml/2006/main"/>
        </p:blipFill>
        <p:spPr>
          <a:xfrm xmlns:a="http://schemas.openxmlformats.org/drawingml/2006/main">
            <a:off x="742950" y="609600"/>
            <a:ext cx="590550" cy="590550"/>
          </a:xfrm>
          <a:prstGeom xmlns:a="http://schemas.openxmlformats.org/drawingml/2006/main" prst="roundRect">
            <a:avLst>
              <a:gd name="adj" fmla="val 19355"/>
            </a:avLst>
          </a:prstGeom>
        </p:spPr>
      </p:pic>
      <p:sp>
        <p:nvSpPr>
          <p:cNvPr id="2" name="">
            <a:extLst xmlns:a="http://schemas.openxmlformats.org/drawingml/2006/main">
              <a:ext uri="{FF2B5EF4-FFF2-40B4-BE49-F238E27FC236}">
                <a16:creationId xmlns:a16="http://schemas.microsoft.com/office/drawing/2014/main" id="{F16BB1F0-78B9-456C-9AC6-AA5892FA0207}"/>
              </a:ext>
            </a:extLst>
          </p:cNvPr>
          <p:cNvSpPr>
            <a:spLocks xmlns:a="http://schemas.openxmlformats.org/drawingml/2006/main" noGrp="1"/>
          </p:cNvSpPr>
          <p:nvPr/>
        </p:nvSpPr>
        <p:spPr>
          <a:xfrm xmlns:a="http://schemas.openxmlformats.org/drawingml/2006/main">
            <a:off x="1562100" y="6667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i="0">
                <a:solidFill>
                  <a:srgbClr val="C8A96A"/>
                </a:solidFill>
              </a:defRPr>
            </a:pPr>
            <a:r>
              <a:rPr sz="1050" b="1" i="0">
                <a:solidFill>
                  <a:srgbClr val="C8A96A"/>
                </a:solidFill>
              </a:rPr>
              <a:t>FINAL SUMMARY</a:t>
            </a:r>
          </a:p>
        </p:txBody>
      </p:sp>
      <p:sp>
        <p:nvSpPr>
          <p:cNvPr id="3" name="">
            <a:extLst xmlns:a="http://schemas.openxmlformats.org/drawingml/2006/main">
              <a:ext uri="{FF2B5EF4-FFF2-40B4-BE49-F238E27FC236}">
                <a16:creationId xmlns:a16="http://schemas.microsoft.com/office/drawing/2014/main" id="{EF1F496C-6261-4E10-92C3-FBF87DE12379}"/>
              </a:ext>
            </a:extLst>
          </p:cNvPr>
          <p:cNvSpPr>
            <a:spLocks xmlns:a="http://schemas.openxmlformats.org/drawingml/2006/main" noGrp="1"/>
          </p:cNvSpPr>
          <p:nvPr/>
        </p:nvSpPr>
        <p:spPr>
          <a:xfrm xmlns:a="http://schemas.openxmlformats.org/drawingml/2006/main">
            <a:off x="742950" y="1562100"/>
            <a:ext cx="10001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i="0">
                <a:solidFill>
                  <a:srgbClr val="FFFFFF"/>
                </a:solidFill>
              </a:defRPr>
            </a:pPr>
            <a:r>
              <a:rPr sz="3150" b="1" i="0">
                <a:solidFill>
                  <a:srgbClr val="FFFFFF"/>
                </a:solidFill>
              </a:rPr>
              <a:t>The Statistics page is now an</a:t>
            </a:r>
          </a:p>
          <a:p xmlns:a="http://schemas.openxmlformats.org/drawingml/2006/main">
            <a:pPr algn="l">
              <a:defRPr sz="3150" b="1" i="0">
                <a:solidFill>
                  <a:srgbClr val="FFFFFF"/>
                </a:solidFill>
              </a:defRPr>
            </a:pPr>
            <a:r>
              <a:rPr sz="3150" b="1" i="0">
                <a:solidFill>
                  <a:srgbClr val="FFFFFF"/>
                </a:solidFill>
              </a:rPr>
              <a:t>interactive geographic analytics dashboard.</a:t>
            </a:r>
          </a:p>
        </p:txBody>
      </p:sp>
      <p:sp>
        <p:nvSpPr>
          <p:cNvPr id="4" name="">
            <a:extLst xmlns:a="http://schemas.openxmlformats.org/drawingml/2006/main">
              <a:ext uri="{FF2B5EF4-FFF2-40B4-BE49-F238E27FC236}">
                <a16:creationId xmlns:a16="http://schemas.microsoft.com/office/drawing/2014/main" id="{7A72F7BD-20A3-42B3-8887-A871382C0305}"/>
              </a:ext>
            </a:extLst>
          </p:cNvPr>
          <p:cNvSpPr>
            <a:spLocks xmlns:a="http://schemas.openxmlformats.org/drawingml/2006/main" noGrp="1"/>
          </p:cNvSpPr>
          <p:nvPr/>
        </p:nvSpPr>
        <p:spPr>
          <a:xfrm xmlns:a="http://schemas.openxmlformats.org/drawingml/2006/main">
            <a:off x="781050" y="3143250"/>
            <a:ext cx="266700" cy="266700"/>
          </a:xfrm>
          <a:prstGeom xmlns:a="http://schemas.openxmlformats.org/drawingml/2006/main" prst="ellipse">
            <a:avLst/>
          </a:prstGeom>
          <a:solidFill xmlns:a="http://schemas.openxmlformats.org/drawingml/2006/main">
            <a:srgbClr val="234D3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EF6C491-1D41-4EBC-81FA-91DA91597526}"/>
              </a:ext>
            </a:extLst>
          </p:cNvPr>
          <p:cNvSpPr>
            <a:spLocks xmlns:a="http://schemas.openxmlformats.org/drawingml/2006/main" noGrp="1"/>
          </p:cNvSpPr>
          <p:nvPr/>
        </p:nvSpPr>
        <p:spPr>
          <a:xfrm xmlns:a="http://schemas.openxmlformats.org/drawingml/2006/main">
            <a:off x="781050" y="3190875"/>
            <a:ext cx="2667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a:t>
            </a:r>
          </a:p>
        </p:txBody>
      </p:sp>
      <p:sp>
        <p:nvSpPr>
          <p:cNvPr id="6" name="">
            <a:extLst xmlns:a="http://schemas.openxmlformats.org/drawingml/2006/main">
              <a:ext uri="{FF2B5EF4-FFF2-40B4-BE49-F238E27FC236}">
                <a16:creationId xmlns:a16="http://schemas.microsoft.com/office/drawing/2014/main" id="{8A1060F1-159E-42AF-817B-9B3A0C604ADD}"/>
              </a:ext>
            </a:extLst>
          </p:cNvPr>
          <p:cNvSpPr>
            <a:spLocks xmlns:a="http://schemas.openxmlformats.org/drawingml/2006/main" noGrp="1"/>
          </p:cNvSpPr>
          <p:nvPr/>
        </p:nvSpPr>
        <p:spPr>
          <a:xfrm xmlns:a="http://schemas.openxmlformats.org/drawingml/2006/main">
            <a:off x="1257300" y="31242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C8A96A"/>
                </a:solidFill>
              </a:defRPr>
            </a:pPr>
            <a:r>
              <a:rPr sz="1200" b="1" i="0">
                <a:solidFill>
                  <a:srgbClr val="C8A96A"/>
                </a:solidFill>
              </a:rPr>
              <a:t>ONE PAGE</a:t>
            </a:r>
          </a:p>
        </p:txBody>
      </p:sp>
      <p:sp>
        <p:nvSpPr>
          <p:cNvPr id="7" name="">
            <a:extLst xmlns:a="http://schemas.openxmlformats.org/drawingml/2006/main">
              <a:ext uri="{FF2B5EF4-FFF2-40B4-BE49-F238E27FC236}">
                <a16:creationId xmlns:a16="http://schemas.microsoft.com/office/drawing/2014/main" id="{9F3F9E9D-721D-4300-A972-031BDD944A53}"/>
              </a:ext>
            </a:extLst>
          </p:cNvPr>
          <p:cNvSpPr>
            <a:spLocks xmlns:a="http://schemas.openxmlformats.org/drawingml/2006/main" noGrp="1"/>
          </p:cNvSpPr>
          <p:nvPr/>
        </p:nvSpPr>
        <p:spPr>
          <a:xfrm xmlns:a="http://schemas.openxmlformats.org/drawingml/2006/main">
            <a:off x="3124200" y="3124200"/>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FFFFFF"/>
                </a:solidFill>
              </a:defRPr>
            </a:pPr>
            <a:r>
              <a:rPr sz="1425" b="0" i="0">
                <a:solidFill>
                  <a:srgbClr val="FFFFFF"/>
                </a:solidFill>
              </a:rPr>
              <a:t>All data, country, continent, and region</a:t>
            </a:r>
          </a:p>
        </p:txBody>
      </p:sp>
      <p:sp>
        <p:nvSpPr>
          <p:cNvPr id="8" name="">
            <a:extLst xmlns:a="http://schemas.openxmlformats.org/drawingml/2006/main">
              <a:ext uri="{FF2B5EF4-FFF2-40B4-BE49-F238E27FC236}">
                <a16:creationId xmlns:a16="http://schemas.microsoft.com/office/drawing/2014/main" id="{07300C93-1A24-4624-82AF-5D4D50A2E3AB}"/>
              </a:ext>
            </a:extLst>
          </p:cNvPr>
          <p:cNvSpPr>
            <a:spLocks xmlns:a="http://schemas.openxmlformats.org/drawingml/2006/main" noGrp="1"/>
          </p:cNvSpPr>
          <p:nvPr/>
        </p:nvSpPr>
        <p:spPr>
          <a:xfrm xmlns:a="http://schemas.openxmlformats.org/drawingml/2006/main">
            <a:off x="781050" y="3705225"/>
            <a:ext cx="266700" cy="266700"/>
          </a:xfrm>
          <a:prstGeom xmlns:a="http://schemas.openxmlformats.org/drawingml/2006/main" prst="ellipse">
            <a:avLst/>
          </a:prstGeom>
          <a:solidFill xmlns:a="http://schemas.openxmlformats.org/drawingml/2006/main">
            <a:srgbClr val="234D3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86C1E84-16F5-40F1-A6A1-65A061304395}"/>
              </a:ext>
            </a:extLst>
          </p:cNvPr>
          <p:cNvSpPr>
            <a:spLocks xmlns:a="http://schemas.openxmlformats.org/drawingml/2006/main" noGrp="1"/>
          </p:cNvSpPr>
          <p:nvPr/>
        </p:nvSpPr>
        <p:spPr>
          <a:xfrm xmlns:a="http://schemas.openxmlformats.org/drawingml/2006/main">
            <a:off x="781050" y="3752850"/>
            <a:ext cx="2667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a:t>
            </a:r>
          </a:p>
        </p:txBody>
      </p:sp>
      <p:sp>
        <p:nvSpPr>
          <p:cNvPr id="10" name="">
            <a:extLst xmlns:a="http://schemas.openxmlformats.org/drawingml/2006/main">
              <a:ext uri="{FF2B5EF4-FFF2-40B4-BE49-F238E27FC236}">
                <a16:creationId xmlns:a16="http://schemas.microsoft.com/office/drawing/2014/main" id="{884145C0-9BF2-4362-AF69-566E06CA863B}"/>
              </a:ext>
            </a:extLst>
          </p:cNvPr>
          <p:cNvSpPr>
            <a:spLocks xmlns:a="http://schemas.openxmlformats.org/drawingml/2006/main" noGrp="1"/>
          </p:cNvSpPr>
          <p:nvPr/>
        </p:nvSpPr>
        <p:spPr>
          <a:xfrm xmlns:a="http://schemas.openxmlformats.org/drawingml/2006/main">
            <a:off x="1257300" y="36861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C8A96A"/>
                </a:solidFill>
              </a:defRPr>
            </a:pPr>
            <a:r>
              <a:rPr sz="1200" b="1" i="0">
                <a:solidFill>
                  <a:srgbClr val="C8A96A"/>
                </a:solidFill>
              </a:rPr>
              <a:t>ONE ENDPOINT</a:t>
            </a:r>
          </a:p>
        </p:txBody>
      </p:sp>
      <p:sp>
        <p:nvSpPr>
          <p:cNvPr id="11" name="">
            <a:extLst xmlns:a="http://schemas.openxmlformats.org/drawingml/2006/main">
              <a:ext uri="{FF2B5EF4-FFF2-40B4-BE49-F238E27FC236}">
                <a16:creationId xmlns:a16="http://schemas.microsoft.com/office/drawing/2014/main" id="{A9D1192C-E292-49EB-B17F-D4A9EBF3C3D5}"/>
              </a:ext>
            </a:extLst>
          </p:cNvPr>
          <p:cNvSpPr>
            <a:spLocks xmlns:a="http://schemas.openxmlformats.org/drawingml/2006/main" noGrp="1"/>
          </p:cNvSpPr>
          <p:nvPr/>
        </p:nvSpPr>
        <p:spPr>
          <a:xfrm xmlns:a="http://schemas.openxmlformats.org/drawingml/2006/main">
            <a:off x="3124200" y="3686175"/>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FFFFFF"/>
                </a:solidFill>
              </a:defRPr>
            </a:pPr>
            <a:r>
              <a:rPr sz="1425" b="0" i="0">
                <a:solidFill>
                  <a:srgbClr val="FFFFFF"/>
                </a:solidFill>
              </a:rPr>
              <a:t>Validated Flask API with structured JSON</a:t>
            </a:r>
          </a:p>
        </p:txBody>
      </p:sp>
      <p:sp>
        <p:nvSpPr>
          <p:cNvPr id="12" name="">
            <a:extLst xmlns:a="http://schemas.openxmlformats.org/drawingml/2006/main">
              <a:ext uri="{FF2B5EF4-FFF2-40B4-BE49-F238E27FC236}">
                <a16:creationId xmlns:a16="http://schemas.microsoft.com/office/drawing/2014/main" id="{36AC76FA-B4AE-42A2-8DDF-5CF899FE3426}"/>
              </a:ext>
            </a:extLst>
          </p:cNvPr>
          <p:cNvSpPr>
            <a:spLocks xmlns:a="http://schemas.openxmlformats.org/drawingml/2006/main" noGrp="1"/>
          </p:cNvSpPr>
          <p:nvPr/>
        </p:nvSpPr>
        <p:spPr>
          <a:xfrm xmlns:a="http://schemas.openxmlformats.org/drawingml/2006/main">
            <a:off x="781050" y="4267200"/>
            <a:ext cx="266700" cy="266700"/>
          </a:xfrm>
          <a:prstGeom xmlns:a="http://schemas.openxmlformats.org/drawingml/2006/main" prst="ellipse">
            <a:avLst/>
          </a:prstGeom>
          <a:solidFill xmlns:a="http://schemas.openxmlformats.org/drawingml/2006/main">
            <a:srgbClr val="234D3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28C2E19-89EF-445F-9296-8B4A1491FF3C}"/>
              </a:ext>
            </a:extLst>
          </p:cNvPr>
          <p:cNvSpPr>
            <a:spLocks xmlns:a="http://schemas.openxmlformats.org/drawingml/2006/main" noGrp="1"/>
          </p:cNvSpPr>
          <p:nvPr/>
        </p:nvSpPr>
        <p:spPr>
          <a:xfrm xmlns:a="http://schemas.openxmlformats.org/drawingml/2006/main">
            <a:off x="781050" y="4314825"/>
            <a:ext cx="2667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a:t>
            </a:r>
          </a:p>
        </p:txBody>
      </p:sp>
      <p:sp>
        <p:nvSpPr>
          <p:cNvPr id="14" name="">
            <a:extLst xmlns:a="http://schemas.openxmlformats.org/drawingml/2006/main">
              <a:ext uri="{FF2B5EF4-FFF2-40B4-BE49-F238E27FC236}">
                <a16:creationId xmlns:a16="http://schemas.microsoft.com/office/drawing/2014/main" id="{E48A1576-9C43-4A6E-AD13-24ABDAF7B405}"/>
              </a:ext>
            </a:extLst>
          </p:cNvPr>
          <p:cNvSpPr>
            <a:spLocks xmlns:a="http://schemas.openxmlformats.org/drawingml/2006/main" noGrp="1"/>
          </p:cNvSpPr>
          <p:nvPr/>
        </p:nvSpPr>
        <p:spPr>
          <a:xfrm xmlns:a="http://schemas.openxmlformats.org/drawingml/2006/main">
            <a:off x="1257300" y="42481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C8A96A"/>
                </a:solidFill>
              </a:defRPr>
            </a:pPr>
            <a:r>
              <a:rPr sz="1200" b="1" i="0">
                <a:solidFill>
                  <a:srgbClr val="C8A96A"/>
                </a:solidFill>
              </a:rPr>
              <a:t>MYSQL</a:t>
            </a:r>
          </a:p>
        </p:txBody>
      </p:sp>
      <p:sp>
        <p:nvSpPr>
          <p:cNvPr id="15" name="">
            <a:extLst xmlns:a="http://schemas.openxmlformats.org/drawingml/2006/main">
              <a:ext uri="{FF2B5EF4-FFF2-40B4-BE49-F238E27FC236}">
                <a16:creationId xmlns:a16="http://schemas.microsoft.com/office/drawing/2014/main" id="{0322BB73-CE33-4318-9C4C-A1703D314CFE}"/>
              </a:ext>
            </a:extLst>
          </p:cNvPr>
          <p:cNvSpPr>
            <a:spLocks xmlns:a="http://schemas.openxmlformats.org/drawingml/2006/main" noGrp="1"/>
          </p:cNvSpPr>
          <p:nvPr/>
        </p:nvSpPr>
        <p:spPr>
          <a:xfrm xmlns:a="http://schemas.openxmlformats.org/drawingml/2006/main">
            <a:off x="3124200" y="4248150"/>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FFFFFF"/>
                </a:solidFill>
              </a:defRPr>
            </a:pPr>
            <a:r>
              <a:rPr sz="1425" b="0" i="0">
                <a:solidFill>
                  <a:srgbClr val="FFFFFF"/>
                </a:solidFill>
              </a:rPr>
              <a:t>Server-side filtering and aggregation</a:t>
            </a:r>
          </a:p>
        </p:txBody>
      </p:sp>
      <p:sp>
        <p:nvSpPr>
          <p:cNvPr id="16" name="">
            <a:extLst xmlns:a="http://schemas.openxmlformats.org/drawingml/2006/main">
              <a:ext uri="{FF2B5EF4-FFF2-40B4-BE49-F238E27FC236}">
                <a16:creationId xmlns:a16="http://schemas.microsoft.com/office/drawing/2014/main" id="{C3580C7B-5315-4C8C-975D-11082583C64C}"/>
              </a:ext>
            </a:extLst>
          </p:cNvPr>
          <p:cNvSpPr>
            <a:spLocks xmlns:a="http://schemas.openxmlformats.org/drawingml/2006/main" noGrp="1"/>
          </p:cNvSpPr>
          <p:nvPr/>
        </p:nvSpPr>
        <p:spPr>
          <a:xfrm xmlns:a="http://schemas.openxmlformats.org/drawingml/2006/main">
            <a:off x="781050" y="4829175"/>
            <a:ext cx="266700" cy="266700"/>
          </a:xfrm>
          <a:prstGeom xmlns:a="http://schemas.openxmlformats.org/drawingml/2006/main" prst="ellipse">
            <a:avLst/>
          </a:prstGeom>
          <a:solidFill xmlns:a="http://schemas.openxmlformats.org/drawingml/2006/main">
            <a:srgbClr val="234D3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C3C8A4F-3B8C-4A7D-A0B9-BA9721FC0F96}"/>
              </a:ext>
            </a:extLst>
          </p:cNvPr>
          <p:cNvSpPr>
            <a:spLocks xmlns:a="http://schemas.openxmlformats.org/drawingml/2006/main" noGrp="1"/>
          </p:cNvSpPr>
          <p:nvPr/>
        </p:nvSpPr>
        <p:spPr>
          <a:xfrm xmlns:a="http://schemas.openxmlformats.org/drawingml/2006/main">
            <a:off x="781050" y="4876800"/>
            <a:ext cx="2667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FFFFFF"/>
                </a:solidFill>
              </a:defRPr>
            </a:pPr>
            <a:r>
              <a:rPr sz="900" b="1" i="0">
                <a:solidFill>
                  <a:srgbClr val="FFFFFF"/>
                </a:solidFill>
              </a:rPr>
              <a:t>✓</a:t>
            </a:r>
          </a:p>
        </p:txBody>
      </p:sp>
      <p:sp>
        <p:nvSpPr>
          <p:cNvPr id="18" name="">
            <a:extLst xmlns:a="http://schemas.openxmlformats.org/drawingml/2006/main">
              <a:ext uri="{FF2B5EF4-FFF2-40B4-BE49-F238E27FC236}">
                <a16:creationId xmlns:a16="http://schemas.microsoft.com/office/drawing/2014/main" id="{F891F082-2C55-48DB-BE08-F90DEBE3A5DF}"/>
              </a:ext>
            </a:extLst>
          </p:cNvPr>
          <p:cNvSpPr>
            <a:spLocks xmlns:a="http://schemas.openxmlformats.org/drawingml/2006/main" noGrp="1"/>
          </p:cNvSpPr>
          <p:nvPr/>
        </p:nvSpPr>
        <p:spPr>
          <a:xfrm xmlns:a="http://schemas.openxmlformats.org/drawingml/2006/main">
            <a:off x="1257300" y="48101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C8A96A"/>
                </a:solidFill>
              </a:defRPr>
            </a:pPr>
            <a:r>
              <a:rPr sz="1200" b="1" i="0">
                <a:solidFill>
                  <a:srgbClr val="C8A96A"/>
                </a:solidFill>
              </a:rPr>
              <a:t>CHART.JS</a:t>
            </a:r>
          </a:p>
        </p:txBody>
      </p:sp>
      <p:sp>
        <p:nvSpPr>
          <p:cNvPr id="19" name="">
            <a:extLst xmlns:a="http://schemas.openxmlformats.org/drawingml/2006/main">
              <a:ext uri="{FF2B5EF4-FFF2-40B4-BE49-F238E27FC236}">
                <a16:creationId xmlns:a16="http://schemas.microsoft.com/office/drawing/2014/main" id="{60BBC1A8-68BB-4488-8735-03D3257670B3}"/>
              </a:ext>
            </a:extLst>
          </p:cNvPr>
          <p:cNvSpPr>
            <a:spLocks xmlns:a="http://schemas.openxmlformats.org/drawingml/2006/main" noGrp="1"/>
          </p:cNvSpPr>
          <p:nvPr/>
        </p:nvSpPr>
        <p:spPr>
          <a:xfrm xmlns:a="http://schemas.openxmlformats.org/drawingml/2006/main">
            <a:off x="3124200" y="4810125"/>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FFFFFF"/>
                </a:solidFill>
              </a:defRPr>
            </a:pPr>
            <a:r>
              <a:rPr sz="1425" b="0" i="0">
                <a:solidFill>
                  <a:srgbClr val="FFFFFF"/>
                </a:solidFill>
              </a:rPr>
              <a:t>Existing charts update dynamically</a:t>
            </a:r>
          </a:p>
        </p:txBody>
      </p:sp>
      <p:sp>
        <p:nvSpPr>
          <p:cNvPr id="20" name="">
            <a:extLst xmlns:a="http://schemas.openxmlformats.org/drawingml/2006/main">
              <a:ext uri="{FF2B5EF4-FFF2-40B4-BE49-F238E27FC236}">
                <a16:creationId xmlns:a16="http://schemas.microsoft.com/office/drawing/2014/main" id="{CCCC862E-E9C9-4F69-B52E-3EF36F5D45ED}"/>
              </a:ext>
            </a:extLst>
          </p:cNvPr>
          <p:cNvSpPr>
            <a:spLocks xmlns:a="http://schemas.openxmlformats.org/drawingml/2006/main" noGrp="1"/>
          </p:cNvSpPr>
          <p:nvPr/>
        </p:nvSpPr>
        <p:spPr>
          <a:xfrm xmlns:a="http://schemas.openxmlformats.org/drawingml/2006/main">
            <a:off x="781050" y="5391150"/>
            <a:ext cx="266700" cy="266700"/>
          </a:xfrm>
          <a:prstGeom xmlns:a="http://schemas.openxmlformats.org/drawingml/2006/main" prst="ellipse">
            <a:avLst/>
          </a:prstGeom>
          <a:solidFill xmlns:a="http://schemas.openxmlformats.org/drawingml/2006/main">
            <a:srgbClr val="C8A96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91B302D-4491-47D5-9A49-1819A44B9240}"/>
              </a:ext>
            </a:extLst>
          </p:cNvPr>
          <p:cNvSpPr>
            <a:spLocks xmlns:a="http://schemas.openxmlformats.org/drawingml/2006/main" noGrp="1"/>
          </p:cNvSpPr>
          <p:nvPr/>
        </p:nvSpPr>
        <p:spPr>
          <a:xfrm xmlns:a="http://schemas.openxmlformats.org/drawingml/2006/main">
            <a:off x="781050" y="5438775"/>
            <a:ext cx="2667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i="0">
                <a:solidFill>
                  <a:srgbClr val="0B2A1D"/>
                </a:solidFill>
              </a:defRPr>
            </a:pPr>
            <a:r>
              <a:rPr sz="900" b="1" i="0">
                <a:solidFill>
                  <a:srgbClr val="0B2A1D"/>
                </a:solidFill>
              </a:rPr>
              <a:t>✓</a:t>
            </a:r>
          </a:p>
        </p:txBody>
      </p:sp>
      <p:sp>
        <p:nvSpPr>
          <p:cNvPr id="22" name="">
            <a:extLst xmlns:a="http://schemas.openxmlformats.org/drawingml/2006/main">
              <a:ext uri="{FF2B5EF4-FFF2-40B4-BE49-F238E27FC236}">
                <a16:creationId xmlns:a16="http://schemas.microsoft.com/office/drawing/2014/main" id="{5F83A44C-DB04-4928-9085-3E5F40402966}"/>
              </a:ext>
            </a:extLst>
          </p:cNvPr>
          <p:cNvSpPr>
            <a:spLocks xmlns:a="http://schemas.openxmlformats.org/drawingml/2006/main" noGrp="1"/>
          </p:cNvSpPr>
          <p:nvPr/>
        </p:nvSpPr>
        <p:spPr>
          <a:xfrm xmlns:a="http://schemas.openxmlformats.org/drawingml/2006/main">
            <a:off x="1257300" y="53721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C8A96A"/>
                </a:solidFill>
              </a:defRPr>
            </a:pPr>
            <a:r>
              <a:rPr sz="1200" b="1" i="0">
                <a:solidFill>
                  <a:srgbClr val="C8A96A"/>
                </a:solidFill>
              </a:rPr>
              <a:t>VERIFIED</a:t>
            </a:r>
          </a:p>
        </p:txBody>
      </p:sp>
      <p:sp>
        <p:nvSpPr>
          <p:cNvPr id="23" name="">
            <a:extLst xmlns:a="http://schemas.openxmlformats.org/drawingml/2006/main">
              <a:ext uri="{FF2B5EF4-FFF2-40B4-BE49-F238E27FC236}">
                <a16:creationId xmlns:a16="http://schemas.microsoft.com/office/drawing/2014/main" id="{E097F139-D020-4C1C-A2DE-347835097F8D}"/>
              </a:ext>
            </a:extLst>
          </p:cNvPr>
          <p:cNvSpPr>
            <a:spLocks xmlns:a="http://schemas.openxmlformats.org/drawingml/2006/main" noGrp="1"/>
          </p:cNvSpPr>
          <p:nvPr/>
        </p:nvSpPr>
        <p:spPr>
          <a:xfrm xmlns:a="http://schemas.openxmlformats.org/drawingml/2006/main">
            <a:off x="3124200" y="5372100"/>
            <a:ext cx="733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FFFFFF"/>
                </a:solidFill>
              </a:defRPr>
            </a:pPr>
            <a:r>
              <a:rPr sz="1425" b="0" i="0">
                <a:solidFill>
                  <a:srgbClr val="FFFFFF"/>
                </a:solidFill>
              </a:rPr>
              <a:t>Performance, security, language, theme, and tests</a:t>
            </a:r>
          </a:p>
        </p:txBody>
      </p:sp>
      <p:sp>
        <p:nvSpPr>
          <p:cNvPr id="24" name="">
            <a:extLst xmlns:a="http://schemas.openxmlformats.org/drawingml/2006/main">
              <a:ext uri="{FF2B5EF4-FFF2-40B4-BE49-F238E27FC236}">
                <a16:creationId xmlns:a16="http://schemas.microsoft.com/office/drawing/2014/main" id="{0E37B0A0-6CB3-4D5F-8415-620D2458D245}"/>
              </a:ext>
            </a:extLst>
          </p:cNvPr>
          <p:cNvSpPr>
            <a:spLocks xmlns:a="http://schemas.openxmlformats.org/drawingml/2006/main" noGrp="1"/>
          </p:cNvSpPr>
          <p:nvPr/>
        </p:nvSpPr>
        <p:spPr>
          <a:xfrm xmlns:a="http://schemas.openxmlformats.org/drawingml/2006/main">
            <a:off x="742950" y="6076950"/>
            <a:ext cx="10706100" cy="9525"/>
          </a:xfrm>
          <a:prstGeom xmlns:a="http://schemas.openxmlformats.org/drawingml/2006/main" prst="rect">
            <a:avLst/>
          </a:prstGeom>
          <a:solidFill xmlns:a="http://schemas.openxmlformats.org/drawingml/2006/main">
            <a:srgbClr val="234D3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C9F1F9F-B5C9-4F5F-A895-D0F418130F38}"/>
              </a:ext>
            </a:extLst>
          </p:cNvPr>
          <p:cNvSpPr>
            <a:spLocks xmlns:a="http://schemas.openxmlformats.org/drawingml/2006/main" noGrp="1"/>
          </p:cNvSpPr>
          <p:nvPr/>
        </p:nvSpPr>
        <p:spPr>
          <a:xfrm xmlns:a="http://schemas.openxmlformats.org/drawingml/2006/main">
            <a:off x="742950" y="626745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EDE1C8"/>
                </a:solidFill>
              </a:defRPr>
            </a:pPr>
            <a:r>
              <a:rPr sz="1500" b="1" i="0">
                <a:solidFill>
                  <a:srgbClr val="EDE1C8"/>
                </a:solidFill>
              </a:rPr>
              <a:t>A faster, safer, and more useful research experience.</a:t>
            </a:r>
          </a:p>
        </p:txBody>
      </p:sp>
      <p:sp>
        <p:nvSpPr>
          <p:cNvPr id="26" name="">
            <a:extLst xmlns:a="http://schemas.openxmlformats.org/drawingml/2006/main">
              <a:ext uri="{FF2B5EF4-FFF2-40B4-BE49-F238E27FC236}">
                <a16:creationId xmlns:a16="http://schemas.microsoft.com/office/drawing/2014/main" id="{64179EE5-47BA-4249-8B05-5FCB1D00E52D}"/>
              </a:ext>
            </a:extLst>
          </p:cNvPr>
          <p:cNvSpPr>
            <a:spLocks xmlns:a="http://schemas.openxmlformats.org/drawingml/2006/main" noGrp="1"/>
          </p:cNvSpPr>
          <p:nvPr/>
        </p:nvSpPr>
        <p:spPr>
          <a:xfrm xmlns:a="http://schemas.openxmlformats.org/drawingml/2006/main">
            <a:off x="9525000" y="6267450"/>
            <a:ext cx="1924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i="0">
                <a:solidFill>
                  <a:srgbClr val="C8A96A"/>
                </a:solidFill>
              </a:defRPr>
            </a:pPr>
            <a:r>
              <a:rPr sz="1125" b="0" i="0">
                <a:solidFill>
                  <a:srgbClr val="C8A96A"/>
                </a:solidFill>
              </a:rPr>
              <a:t>Graduation Project</a:t>
            </a:r>
          </a:p>
        </p:txBody>
      </p:sp>
    </p:spTree>
    <p:extLst>
      <p:ext uri="{BB962C8B-B14F-4D97-AF65-F5344CB8AC3E}">
        <p14:creationId xmlns:p14="http://schemas.microsoft.com/office/powerpoint/2010/main" val="13444112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2026-07-26T22:23:57.4140000Z</dcterms:created>
  <dcterms:modified xsi:type="dcterms:W3CDTF">2026-07-26T22:23:57.4140000Z</dcterms:modified>
</coreProperties>
</file>